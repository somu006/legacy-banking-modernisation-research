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7"/>
    <p:sldId id="262" r:id="rId8"/>
    <p:sldId id="264" r:id="rId10"/>
    <p:sldId id="265" r:id="rId11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40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everyone proves the rewrite matches the legacy; we also ask whether the legacy matches the regulator, and we report the answer per business rule. Scope: COBOL interest-accrual programs executed via GnuCOBOL. Whole-system migration is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1.9 million customer figure often quoted for TSB is press reporting, not the FCA — the regulator says 'a significant proportion of its 5.2 million customers'. That is why the slide does not use it. HDFC is the example that matters for an Indian panel: an IT failure froze the bank's product roadmap for over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in the footer is verbatim from the paper's abstract — verified word for word. Do not paraphrase it as 'IBM says its product does not work'; the paper's point is that validation is necessary, which is our point too. Be generous to the incumbents. The 91.2% / under-20% pair is the sharpest argument in the deck and it comes from someone else's paper: AgentModernize captured 91.2% of gold-standard rules but its Behavioural Equivalence Rate was 9.4%, 8.1% and 19.4% across three models, with baselines at 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buyer is whoever signs the cutover memo. Risk and audit own the board-approved Change Management Policy required by RBI's IT Governance Direction (2023) — that is why the output is shaped like an audit artefact, not 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loop: extracted rules feed the input generator, and the differential run then catches the extraction layer stating rules that are wrong. Neither half works alone. The intake gate matters: the tool refuses programs it cannot verify soundly, with a reason, rather than producing a confident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red arrows are the reciprocal loop: extracted rules feed the input generator, and those inputs drive both implementations — the differential run then catches the extraction layer stating rules that are wrong. Neither half works alone. LLM calls are confined to two bounded points; everything else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output — the shape the demo is built to produce, not a completed run; say so if asked. The mechanism is real: delta debugging shrinks the failing set to one minimal counterexample, coverage maps it to a rule, and the RBI Direction rules on which side is right. A one-rupee difference matters because it recurs per account, per accrual.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piece is open: GnuCOBOL GPL/LGPL, ProLeap MIT, gcov, NIST CCVS85 and AWS CardDemo. The methodology is compiler-agnostic — inside the bank, swap GnuCOBOL for IBM Enterprise COBOL and the harness is unchanged. No mainframe access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claim is the strongest in the deck, and it survived a deliberate falsification pass: Locksmith (arXiv 2607.28271) has no regulatory checks; AgentModernize has none; EvolveWare is static documentation with no execution. Say 'warrants a compliance review', never 'this is a breach'. On verdicts: rule-level reporting exists (AgentModernize's BRPS); what we could not find anywhere is requiring the boundary to be behaviourally live, issuing a refutation verdict on self-extracted rules, and injecting faults into the oracle to score corpus adequacy. REFUTED means 'contradicted by the evidence we have', never 'false' — always show the counterexample.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is not that banks will spend more — the spend is committed. The assurance step has no product category yet; it is absorbed as consulting hours and schedule risk. The ADP figures (80% rule-extraction time, 90%+ manual effort) are AWS's published case study for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COBOL interest-accrual programs executed via GnuCOBOL. Whole-system migration is out of scope. The intake gate matters: the tool refuses programs it cannot verify soundly, with a reason, rather than producing a confident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page, three questions. WHY and HOW compress slides 2 to 8; WHAT is the value proposition — including the value if the migration is cancelled: the specification and the regression suite are retained regardless.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indicative and effort-based — no licence or infrastructure spend is assumed because none is required. The TSB numbers are the cost of not solving: £48.65m fine, £32.7m redress, ~£400m total cost, CEO resigned, CIO personally fined £81,620 — and the regulator's finding was about assurance, not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annotated bibliography, with a confidence rating per source and a record of which claims were independently re-verified, is in the research dossier accompanying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038658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EASTERN REGION HACKATHON · BANKING AND FINANCE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3490" y="1959570"/>
            <a:ext cx="16533056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327"/>
              </a:lnSpc>
              <a:buNone/>
            </a:pPr>
            <a:r>
              <a:rPr lang="en-US" sz="7800" b="1" kern="0" spc="-15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Banking Modernisation Platform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4399359"/>
            <a:ext cx="674581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rewrite behaves exactly like the original.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770959"/>
            <a:ext cx="97589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fails on verification, not translation. We make behavioural equivalence something a bank can prove, then check that answer against the regulator.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733305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7792145"/>
            <a:ext cx="2311202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7858820"/>
            <a:ext cx="2237522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44702" y="7693953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048919" y="7792145"/>
            <a:ext cx="1314351" cy="3619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1319" y="7858820"/>
            <a:ext cx="114098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5956" y="7703642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57987" y="7792145"/>
            <a:ext cx="868363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6110387" y="7858820"/>
            <a:ext cx="65039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16850" y="7693953"/>
            <a:ext cx="289917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86"/>
              </a:lnSpc>
              <a:buNone/>
            </a:pPr>
            <a:r>
              <a:rPr lang="en-US" sz="19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21067" y="7792145"/>
            <a:ext cx="1453555" cy="3619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8" name="Text 16"/>
          <p:cNvSpPr/>
          <p:nvPr/>
        </p:nvSpPr>
        <p:spPr>
          <a:xfrm>
            <a:off x="7573467" y="7858820"/>
            <a:ext cx="129411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8594131"/>
            <a:ext cx="1994872" cy="326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670"/>
              </a:lnSpc>
              <a:buNone/>
            </a:pPr>
            <a:r>
              <a:rPr lang="en-US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StudyEdge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47020" y="8520113"/>
            <a:ext cx="713801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 University of Technology and Research, Bhubaneswar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43000" y="9079706"/>
            <a:ext cx="91511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Tamanna Panda · Adyasha Das · Soumyajit Sarkar · Swayam Subhankar Sahoo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37899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banks run on code nobody can safely change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 100 banks worldwide run on IBM mainframes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52578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written decades ago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$1bn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5–10 years to upgrade Indian core banking systems (BCG)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state what those programs should do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4828778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guesses wrong, it is a supervisory event, not a bug report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TSB, United Kingdom — 2018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at cutover. £48.65m FCA/PRA fine, £32.7m customer redress; normal service took eight months to return.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6294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Bank, India — 2020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294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repeated outages, RBI froze every Digital 2.0 launch and all new cards. Restrictions ran into 2022.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21158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1158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backlog is decades long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15800" y="6072982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paisa across millions of accounts is a reportable event. Not touching the system is the rational choice.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interest engine written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2578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— £400m failed cutover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3726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— RBI freezes the roadmap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487400" y="73112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487400" y="74318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still deferred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FCA press release, Dec 2022 · BCG, Cloud-based Core Transformations, Aug 2024 · RBI supervisory action, Dec 2020.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3176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UNSOLVED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is solved. Proof is not.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lines · 1987 ~200 undocumented edits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66170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6147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46147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46147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transpilers · LLMs AWS · IBM · TCS ship this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464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779941" y="2771378"/>
            <a:ext cx="27280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9941" y="2961878"/>
            <a:ext cx="300082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779941" y="3404791"/>
            <a:ext cx="28098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· passes the tests you wrote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032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098511" y="2771378"/>
            <a:ext cx="340995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8511" y="2961878"/>
            <a:ext cx="3750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98511" y="3404791"/>
            <a:ext cx="35122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prove the new program behaves identically to the old one?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037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099011" y="2771378"/>
            <a:ext cx="20459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099011" y="2961878"/>
            <a:ext cx="22505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859"/>
              </a:lnSpc>
              <a:buNone/>
            </a:pPr>
            <a:r>
              <a:rPr lang="en-US" sz="2250" b="1" kern="0" spc="-3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099011" y="3404791"/>
            <a:ext cx="2250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595416"/>
            <a:ext cx="92755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specification was ever written — the rules live only in the code. AI explanations look excellent; a meaningful share is wrong: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430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1430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best published COBOL rule extractor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A-COBREX, ICSE 2025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6300" dirty="0"/>
          </a:p>
        </p:txBody>
      </p:sp>
      <p:sp>
        <p:nvSpPr>
          <p:cNvPr id="32" name="Text 30"/>
          <p:cNvSpPr/>
          <p:nvPr/>
        </p:nvSpPr>
        <p:spPr>
          <a:xfrm>
            <a:off x="66294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rules successfully extracted by a 2026 system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66294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AgentModernize, arXiv 2605.17535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1158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1158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21158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equivalence reached by that same system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21158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scored 0.0%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7910116"/>
            <a:ext cx="11811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8100616"/>
            <a:ext cx="1299210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works. Behavioural equivalence does not follow from it. </a:t>
            </a:r>
            <a:r>
              <a:rPr lang="en-US" sz="2100" b="1" kern="0" spc="-3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has to be the product.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Research, on IBM’s own product: “the resulting code cannot be trusted to correctly translate the original code” (arXiv:2504.10548). If the vendor needs validation, so does the bank.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4786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stuck, and what they are stuck on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CIO / core banking head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migration decision and the cutover date.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202013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cannot sign off a replacement nobody can prove behaves identically.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3038078"/>
            <a:ext cx="3767328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compliance and internal audit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57800" y="3784799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RBI-mandated, board-approved Change Management Policy (2023).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4803974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auditable artefact showing old and new agree, case by case.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Modernisation vendors and SIs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726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Cognizant, TCS, Infosys and in-house delivery teams.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4202013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translation is already commoditised; assurance is what stretches the programme.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87400" y="3478113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RBI, and the bank’s own board.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87400" y="3906738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IT failure is a supervisory event, not an engineering incident.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18509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432749"/>
            <a:ext cx="9035497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6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on this list is short of a translator. Everybody on this list is short of proof.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143000" y="7408069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buyer is the person who has to sign the cutover memo — and today has nothing to attach to it.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3872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pipeline, with the AI on a short leash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142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19300" y="29587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gate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838950" y="2990453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/ DB / CICS detected → refused, with a reason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876066" y="29555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28466" y="30222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5085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68954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19300" y="373399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slice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838950" y="3765749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AST → rule slices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76066" y="3730823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28466" y="3797498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28386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464844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019300" y="4509294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rules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838950" y="4541044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line citations from the slice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353680" y="4506119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3" name="Text 21"/>
          <p:cNvSpPr/>
          <p:nvPr/>
        </p:nvSpPr>
        <p:spPr>
          <a:xfrm>
            <a:off x="14506080" y="4572794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05916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20203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019300" y="524648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Rule-directed input generation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6838950" y="5278239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say where the boundaries are — ₹99,999 / ₹1,00,000 / ₹1,00,001 · ₹0.50 midpoints · 29 Feb · month-ends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876066" y="524331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28466" y="530998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696416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601166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615453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2019300" y="619898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compare — three ways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6838950" y="6230739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three outputs — legacy (the oracle) · generated Java (untrusted) · RBI Direction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876066" y="619581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28466" y="626248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verdicts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430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· unproven · refuted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578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2578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 is this claim?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726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4" name="Text 42"/>
          <p:cNvSpPr/>
          <p:nvPr/>
        </p:nvSpPr>
        <p:spPr>
          <a:xfrm>
            <a:off x="93726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3726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vs the regulator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487400" y="7288014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7" name="Text 45"/>
          <p:cNvSpPr/>
          <p:nvPr/>
        </p:nvSpPr>
        <p:spPr>
          <a:xfrm>
            <a:off x="13487400" y="7478514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bundle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3487400" y="7907536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· tests · signed claim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orchestration matches agentic accuracy at up to 3.5× lower token cost (arXiv 2605.09894) — a defended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243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65707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272375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02434" y="2657078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3754834" y="2723753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1800" kern="0" spc="108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4256" y="2666603"/>
            <a:ext cx="829665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— the reciprocal loop: rules pick the inputs, the run checks the rules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287613"/>
            <a:ext cx="1600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8246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finding looks like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344763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₹1,00,000.00 · 12 days · 3.5%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925788"/>
            <a:ext cx="1707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₹115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143000" y="4325838"/>
            <a:ext cx="1707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COBOL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38475" y="4046438"/>
            <a:ext cx="34667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51845" y="3925788"/>
            <a:ext cx="1721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5700" b="1" kern="0" spc="-11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₹116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3651845" y="4325838"/>
            <a:ext cx="1721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Java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802088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₹1 per account, per accrual — across millions of accounts.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72600" y="27332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2923778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to one word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72600" y="3344763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shrinks 73 failing inputs to this one. Coverage maps it to rule R-07 — line 214: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72600" y="4068663"/>
            <a:ext cx="7772400" cy="59055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9" name="Text 17"/>
          <p:cNvSpPr/>
          <p:nvPr/>
        </p:nvSpPr>
        <p:spPr>
          <a:xfrm>
            <a:off x="9563100" y="4202013"/>
            <a:ext cx="76245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870"/>
              </a:lnSpc>
              <a:buNone/>
            </a:pPr>
            <a:r>
              <a:rPr lang="en-US" sz="2025" dirty="0">
                <a:solidFill>
                  <a:srgbClr val="201E1D"/>
                </a:solidFill>
                <a:highlight>
                  <a:srgbClr val="EAE9E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WS-INT </a:t>
            </a:r>
            <a:r>
              <a:rPr lang="en-US" sz="2025" b="1" dirty="0">
                <a:solidFill>
                  <a:srgbClr val="EC30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372600" y="4792563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Java rounds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HALF_UP</a:t>
            </a: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COBOL truncates at the PIC boundary.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crash, no exception — just a different number.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649813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859363"/>
            <a:ext cx="854964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 has ruled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6272312"/>
            <a:ext cx="800557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“Rounded off to the nearest rupee… fifty paise and above rounds to the next higher rupee.”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3000" y="6996212"/>
            <a:ext cx="80055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Master Direction — Interest Rate on Deposits, clause 4(f) · Daily product basis, clause 6(a) · Uniform rate to ₹1 lakh, 6(a)(1)–(2).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72600" y="5859363"/>
            <a:ext cx="854964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729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report it ships inside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372600" y="6900962"/>
            <a:ext cx="1917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proven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382375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1382375" y="6900962"/>
            <a:ext cx="1819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— named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92150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3392150" y="6900962"/>
            <a:ext cx="1819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refuted — our AI caught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401925" y="6291362"/>
            <a:ext cx="19173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86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15401925" y="6900962"/>
            <a:ext cx="1917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kill rate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output — the shape the demo is built to produce, not a completed run.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547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and why each piece is there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execution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cobc / libcob, GPL and LGPL. 19 COBOL dialects, -std=ibm-strict against Enterprise COBOL 6.3.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passes 9,700 of 9,748 NIST CCVS85 tests. The project does not claim standard conformance; we state that ourselves.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compiles COBOL to C to a native binary, so the legacy side is a real executable we can run, time and instrument.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extraction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ANTLR4, MIT licence. AST plus an abstract semantic graph with data and control flow.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slicing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business-concept variables. A slice is a set of source lines — exactly the traceability we promise.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call per slice, never over the whole file. The model cannot invent a line reference the slice does not contain.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1158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coverage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1158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statement execution counts via -fprofile-arcs. Fallback: paragraph-level DISPLAY trace with -fgen-c-line-directives.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158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runner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same input, three outputs: legacy COBOL, generated Java, and the RBI Direction as a third reference.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15800" y="5395814"/>
            <a:ext cx="5180076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shrinks 73 failing inputs to one minimal counterexample.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mainframe-modernisation CardDemo corpus (Apache 2.0) · NIST CCVS85, 512 programs and 8,800+ cases, public domain · RBI Master Direction clauses encoded as the third reference.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726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interoperability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plus a JSON evidence bundle. The methodology is compiler-agnostic — swap GnuCOBOL for IBM Enterprise COBOL inside the bank and the harness is unchanged. No mainframe access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869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 does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695178"/>
            <a:ext cx="109619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differential mechanism itself is prior art. IBM, AWS, Mechanical Orchard and a paper published five days ago all ship a version of it, and we say so. These three are ours.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4097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93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legacy against the regulator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9700" y="4622999"/>
            <a:ext cx="470916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treats the legacy as correct by definition. A program written in 1987 can breach a Direction issued decades later, so we add a third reference.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09700" y="593744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6042224"/>
            <a:ext cx="1346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= Reg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44950" y="6042224"/>
            <a:ext cx="1962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compliant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09700" y="65184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6623249"/>
            <a:ext cx="612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86225" y="6623249"/>
            <a:ext cx="19173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defect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700" y="709949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7204274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≠ Reg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96854" y="7204274"/>
            <a:ext cx="179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breach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09700" y="768052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100" y="7785299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 = Reg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19476" y="7785299"/>
            <a:ext cx="1770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correction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9700" y="8318699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row needs a regulator. No other tool can see it.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913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7" name="Text 25"/>
          <p:cNvSpPr/>
          <p:nvPr/>
        </p:nvSpPr>
        <p:spPr>
          <a:xfrm>
            <a:off x="68199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676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for every rule, not every test case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58000" y="4622999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a line is not testing the rule it encodes. A rule counts as confirmed only when all three checks hold.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56421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0400" y="5751711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75171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29500" y="5746949"/>
            <a:ext cx="3347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rule’s lines ran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0" y="62231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7010400" y="6480374"/>
            <a:ext cx="285750" cy="2857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64803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29500" y="63279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boundary changed the output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0" y="70994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10400" y="7356674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40" name="Text 38"/>
          <p:cNvSpPr/>
          <p:nvPr/>
        </p:nvSpPr>
        <p:spPr>
          <a:xfrm>
            <a:off x="6972300" y="73566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29500" y="72042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rewrite matched every time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8032949"/>
            <a:ext cx="47091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is the one that catches our own extraction inventing a rule that is not in the program.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0396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06300" y="387627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5" name="Text 43"/>
          <p:cNvSpPr/>
          <p:nvPr/>
        </p:nvSpPr>
        <p:spPr>
          <a:xfrm>
            <a:off x="12268200" y="387627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15900" y="3941961"/>
            <a:ext cx="2723059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64"/>
              </a:lnSpc>
              <a:buNone/>
            </a:pPr>
            <a:r>
              <a:rPr lang="en-US" sz="2100" b="1" kern="0" spc="-3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our own tests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306300" y="4447778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passed” proves nothing unless the inputs could have caught a failure. So we break the legacy on purpose.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306300" y="5466954"/>
            <a:ext cx="4572000" cy="10953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12458700" y="5571729"/>
            <a:ext cx="44043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deliberate defect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100000 → 100001 · &gt; → &gt;= · delete ROUNDED · 360 → 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306300" y="663852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1" name="Text 49"/>
          <p:cNvSpPr/>
          <p:nvPr/>
        </p:nvSpPr>
        <p:spPr>
          <a:xfrm>
            <a:off x="12458700" y="6743304"/>
            <a:ext cx="440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input corpus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3063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3" name="Text 51"/>
          <p:cNvSpPr/>
          <p:nvPr/>
        </p:nvSpPr>
        <p:spPr>
          <a:xfrm>
            <a:off x="124587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stands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6304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5" name="Text 53"/>
          <p:cNvSpPr/>
          <p:nvPr/>
        </p:nvSpPr>
        <p:spPr>
          <a:xfrm>
            <a:off x="147828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it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306300" y="8153004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claim ships with its own strength score.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Locksmith (arXiv 2607.28271), AgentModernize (arXiv 2605.17535) and the shipping vendor tools. None reports per-rule results, scores its own corpus, or consults a regulator.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2401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spend is already committed. Assurance is the gate.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~$1bn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lenders must invest over 5–10 years to upgrade legacy core banking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30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Group, 2024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r>
              <a:rPr lang="en-US" sz="36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52578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largest banks run core operations on IBM mainframes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2578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reported industry figure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in production today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726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Coders, 2025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87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endParaRPr lang="en-US" sz="6300" dirty="0"/>
          </a:p>
        </p:txBody>
      </p:sp>
      <p:sp>
        <p:nvSpPr>
          <p:cNvPr id="20" name="Text 18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internet banking complaints, FY22–23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4874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ombudsman data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of it is gated by one step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6293644"/>
            <a:ext cx="8005572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are approved. What stalls them is the step between “the code exists” and “we run it on real money” — no product category yet; absorbed as consulting hours and schedule risk.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726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is forming around generation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72600" y="6293644"/>
            <a:ext cx="80055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 May 2025; ADP cut extraction time 80%.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 Code Assistant for Z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ships a validation assistant; IBM’s own papers say the output cannot be trusted unchecked.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Orchard, Imogen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generate-then-validate loop.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7970044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generate. None of them sells the proof as the product.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banks spend up to 5% of revenue on IT against 7–9% for global peers — the gap compounds: less budget → fewer modernisation attempts → more undocumented logic.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02647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by design, and buildable now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1430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via GnuCOBOL — free, open source, runs on a laptop Retail interest accrual — pure computation, input in / output out Third-party COBOL, including AWS’s own CardDemo sample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726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8"/>
              </a:lnSpc>
              <a:buNone/>
            </a:pPr>
            <a:r>
              <a:rPr lang="en-US" sz="2175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— detected, not ignored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3726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CICS screens and JCL orchestration Database-coupled programs Anything non-deterministic — system clocks, randomness, external state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72600" y="4546302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compares outputs for equality, so non-determinism makes the verdict meaningless. The tool refuses these at intake, with a reason.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517853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59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stages — the spine first, the novelty protected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Differential harness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1430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compiles and runs; diff two implementations across an input list.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Rules and boundaries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2578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Slice, extract with line citations, derive boundary inputs from the rules.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726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Per-rule results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3726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mapped back to rules, including the ones we could not confirm.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874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4" name="Text 22"/>
          <p:cNvSpPr/>
          <p:nvPr/>
        </p:nvSpPr>
        <p:spPr>
          <a:xfrm>
            <a:off x="134874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302"/>
              </a:lnSpc>
              <a:buNone/>
            </a:pPr>
            <a:r>
              <a:rPr lang="en-US" sz="2025" b="1" kern="0" spc="-3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r>
              <a:rPr lang="en-US" sz="2025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Regulation and mutation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87400" y="6707287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RBI reference model, then fault injection to score the corpus.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(1/2)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on a page: why, how, what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86052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problem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business scenario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92 of the top 100 banks run on mainframes; over 40% of banking systems still run COBOL. Indian lenders face ~$1bn of core upgrades over 5–10 years (BCG). The rules were never documented anywhere except the code.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85231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scope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COBOL, pure-computation programs, retail interest accrual. CICS/JCL, database-coupled and non-deterministic programs are excluded — detected and refused at intake, not silently mishandled.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760491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CIO and core-banking head, risk and internal audit, modernisation SIs, the supervisor. All can generate the new code. None can prove it is safe.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968228"/>
            <a:ext cx="894259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solve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intake gate → parse and slice → bounded LLM rule extraction with line citations → rule-directed inputs → execute three ways → diff. Outputs: rule verdicts, mutation score, compliance findings, evidence bundle.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629400" y="55284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(19 dialects, 9,700/9,748 NIST), ProLeap ANTLR4 parser, program slicing, gcov coverage, delta debugging.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69572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legacy binary is its own oracle; the reciprocal loop lets execution judge the extracted rules; the RBI Direction checks the legacy against the regulator too.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83859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technologies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free, NIST-validated, runs on a laptop with no mainframe. Deterministic orchestration at up to 3.5× lower token cost.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04844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specification that never existed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plain-language rules, each traced to the exact lines that produce it.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8807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regression suite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thousands of input–output pairs, reusable on every future change.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9856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equivalence claim someone can sign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evidence-backed, coverage stated honestly, per rule.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70905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legacy checked against RBI’s written arithmetic, not only against itself.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81954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even if the migration is cancelled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spec and the suite are retained. The bank gets documentation for a system it could not touch.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(2/2)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&amp; timelines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251212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takes, and what it costs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nil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(GPL/LGPL), ProLeap (MIT), gcov, NIST CCVS85 and AWS CardDemo are all open. No mainframe, no vendor contract.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2046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4 engineers × 12 weeks, on commodity laptops.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9856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variable cost is inference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bounded LLM call per slice; deterministic orchestration measured at up to 3.5× lower token cost than an agentic loop.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74144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pilot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 engineers plus SME time from the bank, one program family, about 6 months.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68228"/>
            <a:ext cx="172015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— and the cost of not solving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unlocks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~$1bn of Indian core-banking upgrade spend is gated on assurance. Comparable automation (ADP via AWS Transform) cut rule-extraction time 80% and manual effort over 90%.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55284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 don’t solve — TSB, 2018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1.9m of 5.2m customers hit. £48.65m FCA/PRA fine, £32.7m redress, ~£400m total. The CEO resigned; the CIO was personally fined £81,620. The finding was about assurance — not programming.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76049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 India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RBI halted HDFC’s Digital 2.0 launches and new card issuance in Dec 2020; restrictions ran into 2022. An IT failure here freezes the product roadmap.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90470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2400" b="1" kern="0" spc="19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realise the benefit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harness runs two programs on an input list and diffs. Already a working demo.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5569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input generation from PIC clauses plus hand-written boundaries.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3379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5–7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parse, slice, extract rules with line citations.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61190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8–10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reciprocal loop and per-rule coverage verdicts. This is the contribution.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69000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11–12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delta debugging to minimal counterexamples; evidence bundle generated.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115800" y="76811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4–9 </a:t>
            </a: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bank pilot on one program family, inside the bank’s own compiler environment.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43000" y="950595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and effort-based. No licence or infrastructure spend is assumed because none is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93910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144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2"/>
              </a:lnSpc>
              <a:buNone/>
            </a:pPr>
            <a:r>
              <a:rPr lang="en-US" sz="4650" b="1" kern="0" spc="-7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AND PREPRINTS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39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of COBOL to Java Transformation. arXiv:2504.10548.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0311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Pan, R. et al.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Translation: A Study of Bugs Introduced by LLMs while Translating Code. ICSE 2024, arXiv:2308.03109.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7233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S. N. &amp; Galib, M.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AgentModernize: Preserving Business Logic in Legacy Modernization. arXiv:2605.17535.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4154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Ferenczi, A. et al.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Method for Deterministic Validation of Legacy Code Migration. arXiv:2607.28271.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1076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Shah, S. et al.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A-COBREX: Identifying Business Rules in COBOL Programs. ICSE 2025, Demonstrations.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7997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S, C. &amp; Chimalakonda, S.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Rule-Based: the COBRAIN Tool. EASE 2025, doi:10.1145/3756681.3756982.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4919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Lwin, N. O. &amp; Kumar, R. (2026).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LLM-Controlled Orchestration for COBOL-to-Python Modernization. arXiv:2605.09894.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8184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Barr, E. T. et al. (2015).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Problem in Software Testing: A Survey. IEEE TSE 41(5), 507–525.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SUPERVISORY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3199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(2016, upd. 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— Interest Rate on Deposits. Clauses 4(f), 6(a), 6(a)(1)–(2).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3974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(2023).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on IT Governance, Risk, Controls and Assurance Practices.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4628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fined £48.65m for operational resilience failings.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535830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49165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88783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 (2024).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Core Transformations, via Business Standard.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6541889"/>
            <a:ext cx="82981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Code Assistant for Z — Validation Assistant documentation.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6910189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(2025).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mainframe, generally available.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Imogen platform — generate-validate loop.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793253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806588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71"/>
              </a:lnSpc>
              <a:buNone/>
            </a:pPr>
            <a:r>
              <a:rPr lang="en-US" sz="1800" b="1" kern="0" spc="144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STANDARDS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0" y="8423970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Project.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compiler, GPL/LGPL. NIST COBOL-85: 9,700 of 9,748.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Wolf, U.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Parser, MIT licence. </a:t>
            </a: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(1992). </a:t>
            </a: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CCVS85 validation system.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annotated bibliography, with per-source confidence ratings, is in the research dossier.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3983</Words>
  <Application>Microsoft Office PowerPoint</Application>
  <PresentationFormat>Custom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Soumyajit Sarkar</cp:lastModifiedBy>
  <cp:revision>3</cp:revision>
  <dcterms:created xsi:type="dcterms:W3CDTF">2026-08-13T12:11:42Z</dcterms:created>
  <dcterms:modified xsi:type="dcterms:W3CDTF">2026-08-13T12:16:53Z</dcterms:modified>
</cp:coreProperties>
</file>