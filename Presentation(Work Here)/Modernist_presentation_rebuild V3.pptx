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and we report the answer per business rule. Scope: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 the regulator says 'a significant proportion of its 5.2 million customers'. That is why the slide does not use it. HDFC is the example that matters for an Indian panel: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in the footer is verbatim from the paper's abstract — verified word for word. Do not paraphrase it as 'IBM says its product does not work'; the paper's point is that validation is necessary, which is our point too. Be generous to the incumbents. The 91.2% / under-20% pair is the sharpest argument in the deck and it comes from someone else's paper: AgentModernize captured 91.2% of gold-standard rules but its Behavioural Equivalence Rate was 9.4%, 8.1% and 19.4% across three models, with baselines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is whoever signs the cutover memo. Risk and audit own the board-approved Change Management Policy required by RBI's IT Governance Direction (2023) — that is why the output is shaped like an audit artefact, not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reciprocal loop: extracted rules feed the input generator, and the differential run then catches the extraction layer stating rules that are wrong. Neither half works alone.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dashed red arrows are the reciprocal loop: extracted rules feed the input generator, and those inputs drive both implementations — the differential run then catches the extraction layer stating rules that are wrong. Neither half works alone. LLM calls are confined to two bounded points; everything else is deterministic.</a:t>
            </a:r>
          </a:p>
          <a:p>
            <a:r>
              <a:t>If asked why the outputs read 11, 12, 14: the numbers are the architecture stage numbers from the research dossier; stage 13 is the compliance-findings path, which this diagram folds into the regulation model arrow. Slide 5's footer lists all four outputs.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piece is open: GnuCOBOL GPL/LGPL, ProLeap MIT, gcov, NIST CCVS85 and AWS CardDemo. The methodology is compiler-agnostic — inside the bank, swap GnuCOBOL for IBM Enterprise COBOL and the harness is unchanged. No mainframe access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 claim is the strongest in the deck, and it survived a deliberate falsification pass: Locksmith (arXiv 2607.28271) has no regulatory checks; AgentModernize has none; EvolveWare is static documentation with no execution. Say 'warrants a compliance review', never 'this is a breach'. On verdicts: rule-level reporting exists (AgentModernize's BRPS); what we could not find anywhere is requiring the boundary to be behaviourally live, issuing a refutation verdict on self-extracted rules, and injecting faults into the oracle to score corpus adequacy. REFUTED means 'contradicted by the evidence we have', never 'false' —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not that banks will spend more — the spend is committed. The assurance step has no product category yet; it is absorbed as consulting hours and schedule risk. The ADP figures (80% rule-extraction time, 90%+ manual effort) are AWS's published case study for Transform.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COBOL interest-accrual programs executed via GnuCOBOL. Whole-system migration is out of scope.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three questions. WHY and HOW compress slides 2 to 8; WHAT is the value proposition — including the value if the migration is cancelled: the specification and the regression suite are retained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indicative and effort-based — no licence or infrastructure spend is assumed because none is required. The TSB numbers are the cost of not solving: £48.65m fine, £32.7m redress, ~£400m total cost, CEO resigned, CIO personally fined £81,620 — and the regulator's finding was about assurance, not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annotated bibliography, with a confidence rating per source and a record of which claims were independently re-verified, is in the research dossier accompanying this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1066620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CII EASTERN REGION HACKATHON · BANKING AND FINANCE TECHNOLOGY</a:t>
            </a:r>
            <a:endParaRPr lang="en-US" sz="1800" dirty="0"/>
          </a:p>
        </p:txBody>
      </p:sp>
      <p:sp>
        <p:nvSpPr>
          <p:cNvPr id="4" name="Text 2"/>
          <p:cNvSpPr/>
          <p:nvPr/>
        </p:nvSpPr>
        <p:spPr>
          <a:xfrm>
            <a:off x="1093490" y="2121991"/>
            <a:ext cx="16533056" cy="2058789"/>
          </a:xfrm>
          <a:prstGeom prst="rect">
            <a:avLst/>
          </a:prstGeom>
          <a:noFill/>
          <a:ln/>
        </p:spPr>
        <p:txBody>
          <a:bodyPr wrap="square" lIns="25400" tIns="25400" rIns="25400" bIns="25400" rtlCol="0" anchor="t">
            <a:normAutofit/>
          </a:bodyPr>
          <a:lstStyle/>
          <a:p>
            <a:pPr algn="l" indent="0" marL="0">
              <a:lnSpc>
                <a:spcPct val="72327"/>
              </a:lnSpc>
              <a:buNone/>
            </a:pPr>
            <a:r>
              <a:rPr lang="en-US" sz="7800" b="1" spc="-156" kern="0" dirty="0">
                <a:solidFill>
                  <a:srgbClr val="201E1D"/>
                </a:solidFill>
                <a:latin typeface="Arial" pitchFamily="34" charset="0"/>
                <a:ea typeface="Arial" pitchFamily="34" charset="-122"/>
                <a:cs typeface="Arial" pitchFamily="34" charset="-120"/>
              </a:rPr>
              <a:t>Legacy Banking Modernisation Platform</a:t>
            </a:r>
            <a:endParaRPr lang="en-US" sz="7800" dirty="0"/>
          </a:p>
        </p:txBody>
      </p:sp>
      <p:sp>
        <p:nvSpPr>
          <p:cNvPr id="5" name="Text 3"/>
          <p:cNvSpPr/>
          <p:nvPr/>
        </p:nvSpPr>
        <p:spPr>
          <a:xfrm>
            <a:off x="1143000" y="4561781"/>
            <a:ext cx="6745810" cy="990600"/>
          </a:xfrm>
          <a:prstGeom prst="rect">
            <a:avLst/>
          </a:prstGeom>
          <a:noFill/>
          <a:ln/>
        </p:spPr>
        <p:txBody>
          <a:bodyPr wrap="square" lIns="25400" tIns="25400" rIns="25400" bIns="25400" rtlCol="0" anchor="t">
            <a:normAutofit/>
          </a:bodyPr>
          <a:lstStyle/>
          <a:p>
            <a:pPr algn="l" indent="0" marL="0">
              <a:lnSpc>
                <a:spcPct val="108696"/>
              </a:lnSpc>
              <a:buNone/>
            </a:pPr>
            <a:r>
              <a:rPr lang="en-US" sz="3000" dirty="0">
                <a:solidFill>
                  <a:srgbClr val="201E1D"/>
                </a:solidFill>
                <a:latin typeface="Arial" pitchFamily="34" charset="0"/>
                <a:ea typeface="Arial" pitchFamily="34" charset="-122"/>
                <a:cs typeface="Arial" pitchFamily="34" charset="-120"/>
              </a:rPr>
              <a:t>Proving the rewrite behaves exactly like the original.</a:t>
            </a:r>
            <a:endParaRPr lang="en-US" sz="3000" dirty="0"/>
          </a:p>
        </p:txBody>
      </p:sp>
      <p:sp>
        <p:nvSpPr>
          <p:cNvPr id="6" name="Text 4"/>
          <p:cNvSpPr/>
          <p:nvPr/>
        </p:nvSpPr>
        <p:spPr>
          <a:xfrm>
            <a:off x="1143000" y="5933381"/>
            <a:ext cx="9758937" cy="1181100"/>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201E1C">
                    <a:alpha val="60000"/>
                  </a:srgbClr>
                </a:solidFill>
                <a:latin typeface="Arial" pitchFamily="34" charset="0"/>
                <a:ea typeface="Arial" pitchFamily="34" charset="-122"/>
                <a:cs typeface="Arial" pitchFamily="34" charset="-120"/>
              </a:rPr>
              <a:t>Legacy migration fails on verification, not translation. We make behavioural equivalence something a bank can prove, then check that answer against the regulator.</a:t>
            </a:r>
            <a:endParaRPr lang="en-US" sz="2100" dirty="0"/>
          </a:p>
        </p:txBody>
      </p:sp>
      <p:sp>
        <p:nvSpPr>
          <p:cNvPr id="7" name="Shape 5"/>
          <p:cNvSpPr/>
          <p:nvPr/>
        </p:nvSpPr>
        <p:spPr>
          <a:xfrm>
            <a:off x="1143000" y="7495481"/>
            <a:ext cx="10477500" cy="19050"/>
          </a:xfrm>
          <a:prstGeom prst="rect">
            <a:avLst/>
          </a:prstGeom>
          <a:solidFill>
            <a:srgbClr val="201E1E">
              <a:alpha val="40000"/>
            </a:srgbClr>
          </a:solidFill>
          <a:ln/>
        </p:spPr>
        <p:txBody>
          <a:bodyPr/>
          <a:p/>
        </p:txBody>
      </p:sp>
      <p:sp>
        <p:nvSpPr>
          <p:cNvPr id="17" name="Text 15"/>
          <p:cNvSpPr/>
          <p:nvPr/>
        </p:nvSpPr>
        <p:spPr>
          <a:xfrm>
            <a:off x="1143000" y="8513763"/>
            <a:ext cx="1994872" cy="407194"/>
          </a:xfrm>
          <a:prstGeom prst="rect">
            <a:avLst/>
          </a:prstGeom>
          <a:noFill/>
          <a:ln/>
        </p:spPr>
        <p:txBody>
          <a:bodyPr wrap="square" lIns="25400" tIns="25400" rIns="25400" bIns="25400" rtlCol="0" anchor="t">
            <a:normAutofit/>
          </a:bodyPr>
          <a:lstStyle/>
          <a:p>
            <a:pPr algn="l" indent="0" marL="0">
              <a:lnSpc>
                <a:spcPct val="109670"/>
              </a:lnSpc>
              <a:buNone/>
            </a:pPr>
            <a:r>
              <a:rPr lang="en-US" sz="1875" b="1" dirty="0">
                <a:solidFill>
                  <a:srgbClr val="201E1D"/>
                </a:solidFill>
                <a:latin typeface="Arial" pitchFamily="34" charset="0"/>
                <a:ea typeface="Arial" pitchFamily="34" charset="-122"/>
                <a:cs typeface="Arial" pitchFamily="34" charset="-120"/>
              </a:rPr>
              <a:t>Team StudyEdge</a:t>
            </a:r>
            <a:endParaRPr lang="en-US" sz="1875" dirty="0"/>
          </a:p>
        </p:txBody>
      </p:sp>
      <p:sp>
        <p:nvSpPr>
          <p:cNvPr id="18" name="Text 16"/>
          <p:cNvSpPr/>
          <p:nvPr/>
        </p:nvSpPr>
        <p:spPr>
          <a:xfrm>
            <a:off x="3147020" y="8520113"/>
            <a:ext cx="7138016" cy="407194"/>
          </a:xfrm>
          <a:prstGeom prst="rect">
            <a:avLst/>
          </a:prstGeom>
          <a:noFill/>
          <a:ln/>
        </p:spPr>
        <p:txBody>
          <a:bodyPr wrap="square" lIns="25400" tIns="25400" rIns="25400" bIns="25400" rtlCol="0" anchor="t">
            <a:normAutofit/>
          </a:bodyPr>
          <a:lstStyle/>
          <a:p>
            <a:pPr algn="l" indent="0" marL="0">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Odisha University of Technology and Research, Bhubaneswar</a:t>
            </a:r>
            <a:endParaRPr lang="en-US" sz="1875" dirty="0"/>
          </a:p>
        </p:txBody>
      </p:sp>
      <p:sp>
        <p:nvSpPr>
          <p:cNvPr id="19" name="Text 17"/>
          <p:cNvSpPr/>
          <p:nvPr/>
        </p:nvSpPr>
        <p:spPr>
          <a:xfrm>
            <a:off x="1143000" y="9079706"/>
            <a:ext cx="9151114" cy="407194"/>
          </a:xfrm>
          <a:prstGeom prst="rect">
            <a:avLst/>
          </a:prstGeom>
          <a:noFill/>
          <a:ln/>
        </p:spPr>
        <p:txBody>
          <a:bodyPr wrap="square" lIns="25400" tIns="25400" rIns="25400" bIns="25400" rtlCol="0" anchor="t">
            <a:normAutofit/>
          </a:bodyPr>
          <a:lstStyle/>
          <a:p>
            <a:pPr algn="l" indent="0" marL="0">
              <a:lnSpc>
                <a:spcPct val="135174"/>
              </a:lnSpc>
              <a:buNone/>
            </a:pPr>
            <a:r>
              <a:rPr lang="en-US" sz="1875" dirty="0">
                <a:solidFill>
                  <a:srgbClr val="201E1C">
                    <a:alpha val="60000"/>
                  </a:srgbClr>
                </a:solidFill>
                <a:latin typeface="Arial" pitchFamily="34" charset="0"/>
                <a:ea typeface="Arial" pitchFamily="34" charset="-122"/>
                <a:cs typeface="Arial" pitchFamily="34" charset="-120"/>
              </a:rPr>
              <a:t>Tamanna Panda · Adyasha Das · Soumyajit Sarkar · Swayam Subhankar Sahoo</a:t>
            </a:r>
            <a:endParaRPr lang="en-US" sz="1875" dirty="0"/>
          </a:p>
        </p:txBody>
      </p:sp>
      <p:sp>
        <p:nvSpPr>
          <p:cNvPr id="20" name="Rectangle 19"/>
          <p:cNvSpPr/>
          <p:nvPr/>
        </p:nvSpPr>
        <p:spPr>
          <a:xfrm>
            <a:off x="13304520" y="4590288"/>
            <a:ext cx="2468880" cy="493776"/>
          </a:xfrm>
          <a:prstGeom prst="rect">
            <a:avLst/>
          </a:prstGeom>
          <a:solidFill>
            <a:srgbClr val="EA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304520" y="4590288"/>
            <a:ext cx="2468880" cy="493776"/>
          </a:xfrm>
          <a:prstGeom prst="rect">
            <a:avLst/>
          </a:prstGeom>
          <a:noFill/>
        </p:spPr>
        <p:txBody>
          <a:bodyPr wrap="square" lIns="0" rIns="0" tIns="0" bIns="0" anchor="ctr">
            <a:spAutoFit/>
          </a:bodyPr>
          <a:lstStyle/>
          <a:p>
            <a:pPr algn="ctr"/>
            <a:r>
              <a:rPr sz="1300" b="1" spc="60">
                <a:solidFill>
                  <a:srgbClr val="201E1D"/>
                </a:solidFill>
                <a:latin typeface="Arial"/>
              </a:rPr>
              <a:t>COBOL SOURCE</a:t>
            </a:r>
          </a:p>
        </p:txBody>
      </p:sp>
      <p:sp>
        <p:nvSpPr>
          <p:cNvPr id="22" name="Rectangle 21"/>
          <p:cNvSpPr/>
          <p:nvPr/>
        </p:nvSpPr>
        <p:spPr>
          <a:xfrm>
            <a:off x="11932920" y="5742432"/>
            <a:ext cx="2103120" cy="493776"/>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32920" y="5742432"/>
            <a:ext cx="2103120" cy="493776"/>
          </a:xfrm>
          <a:prstGeom prst="rect">
            <a:avLst/>
          </a:prstGeom>
          <a:noFill/>
        </p:spPr>
        <p:txBody>
          <a:bodyPr wrap="square" lIns="0" rIns="0" tIns="0" bIns="0" anchor="ctr">
            <a:spAutoFit/>
          </a:bodyPr>
          <a:lstStyle/>
          <a:p>
            <a:pPr algn="ctr"/>
            <a:r>
              <a:rPr sz="1300" b="1" spc="60">
                <a:solidFill>
                  <a:srgbClr val="6F6C6B"/>
                </a:solidFill>
                <a:latin typeface="Arial"/>
              </a:rPr>
              <a:t>LEGACY</a:t>
            </a:r>
          </a:p>
        </p:txBody>
      </p:sp>
      <p:sp>
        <p:nvSpPr>
          <p:cNvPr id="24" name="Rectangle 23"/>
          <p:cNvSpPr/>
          <p:nvPr/>
        </p:nvSpPr>
        <p:spPr>
          <a:xfrm>
            <a:off x="15041880" y="5742432"/>
            <a:ext cx="2103120" cy="493776"/>
          </a:xfrm>
          <a:prstGeom prst="rect">
            <a:avLst/>
          </a:prstGeom>
          <a:noFill/>
          <a:ln w="15875">
            <a:solidFill>
              <a:srgbClr val="C9C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41880" y="5742432"/>
            <a:ext cx="2103120" cy="493776"/>
          </a:xfrm>
          <a:prstGeom prst="rect">
            <a:avLst/>
          </a:prstGeom>
          <a:noFill/>
        </p:spPr>
        <p:txBody>
          <a:bodyPr wrap="square" lIns="0" rIns="0" tIns="0" bIns="0" anchor="ctr">
            <a:spAutoFit/>
          </a:bodyPr>
          <a:lstStyle/>
          <a:p>
            <a:pPr algn="ctr"/>
            <a:r>
              <a:rPr sz="1300" b="1" spc="60">
                <a:solidFill>
                  <a:srgbClr val="6F6C6B"/>
                </a:solidFill>
                <a:latin typeface="Arial"/>
              </a:rPr>
              <a:t>REWRITE</a:t>
            </a:r>
          </a:p>
        </p:txBody>
      </p:sp>
      <p:sp>
        <p:nvSpPr>
          <p:cNvPr id="26" name="Rectangle 25"/>
          <p:cNvSpPr/>
          <p:nvPr/>
        </p:nvSpPr>
        <p:spPr>
          <a:xfrm>
            <a:off x="13761720" y="6876288"/>
            <a:ext cx="1554480" cy="493776"/>
          </a:xfrm>
          <a:prstGeom prst="rect">
            <a:avLst/>
          </a:prstGeom>
          <a:solidFill>
            <a:srgbClr val="EC3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61720" y="6876288"/>
            <a:ext cx="1554480" cy="493776"/>
          </a:xfrm>
          <a:prstGeom prst="rect">
            <a:avLst/>
          </a:prstGeom>
          <a:noFill/>
        </p:spPr>
        <p:txBody>
          <a:bodyPr wrap="square" lIns="0" rIns="0" tIns="0" bIns="0" anchor="ctr">
            <a:spAutoFit/>
          </a:bodyPr>
          <a:lstStyle/>
          <a:p>
            <a:pPr algn="ctr"/>
            <a:r>
              <a:rPr sz="1350" b="1" spc="80">
                <a:solidFill>
                  <a:srgbClr val="F3F2F2"/>
                </a:solidFill>
                <a:latin typeface="Arial"/>
              </a:rPr>
              <a:t>DIFF</a:t>
            </a:r>
          </a:p>
        </p:txBody>
      </p:sp>
      <p:cxnSp>
        <p:nvCxnSpPr>
          <p:cNvPr id="28" name="Connector 27"/>
          <p:cNvCxnSpPr/>
          <p:nvPr/>
        </p:nvCxnSpPr>
        <p:spPr>
          <a:xfrm flipH="1">
            <a:off x="13213080" y="5120640"/>
            <a:ext cx="777240" cy="585216"/>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5087600" y="5120640"/>
            <a:ext cx="777240" cy="585216"/>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984480" y="6272784"/>
            <a:ext cx="1051560" cy="566928"/>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5041880" y="6272784"/>
            <a:ext cx="1051560" cy="566928"/>
          </a:xfrm>
          <a:prstGeom prst="line">
            <a:avLst/>
          </a:prstGeom>
          <a:ln w="19050">
            <a:solidFill>
              <a:srgbClr val="8C88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932920" y="7589520"/>
            <a:ext cx="5212080" cy="329184"/>
          </a:xfrm>
          <a:prstGeom prst="rect">
            <a:avLst/>
          </a:prstGeom>
          <a:noFill/>
        </p:spPr>
        <p:txBody>
          <a:bodyPr wrap="square" lIns="0" rIns="0" tIns="0" bIns="0" anchor="ctr">
            <a:spAutoFit/>
          </a:bodyPr>
          <a:lstStyle/>
          <a:p>
            <a:pPr algn="ctr"/>
            <a:r>
              <a:rPr sz="1250" b="0">
                <a:solidFill>
                  <a:srgbClr val="8C8886"/>
                </a:solidFill>
                <a:latin typeface="Arial"/>
              </a:rPr>
              <a:t>every rule · proven / unproven / refuted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37899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PROBLEM</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02</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India’s banks run on code nobody can safely change</a:t>
            </a:r>
            <a:endParaRPr lang="en-US" sz="4650" dirty="0"/>
          </a:p>
        </p:txBody>
      </p:sp>
      <p:sp>
        <p:nvSpPr>
          <p:cNvPr id="6" name="Shape 4"/>
          <p:cNvSpPr/>
          <p:nvPr/>
        </p:nvSpPr>
        <p:spPr>
          <a:xfrm>
            <a:off x="1143000" y="2733278"/>
            <a:ext cx="3657600" cy="19050"/>
          </a:xfrm>
          <a:prstGeom prst="rect">
            <a:avLst/>
          </a:prstGeom>
          <a:solidFill>
            <a:srgbClr val="201E1E">
              <a:alpha val="40000"/>
            </a:srgbClr>
          </a:solidFill>
          <a:ln/>
        </p:spPr>
      </p:sp>
      <p:sp>
        <p:nvSpPr>
          <p:cNvPr id="7" name="Text 5"/>
          <p:cNvSpPr/>
          <p:nvPr/>
        </p:nvSpPr>
        <p:spPr>
          <a:xfrm>
            <a:off x="11430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92</a:t>
            </a:r>
            <a:endParaRPr lang="en-US" sz="6300" dirty="0"/>
          </a:p>
        </p:txBody>
      </p:sp>
      <p:sp>
        <p:nvSpPr>
          <p:cNvPr id="8" name="Text 6"/>
          <p:cNvSpPr/>
          <p:nvPr/>
        </p:nvSpPr>
        <p:spPr>
          <a:xfrm>
            <a:off x="11430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the top 100 banks worldwide run on IBM mainframes</a:t>
            </a:r>
            <a:endParaRPr lang="en-US" sz="1875" dirty="0"/>
          </a:p>
        </p:txBody>
      </p:sp>
      <p:sp>
        <p:nvSpPr>
          <p:cNvPr id="9" name="Shape 7"/>
          <p:cNvSpPr/>
          <p:nvPr/>
        </p:nvSpPr>
        <p:spPr>
          <a:xfrm>
            <a:off x="5257800" y="2733278"/>
            <a:ext cx="3657600" cy="19050"/>
          </a:xfrm>
          <a:prstGeom prst="rect">
            <a:avLst/>
          </a:prstGeom>
          <a:solidFill>
            <a:srgbClr val="201E1E">
              <a:alpha val="40000"/>
            </a:srgbClr>
          </a:solidFill>
          <a:ln/>
        </p:spPr>
      </p:sp>
      <p:sp>
        <p:nvSpPr>
          <p:cNvPr id="10" name="Text 8"/>
          <p:cNvSpPr/>
          <p:nvPr/>
        </p:nvSpPr>
        <p:spPr>
          <a:xfrm>
            <a:off x="52578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40%+</a:t>
            </a:r>
            <a:endParaRPr lang="en-US" sz="6300" dirty="0"/>
          </a:p>
        </p:txBody>
      </p:sp>
      <p:sp>
        <p:nvSpPr>
          <p:cNvPr id="11" name="Text 9"/>
          <p:cNvSpPr/>
          <p:nvPr/>
        </p:nvSpPr>
        <p:spPr>
          <a:xfrm>
            <a:off x="52578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banking systems still run COBOL written decades ago</a:t>
            </a:r>
            <a:endParaRPr lang="en-US" sz="1875" dirty="0"/>
          </a:p>
        </p:txBody>
      </p:sp>
      <p:sp>
        <p:nvSpPr>
          <p:cNvPr id="12" name="Shape 10"/>
          <p:cNvSpPr/>
          <p:nvPr/>
        </p:nvSpPr>
        <p:spPr>
          <a:xfrm>
            <a:off x="9372600" y="2733278"/>
            <a:ext cx="3657600" cy="19050"/>
          </a:xfrm>
          <a:prstGeom prst="rect">
            <a:avLst/>
          </a:prstGeom>
          <a:solidFill>
            <a:srgbClr val="201E1E">
              <a:alpha val="40000"/>
            </a:srgbClr>
          </a:solidFill>
          <a:ln/>
        </p:spPr>
      </p:sp>
      <p:sp>
        <p:nvSpPr>
          <p:cNvPr id="13" name="Text 11"/>
          <p:cNvSpPr/>
          <p:nvPr/>
        </p:nvSpPr>
        <p:spPr>
          <a:xfrm>
            <a:off x="93726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$1bn</a:t>
            </a:r>
            <a:endParaRPr lang="en-US" sz="6300" dirty="0"/>
          </a:p>
        </p:txBody>
      </p:sp>
      <p:sp>
        <p:nvSpPr>
          <p:cNvPr id="14" name="Text 12"/>
          <p:cNvSpPr/>
          <p:nvPr/>
        </p:nvSpPr>
        <p:spPr>
          <a:xfrm>
            <a:off x="93726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over 5–10 years to upgrade Indian core banking systems (BCG)</a:t>
            </a:r>
            <a:endParaRPr lang="en-US" sz="1875" dirty="0"/>
          </a:p>
        </p:txBody>
      </p:sp>
      <p:sp>
        <p:nvSpPr>
          <p:cNvPr id="15" name="Shape 13"/>
          <p:cNvSpPr/>
          <p:nvPr/>
        </p:nvSpPr>
        <p:spPr>
          <a:xfrm>
            <a:off x="13487400" y="2733278"/>
            <a:ext cx="3657600" cy="19050"/>
          </a:xfrm>
          <a:prstGeom prst="rect">
            <a:avLst/>
          </a:prstGeom>
          <a:solidFill>
            <a:srgbClr val="201E1E">
              <a:alpha val="40000"/>
            </a:srgbClr>
          </a:solidFill>
          <a:ln/>
        </p:spPr>
      </p:sp>
      <p:sp>
        <p:nvSpPr>
          <p:cNvPr id="16" name="Text 14"/>
          <p:cNvSpPr/>
          <p:nvPr/>
        </p:nvSpPr>
        <p:spPr>
          <a:xfrm>
            <a:off x="134874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EC3013"/>
                </a:solidFill>
                <a:latin typeface="Arial" pitchFamily="34" charset="0"/>
                <a:ea typeface="Arial" pitchFamily="34" charset="-122"/>
                <a:cs typeface="Arial" pitchFamily="34" charset="-120"/>
              </a:rPr>
              <a:t>0</a:t>
            </a:r>
            <a:endParaRPr lang="en-US" sz="6300" dirty="0"/>
          </a:p>
        </p:txBody>
      </p:sp>
      <p:sp>
        <p:nvSpPr>
          <p:cNvPr id="17" name="Text 15"/>
          <p:cNvSpPr/>
          <p:nvPr/>
        </p:nvSpPr>
        <p:spPr>
          <a:xfrm>
            <a:off x="134874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specifications state what those programs should do</a:t>
            </a:r>
            <a:endParaRPr lang="en-US" sz="1875" dirty="0"/>
          </a:p>
        </p:txBody>
      </p:sp>
      <p:sp>
        <p:nvSpPr>
          <p:cNvPr id="18" name="Text 16"/>
          <p:cNvSpPr/>
          <p:nvPr/>
        </p:nvSpPr>
        <p:spPr>
          <a:xfrm>
            <a:off x="1143000" y="4828778"/>
            <a:ext cx="17602200" cy="379413"/>
          </a:xfrm>
          <a:prstGeom prst="rect">
            <a:avLst/>
          </a:prstGeom>
          <a:noFill/>
          <a:ln/>
        </p:spPr>
        <p:txBody>
          <a:bodyPr wrap="square" lIns="25400" tIns="25400" rIns="25400" bIns="25400" rtlCol="0" anchor="t">
            <a:normAutofit/>
          </a:bodyPr>
          <a:lstStyle/>
          <a:p>
            <a:pPr algn="l" indent="0" marL="0">
              <a:lnSpc>
                <a:spcPct val="79059"/>
              </a:lnSpc>
              <a:buNone/>
            </a:pPr>
            <a:r>
              <a:rPr lang="en-US" sz="2400" b="1" spc="-36" kern="0" dirty="0">
                <a:solidFill>
                  <a:srgbClr val="201E1D"/>
                </a:solidFill>
                <a:latin typeface="Arial" pitchFamily="34" charset="0"/>
                <a:ea typeface="Arial" pitchFamily="34" charset="-122"/>
                <a:cs typeface="Arial" pitchFamily="34" charset="-120"/>
              </a:rPr>
              <a:t>When a bank guesses wrong, it is a supervisory event, not a bug report</a:t>
            </a:r>
            <a:endParaRPr lang="en-US" sz="2400" dirty="0"/>
          </a:p>
        </p:txBody>
      </p:sp>
      <p:sp>
        <p:nvSpPr>
          <p:cNvPr id="19" name="Shape 17"/>
          <p:cNvSpPr/>
          <p:nvPr/>
        </p:nvSpPr>
        <p:spPr>
          <a:xfrm>
            <a:off x="1143000" y="5398691"/>
            <a:ext cx="5029200" cy="19050"/>
          </a:xfrm>
          <a:prstGeom prst="rect">
            <a:avLst/>
          </a:prstGeom>
          <a:solidFill>
            <a:srgbClr val="201E1E">
              <a:alpha val="40000"/>
            </a:srgbClr>
          </a:solidFill>
          <a:ln/>
        </p:spPr>
      </p:sp>
      <p:sp>
        <p:nvSpPr>
          <p:cNvPr id="20" name="Text 18"/>
          <p:cNvSpPr/>
          <p:nvPr/>
        </p:nvSpPr>
        <p:spPr>
          <a:xfrm>
            <a:off x="11430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TSB, United Kingdom — 2018</a:t>
            </a:r>
            <a:endParaRPr lang="en-US" sz="2400" dirty="0"/>
          </a:p>
        </p:txBody>
      </p:sp>
      <p:sp>
        <p:nvSpPr>
          <p:cNvPr id="21" name="Text 19"/>
          <p:cNvSpPr/>
          <p:nvPr/>
        </p:nvSpPr>
        <p:spPr>
          <a:xfrm>
            <a:off x="1143000" y="6072982"/>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core migration failed at cutover. The FCA and PRA fined TSB £48.65m for operational risk and governance failings, and £32.7m went in customer redress. Business as usual took eight months to return.</a:t>
            </a:r>
            <a:endParaRPr lang="en-US" sz="1875" dirty="0"/>
          </a:p>
        </p:txBody>
      </p:sp>
      <p:sp>
        <p:nvSpPr>
          <p:cNvPr id="22" name="Shape 20"/>
          <p:cNvSpPr/>
          <p:nvPr/>
        </p:nvSpPr>
        <p:spPr>
          <a:xfrm>
            <a:off x="6629400" y="5398691"/>
            <a:ext cx="5029200" cy="19050"/>
          </a:xfrm>
          <a:prstGeom prst="rect">
            <a:avLst/>
          </a:prstGeom>
          <a:solidFill>
            <a:srgbClr val="201E1E">
              <a:alpha val="40000"/>
            </a:srgbClr>
          </a:solidFill>
          <a:ln/>
        </p:spPr>
      </p:sp>
      <p:sp>
        <p:nvSpPr>
          <p:cNvPr id="23" name="Text 21"/>
          <p:cNvSpPr/>
          <p:nvPr/>
        </p:nvSpPr>
        <p:spPr>
          <a:xfrm>
            <a:off x="66294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HDFC Bank, India — 2020</a:t>
            </a:r>
            <a:endParaRPr lang="en-US" sz="2400" dirty="0"/>
          </a:p>
        </p:txBody>
      </p:sp>
      <p:sp>
        <p:nvSpPr>
          <p:cNvPr id="24" name="Text 22"/>
          <p:cNvSpPr/>
          <p:nvPr/>
        </p:nvSpPr>
        <p:spPr>
          <a:xfrm>
            <a:off x="6629400" y="6072982"/>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After repeated outages the RBI halted every Digital 2.0 launch and froze new credit-card issuance. The card freeze lifted only in August 2021; the digital freeze ran into 2022.</a:t>
            </a:r>
            <a:endParaRPr lang="en-US" sz="1875" dirty="0"/>
          </a:p>
        </p:txBody>
      </p:sp>
      <p:sp>
        <p:nvSpPr>
          <p:cNvPr id="25" name="Shape 23"/>
          <p:cNvSpPr/>
          <p:nvPr/>
        </p:nvSpPr>
        <p:spPr>
          <a:xfrm>
            <a:off x="12115800" y="5398691"/>
            <a:ext cx="5029200" cy="19050"/>
          </a:xfrm>
          <a:prstGeom prst="rect">
            <a:avLst/>
          </a:prstGeom>
          <a:solidFill>
            <a:srgbClr val="201E1E">
              <a:alpha val="40000"/>
            </a:srgbClr>
          </a:solidFill>
          <a:ln/>
        </p:spPr>
      </p:sp>
      <p:sp>
        <p:nvSpPr>
          <p:cNvPr id="26" name="Text 24"/>
          <p:cNvSpPr/>
          <p:nvPr/>
        </p:nvSpPr>
        <p:spPr>
          <a:xfrm>
            <a:off x="12115800" y="5589191"/>
            <a:ext cx="553212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Why the backlog is decades long</a:t>
            </a:r>
            <a:endParaRPr lang="en-US" sz="2400" dirty="0"/>
          </a:p>
        </p:txBody>
      </p:sp>
      <p:sp>
        <p:nvSpPr>
          <p:cNvPr id="27" name="Text 25"/>
          <p:cNvSpPr/>
          <p:nvPr/>
        </p:nvSpPr>
        <p:spPr>
          <a:xfrm>
            <a:off x="12115800" y="6072982"/>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A one-paisa divergence across millions of accounts is a reportable regulatory event. Refusing to touch the system is the correct decision under the bank’s own risk framework.</a:t>
            </a:r>
            <a:endParaRPr lang="en-US" sz="1875" dirty="0"/>
          </a:p>
        </p:txBody>
      </p:sp>
      <p:sp>
        <p:nvSpPr>
          <p:cNvPr id="28" name="Shape 26"/>
          <p:cNvSpPr/>
          <p:nvPr/>
        </p:nvSpPr>
        <p:spPr>
          <a:xfrm>
            <a:off x="1143000" y="7958932"/>
            <a:ext cx="3657600" cy="9525"/>
          </a:xfrm>
          <a:prstGeom prst="rect">
            <a:avLst/>
          </a:prstGeom>
          <a:solidFill>
            <a:srgbClr val="201E1E">
              <a:alpha val="40000"/>
            </a:srgbClr>
          </a:solidFill>
          <a:ln/>
        </p:spPr>
      </p:sp>
      <p:sp>
        <p:nvSpPr>
          <p:cNvPr id="29" name="Text 27"/>
          <p:cNvSpPr/>
          <p:nvPr/>
        </p:nvSpPr>
        <p:spPr>
          <a:xfrm>
            <a:off x="11430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1987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core interest engine written</a:t>
            </a:r>
            <a:endParaRPr lang="en-US" sz="1125" dirty="0"/>
          </a:p>
        </p:txBody>
      </p:sp>
      <p:sp>
        <p:nvSpPr>
          <p:cNvPr id="30" name="Shape 28"/>
          <p:cNvSpPr/>
          <p:nvPr/>
        </p:nvSpPr>
        <p:spPr>
          <a:xfrm>
            <a:off x="5257800" y="7958932"/>
            <a:ext cx="3657600" cy="9525"/>
          </a:xfrm>
          <a:prstGeom prst="rect">
            <a:avLst/>
          </a:prstGeom>
          <a:solidFill>
            <a:srgbClr val="201E1E">
              <a:alpha val="40000"/>
            </a:srgbClr>
          </a:solidFill>
          <a:ln/>
        </p:spPr>
      </p:sp>
      <p:sp>
        <p:nvSpPr>
          <p:cNvPr id="31" name="Text 29"/>
          <p:cNvSpPr/>
          <p:nvPr/>
        </p:nvSpPr>
        <p:spPr>
          <a:xfrm>
            <a:off x="52578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2018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TSB — £400m failed cutover</a:t>
            </a:r>
            <a:endParaRPr lang="en-US" sz="1125" dirty="0"/>
          </a:p>
        </p:txBody>
      </p:sp>
      <p:sp>
        <p:nvSpPr>
          <p:cNvPr id="32" name="Shape 30"/>
          <p:cNvSpPr/>
          <p:nvPr/>
        </p:nvSpPr>
        <p:spPr>
          <a:xfrm>
            <a:off x="9372600" y="7958932"/>
            <a:ext cx="3657600" cy="9525"/>
          </a:xfrm>
          <a:prstGeom prst="rect">
            <a:avLst/>
          </a:prstGeom>
          <a:solidFill>
            <a:srgbClr val="201E1E">
              <a:alpha val="40000"/>
            </a:srgbClr>
          </a:solidFill>
          <a:ln/>
        </p:spPr>
      </p:sp>
      <p:sp>
        <p:nvSpPr>
          <p:cNvPr id="33" name="Text 31"/>
          <p:cNvSpPr/>
          <p:nvPr/>
        </p:nvSpPr>
        <p:spPr>
          <a:xfrm>
            <a:off x="93726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2020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HDFC — RBI freezes the roadmap</a:t>
            </a:r>
            <a:endParaRPr lang="en-US" sz="1125" dirty="0"/>
          </a:p>
        </p:txBody>
      </p:sp>
      <p:sp>
        <p:nvSpPr>
          <p:cNvPr id="34" name="Shape 32"/>
          <p:cNvSpPr/>
          <p:nvPr/>
        </p:nvSpPr>
        <p:spPr>
          <a:xfrm>
            <a:off x="13487400" y="7958932"/>
            <a:ext cx="3657600" cy="9525"/>
          </a:xfrm>
          <a:prstGeom prst="rect">
            <a:avLst/>
          </a:prstGeom>
          <a:solidFill>
            <a:srgbClr val="201E1E">
              <a:alpha val="40000"/>
            </a:srgbClr>
          </a:solidFill>
          <a:ln/>
        </p:spPr>
      </p:sp>
      <p:sp>
        <p:nvSpPr>
          <p:cNvPr id="35" name="Text 33"/>
          <p:cNvSpPr/>
          <p:nvPr/>
        </p:nvSpPr>
        <p:spPr>
          <a:xfrm>
            <a:off x="13487400" y="8079582"/>
            <a:ext cx="3767328" cy="776188"/>
          </a:xfrm>
          <a:prstGeom prst="rect">
            <a:avLst/>
          </a:prstGeom>
          <a:noFill/>
          <a:ln/>
        </p:spPr>
        <p:txBody>
          <a:bodyPr wrap="square" lIns="25400" tIns="25400" rIns="25400" bIns="25400" rtlCol="0" anchor="t">
            <a:normAutofit/>
          </a:bodyPr>
          <a:lstStyle/>
          <a:p>
            <a:pPr algn="l" indent="0" marL="0">
              <a:lnSpc>
                <a:spcPct val="134135"/>
              </a:lnSpc>
              <a:buNone/>
            </a:pPr>
            <a:r>
              <a:rPr lang="en-US" sz="1950" b="1" dirty="0">
                <a:solidFill>
                  <a:srgbClr val="EC3013"/>
                </a:solidFill>
                <a:latin typeface="Arial" pitchFamily="34" charset="0"/>
                <a:ea typeface="Arial" pitchFamily="34" charset="-122"/>
                <a:cs typeface="Arial" pitchFamily="34" charset="-120"/>
              </a:rPr>
              <a:t>2026 </a:t>
            </a:r>
            <a:pPr algn="l" indent="0" marL="0">
              <a:lnSpc>
                <a:spcPct val="134135"/>
              </a:lnSpc>
              <a:buNone/>
            </a:pPr>
            <a:r>
              <a:rPr lang="en-US" sz="1800" dirty="0">
                <a:solidFill>
                  <a:srgbClr val="201E1C">
                    <a:alpha val="60000"/>
                  </a:srgbClr>
                </a:solidFill>
                <a:latin typeface="Arial" pitchFamily="34" charset="0"/>
                <a:ea typeface="Arial" pitchFamily="34" charset="-122"/>
                <a:cs typeface="Arial" pitchFamily="34" charset="-120"/>
              </a:rPr>
              <a:t>migration still deferred</a:t>
            </a:r>
            <a:endParaRPr lang="en-US" sz="1125" dirty="0"/>
          </a:p>
        </p:txBody>
      </p:sp>
      <p:sp>
        <p:nvSpPr>
          <p:cNvPr id="36" name="Text 34"/>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Sources: FCA press release, Dec 2022 · BCG, Cloud-based Core Transformations, Aug 2024 · RBI supervisory action, Dec 2020.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831763"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WHY IT’S UNSOLVED</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03</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Translation is solved. Proof is not.</a:t>
            </a:r>
            <a:endParaRPr lang="en-US" sz="4650" dirty="0"/>
          </a:p>
        </p:txBody>
      </p:sp>
      <p:sp>
        <p:nvSpPr>
          <p:cNvPr id="6" name="Shape 4"/>
          <p:cNvSpPr/>
          <p:nvPr/>
        </p:nvSpPr>
        <p:spPr>
          <a:xfrm>
            <a:off x="1143000" y="2771378"/>
            <a:ext cx="2727920" cy="19050"/>
          </a:xfrm>
          <a:prstGeom prst="rect">
            <a:avLst/>
          </a:prstGeom>
          <a:solidFill>
            <a:srgbClr val="201E1E">
              <a:alpha val="40000"/>
            </a:srgbClr>
          </a:solidFill>
          <a:ln/>
        </p:spPr>
      </p:sp>
      <p:sp>
        <p:nvSpPr>
          <p:cNvPr id="7" name="Text 5"/>
          <p:cNvSpPr/>
          <p:nvPr/>
        </p:nvSpPr>
        <p:spPr>
          <a:xfrm>
            <a:off x="1143000" y="2961878"/>
            <a:ext cx="3000712"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COBOL source</a:t>
            </a:r>
            <a:endParaRPr lang="en-US" sz="2250" dirty="0"/>
          </a:p>
        </p:txBody>
      </p:sp>
      <p:sp>
        <p:nvSpPr>
          <p:cNvPr id="8" name="Text 6"/>
          <p:cNvSpPr/>
          <p:nvPr/>
        </p:nvSpPr>
        <p:spPr>
          <a:xfrm>
            <a:off x="1143000" y="3404791"/>
            <a:ext cx="280975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4,000 lines · 1987 ~200 undocumented edits</a:t>
            </a:r>
            <a:endParaRPr lang="en-US" sz="1800" dirty="0"/>
          </a:p>
        </p:txBody>
      </p:sp>
      <p:sp>
        <p:nvSpPr>
          <p:cNvPr id="9" name="Text 7"/>
          <p:cNvSpPr/>
          <p:nvPr/>
        </p:nvSpPr>
        <p:spPr>
          <a:xfrm>
            <a:off x="3966170"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4461470" y="2771378"/>
            <a:ext cx="2727920" cy="19050"/>
          </a:xfrm>
          <a:prstGeom prst="rect">
            <a:avLst/>
          </a:prstGeom>
          <a:solidFill>
            <a:srgbClr val="201E1E">
              <a:alpha val="40000"/>
            </a:srgbClr>
          </a:solidFill>
          <a:ln/>
        </p:spPr>
      </p:sp>
      <p:sp>
        <p:nvSpPr>
          <p:cNvPr id="11" name="Text 9"/>
          <p:cNvSpPr/>
          <p:nvPr/>
        </p:nvSpPr>
        <p:spPr>
          <a:xfrm>
            <a:off x="4461470" y="2961878"/>
            <a:ext cx="3000712"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Translate</a:t>
            </a:r>
            <a:endParaRPr lang="en-US" sz="2250" dirty="0"/>
          </a:p>
        </p:txBody>
      </p:sp>
      <p:sp>
        <p:nvSpPr>
          <p:cNvPr id="12" name="Text 10"/>
          <p:cNvSpPr/>
          <p:nvPr/>
        </p:nvSpPr>
        <p:spPr>
          <a:xfrm>
            <a:off x="4461470" y="3404791"/>
            <a:ext cx="280975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transpilers · LLMs AWS · IBM · TCS ship this</a:t>
            </a:r>
            <a:endParaRPr lang="en-US" sz="1800" dirty="0"/>
          </a:p>
        </p:txBody>
      </p:sp>
      <p:sp>
        <p:nvSpPr>
          <p:cNvPr id="13" name="Text 11"/>
          <p:cNvSpPr/>
          <p:nvPr/>
        </p:nvSpPr>
        <p:spPr>
          <a:xfrm>
            <a:off x="728464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7779941" y="2771378"/>
            <a:ext cx="2728020" cy="19050"/>
          </a:xfrm>
          <a:prstGeom prst="rect">
            <a:avLst/>
          </a:prstGeom>
          <a:solidFill>
            <a:srgbClr val="201E1E">
              <a:alpha val="40000"/>
            </a:srgbClr>
          </a:solidFill>
          <a:ln/>
        </p:spPr>
      </p:sp>
      <p:sp>
        <p:nvSpPr>
          <p:cNvPr id="15" name="Text 13"/>
          <p:cNvSpPr/>
          <p:nvPr/>
        </p:nvSpPr>
        <p:spPr>
          <a:xfrm>
            <a:off x="7779941" y="2961878"/>
            <a:ext cx="3000821"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Modern Java</a:t>
            </a:r>
            <a:endParaRPr lang="en-US" sz="2250" dirty="0"/>
          </a:p>
        </p:txBody>
      </p:sp>
      <p:sp>
        <p:nvSpPr>
          <p:cNvPr id="16" name="Text 14"/>
          <p:cNvSpPr/>
          <p:nvPr/>
        </p:nvSpPr>
        <p:spPr>
          <a:xfrm>
            <a:off x="7779941" y="3404791"/>
            <a:ext cx="280986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compiles · passes the tests you wrote</a:t>
            </a:r>
            <a:endParaRPr lang="en-US" sz="1800" dirty="0"/>
          </a:p>
        </p:txBody>
      </p:sp>
      <p:sp>
        <p:nvSpPr>
          <p:cNvPr id="17" name="Text 15"/>
          <p:cNvSpPr/>
          <p:nvPr/>
        </p:nvSpPr>
        <p:spPr>
          <a:xfrm>
            <a:off x="1060321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18" name="Shape 16"/>
          <p:cNvSpPr/>
          <p:nvPr/>
        </p:nvSpPr>
        <p:spPr>
          <a:xfrm>
            <a:off x="11098511" y="2771378"/>
            <a:ext cx="3409950" cy="19050"/>
          </a:xfrm>
          <a:prstGeom prst="rect">
            <a:avLst/>
          </a:prstGeom>
          <a:solidFill>
            <a:srgbClr val="EC3013"/>
          </a:solidFill>
          <a:ln/>
        </p:spPr>
      </p:sp>
      <p:sp>
        <p:nvSpPr>
          <p:cNvPr id="19" name="Text 17"/>
          <p:cNvSpPr/>
          <p:nvPr/>
        </p:nvSpPr>
        <p:spPr>
          <a:xfrm>
            <a:off x="11098511" y="2961878"/>
            <a:ext cx="3750945"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EC3013"/>
                </a:solidFill>
                <a:latin typeface="Arial" pitchFamily="34" charset="0"/>
                <a:ea typeface="Arial" pitchFamily="34" charset="-122"/>
                <a:cs typeface="Arial" pitchFamily="34" charset="-120"/>
              </a:rPr>
              <a:t>Verification</a:t>
            </a:r>
            <a:endParaRPr lang="en-US" sz="2250" dirty="0"/>
          </a:p>
        </p:txBody>
      </p:sp>
      <p:sp>
        <p:nvSpPr>
          <p:cNvPr id="20" name="Text 18"/>
          <p:cNvSpPr/>
          <p:nvPr/>
        </p:nvSpPr>
        <p:spPr>
          <a:xfrm>
            <a:off x="11098511" y="3404791"/>
            <a:ext cx="3512249"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AE1800"/>
                </a:solidFill>
                <a:latin typeface="Arial" pitchFamily="34" charset="0"/>
                <a:ea typeface="Arial" pitchFamily="34" charset="-122"/>
                <a:cs typeface="Arial" pitchFamily="34" charset="-120"/>
              </a:rPr>
              <a:t>Can anyone prove the new program behaves identically to the old one?</a:t>
            </a:r>
            <a:endParaRPr lang="en-US" sz="1800" dirty="0"/>
          </a:p>
        </p:txBody>
      </p:sp>
      <p:sp>
        <p:nvSpPr>
          <p:cNvPr id="21" name="Text 19"/>
          <p:cNvSpPr/>
          <p:nvPr/>
        </p:nvSpPr>
        <p:spPr>
          <a:xfrm>
            <a:off x="14603711" y="2923778"/>
            <a:ext cx="400050" cy="481012"/>
          </a:xfrm>
          <a:prstGeom prst="rect">
            <a:avLst/>
          </a:prstGeom>
          <a:noFill/>
          <a:ln/>
        </p:spPr>
        <p:txBody>
          <a:bodyPr wrap="square" lIns="25400" tIns="25400" rIns="25400" bIns="25400" rtlCol="0" anchor="t">
            <a:normAutofit/>
          </a:bodyPr>
          <a:lstStyle/>
          <a:p>
            <a:pPr algn="ctr" indent="0" marL="0">
              <a:lnSpc>
                <a:spcPct val="134135"/>
              </a:lnSpc>
              <a:buNone/>
            </a:pPr>
            <a:r>
              <a:rPr lang="en-US" sz="2250" dirty="0">
                <a:solidFill>
                  <a:srgbClr val="201E1C">
                    <a:alpha val="60000"/>
                  </a:srgbClr>
                </a:solidFill>
                <a:latin typeface="Arial" pitchFamily="34" charset="0"/>
                <a:ea typeface="Arial" pitchFamily="34" charset="-122"/>
                <a:cs typeface="Arial" pitchFamily="34" charset="-120"/>
              </a:rPr>
              <a:t>→</a:t>
            </a:r>
            <a:endParaRPr lang="en-US" sz="2250" dirty="0"/>
          </a:p>
        </p:txBody>
      </p:sp>
      <p:sp>
        <p:nvSpPr>
          <p:cNvPr id="22" name="Shape 20"/>
          <p:cNvSpPr/>
          <p:nvPr/>
        </p:nvSpPr>
        <p:spPr>
          <a:xfrm>
            <a:off x="15099011" y="2771378"/>
            <a:ext cx="2045990" cy="19050"/>
          </a:xfrm>
          <a:prstGeom prst="rect">
            <a:avLst/>
          </a:prstGeom>
          <a:solidFill>
            <a:srgbClr val="201E1E">
              <a:alpha val="40000"/>
            </a:srgbClr>
          </a:solidFill>
          <a:ln/>
        </p:spPr>
      </p:sp>
      <p:sp>
        <p:nvSpPr>
          <p:cNvPr id="23" name="Text 21"/>
          <p:cNvSpPr/>
          <p:nvPr/>
        </p:nvSpPr>
        <p:spPr>
          <a:xfrm>
            <a:off x="15099011" y="2961878"/>
            <a:ext cx="2250589" cy="366713"/>
          </a:xfrm>
          <a:prstGeom prst="rect">
            <a:avLst/>
          </a:prstGeom>
          <a:noFill/>
          <a:ln/>
        </p:spPr>
        <p:txBody>
          <a:bodyPr wrap="square" lIns="25400" tIns="25400" rIns="25400" bIns="25400" rtlCol="0" anchor="t">
            <a:normAutofit/>
          </a:bodyPr>
          <a:lstStyle/>
          <a:p>
            <a:pPr algn="l" indent="0" marL="0">
              <a:lnSpc>
                <a:spcPct val="80859"/>
              </a:lnSpc>
              <a:buNone/>
            </a:pPr>
            <a:r>
              <a:rPr lang="en-US" sz="2250" b="1" spc="-34" kern="0" dirty="0">
                <a:solidFill>
                  <a:srgbClr val="201E1D"/>
                </a:solidFill>
                <a:latin typeface="Arial" pitchFamily="34" charset="0"/>
                <a:ea typeface="Arial" pitchFamily="34" charset="-122"/>
                <a:cs typeface="Arial" pitchFamily="34" charset="-120"/>
              </a:rPr>
              <a:t>Production</a:t>
            </a:r>
            <a:endParaRPr lang="en-US" sz="2250" dirty="0"/>
          </a:p>
        </p:txBody>
      </p:sp>
      <p:sp>
        <p:nvSpPr>
          <p:cNvPr id="24" name="Text 22"/>
          <p:cNvSpPr/>
          <p:nvPr/>
        </p:nvSpPr>
        <p:spPr>
          <a:xfrm>
            <a:off x="15099011" y="3404791"/>
            <a:ext cx="2250589"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never reached</a:t>
            </a:r>
            <a:endParaRPr lang="en-US" sz="1800" dirty="0"/>
          </a:p>
        </p:txBody>
      </p:sp>
      <p:sp>
        <p:nvSpPr>
          <p:cNvPr id="25" name="Text 23"/>
          <p:cNvSpPr/>
          <p:nvPr/>
        </p:nvSpPr>
        <p:spPr>
          <a:xfrm>
            <a:off x="1143000" y="4595416"/>
            <a:ext cx="9275553" cy="7048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201E1C">
                    <a:alpha val="60000"/>
                  </a:srgbClr>
                </a:solidFill>
                <a:latin typeface="Arial" pitchFamily="34" charset="0"/>
                <a:ea typeface="Arial" pitchFamily="34" charset="-122"/>
                <a:cs typeface="Arial" pitchFamily="34" charset="-120"/>
              </a:rPr>
              <a:t>No specification was ever written — the rules live only inside the code. Asking an AI to explain them looks excellent, and a meaningful share of the output is wrong:</a:t>
            </a:r>
            <a:endParaRPr lang="en-US" sz="1875" dirty="0"/>
          </a:p>
        </p:txBody>
      </p:sp>
      <p:sp>
        <p:nvSpPr>
          <p:cNvPr id="26" name="Shape 24"/>
          <p:cNvSpPr/>
          <p:nvPr/>
        </p:nvSpPr>
        <p:spPr>
          <a:xfrm>
            <a:off x="1143000" y="5490766"/>
            <a:ext cx="5029200" cy="19050"/>
          </a:xfrm>
          <a:prstGeom prst="rect">
            <a:avLst/>
          </a:prstGeom>
          <a:solidFill>
            <a:srgbClr val="201E1E">
              <a:alpha val="40000"/>
            </a:srgbClr>
          </a:solidFill>
          <a:ln/>
        </p:spPr>
      </p:sp>
      <p:sp>
        <p:nvSpPr>
          <p:cNvPr id="27" name="Text 25"/>
          <p:cNvSpPr/>
          <p:nvPr/>
        </p:nvSpPr>
        <p:spPr>
          <a:xfrm>
            <a:off x="11430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62%</a:t>
            </a:r>
            <a:endParaRPr lang="en-US" sz="6300" dirty="0"/>
          </a:p>
        </p:txBody>
      </p:sp>
      <p:sp>
        <p:nvSpPr>
          <p:cNvPr id="28" name="Text 26"/>
          <p:cNvSpPr/>
          <p:nvPr/>
        </p:nvSpPr>
        <p:spPr>
          <a:xfrm>
            <a:off x="11430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precision of the best published COBOL rule extractor</a:t>
            </a:r>
            <a:endParaRPr lang="en-US" sz="1875" dirty="0"/>
          </a:p>
        </p:txBody>
      </p:sp>
      <p:sp>
        <p:nvSpPr>
          <p:cNvPr id="29" name="Text 27"/>
          <p:cNvSpPr/>
          <p:nvPr/>
        </p:nvSpPr>
        <p:spPr>
          <a:xfrm>
            <a:off x="11430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A-COBREX, ICSE 2025</a:t>
            </a:r>
            <a:endParaRPr lang="en-US" sz="1800" dirty="0"/>
          </a:p>
        </p:txBody>
      </p:sp>
      <p:sp>
        <p:nvSpPr>
          <p:cNvPr id="30" name="Shape 28"/>
          <p:cNvSpPr/>
          <p:nvPr/>
        </p:nvSpPr>
        <p:spPr>
          <a:xfrm>
            <a:off x="6629400" y="5490766"/>
            <a:ext cx="5029200" cy="19050"/>
          </a:xfrm>
          <a:prstGeom prst="rect">
            <a:avLst/>
          </a:prstGeom>
          <a:solidFill>
            <a:srgbClr val="201E1E">
              <a:alpha val="40000"/>
            </a:srgbClr>
          </a:solidFill>
          <a:ln/>
        </p:spPr>
      </p:sp>
      <p:sp>
        <p:nvSpPr>
          <p:cNvPr id="31" name="Text 29"/>
          <p:cNvSpPr/>
          <p:nvPr/>
        </p:nvSpPr>
        <p:spPr>
          <a:xfrm>
            <a:off x="66294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91.2%</a:t>
            </a:r>
            <a:endParaRPr lang="en-US" sz="6300" dirty="0"/>
          </a:p>
        </p:txBody>
      </p:sp>
      <p:sp>
        <p:nvSpPr>
          <p:cNvPr id="32" name="Text 30"/>
          <p:cNvSpPr/>
          <p:nvPr/>
        </p:nvSpPr>
        <p:spPr>
          <a:xfrm>
            <a:off x="66294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business rules successfully extracted by a 2026 system</a:t>
            </a:r>
            <a:endParaRPr lang="en-US" sz="1875" dirty="0"/>
          </a:p>
        </p:txBody>
      </p:sp>
      <p:sp>
        <p:nvSpPr>
          <p:cNvPr id="33" name="Text 31"/>
          <p:cNvSpPr/>
          <p:nvPr/>
        </p:nvSpPr>
        <p:spPr>
          <a:xfrm>
            <a:off x="66294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AgentModernize, arXiv 2605.17535</a:t>
            </a:r>
            <a:endParaRPr lang="en-US" sz="1800" dirty="0"/>
          </a:p>
        </p:txBody>
      </p:sp>
      <p:sp>
        <p:nvSpPr>
          <p:cNvPr id="34" name="Shape 32"/>
          <p:cNvSpPr/>
          <p:nvPr/>
        </p:nvSpPr>
        <p:spPr>
          <a:xfrm>
            <a:off x="12115800" y="5490766"/>
            <a:ext cx="5029200" cy="19050"/>
          </a:xfrm>
          <a:prstGeom prst="rect">
            <a:avLst/>
          </a:prstGeom>
          <a:solidFill>
            <a:srgbClr val="201E1E">
              <a:alpha val="40000"/>
            </a:srgbClr>
          </a:solidFill>
          <a:ln/>
        </p:spPr>
      </p:sp>
      <p:sp>
        <p:nvSpPr>
          <p:cNvPr id="35" name="Text 33"/>
          <p:cNvSpPr/>
          <p:nvPr/>
        </p:nvSpPr>
        <p:spPr>
          <a:xfrm>
            <a:off x="12115800" y="5719366"/>
            <a:ext cx="553212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EC3013"/>
                </a:solidFill>
                <a:latin typeface="Arial" pitchFamily="34" charset="0"/>
                <a:ea typeface="Arial" pitchFamily="34" charset="-122"/>
                <a:cs typeface="Arial" pitchFamily="34" charset="-120"/>
              </a:rPr>
              <a:t>&lt;20%</a:t>
            </a:r>
            <a:endParaRPr lang="en-US" sz="6300" dirty="0"/>
          </a:p>
        </p:txBody>
      </p:sp>
      <p:sp>
        <p:nvSpPr>
          <p:cNvPr id="36" name="Text 34"/>
          <p:cNvSpPr/>
          <p:nvPr/>
        </p:nvSpPr>
        <p:spPr>
          <a:xfrm>
            <a:off x="12115800" y="6652816"/>
            <a:ext cx="5180076"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behavioural equivalence reached by that same system</a:t>
            </a:r>
            <a:endParaRPr lang="en-US" sz="1875" dirty="0"/>
          </a:p>
        </p:txBody>
      </p:sp>
      <p:sp>
        <p:nvSpPr>
          <p:cNvPr id="37" name="Text 35"/>
          <p:cNvSpPr/>
          <p:nvPr/>
        </p:nvSpPr>
        <p:spPr>
          <a:xfrm>
            <a:off x="12115800" y="7395766"/>
            <a:ext cx="553212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baselines scored 0.0%</a:t>
            </a:r>
            <a:endParaRPr lang="en-US" sz="1800" dirty="0"/>
          </a:p>
        </p:txBody>
      </p:sp>
      <p:sp>
        <p:nvSpPr>
          <p:cNvPr id="38" name="Shape 36"/>
          <p:cNvSpPr/>
          <p:nvPr/>
        </p:nvSpPr>
        <p:spPr>
          <a:xfrm>
            <a:off x="1143000" y="7910116"/>
            <a:ext cx="11811000" cy="19050"/>
          </a:xfrm>
          <a:prstGeom prst="rect">
            <a:avLst/>
          </a:prstGeom>
          <a:solidFill>
            <a:srgbClr val="201E1E">
              <a:alpha val="40000"/>
            </a:srgbClr>
          </a:solidFill>
          <a:ln/>
        </p:spPr>
      </p:sp>
      <p:sp>
        <p:nvSpPr>
          <p:cNvPr id="39" name="Text 37"/>
          <p:cNvSpPr/>
          <p:nvPr/>
        </p:nvSpPr>
        <p:spPr>
          <a:xfrm>
            <a:off x="1143000" y="8100616"/>
            <a:ext cx="12992100" cy="336748"/>
          </a:xfrm>
          <a:prstGeom prst="rect">
            <a:avLst/>
          </a:prstGeom>
          <a:noFill/>
          <a:ln/>
        </p:spPr>
        <p:txBody>
          <a:bodyPr wrap="square" lIns="25400" tIns="25400" rIns="25400" bIns="25400" rtlCol="0" anchor="t">
            <a:normAutofit/>
          </a:bodyPr>
          <a:lstStyle/>
          <a:p>
            <a:pPr algn="l" indent="0" marL="0">
              <a:lnSpc>
                <a:spcPct val="79729"/>
              </a:lnSpc>
              <a:buNone/>
            </a:pPr>
            <a:r>
              <a:rPr lang="en-US" sz="2100" b="1" spc="-31" kern="0" dirty="0">
                <a:solidFill>
                  <a:srgbClr val="201E1D"/>
                </a:solidFill>
                <a:latin typeface="Arial" pitchFamily="34" charset="0"/>
                <a:ea typeface="Arial" pitchFamily="34" charset="-122"/>
                <a:cs typeface="Arial" pitchFamily="34" charset="-120"/>
              </a:rPr>
              <a:t>Extraction works. Behavioural equivalence does not follow from it. </a:t>
            </a:r>
            <a:pPr algn="l" indent="0" marL="0">
              <a:lnSpc>
                <a:spcPct val="79729"/>
              </a:lnSpc>
              <a:buNone/>
            </a:pPr>
            <a:r>
              <a:rPr lang="en-US" sz="2100" b="1" spc="-31" kern="0" dirty="0">
                <a:solidFill>
                  <a:srgbClr val="AE1800"/>
                </a:solidFill>
                <a:latin typeface="Arial" pitchFamily="34" charset="0"/>
                <a:ea typeface="Arial" pitchFamily="34" charset="-122"/>
                <a:cs typeface="Arial" pitchFamily="34" charset="-120"/>
              </a:rPr>
              <a:t>Verification has to be the product.</a:t>
            </a:r>
            <a:endParaRPr lang="en-US" sz="2100" dirty="0"/>
          </a:p>
        </p:txBody>
      </p:sp>
      <p:sp>
        <p:nvSpPr>
          <p:cNvPr id="40" name="Text 38"/>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Even IBM Research, on its own watsonx Code Assistant for Z: “the resulting code cannot be trusted to correctly translate the original code” (arXiv:2504.10548). If the vendor cannot trust its own output without validation, no bank can.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478690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TARGET USERS &amp; STAKEHOLDERS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04</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Who is stuck, and what they are stuck on</a:t>
            </a:r>
            <a:endParaRPr lang="en-US" sz="4650" dirty="0"/>
          </a:p>
        </p:txBody>
      </p:sp>
      <p:sp>
        <p:nvSpPr>
          <p:cNvPr id="6" name="Shape 4"/>
          <p:cNvSpPr/>
          <p:nvPr/>
        </p:nvSpPr>
        <p:spPr>
          <a:xfrm>
            <a:off x="1143000" y="2847578"/>
            <a:ext cx="3657600" cy="19050"/>
          </a:xfrm>
          <a:prstGeom prst="rect">
            <a:avLst/>
          </a:prstGeom>
          <a:solidFill>
            <a:srgbClr val="201E1E">
              <a:alpha val="40000"/>
            </a:srgbClr>
          </a:solidFill>
          <a:ln/>
        </p:spPr>
        <p:txBody>
          <a:bodyPr/>
          <a:p/>
        </p:txBody>
      </p:sp>
      <p:sp>
        <p:nvSpPr>
          <p:cNvPr id="7" name="Text 5"/>
          <p:cNvSpPr/>
          <p:nvPr/>
        </p:nvSpPr>
        <p:spPr>
          <a:xfrm>
            <a:off x="11430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Bank CIO / core banking head</a:t>
            </a:r>
            <a:endParaRPr lang="en-US" sz="2100" dirty="0"/>
          </a:p>
        </p:txBody>
      </p:sp>
      <p:sp>
        <p:nvSpPr>
          <p:cNvPr id="8" name="Text 6"/>
          <p:cNvSpPr/>
          <p:nvPr/>
        </p:nvSpPr>
        <p:spPr>
          <a:xfrm>
            <a:off x="1143000" y="3478113"/>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Owns the migration decision and the cutover date.</a:t>
            </a:r>
            <a:endParaRPr lang="en-US" sz="1800" dirty="0"/>
          </a:p>
        </p:txBody>
      </p:sp>
      <p:sp>
        <p:nvSpPr>
          <p:cNvPr id="9" name="Text 7"/>
          <p:cNvSpPr/>
          <p:nvPr/>
        </p:nvSpPr>
        <p:spPr>
          <a:xfrm>
            <a:off x="1143000" y="5102352"/>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cannot sign off a replacement nobody can prove behaves identically.</a:t>
            </a:r>
            <a:endParaRPr lang="en-US" sz="1800" dirty="0"/>
          </a:p>
        </p:txBody>
      </p:sp>
      <p:sp>
        <p:nvSpPr>
          <p:cNvPr id="10" name="Shape 8"/>
          <p:cNvSpPr/>
          <p:nvPr/>
        </p:nvSpPr>
        <p:spPr>
          <a:xfrm>
            <a:off x="5257800" y="2847578"/>
            <a:ext cx="3657600" cy="19050"/>
          </a:xfrm>
          <a:prstGeom prst="rect">
            <a:avLst/>
          </a:prstGeom>
          <a:solidFill>
            <a:srgbClr val="201E1E">
              <a:alpha val="40000"/>
            </a:srgbClr>
          </a:solidFill>
          <a:ln/>
        </p:spPr>
        <p:txBody>
          <a:bodyPr/>
          <a:p/>
        </p:txBody>
      </p:sp>
      <p:sp>
        <p:nvSpPr>
          <p:cNvPr id="11" name="Text 9"/>
          <p:cNvSpPr/>
          <p:nvPr/>
        </p:nvSpPr>
        <p:spPr>
          <a:xfrm>
            <a:off x="5257800" y="3038078"/>
            <a:ext cx="3767328"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Risk, compliance and internal audit</a:t>
            </a:r>
            <a:endParaRPr lang="en-US" sz="2100" dirty="0"/>
          </a:p>
        </p:txBody>
      </p:sp>
      <p:sp>
        <p:nvSpPr>
          <p:cNvPr id="12" name="Text 10"/>
          <p:cNvSpPr/>
          <p:nvPr/>
        </p:nvSpPr>
        <p:spPr>
          <a:xfrm>
            <a:off x="5257800" y="3784799"/>
            <a:ext cx="3767328" cy="121920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Owns the board-approved Change Management Policy required by RBI’s IT Governance Direction (2023).</a:t>
            </a:r>
            <a:endParaRPr lang="en-US" sz="1800" dirty="0"/>
          </a:p>
        </p:txBody>
      </p:sp>
      <p:sp>
        <p:nvSpPr>
          <p:cNvPr id="13" name="Text 11"/>
          <p:cNvSpPr/>
          <p:nvPr/>
        </p:nvSpPr>
        <p:spPr>
          <a:xfrm>
            <a:off x="5257800" y="5099249"/>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no auditable artefact showing old and new agree, case by case.</a:t>
            </a:r>
            <a:endParaRPr lang="en-US" sz="1800" dirty="0"/>
          </a:p>
        </p:txBody>
      </p:sp>
      <p:sp>
        <p:nvSpPr>
          <p:cNvPr id="14" name="Shape 12"/>
          <p:cNvSpPr/>
          <p:nvPr/>
        </p:nvSpPr>
        <p:spPr>
          <a:xfrm>
            <a:off x="9372600" y="2847578"/>
            <a:ext cx="3657600" cy="19050"/>
          </a:xfrm>
          <a:prstGeom prst="rect">
            <a:avLst/>
          </a:prstGeom>
          <a:solidFill>
            <a:srgbClr val="201E1E">
              <a:alpha val="40000"/>
            </a:srgbClr>
          </a:solidFill>
          <a:ln/>
        </p:spPr>
        <p:txBody>
          <a:bodyPr/>
          <a:p/>
        </p:txBody>
      </p:sp>
      <p:sp>
        <p:nvSpPr>
          <p:cNvPr id="15" name="Text 13"/>
          <p:cNvSpPr/>
          <p:nvPr/>
        </p:nvSpPr>
        <p:spPr>
          <a:xfrm>
            <a:off x="93726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Modernisation vendors and SIs</a:t>
            </a:r>
            <a:endParaRPr lang="en-US" sz="2100" dirty="0"/>
          </a:p>
        </p:txBody>
      </p:sp>
      <p:sp>
        <p:nvSpPr>
          <p:cNvPr id="16" name="Text 14"/>
          <p:cNvSpPr/>
          <p:nvPr/>
        </p:nvSpPr>
        <p:spPr>
          <a:xfrm>
            <a:off x="9372600" y="3478113"/>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Cognizant, TCS, Infosys and in-house delivery teams.</a:t>
            </a:r>
            <a:endParaRPr lang="en-US" sz="1800" dirty="0"/>
          </a:p>
        </p:txBody>
      </p:sp>
      <p:sp>
        <p:nvSpPr>
          <p:cNvPr id="17" name="Text 15"/>
          <p:cNvSpPr/>
          <p:nvPr/>
        </p:nvSpPr>
        <p:spPr>
          <a:xfrm>
            <a:off x="9372600" y="5102352"/>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translation is already commoditised; assurance is what stretches the programme.</a:t>
            </a:r>
            <a:endParaRPr lang="en-US" sz="1800" dirty="0"/>
          </a:p>
        </p:txBody>
      </p:sp>
      <p:sp>
        <p:nvSpPr>
          <p:cNvPr id="18" name="Shape 16"/>
          <p:cNvSpPr/>
          <p:nvPr/>
        </p:nvSpPr>
        <p:spPr>
          <a:xfrm>
            <a:off x="13487400" y="2847578"/>
            <a:ext cx="3657600" cy="19050"/>
          </a:xfrm>
          <a:prstGeom prst="rect">
            <a:avLst/>
          </a:prstGeom>
          <a:solidFill>
            <a:srgbClr val="201E1E">
              <a:alpha val="40000"/>
            </a:srgbClr>
          </a:solidFill>
          <a:ln/>
        </p:spPr>
        <p:txBody>
          <a:bodyPr/>
          <a:p/>
        </p:txBody>
      </p:sp>
      <p:sp>
        <p:nvSpPr>
          <p:cNvPr id="19" name="Text 17"/>
          <p:cNvSpPr/>
          <p:nvPr/>
        </p:nvSpPr>
        <p:spPr>
          <a:xfrm>
            <a:off x="13487400" y="3038078"/>
            <a:ext cx="402336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The supervisor</a:t>
            </a:r>
            <a:endParaRPr lang="en-US" sz="2100" dirty="0"/>
          </a:p>
        </p:txBody>
      </p:sp>
      <p:sp>
        <p:nvSpPr>
          <p:cNvPr id="20" name="Text 18"/>
          <p:cNvSpPr/>
          <p:nvPr/>
        </p:nvSpPr>
        <p:spPr>
          <a:xfrm>
            <a:off x="13487400" y="3478113"/>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RBI, and the bank’s own board.</a:t>
            </a:r>
            <a:endParaRPr lang="en-US" sz="1800" dirty="0"/>
          </a:p>
        </p:txBody>
      </p:sp>
      <p:sp>
        <p:nvSpPr>
          <p:cNvPr id="21" name="Text 19"/>
          <p:cNvSpPr/>
          <p:nvPr/>
        </p:nvSpPr>
        <p:spPr>
          <a:xfrm>
            <a:off x="13487400" y="5102352"/>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Pain </a:t>
            </a:r>
            <a:pPr algn="l" indent="0" marL="0">
              <a:lnSpc>
                <a:spcPct val="110714"/>
              </a:lnSpc>
              <a:buNone/>
            </a:pPr>
            <a:r>
              <a:rPr lang="en-US" sz="1800" dirty="0">
                <a:solidFill>
                  <a:srgbClr val="201E1D"/>
                </a:solidFill>
                <a:latin typeface="Arial" pitchFamily="34" charset="0"/>
                <a:ea typeface="Arial" pitchFamily="34" charset="-122"/>
                <a:cs typeface="Arial" pitchFamily="34" charset="-120"/>
              </a:rPr>
              <a:t>— an IT failure is a supervisory event, not an engineering incident.</a:t>
            </a:r>
            <a:endParaRPr lang="en-US" sz="1800" dirty="0"/>
          </a:p>
        </p:txBody>
      </p:sp>
      <p:sp>
        <p:nvSpPr>
          <p:cNvPr id="22" name="Shape 20"/>
          <p:cNvSpPr/>
          <p:nvPr/>
        </p:nvSpPr>
        <p:spPr>
          <a:xfrm>
            <a:off x="1143000" y="6480374"/>
            <a:ext cx="16002000" cy="19050"/>
          </a:xfrm>
          <a:prstGeom prst="rect">
            <a:avLst/>
          </a:prstGeom>
          <a:solidFill>
            <a:srgbClr val="201E1E">
              <a:alpha val="40000"/>
            </a:srgbClr>
          </a:solidFill>
          <a:ln/>
        </p:spPr>
        <p:txBody>
          <a:bodyPr/>
          <a:p/>
        </p:txBody>
      </p:sp>
      <p:sp>
        <p:nvSpPr>
          <p:cNvPr id="23" name="Text 21"/>
          <p:cNvSpPr/>
          <p:nvPr/>
        </p:nvSpPr>
        <p:spPr>
          <a:xfrm>
            <a:off x="1143000" y="6728024"/>
            <a:ext cx="9035497" cy="861020"/>
          </a:xfrm>
          <a:prstGeom prst="rect">
            <a:avLst/>
          </a:prstGeom>
          <a:noFill/>
          <a:ln/>
        </p:spPr>
        <p:txBody>
          <a:bodyPr wrap="square" lIns="25400" tIns="25400" rIns="25400" bIns="25400" rtlCol="0" anchor="t">
            <a:normAutofit/>
          </a:bodyPr>
          <a:lstStyle/>
          <a:p>
            <a:pPr algn="l" indent="0" marL="0">
              <a:lnSpc>
                <a:spcPct val="85263"/>
              </a:lnSpc>
              <a:buNone/>
            </a:pPr>
            <a:r>
              <a:rPr lang="en-US" sz="2700" b="1" spc="-40" kern="0" dirty="0">
                <a:solidFill>
                  <a:srgbClr val="201E1D"/>
                </a:solidFill>
                <a:latin typeface="Arial" pitchFamily="34" charset="0"/>
                <a:ea typeface="Arial" pitchFamily="34" charset="-122"/>
                <a:cs typeface="Arial" pitchFamily="34" charset="-120"/>
              </a:rPr>
              <a:t>Nobody on this list is short of a translator. Everybody on this list is short of proof.</a:t>
            </a:r>
            <a:endParaRPr lang="en-US" sz="2700" dirty="0"/>
          </a:p>
        </p:txBody>
      </p:sp>
      <p:sp>
        <p:nvSpPr>
          <p:cNvPr id="24" name="Text 22"/>
          <p:cNvSpPr/>
          <p:nvPr/>
        </p:nvSpPr>
        <p:spPr>
          <a:xfrm>
            <a:off x="1143000" y="7703344"/>
            <a:ext cx="17602200" cy="36195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AE1800"/>
                </a:solidFill>
                <a:latin typeface="Arial" pitchFamily="34" charset="0"/>
                <a:ea typeface="Arial" pitchFamily="34" charset="-122"/>
                <a:cs typeface="Arial" pitchFamily="34" charset="-120"/>
              </a:rPr>
              <a:t>Our buyer is the person who has to sign the cutover memo — and today has nothing to attach to it.</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13872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OUR SOLUTION</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05</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A deterministic pipeline, with the AI on a short leash</a:t>
            </a:r>
            <a:endParaRPr lang="en-US" sz="4650" dirty="0"/>
          </a:p>
        </p:txBody>
      </p:sp>
      <p:sp>
        <p:nvSpPr>
          <p:cNvPr id="6" name="Shape 4"/>
          <p:cNvSpPr/>
          <p:nvPr/>
        </p:nvSpPr>
        <p:spPr>
          <a:xfrm>
            <a:off x="1143000" y="2733278"/>
            <a:ext cx="16002000" cy="19050"/>
          </a:xfrm>
          <a:prstGeom prst="rect">
            <a:avLst/>
          </a:prstGeom>
          <a:solidFill>
            <a:srgbClr val="201E1E">
              <a:alpha val="40000"/>
            </a:srgbClr>
          </a:solidFill>
          <a:ln/>
        </p:spPr>
      </p:sp>
      <p:sp>
        <p:nvSpPr>
          <p:cNvPr id="7" name="Text 5"/>
          <p:cNvSpPr/>
          <p:nvPr/>
        </p:nvSpPr>
        <p:spPr>
          <a:xfrm>
            <a:off x="1143000" y="2914253"/>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0</a:t>
            </a:r>
            <a:endParaRPr lang="en-US" sz="2100" dirty="0"/>
          </a:p>
        </p:txBody>
      </p:sp>
      <p:sp>
        <p:nvSpPr>
          <p:cNvPr id="8" name="Text 6"/>
          <p:cNvSpPr/>
          <p:nvPr/>
        </p:nvSpPr>
        <p:spPr>
          <a:xfrm>
            <a:off x="2019300" y="2958703"/>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Intake gate</a:t>
            </a:r>
            <a:endParaRPr lang="en-US" sz="2175" dirty="0"/>
          </a:p>
        </p:txBody>
      </p:sp>
      <p:sp>
        <p:nvSpPr>
          <p:cNvPr id="9" name="Text 7"/>
          <p:cNvSpPr/>
          <p:nvPr/>
        </p:nvSpPr>
        <p:spPr>
          <a:xfrm>
            <a:off x="6838950" y="2990453"/>
            <a:ext cx="7613142"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clock / DB / CICS detected? REFUSED — non-deterministic, cannot be verified soundly</a:t>
            </a:r>
            <a:endParaRPr lang="en-US" sz="1800" dirty="0"/>
          </a:p>
        </p:txBody>
      </p:sp>
      <p:sp>
        <p:nvSpPr>
          <p:cNvPr id="10" name="Shape 8"/>
          <p:cNvSpPr/>
          <p:nvPr/>
        </p:nvSpPr>
        <p:spPr>
          <a:xfrm>
            <a:off x="14876066" y="2955528"/>
            <a:ext cx="2268934" cy="361950"/>
          </a:xfrm>
          <a:prstGeom prst="rect">
            <a:avLst/>
          </a:prstGeom>
          <a:ln w="19050">
            <a:solidFill>
              <a:srgbClr val="201E1E">
                <a:alpha val="40000"/>
              </a:srgbClr>
            </a:solidFill>
            <a:prstDash val="solid"/>
          </a:ln>
        </p:spPr>
      </p:sp>
      <p:sp>
        <p:nvSpPr>
          <p:cNvPr id="11" name="Text 9"/>
          <p:cNvSpPr/>
          <p:nvPr/>
        </p:nvSpPr>
        <p:spPr>
          <a:xfrm>
            <a:off x="15028466" y="302220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2" name="Shape 10"/>
          <p:cNvSpPr/>
          <p:nvPr/>
        </p:nvSpPr>
        <p:spPr>
          <a:xfrm>
            <a:off x="1143000" y="3761978"/>
            <a:ext cx="16002000" cy="19050"/>
          </a:xfrm>
          <a:prstGeom prst="rect">
            <a:avLst/>
          </a:prstGeom>
          <a:solidFill>
            <a:srgbClr val="201E1E">
              <a:alpha val="40000"/>
            </a:srgbClr>
          </a:solidFill>
          <a:ln/>
        </p:spPr>
      </p:sp>
      <p:sp>
        <p:nvSpPr>
          <p:cNvPr id="13" name="Text 11"/>
          <p:cNvSpPr/>
          <p:nvPr/>
        </p:nvSpPr>
        <p:spPr>
          <a:xfrm>
            <a:off x="1143000" y="3942953"/>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1</a:t>
            </a:r>
            <a:endParaRPr lang="en-US" sz="2100" dirty="0"/>
          </a:p>
        </p:txBody>
      </p:sp>
      <p:sp>
        <p:nvSpPr>
          <p:cNvPr id="14" name="Text 12"/>
          <p:cNvSpPr/>
          <p:nvPr/>
        </p:nvSpPr>
        <p:spPr>
          <a:xfrm>
            <a:off x="2019300" y="3987403"/>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Parse &amp; slice</a:t>
            </a:r>
            <a:endParaRPr lang="en-US" sz="2175" dirty="0"/>
          </a:p>
        </p:txBody>
      </p:sp>
      <p:sp>
        <p:nvSpPr>
          <p:cNvPr id="15" name="Text 13"/>
          <p:cNvSpPr/>
          <p:nvPr/>
        </p:nvSpPr>
        <p:spPr>
          <a:xfrm>
            <a:off x="6838950" y="4019153"/>
            <a:ext cx="813054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ProLeap AST → rule slices</a:t>
            </a:r>
            <a:endParaRPr lang="en-US" sz="1800" dirty="0"/>
          </a:p>
        </p:txBody>
      </p:sp>
      <p:sp>
        <p:nvSpPr>
          <p:cNvPr id="16" name="Shape 14"/>
          <p:cNvSpPr/>
          <p:nvPr/>
        </p:nvSpPr>
        <p:spPr>
          <a:xfrm>
            <a:off x="14876066" y="3984228"/>
            <a:ext cx="2268934" cy="361950"/>
          </a:xfrm>
          <a:prstGeom prst="rect">
            <a:avLst/>
          </a:prstGeom>
          <a:ln w="19050">
            <a:solidFill>
              <a:srgbClr val="201E1E">
                <a:alpha val="40000"/>
              </a:srgbClr>
            </a:solidFill>
            <a:prstDash val="solid"/>
          </a:ln>
        </p:spPr>
      </p:sp>
      <p:sp>
        <p:nvSpPr>
          <p:cNvPr id="17" name="Text 15"/>
          <p:cNvSpPr/>
          <p:nvPr/>
        </p:nvSpPr>
        <p:spPr>
          <a:xfrm>
            <a:off x="15028466" y="405090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18" name="Shape 16"/>
          <p:cNvSpPr/>
          <p:nvPr/>
        </p:nvSpPr>
        <p:spPr>
          <a:xfrm>
            <a:off x="1143000" y="4537274"/>
            <a:ext cx="16002000" cy="19050"/>
          </a:xfrm>
          <a:prstGeom prst="rect">
            <a:avLst/>
          </a:prstGeom>
          <a:solidFill>
            <a:srgbClr val="201E1E">
              <a:alpha val="40000"/>
            </a:srgbClr>
          </a:solidFill>
          <a:ln/>
        </p:spPr>
      </p:sp>
      <p:sp>
        <p:nvSpPr>
          <p:cNvPr id="19" name="Text 17"/>
          <p:cNvSpPr/>
          <p:nvPr/>
        </p:nvSpPr>
        <p:spPr>
          <a:xfrm>
            <a:off x="1143000" y="4718249"/>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2</a:t>
            </a:r>
            <a:endParaRPr lang="en-US" sz="2100" dirty="0"/>
          </a:p>
        </p:txBody>
      </p:sp>
      <p:sp>
        <p:nvSpPr>
          <p:cNvPr id="20" name="Text 18"/>
          <p:cNvSpPr/>
          <p:nvPr/>
        </p:nvSpPr>
        <p:spPr>
          <a:xfrm>
            <a:off x="2019300" y="4762699"/>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Extract rules</a:t>
            </a:r>
            <a:endParaRPr lang="en-US" sz="2175" dirty="0"/>
          </a:p>
        </p:txBody>
      </p:sp>
      <p:sp>
        <p:nvSpPr>
          <p:cNvPr id="21" name="Text 19"/>
          <p:cNvSpPr/>
          <p:nvPr/>
        </p:nvSpPr>
        <p:spPr>
          <a:xfrm>
            <a:off x="6838950" y="4794449"/>
            <a:ext cx="813054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with line citations from the slice</a:t>
            </a:r>
            <a:endParaRPr lang="en-US" sz="1800" dirty="0"/>
          </a:p>
        </p:txBody>
      </p:sp>
      <p:sp>
        <p:nvSpPr>
          <p:cNvPr id="22" name="Shape 20"/>
          <p:cNvSpPr/>
          <p:nvPr/>
        </p:nvSpPr>
        <p:spPr>
          <a:xfrm>
            <a:off x="14353680" y="4759523"/>
            <a:ext cx="2791321" cy="361950"/>
          </a:xfrm>
          <a:prstGeom prst="rect">
            <a:avLst/>
          </a:prstGeom>
          <a:solidFill>
            <a:srgbClr val="EC3013"/>
          </a:solidFill>
          <a:ln/>
        </p:spPr>
      </p:sp>
      <p:sp>
        <p:nvSpPr>
          <p:cNvPr id="23" name="Text 21"/>
          <p:cNvSpPr/>
          <p:nvPr/>
        </p:nvSpPr>
        <p:spPr>
          <a:xfrm>
            <a:off x="14506080" y="4826198"/>
            <a:ext cx="2765653"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F3F2F2"/>
                </a:solidFill>
                <a:latin typeface="Arial" pitchFamily="34" charset="0"/>
                <a:ea typeface="Arial" pitchFamily="34" charset="-122"/>
                <a:cs typeface="Arial" pitchFamily="34" charset="-120"/>
              </a:rPr>
              <a:t>BOUNDED LLM CALL</a:t>
            </a:r>
            <a:endParaRPr lang="en-US" sz="1800" dirty="0"/>
          </a:p>
        </p:txBody>
      </p:sp>
      <p:sp>
        <p:nvSpPr>
          <p:cNvPr id="24" name="Shape 22"/>
          <p:cNvSpPr/>
          <p:nvPr/>
        </p:nvSpPr>
        <p:spPr>
          <a:xfrm>
            <a:off x="1143000" y="5312569"/>
            <a:ext cx="16002000" cy="19050"/>
          </a:xfrm>
          <a:prstGeom prst="rect">
            <a:avLst/>
          </a:prstGeom>
          <a:solidFill>
            <a:srgbClr val="201E1E">
              <a:alpha val="40000"/>
            </a:srgbClr>
          </a:solidFill>
          <a:ln/>
        </p:spPr>
      </p:sp>
      <p:sp>
        <p:nvSpPr>
          <p:cNvPr id="25" name="Text 23"/>
          <p:cNvSpPr/>
          <p:nvPr/>
        </p:nvSpPr>
        <p:spPr>
          <a:xfrm>
            <a:off x="1143000" y="5455444"/>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3</a:t>
            </a:r>
            <a:endParaRPr lang="en-US" sz="2100" dirty="0"/>
          </a:p>
        </p:txBody>
      </p:sp>
      <p:sp>
        <p:nvSpPr>
          <p:cNvPr id="26" name="Text 24"/>
          <p:cNvSpPr/>
          <p:nvPr/>
        </p:nvSpPr>
        <p:spPr>
          <a:xfrm>
            <a:off x="2019300" y="5499894"/>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Rule-directed input generation</a:t>
            </a:r>
            <a:endParaRPr lang="en-US" sz="2175" dirty="0"/>
          </a:p>
        </p:txBody>
      </p:sp>
      <p:sp>
        <p:nvSpPr>
          <p:cNvPr id="27" name="Text 25"/>
          <p:cNvSpPr/>
          <p:nvPr/>
        </p:nvSpPr>
        <p:spPr>
          <a:xfrm>
            <a:off x="6838950" y="5531644"/>
            <a:ext cx="7613142"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extracted rules say where the boundaries are — ₹99,999 / ₹1,00,000 / ₹1,00,001 · ₹0.50 rounding midpoints · 29 February · month and quarter ends · zero and maximum values</a:t>
            </a:r>
            <a:endParaRPr lang="en-US" sz="1800" dirty="0"/>
          </a:p>
        </p:txBody>
      </p:sp>
      <p:sp>
        <p:nvSpPr>
          <p:cNvPr id="28" name="Shape 26"/>
          <p:cNvSpPr/>
          <p:nvPr/>
        </p:nvSpPr>
        <p:spPr>
          <a:xfrm>
            <a:off x="14876066" y="5496719"/>
            <a:ext cx="2268934" cy="361950"/>
          </a:xfrm>
          <a:prstGeom prst="rect">
            <a:avLst/>
          </a:prstGeom>
          <a:ln w="19050">
            <a:solidFill>
              <a:srgbClr val="201E1E">
                <a:alpha val="40000"/>
              </a:srgbClr>
            </a:solidFill>
            <a:prstDash val="solid"/>
          </a:ln>
        </p:spPr>
      </p:sp>
      <p:sp>
        <p:nvSpPr>
          <p:cNvPr id="29" name="Text 27"/>
          <p:cNvSpPr/>
          <p:nvPr/>
        </p:nvSpPr>
        <p:spPr>
          <a:xfrm>
            <a:off x="15028466" y="5563394"/>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30" name="Shape 28"/>
          <p:cNvSpPr/>
          <p:nvPr/>
        </p:nvSpPr>
        <p:spPr>
          <a:xfrm>
            <a:off x="1143000" y="7808119"/>
            <a:ext cx="16002000" cy="19050"/>
          </a:xfrm>
          <a:prstGeom prst="rect">
            <a:avLst/>
          </a:prstGeom>
          <a:solidFill>
            <a:srgbClr val="201E1E">
              <a:alpha val="40000"/>
            </a:srgbClr>
          </a:solidFill>
          <a:ln/>
        </p:spPr>
      </p:sp>
      <p:sp>
        <p:nvSpPr>
          <p:cNvPr id="31" name="Shape 29"/>
          <p:cNvSpPr/>
          <p:nvPr/>
        </p:nvSpPr>
        <p:spPr>
          <a:xfrm>
            <a:off x="1143000" y="6560344"/>
            <a:ext cx="16002000" cy="19050"/>
          </a:xfrm>
          <a:prstGeom prst="rect">
            <a:avLst/>
          </a:prstGeom>
          <a:solidFill>
            <a:srgbClr val="201E1E">
              <a:alpha val="40000"/>
            </a:srgbClr>
          </a:solidFill>
          <a:ln/>
        </p:spPr>
      </p:sp>
      <p:sp>
        <p:nvSpPr>
          <p:cNvPr id="32" name="Text 30"/>
          <p:cNvSpPr/>
          <p:nvPr/>
        </p:nvSpPr>
        <p:spPr>
          <a:xfrm>
            <a:off x="1143000" y="6703219"/>
            <a:ext cx="609600" cy="451445"/>
          </a:xfrm>
          <a:prstGeom prst="rect">
            <a:avLst/>
          </a:prstGeom>
          <a:noFill/>
          <a:ln/>
        </p:spPr>
        <p:txBody>
          <a:bodyPr wrap="square" lIns="25400" tIns="25400" rIns="25400" bIns="25400" rtlCol="0" anchor="t">
            <a:normAutofit/>
          </a:bodyPr>
          <a:lstStyle/>
          <a:p>
            <a:pPr algn="l" indent="0" marL="0">
              <a:lnSpc>
                <a:spcPct val="110339"/>
              </a:lnSpc>
              <a:buNone/>
            </a:pPr>
            <a:r>
              <a:rPr lang="en-US" sz="2100" b="1" dirty="0">
                <a:solidFill>
                  <a:srgbClr val="EC3013"/>
                </a:solidFill>
                <a:latin typeface="Arial" pitchFamily="34" charset="0"/>
                <a:ea typeface="Arial" pitchFamily="34" charset="-122"/>
                <a:cs typeface="Arial" pitchFamily="34" charset="-120"/>
              </a:rPr>
              <a:t>4</a:t>
            </a:r>
            <a:endParaRPr lang="en-US" sz="2100" dirty="0"/>
          </a:p>
        </p:txBody>
      </p:sp>
      <p:sp>
        <p:nvSpPr>
          <p:cNvPr id="33" name="Text 31"/>
          <p:cNvSpPr/>
          <p:nvPr/>
        </p:nvSpPr>
        <p:spPr>
          <a:xfrm>
            <a:off x="2019300" y="6747669"/>
            <a:ext cx="4924425"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dirty="0">
                <a:solidFill>
                  <a:srgbClr val="201E1D"/>
                </a:solidFill>
                <a:latin typeface="Arial" pitchFamily="34" charset="0"/>
                <a:ea typeface="Arial" pitchFamily="34" charset="-122"/>
                <a:cs typeface="Arial" pitchFamily="34" charset="-120"/>
              </a:rPr>
              <a:t>Execute and compare — three ways</a:t>
            </a:r>
            <a:endParaRPr lang="en-US" sz="2175" dirty="0"/>
          </a:p>
        </p:txBody>
      </p:sp>
      <p:sp>
        <p:nvSpPr>
          <p:cNvPr id="34" name="Text 32"/>
          <p:cNvSpPr/>
          <p:nvPr/>
        </p:nvSpPr>
        <p:spPr>
          <a:xfrm>
            <a:off x="6838950" y="6779419"/>
            <a:ext cx="7613142"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same input, three outputs: legacy COBOL (GnuCOBOL — the oracle) · reimplementation (generated Java, untrusted) · RBI Direction (the third reference)</a:t>
            </a:r>
            <a:endParaRPr lang="en-US" sz="1800" dirty="0"/>
          </a:p>
        </p:txBody>
      </p:sp>
      <p:sp>
        <p:nvSpPr>
          <p:cNvPr id="35" name="Shape 33"/>
          <p:cNvSpPr/>
          <p:nvPr/>
        </p:nvSpPr>
        <p:spPr>
          <a:xfrm>
            <a:off x="14876066" y="6744494"/>
            <a:ext cx="2268934" cy="361950"/>
          </a:xfrm>
          <a:prstGeom prst="rect">
            <a:avLst/>
          </a:prstGeom>
          <a:ln w="19050">
            <a:solidFill>
              <a:srgbClr val="201E1E">
                <a:alpha val="40000"/>
              </a:srgbClr>
            </a:solidFill>
            <a:prstDash val="solid"/>
          </a:ln>
        </p:spPr>
      </p:sp>
      <p:sp>
        <p:nvSpPr>
          <p:cNvPr id="36" name="Text 34"/>
          <p:cNvSpPr/>
          <p:nvPr/>
        </p:nvSpPr>
        <p:spPr>
          <a:xfrm>
            <a:off x="15028466" y="6811169"/>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37" name="Shape 35"/>
          <p:cNvSpPr/>
          <p:nvPr/>
        </p:nvSpPr>
        <p:spPr>
          <a:xfrm>
            <a:off x="1143000" y="8131969"/>
            <a:ext cx="3657600" cy="19050"/>
          </a:xfrm>
          <a:prstGeom prst="rect">
            <a:avLst/>
          </a:prstGeom>
          <a:solidFill>
            <a:srgbClr val="EC3013"/>
          </a:solidFill>
          <a:ln/>
        </p:spPr>
      </p:sp>
      <p:sp>
        <p:nvSpPr>
          <p:cNvPr id="38" name="Text 36"/>
          <p:cNvSpPr/>
          <p:nvPr/>
        </p:nvSpPr>
        <p:spPr>
          <a:xfrm>
            <a:off x="11430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Rule verdicts</a:t>
            </a:r>
            <a:endParaRPr lang="en-US" sz="2025" dirty="0"/>
          </a:p>
        </p:txBody>
      </p:sp>
      <p:sp>
        <p:nvSpPr>
          <p:cNvPr id="39" name="Text 37"/>
          <p:cNvSpPr/>
          <p:nvPr/>
        </p:nvSpPr>
        <p:spPr>
          <a:xfrm>
            <a:off x="11430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proven · unproven · refuted</a:t>
            </a:r>
            <a:endParaRPr lang="en-US" sz="1800" dirty="0"/>
          </a:p>
        </p:txBody>
      </p:sp>
      <p:sp>
        <p:nvSpPr>
          <p:cNvPr id="40" name="Shape 38"/>
          <p:cNvSpPr/>
          <p:nvPr/>
        </p:nvSpPr>
        <p:spPr>
          <a:xfrm>
            <a:off x="5257800" y="8131969"/>
            <a:ext cx="3657600" cy="19050"/>
          </a:xfrm>
          <a:prstGeom prst="rect">
            <a:avLst/>
          </a:prstGeom>
          <a:solidFill>
            <a:srgbClr val="EC3013"/>
          </a:solidFill>
          <a:ln/>
        </p:spPr>
      </p:sp>
      <p:sp>
        <p:nvSpPr>
          <p:cNvPr id="41" name="Text 39"/>
          <p:cNvSpPr/>
          <p:nvPr/>
        </p:nvSpPr>
        <p:spPr>
          <a:xfrm>
            <a:off x="52578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Mutation score</a:t>
            </a:r>
            <a:endParaRPr lang="en-US" sz="2025" dirty="0"/>
          </a:p>
        </p:txBody>
      </p:sp>
      <p:sp>
        <p:nvSpPr>
          <p:cNvPr id="42" name="Text 40"/>
          <p:cNvSpPr/>
          <p:nvPr/>
        </p:nvSpPr>
        <p:spPr>
          <a:xfrm>
            <a:off x="52578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how strong is this claim?</a:t>
            </a:r>
            <a:endParaRPr lang="en-US" sz="1800" dirty="0"/>
          </a:p>
        </p:txBody>
      </p:sp>
      <p:sp>
        <p:nvSpPr>
          <p:cNvPr id="43" name="Shape 41"/>
          <p:cNvSpPr/>
          <p:nvPr/>
        </p:nvSpPr>
        <p:spPr>
          <a:xfrm>
            <a:off x="9372600" y="8131969"/>
            <a:ext cx="3657600" cy="19050"/>
          </a:xfrm>
          <a:prstGeom prst="rect">
            <a:avLst/>
          </a:prstGeom>
          <a:solidFill>
            <a:srgbClr val="EC3013"/>
          </a:solidFill>
          <a:ln/>
        </p:spPr>
      </p:sp>
      <p:sp>
        <p:nvSpPr>
          <p:cNvPr id="44" name="Text 42"/>
          <p:cNvSpPr/>
          <p:nvPr/>
        </p:nvSpPr>
        <p:spPr>
          <a:xfrm>
            <a:off x="93726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Compliance findings</a:t>
            </a:r>
            <a:endParaRPr lang="en-US" sz="2025" dirty="0"/>
          </a:p>
        </p:txBody>
      </p:sp>
      <p:sp>
        <p:nvSpPr>
          <p:cNvPr id="45" name="Text 43"/>
          <p:cNvSpPr/>
          <p:nvPr/>
        </p:nvSpPr>
        <p:spPr>
          <a:xfrm>
            <a:off x="93726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legacy vs the regulator</a:t>
            </a:r>
            <a:endParaRPr lang="en-US" sz="1800" dirty="0"/>
          </a:p>
        </p:txBody>
      </p:sp>
      <p:sp>
        <p:nvSpPr>
          <p:cNvPr id="46" name="Shape 44"/>
          <p:cNvSpPr/>
          <p:nvPr/>
        </p:nvSpPr>
        <p:spPr>
          <a:xfrm>
            <a:off x="13487400" y="8131969"/>
            <a:ext cx="3657600" cy="19050"/>
          </a:xfrm>
          <a:prstGeom prst="rect">
            <a:avLst/>
          </a:prstGeom>
          <a:solidFill>
            <a:srgbClr val="EC3013"/>
          </a:solidFill>
          <a:ln/>
        </p:spPr>
      </p:sp>
      <p:sp>
        <p:nvSpPr>
          <p:cNvPr id="47" name="Text 45"/>
          <p:cNvSpPr/>
          <p:nvPr/>
        </p:nvSpPr>
        <p:spPr>
          <a:xfrm>
            <a:off x="13487400" y="8322469"/>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Evidence bundle</a:t>
            </a:r>
            <a:endParaRPr lang="en-US" sz="2025" dirty="0"/>
          </a:p>
        </p:txBody>
      </p:sp>
      <p:sp>
        <p:nvSpPr>
          <p:cNvPr id="48" name="Text 46"/>
          <p:cNvSpPr/>
          <p:nvPr/>
        </p:nvSpPr>
        <p:spPr>
          <a:xfrm>
            <a:off x="13487400" y="8751491"/>
            <a:ext cx="4023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spec · tests · signed claim</a:t>
            </a:r>
            <a:endParaRPr lang="en-US" sz="1800" dirty="0"/>
          </a:p>
        </p:txBody>
      </p:sp>
      <p:sp>
        <p:nvSpPr>
          <p:cNvPr id="49" name="Text 47"/>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Deterministic orchestration matches agentic accuracy at up to 3.5× lower token cost, with better worst-case robustness (arXiv 2605.09894) — the fixed pipeline is a defended choice, not a simplification.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124313"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HOW IT WORKS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06</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pipeline, end to end</a:t>
            </a:r>
            <a:endParaRPr lang="en-US" sz="4650" dirty="0"/>
          </a:p>
        </p:txBody>
      </p:sp>
      <p:sp>
        <p:nvSpPr>
          <p:cNvPr id="6" name="Shape 4"/>
          <p:cNvSpPr/>
          <p:nvPr/>
        </p:nvSpPr>
        <p:spPr>
          <a:xfrm>
            <a:off x="1143000" y="2657078"/>
            <a:ext cx="2268934" cy="361950"/>
          </a:xfrm>
          <a:prstGeom prst="rect">
            <a:avLst/>
          </a:prstGeom>
          <a:ln w="19050">
            <a:solidFill>
              <a:srgbClr val="201E1E">
                <a:alpha val="40000"/>
              </a:srgbClr>
            </a:solidFill>
            <a:prstDash val="solid"/>
          </a:ln>
        </p:spPr>
      </p:sp>
      <p:sp>
        <p:nvSpPr>
          <p:cNvPr id="7" name="Text 5"/>
          <p:cNvSpPr/>
          <p:nvPr/>
        </p:nvSpPr>
        <p:spPr>
          <a:xfrm>
            <a:off x="1295400" y="2723753"/>
            <a:ext cx="2191028"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201E1C">
                    <a:alpha val="60000"/>
                  </a:srgbClr>
                </a:solidFill>
                <a:latin typeface="Arial" pitchFamily="34" charset="0"/>
                <a:ea typeface="Arial" pitchFamily="34" charset="-122"/>
                <a:cs typeface="Arial" pitchFamily="34" charset="-120"/>
              </a:rPr>
              <a:t>DETERMINISTIC</a:t>
            </a:r>
            <a:endParaRPr lang="en-US" sz="1800" dirty="0"/>
          </a:p>
        </p:txBody>
      </p:sp>
      <p:sp>
        <p:nvSpPr>
          <p:cNvPr id="8" name="Shape 6"/>
          <p:cNvSpPr/>
          <p:nvPr/>
        </p:nvSpPr>
        <p:spPr>
          <a:xfrm>
            <a:off x="3602434" y="2657078"/>
            <a:ext cx="2791321" cy="361950"/>
          </a:xfrm>
          <a:prstGeom prst="rect">
            <a:avLst/>
          </a:prstGeom>
          <a:solidFill>
            <a:srgbClr val="EC3013"/>
          </a:solidFill>
          <a:ln/>
        </p:spPr>
      </p:sp>
      <p:sp>
        <p:nvSpPr>
          <p:cNvPr id="9" name="Text 7"/>
          <p:cNvSpPr/>
          <p:nvPr/>
        </p:nvSpPr>
        <p:spPr>
          <a:xfrm>
            <a:off x="3754834" y="2723753"/>
            <a:ext cx="2765653" cy="266700"/>
          </a:xfrm>
          <a:prstGeom prst="rect">
            <a:avLst/>
          </a:prstGeom>
          <a:noFill/>
          <a:ln/>
        </p:spPr>
        <p:txBody>
          <a:bodyPr wrap="none" lIns="25400" tIns="25400" rIns="25400" bIns="25400" rtlCol="0" anchor="t">
            <a:normAutofit/>
          </a:bodyPr>
          <a:lstStyle/>
          <a:p>
            <a:pPr algn="l" indent="0" marL="0">
              <a:lnSpc>
                <a:spcPct val="85714"/>
              </a:lnSpc>
              <a:buNone/>
            </a:pPr>
            <a:r>
              <a:rPr lang="en-US" sz="1800" spc="108" kern="0" dirty="0">
                <a:solidFill>
                  <a:srgbClr val="F3F2F2"/>
                </a:solidFill>
                <a:latin typeface="Arial" pitchFamily="34" charset="0"/>
                <a:ea typeface="Arial" pitchFamily="34" charset="-122"/>
                <a:cs typeface="Arial" pitchFamily="34" charset="-120"/>
              </a:rPr>
              <a:t>BOUNDED LLM CALL</a:t>
            </a:r>
            <a:endParaRPr lang="en-US" sz="1800" dirty="0"/>
          </a:p>
        </p:txBody>
      </p:sp>
      <p:sp>
        <p:nvSpPr>
          <p:cNvPr id="10" name="Text 8"/>
          <p:cNvSpPr/>
          <p:nvPr/>
        </p:nvSpPr>
        <p:spPr>
          <a:xfrm>
            <a:off x="6584256" y="2666603"/>
            <a:ext cx="829665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C">
                    <a:alpha val="60000"/>
                  </a:srgbClr>
                </a:solidFill>
                <a:latin typeface="Arial" pitchFamily="34" charset="0"/>
                <a:ea typeface="Arial" pitchFamily="34" charset="-122"/>
                <a:cs typeface="Arial" pitchFamily="34" charset="-120"/>
              </a:rPr>
              <a:t>dashed — the reciprocal loop: rules pick the inputs, the run checks the rules</a:t>
            </a:r>
            <a:endParaRPr lang="en-US" sz="18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287613"/>
            <a:ext cx="16002000" cy="6324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854791"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TECHNICAL DETAILS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07</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stack, and why each piece is there</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Legacy execution</a:t>
            </a:r>
            <a:endParaRPr lang="en-US" sz="2100" dirty="0"/>
          </a:p>
        </p:txBody>
      </p:sp>
      <p:sp>
        <p:nvSpPr>
          <p:cNvPr id="8" name="Text 6"/>
          <p:cNvSpPr/>
          <p:nvPr/>
        </p:nvSpPr>
        <p:spPr>
          <a:xfrm>
            <a:off x="11430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GnuCOBOL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cobc / libcob, GPL and LGPL. 19 COBOL dialects, -std=ibm-strict against Enterprise COBOL 6.3.</a:t>
            </a:r>
            <a:endParaRPr lang="en-US" sz="1800" dirty="0"/>
          </a:p>
        </p:txBody>
      </p:sp>
      <p:sp>
        <p:nvSpPr>
          <p:cNvPr id="9" name="Text 7"/>
          <p:cNvSpPr/>
          <p:nvPr/>
        </p:nvSpPr>
        <p:spPr>
          <a:xfrm>
            <a:off x="11430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Conformance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passes 9,700 of 9,748 NIST CCVS85 tests. The project does not claim standard conformance; we state that ourselves.</a:t>
            </a:r>
            <a:endParaRPr lang="en-US" sz="1800" dirty="0"/>
          </a:p>
        </p:txBody>
      </p:sp>
      <p:sp>
        <p:nvSpPr>
          <p:cNvPr id="10" name="Text 8"/>
          <p:cNvSpPr/>
          <p:nvPr/>
        </p:nvSpPr>
        <p:spPr>
          <a:xfrm>
            <a:off x="1143000" y="5395814"/>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Why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compiles COBOL to C to a native binary, so the legacy side is a real executable we can run, time and instrument.</a:t>
            </a:r>
            <a:endParaRPr lang="en-US" sz="1800" dirty="0"/>
          </a:p>
        </p:txBody>
      </p:sp>
      <p:sp>
        <p:nvSpPr>
          <p:cNvPr id="11" name="Shape 9"/>
          <p:cNvSpPr/>
          <p:nvPr/>
        </p:nvSpPr>
        <p:spPr>
          <a:xfrm>
            <a:off x="6629400" y="2771378"/>
            <a:ext cx="5029200" cy="19050"/>
          </a:xfrm>
          <a:prstGeom prst="rect">
            <a:avLst/>
          </a:prstGeom>
          <a:solidFill>
            <a:srgbClr val="201E1E">
              <a:alpha val="40000"/>
            </a:srgbClr>
          </a:solidFill>
          <a:ln/>
        </p:spPr>
      </p:sp>
      <p:sp>
        <p:nvSpPr>
          <p:cNvPr id="12" name="Text 10"/>
          <p:cNvSpPr/>
          <p:nvPr/>
        </p:nvSpPr>
        <p:spPr>
          <a:xfrm>
            <a:off x="66294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Analysis and extraction</a:t>
            </a:r>
            <a:endParaRPr lang="en-US" sz="2100" dirty="0"/>
          </a:p>
        </p:txBody>
      </p:sp>
      <p:sp>
        <p:nvSpPr>
          <p:cNvPr id="13" name="Text 11"/>
          <p:cNvSpPr/>
          <p:nvPr/>
        </p:nvSpPr>
        <p:spPr>
          <a:xfrm>
            <a:off x="66294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ProLeap COBOL parser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ANTLR4, MIT licence. AST plus an abstract semantic graph with data and control flow.</a:t>
            </a:r>
            <a:endParaRPr lang="en-US" sz="1800" dirty="0"/>
          </a:p>
        </p:txBody>
      </p:sp>
      <p:sp>
        <p:nvSpPr>
          <p:cNvPr id="14" name="Text 12"/>
          <p:cNvSpPr/>
          <p:nvPr/>
        </p:nvSpPr>
        <p:spPr>
          <a:xfrm>
            <a:off x="66294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Program slicing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on business-concept variables. A slice is a set of source lines — exactly the traceability we promise.</a:t>
            </a:r>
            <a:endParaRPr lang="en-US" sz="1800" dirty="0"/>
          </a:p>
        </p:txBody>
      </p:sp>
      <p:sp>
        <p:nvSpPr>
          <p:cNvPr id="15" name="Text 13"/>
          <p:cNvSpPr/>
          <p:nvPr/>
        </p:nvSpPr>
        <p:spPr>
          <a:xfrm>
            <a:off x="6629400" y="5395814"/>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AE1800"/>
                </a:solidFill>
                <a:latin typeface="Arial" pitchFamily="34" charset="0"/>
                <a:ea typeface="Arial" pitchFamily="34" charset="-122"/>
                <a:cs typeface="Arial" pitchFamily="34" charset="-120"/>
              </a:rPr>
              <a:t>Bounded LLM call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one call per slice, never over the whole file. The model cannot invent a line reference the slice does not contain.</a:t>
            </a:r>
            <a:endParaRPr lang="en-US" sz="1800" dirty="0"/>
          </a:p>
        </p:txBody>
      </p:sp>
      <p:sp>
        <p:nvSpPr>
          <p:cNvPr id="16" name="Shape 14"/>
          <p:cNvSpPr/>
          <p:nvPr/>
        </p:nvSpPr>
        <p:spPr>
          <a:xfrm>
            <a:off x="12115800" y="2771378"/>
            <a:ext cx="5029200" cy="19050"/>
          </a:xfrm>
          <a:prstGeom prst="rect">
            <a:avLst/>
          </a:prstGeom>
          <a:solidFill>
            <a:srgbClr val="201E1E">
              <a:alpha val="40000"/>
            </a:srgbClr>
          </a:solidFill>
          <a:ln/>
        </p:spPr>
      </p:sp>
      <p:sp>
        <p:nvSpPr>
          <p:cNvPr id="17" name="Text 15"/>
          <p:cNvSpPr/>
          <p:nvPr/>
        </p:nvSpPr>
        <p:spPr>
          <a:xfrm>
            <a:off x="12115800" y="2961878"/>
            <a:ext cx="553212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Verification and coverage</a:t>
            </a:r>
            <a:endParaRPr lang="en-US" sz="2100" dirty="0"/>
          </a:p>
        </p:txBody>
      </p:sp>
      <p:sp>
        <p:nvSpPr>
          <p:cNvPr id="18" name="Text 16"/>
          <p:cNvSpPr/>
          <p:nvPr/>
        </p:nvSpPr>
        <p:spPr>
          <a:xfrm>
            <a:off x="12115800" y="340191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gcov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statement execution counts via -fprofile-arcs. Fallback: paragraph-level DISPLAY trace with -fgen-c-line-directives.</a:t>
            </a:r>
            <a:endParaRPr lang="en-US" sz="1800" dirty="0"/>
          </a:p>
        </p:txBody>
      </p:sp>
      <p:sp>
        <p:nvSpPr>
          <p:cNvPr id="19" name="Text 17"/>
          <p:cNvSpPr/>
          <p:nvPr/>
        </p:nvSpPr>
        <p:spPr>
          <a:xfrm>
            <a:off x="12115800" y="4398863"/>
            <a:ext cx="5180076" cy="9017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Differential runner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same input, three outputs: legacy COBOL, generated Java, and the RBI Direction as a third reference.</a:t>
            </a:r>
            <a:endParaRPr lang="en-US" sz="1800" dirty="0"/>
          </a:p>
        </p:txBody>
      </p:sp>
      <p:sp>
        <p:nvSpPr>
          <p:cNvPr id="20" name="Text 18"/>
          <p:cNvSpPr/>
          <p:nvPr/>
        </p:nvSpPr>
        <p:spPr>
          <a:xfrm>
            <a:off x="12115800" y="5395814"/>
            <a:ext cx="5180076"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Delta debugging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 shrinks 73 failing inputs to one minimal counterexample.</a:t>
            </a:r>
            <a:endParaRPr lang="en-US" sz="1800" dirty="0"/>
          </a:p>
        </p:txBody>
      </p:sp>
      <p:sp>
        <p:nvSpPr>
          <p:cNvPr id="21" name="Shape 19"/>
          <p:cNvSpPr/>
          <p:nvPr/>
        </p:nvSpPr>
        <p:spPr>
          <a:xfrm>
            <a:off x="1143000" y="6602313"/>
            <a:ext cx="7772400" cy="19050"/>
          </a:xfrm>
          <a:prstGeom prst="rect">
            <a:avLst/>
          </a:prstGeom>
          <a:solidFill>
            <a:srgbClr val="201E1E">
              <a:alpha val="40000"/>
            </a:srgbClr>
          </a:solidFill>
          <a:ln/>
        </p:spPr>
      </p:sp>
      <p:sp>
        <p:nvSpPr>
          <p:cNvPr id="22" name="Text 20"/>
          <p:cNvSpPr/>
          <p:nvPr/>
        </p:nvSpPr>
        <p:spPr>
          <a:xfrm>
            <a:off x="1143000" y="6792813"/>
            <a:ext cx="854964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Data sources</a:t>
            </a:r>
            <a:endParaRPr lang="en-US" sz="2100" dirty="0"/>
          </a:p>
        </p:txBody>
      </p:sp>
      <p:sp>
        <p:nvSpPr>
          <p:cNvPr id="23" name="Text 21"/>
          <p:cNvSpPr/>
          <p:nvPr/>
        </p:nvSpPr>
        <p:spPr>
          <a:xfrm>
            <a:off x="1143000" y="7232849"/>
            <a:ext cx="8005572"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AWS mainframe-modernisation CardDemo corpus (Apache 2.0) · NIST CCVS85, 512 programs and 8,800+ cases, public domain · RBI Master Direction clauses encoded as the third reference.</a:t>
            </a:r>
            <a:endParaRPr lang="en-US" sz="1800" dirty="0"/>
          </a:p>
        </p:txBody>
      </p:sp>
      <p:sp>
        <p:nvSpPr>
          <p:cNvPr id="24" name="Shape 22"/>
          <p:cNvSpPr/>
          <p:nvPr/>
        </p:nvSpPr>
        <p:spPr>
          <a:xfrm>
            <a:off x="9372600" y="6602313"/>
            <a:ext cx="7772400" cy="19050"/>
          </a:xfrm>
          <a:prstGeom prst="rect">
            <a:avLst/>
          </a:prstGeom>
          <a:solidFill>
            <a:srgbClr val="201E1E">
              <a:alpha val="40000"/>
            </a:srgbClr>
          </a:solidFill>
          <a:ln/>
        </p:spPr>
      </p:sp>
      <p:sp>
        <p:nvSpPr>
          <p:cNvPr id="25" name="Text 23"/>
          <p:cNvSpPr/>
          <p:nvPr/>
        </p:nvSpPr>
        <p:spPr>
          <a:xfrm>
            <a:off x="9372600" y="6792813"/>
            <a:ext cx="8549640"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Integration and interoperability</a:t>
            </a:r>
            <a:endParaRPr lang="en-US" sz="2100" dirty="0"/>
          </a:p>
        </p:txBody>
      </p:sp>
      <p:sp>
        <p:nvSpPr>
          <p:cNvPr id="26" name="Text 24"/>
          <p:cNvSpPr/>
          <p:nvPr/>
        </p:nvSpPr>
        <p:spPr>
          <a:xfrm>
            <a:off x="9372600" y="7232849"/>
            <a:ext cx="8005572"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CLI plus a JSON evidence bundle. The methodology is compiler-agnostic — swap GnuCOBOL for IBM Enterprise COBOL inside the bank and the harness is unchanged. No mainframe access required.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386990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WHAT MAKES IT DIFFERENT</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08</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Three things nobody else does</a:t>
            </a:r>
            <a:endParaRPr lang="en-US" sz="4650" dirty="0"/>
          </a:p>
        </p:txBody>
      </p:sp>
      <p:sp>
        <p:nvSpPr>
          <p:cNvPr id="6" name="Text 4"/>
          <p:cNvSpPr/>
          <p:nvPr/>
        </p:nvSpPr>
        <p:spPr>
          <a:xfrm>
            <a:off x="1143000" y="2695178"/>
            <a:ext cx="10961980"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The differential mechanism itself is prior art. IBM, AWS, Mechanical Orchard and a paper published five days ago all ship a version of it, and we say so. These three are ours.</a:t>
            </a:r>
            <a:endParaRPr lang="en-US" sz="1875" dirty="0"/>
          </a:p>
        </p:txBody>
      </p:sp>
      <p:sp>
        <p:nvSpPr>
          <p:cNvPr id="7" name="Shape 5"/>
          <p:cNvSpPr/>
          <p:nvPr/>
        </p:nvSpPr>
        <p:spPr>
          <a:xfrm>
            <a:off x="1143000" y="3647678"/>
            <a:ext cx="5105400" cy="5356821"/>
          </a:xfrm>
          <a:prstGeom prst="rect">
            <a:avLst/>
          </a:prstGeom>
          <a:solidFill>
            <a:srgbClr val="EAE9E9"/>
          </a:solidFill>
          <a:ln/>
        </p:spPr>
      </p:sp>
      <p:sp>
        <p:nvSpPr>
          <p:cNvPr id="8" name="Shape 6"/>
          <p:cNvSpPr/>
          <p:nvPr/>
        </p:nvSpPr>
        <p:spPr>
          <a:xfrm>
            <a:off x="1409700" y="3963888"/>
            <a:ext cx="438150" cy="438150"/>
          </a:xfrm>
          <a:prstGeom prst="rect">
            <a:avLst/>
          </a:prstGeom>
          <a:solidFill>
            <a:srgbClr val="EC3013"/>
          </a:solidFill>
          <a:ln/>
        </p:spPr>
      </p:sp>
      <p:sp>
        <p:nvSpPr>
          <p:cNvPr id="9" name="Text 7"/>
          <p:cNvSpPr/>
          <p:nvPr/>
        </p:nvSpPr>
        <p:spPr>
          <a:xfrm>
            <a:off x="1371600" y="396388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01</a:t>
            </a:r>
            <a:endParaRPr lang="en-US" sz="1800" dirty="0"/>
          </a:p>
        </p:txBody>
      </p:sp>
      <p:sp>
        <p:nvSpPr>
          <p:cNvPr id="10" name="Text 8"/>
          <p:cNvSpPr/>
          <p:nvPr/>
        </p:nvSpPr>
        <p:spPr>
          <a:xfrm>
            <a:off x="2019300" y="3876278"/>
            <a:ext cx="4081272"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We check the legacy against the regulator</a:t>
            </a:r>
            <a:endParaRPr lang="en-US" sz="2100" dirty="0"/>
          </a:p>
        </p:txBody>
      </p:sp>
      <p:sp>
        <p:nvSpPr>
          <p:cNvPr id="11" name="Text 9"/>
          <p:cNvSpPr/>
          <p:nvPr/>
        </p:nvSpPr>
        <p:spPr>
          <a:xfrm>
            <a:off x="1409700" y="4622999"/>
            <a:ext cx="4709160" cy="121920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 tool treats the legacy as correct by definition. A program written in 1987 can breach a Direction issued decades later, so we add a third reference.</a:t>
            </a:r>
            <a:endParaRPr lang="en-US" sz="1800" dirty="0"/>
          </a:p>
        </p:txBody>
      </p:sp>
      <p:sp>
        <p:nvSpPr>
          <p:cNvPr id="12" name="Shape 10"/>
          <p:cNvSpPr/>
          <p:nvPr/>
        </p:nvSpPr>
        <p:spPr>
          <a:xfrm>
            <a:off x="1409700" y="5937449"/>
            <a:ext cx="4572000" cy="504825"/>
          </a:xfrm>
          <a:prstGeom prst="rect">
            <a:avLst/>
          </a:prstGeom>
          <a:solidFill>
            <a:srgbClr val="F3F2F2"/>
          </a:solidFill>
          <a:ln/>
        </p:spPr>
      </p:sp>
      <p:sp>
        <p:nvSpPr>
          <p:cNvPr id="13" name="Text 11"/>
          <p:cNvSpPr/>
          <p:nvPr/>
        </p:nvSpPr>
        <p:spPr>
          <a:xfrm>
            <a:off x="1562100" y="6042224"/>
            <a:ext cx="134657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14" name="Text 12"/>
          <p:cNvSpPr/>
          <p:nvPr/>
        </p:nvSpPr>
        <p:spPr>
          <a:xfrm>
            <a:off x="4044950" y="6042224"/>
            <a:ext cx="1962785"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verified compliant</a:t>
            </a:r>
            <a:endParaRPr lang="en-US" sz="1800" dirty="0"/>
          </a:p>
        </p:txBody>
      </p:sp>
      <p:sp>
        <p:nvSpPr>
          <p:cNvPr id="15" name="Shape 13"/>
          <p:cNvSpPr/>
          <p:nvPr/>
        </p:nvSpPr>
        <p:spPr>
          <a:xfrm>
            <a:off x="1409700" y="6518474"/>
            <a:ext cx="4572000" cy="504825"/>
          </a:xfrm>
          <a:prstGeom prst="rect">
            <a:avLst/>
          </a:prstGeom>
          <a:solidFill>
            <a:srgbClr val="F3F2F2"/>
          </a:solidFill>
          <a:ln/>
        </p:spPr>
      </p:sp>
      <p:sp>
        <p:nvSpPr>
          <p:cNvPr id="16" name="Text 14"/>
          <p:cNvSpPr/>
          <p:nvPr/>
        </p:nvSpPr>
        <p:spPr>
          <a:xfrm>
            <a:off x="1562100" y="6623249"/>
            <a:ext cx="61247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a:t>
            </a:r>
            <a:endParaRPr lang="en-US" sz="1800" dirty="0"/>
          </a:p>
        </p:txBody>
      </p:sp>
      <p:sp>
        <p:nvSpPr>
          <p:cNvPr id="17" name="Text 15"/>
          <p:cNvSpPr/>
          <p:nvPr/>
        </p:nvSpPr>
        <p:spPr>
          <a:xfrm>
            <a:off x="4086225" y="6623249"/>
            <a:ext cx="1917382"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translation defect</a:t>
            </a:r>
            <a:endParaRPr lang="en-US" sz="1800" dirty="0"/>
          </a:p>
        </p:txBody>
      </p:sp>
      <p:sp>
        <p:nvSpPr>
          <p:cNvPr id="18" name="Shape 16"/>
          <p:cNvSpPr/>
          <p:nvPr/>
        </p:nvSpPr>
        <p:spPr>
          <a:xfrm>
            <a:off x="1409700" y="7099499"/>
            <a:ext cx="4572000" cy="504825"/>
          </a:xfrm>
          <a:prstGeom prst="rect">
            <a:avLst/>
          </a:prstGeom>
          <a:solidFill>
            <a:srgbClr val="F3F2F2"/>
          </a:solidFill>
          <a:ln/>
        </p:spPr>
      </p:sp>
      <p:sp>
        <p:nvSpPr>
          <p:cNvPr id="19" name="Text 17"/>
          <p:cNvSpPr/>
          <p:nvPr/>
        </p:nvSpPr>
        <p:spPr>
          <a:xfrm>
            <a:off x="1562100" y="7204274"/>
            <a:ext cx="133773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L = R ≠ Reg</a:t>
            </a:r>
            <a:endParaRPr lang="en-US" sz="1800" dirty="0"/>
          </a:p>
        </p:txBody>
      </p:sp>
      <p:sp>
        <p:nvSpPr>
          <p:cNvPr id="20" name="Text 18"/>
          <p:cNvSpPr/>
          <p:nvPr/>
        </p:nvSpPr>
        <p:spPr>
          <a:xfrm>
            <a:off x="4196854" y="7204274"/>
            <a:ext cx="1795691"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AE1800"/>
                </a:solidFill>
                <a:latin typeface="Arial" pitchFamily="34" charset="0"/>
                <a:ea typeface="Arial" pitchFamily="34" charset="-122"/>
                <a:cs typeface="Arial" pitchFamily="34" charset="-120"/>
              </a:rPr>
              <a:t>inherited breach</a:t>
            </a:r>
            <a:endParaRPr lang="en-US" sz="1800" dirty="0"/>
          </a:p>
        </p:txBody>
      </p:sp>
      <p:sp>
        <p:nvSpPr>
          <p:cNvPr id="21" name="Shape 19"/>
          <p:cNvSpPr/>
          <p:nvPr/>
        </p:nvSpPr>
        <p:spPr>
          <a:xfrm>
            <a:off x="1409700" y="7680524"/>
            <a:ext cx="4572000" cy="504825"/>
          </a:xfrm>
          <a:prstGeom prst="rect">
            <a:avLst/>
          </a:prstGeom>
          <a:solidFill>
            <a:srgbClr val="F3F2F2"/>
          </a:solidFill>
          <a:ln/>
        </p:spPr>
      </p:sp>
      <p:sp>
        <p:nvSpPr>
          <p:cNvPr id="22" name="Text 20"/>
          <p:cNvSpPr/>
          <p:nvPr/>
        </p:nvSpPr>
        <p:spPr>
          <a:xfrm>
            <a:off x="1562100" y="7785299"/>
            <a:ext cx="133773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L ≠ R = Reg</a:t>
            </a:r>
            <a:endParaRPr lang="en-US" sz="1800" dirty="0"/>
          </a:p>
        </p:txBody>
      </p:sp>
      <p:sp>
        <p:nvSpPr>
          <p:cNvPr id="23" name="Text 21"/>
          <p:cNvSpPr/>
          <p:nvPr/>
        </p:nvSpPr>
        <p:spPr>
          <a:xfrm>
            <a:off x="4219476" y="7785299"/>
            <a:ext cx="1770807"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silent correction</a:t>
            </a:r>
            <a:endParaRPr lang="en-US" sz="1800" dirty="0"/>
          </a:p>
        </p:txBody>
      </p:sp>
      <p:sp>
        <p:nvSpPr>
          <p:cNvPr id="24" name="Text 22"/>
          <p:cNvSpPr/>
          <p:nvPr/>
        </p:nvSpPr>
        <p:spPr>
          <a:xfrm>
            <a:off x="1409700" y="8318699"/>
            <a:ext cx="4709160" cy="60960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Only the third row needs a regulator. No other tool can see it.</a:t>
            </a:r>
            <a:endParaRPr lang="en-US" sz="1800" dirty="0"/>
          </a:p>
        </p:txBody>
      </p:sp>
      <p:sp>
        <p:nvSpPr>
          <p:cNvPr id="25" name="Shape 23"/>
          <p:cNvSpPr/>
          <p:nvPr/>
        </p:nvSpPr>
        <p:spPr>
          <a:xfrm>
            <a:off x="6591300" y="3647678"/>
            <a:ext cx="5105400" cy="5356821"/>
          </a:xfrm>
          <a:prstGeom prst="rect">
            <a:avLst/>
          </a:prstGeom>
          <a:solidFill>
            <a:srgbClr val="EAE9E9"/>
          </a:solidFill>
          <a:ln/>
        </p:spPr>
      </p:sp>
      <p:sp>
        <p:nvSpPr>
          <p:cNvPr id="26" name="Shape 24"/>
          <p:cNvSpPr/>
          <p:nvPr/>
        </p:nvSpPr>
        <p:spPr>
          <a:xfrm>
            <a:off x="6858000" y="3963888"/>
            <a:ext cx="438150" cy="438150"/>
          </a:xfrm>
          <a:prstGeom prst="rect">
            <a:avLst/>
          </a:prstGeom>
          <a:solidFill>
            <a:srgbClr val="EC3013"/>
          </a:solidFill>
          <a:ln/>
        </p:spPr>
      </p:sp>
      <p:sp>
        <p:nvSpPr>
          <p:cNvPr id="27" name="Text 25"/>
          <p:cNvSpPr/>
          <p:nvPr/>
        </p:nvSpPr>
        <p:spPr>
          <a:xfrm>
            <a:off x="6819900" y="396388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02</a:t>
            </a:r>
            <a:endParaRPr lang="en-US" sz="1800" dirty="0"/>
          </a:p>
        </p:txBody>
      </p:sp>
      <p:sp>
        <p:nvSpPr>
          <p:cNvPr id="28" name="Text 26"/>
          <p:cNvSpPr/>
          <p:nvPr/>
        </p:nvSpPr>
        <p:spPr>
          <a:xfrm>
            <a:off x="7467600" y="3876278"/>
            <a:ext cx="4081272" cy="651470"/>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A result for every rule, not every test case</a:t>
            </a:r>
            <a:endParaRPr lang="en-US" sz="2100" dirty="0"/>
          </a:p>
        </p:txBody>
      </p:sp>
      <p:sp>
        <p:nvSpPr>
          <p:cNvPr id="29" name="Text 27"/>
          <p:cNvSpPr/>
          <p:nvPr/>
        </p:nvSpPr>
        <p:spPr>
          <a:xfrm>
            <a:off x="6858000" y="4622999"/>
            <a:ext cx="47091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Executing a line is not testing the rule it encodes. A rule counts as confirmed only when all three checks hold.</a:t>
            </a:r>
            <a:endParaRPr lang="en-US" sz="1800" dirty="0"/>
          </a:p>
        </p:txBody>
      </p:sp>
      <p:sp>
        <p:nvSpPr>
          <p:cNvPr id="30" name="Shape 28"/>
          <p:cNvSpPr/>
          <p:nvPr/>
        </p:nvSpPr>
        <p:spPr>
          <a:xfrm>
            <a:off x="6858000" y="5642174"/>
            <a:ext cx="4572000" cy="504825"/>
          </a:xfrm>
          <a:prstGeom prst="rect">
            <a:avLst/>
          </a:prstGeom>
          <a:solidFill>
            <a:srgbClr val="F3F2F2"/>
          </a:solidFill>
          <a:ln/>
        </p:spPr>
      </p:sp>
      <p:sp>
        <p:nvSpPr>
          <p:cNvPr id="31" name="Shape 29"/>
          <p:cNvSpPr/>
          <p:nvPr/>
        </p:nvSpPr>
        <p:spPr>
          <a:xfrm>
            <a:off x="7010400" y="5751711"/>
            <a:ext cx="285750" cy="285750"/>
          </a:xfrm>
          <a:prstGeom prst="rect">
            <a:avLst/>
          </a:prstGeom>
          <a:solidFill>
            <a:srgbClr val="444141"/>
          </a:solidFill>
          <a:ln/>
        </p:spPr>
      </p:sp>
      <p:sp>
        <p:nvSpPr>
          <p:cNvPr id="32" name="Text 30"/>
          <p:cNvSpPr/>
          <p:nvPr/>
        </p:nvSpPr>
        <p:spPr>
          <a:xfrm>
            <a:off x="6972300" y="5751711"/>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1</a:t>
            </a:r>
            <a:endParaRPr lang="en-US" sz="1800" dirty="0"/>
          </a:p>
        </p:txBody>
      </p:sp>
      <p:sp>
        <p:nvSpPr>
          <p:cNvPr id="33" name="Text 31"/>
          <p:cNvSpPr/>
          <p:nvPr/>
        </p:nvSpPr>
        <p:spPr>
          <a:xfrm>
            <a:off x="7429500" y="5746949"/>
            <a:ext cx="334778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Reached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rule’s lines ran</a:t>
            </a:r>
            <a:endParaRPr lang="en-US" sz="1800" dirty="0"/>
          </a:p>
        </p:txBody>
      </p:sp>
      <p:sp>
        <p:nvSpPr>
          <p:cNvPr id="34" name="Shape 32"/>
          <p:cNvSpPr/>
          <p:nvPr/>
        </p:nvSpPr>
        <p:spPr>
          <a:xfrm>
            <a:off x="6858000" y="6223199"/>
            <a:ext cx="4572000" cy="800100"/>
          </a:xfrm>
          <a:prstGeom prst="rect">
            <a:avLst/>
          </a:prstGeom>
          <a:solidFill>
            <a:srgbClr val="F3F2F2"/>
          </a:solidFill>
          <a:ln/>
        </p:spPr>
      </p:sp>
      <p:sp>
        <p:nvSpPr>
          <p:cNvPr id="35" name="Shape 33"/>
          <p:cNvSpPr/>
          <p:nvPr/>
        </p:nvSpPr>
        <p:spPr>
          <a:xfrm>
            <a:off x="7010400" y="6480374"/>
            <a:ext cx="285750" cy="285750"/>
          </a:xfrm>
          <a:prstGeom prst="rect">
            <a:avLst/>
          </a:prstGeom>
          <a:solidFill>
            <a:srgbClr val="EC3013"/>
          </a:solidFill>
          <a:ln/>
        </p:spPr>
      </p:sp>
      <p:sp>
        <p:nvSpPr>
          <p:cNvPr id="36" name="Text 34"/>
          <p:cNvSpPr/>
          <p:nvPr/>
        </p:nvSpPr>
        <p:spPr>
          <a:xfrm>
            <a:off x="6972300" y="6480374"/>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2</a:t>
            </a:r>
            <a:endParaRPr lang="en-US" sz="1800" dirty="0"/>
          </a:p>
        </p:txBody>
      </p:sp>
      <p:sp>
        <p:nvSpPr>
          <p:cNvPr id="37" name="Text 35"/>
          <p:cNvSpPr/>
          <p:nvPr/>
        </p:nvSpPr>
        <p:spPr>
          <a:xfrm>
            <a:off x="7429500" y="6327974"/>
            <a:ext cx="3963543"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Discriminating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boundary changed the output</a:t>
            </a:r>
            <a:endParaRPr lang="en-US" sz="1800" dirty="0"/>
          </a:p>
        </p:txBody>
      </p:sp>
      <p:sp>
        <p:nvSpPr>
          <p:cNvPr id="38" name="Shape 36"/>
          <p:cNvSpPr/>
          <p:nvPr/>
        </p:nvSpPr>
        <p:spPr>
          <a:xfrm>
            <a:off x="6858000" y="7099499"/>
            <a:ext cx="4572000" cy="800100"/>
          </a:xfrm>
          <a:prstGeom prst="rect">
            <a:avLst/>
          </a:prstGeom>
          <a:solidFill>
            <a:srgbClr val="F3F2F2"/>
          </a:solidFill>
          <a:ln/>
        </p:spPr>
      </p:sp>
      <p:sp>
        <p:nvSpPr>
          <p:cNvPr id="39" name="Shape 37"/>
          <p:cNvSpPr/>
          <p:nvPr/>
        </p:nvSpPr>
        <p:spPr>
          <a:xfrm>
            <a:off x="7010400" y="7356674"/>
            <a:ext cx="285750" cy="285750"/>
          </a:xfrm>
          <a:prstGeom prst="rect">
            <a:avLst/>
          </a:prstGeom>
          <a:solidFill>
            <a:srgbClr val="444141"/>
          </a:solidFill>
          <a:ln/>
        </p:spPr>
      </p:sp>
      <p:sp>
        <p:nvSpPr>
          <p:cNvPr id="40" name="Text 38"/>
          <p:cNvSpPr/>
          <p:nvPr/>
        </p:nvSpPr>
        <p:spPr>
          <a:xfrm>
            <a:off x="6972300" y="7356674"/>
            <a:ext cx="361950" cy="323850"/>
          </a:xfrm>
          <a:prstGeom prst="rect">
            <a:avLst/>
          </a:prstGeom>
          <a:noFill/>
          <a:ln/>
        </p:spPr>
        <p:txBody>
          <a:bodyPr wrap="square" lIns="25400" tIns="25400" rIns="25400" bIns="25400" rtlCol="0" anchor="ctr">
            <a:normAutofit/>
          </a:bodyPr>
          <a:lstStyle/>
          <a:p>
            <a:pPr algn="ctr" indent="0" marL="0">
              <a:lnSpc>
                <a:spcPct val="110714"/>
              </a:lnSpc>
              <a:buNone/>
            </a:pPr>
            <a:r>
              <a:rPr lang="en-US" sz="1800" b="1" dirty="0">
                <a:solidFill>
                  <a:srgbClr val="F3F2F2"/>
                </a:solidFill>
                <a:latin typeface="Arial" pitchFamily="34" charset="0"/>
                <a:ea typeface="Arial" pitchFamily="34" charset="-122"/>
                <a:cs typeface="Arial" pitchFamily="34" charset="-120"/>
              </a:rPr>
              <a:t>3</a:t>
            </a:r>
            <a:endParaRPr lang="en-US" sz="1800" dirty="0"/>
          </a:p>
        </p:txBody>
      </p:sp>
      <p:sp>
        <p:nvSpPr>
          <p:cNvPr id="41" name="Text 39"/>
          <p:cNvSpPr/>
          <p:nvPr/>
        </p:nvSpPr>
        <p:spPr>
          <a:xfrm>
            <a:off x="7429500" y="7204274"/>
            <a:ext cx="3963543"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Agreed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 the rewrite matched every time</a:t>
            </a:r>
            <a:endParaRPr lang="en-US" sz="1800" dirty="0"/>
          </a:p>
        </p:txBody>
      </p:sp>
      <p:sp>
        <p:nvSpPr>
          <p:cNvPr id="42" name="Text 40"/>
          <p:cNvSpPr/>
          <p:nvPr/>
        </p:nvSpPr>
        <p:spPr>
          <a:xfrm>
            <a:off x="6858000" y="8032949"/>
            <a:ext cx="4709160" cy="8953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Check 2 is the one that catches our own extraction inventing a rule that is not in the program.</a:t>
            </a:r>
            <a:endParaRPr lang="en-US" sz="1800" dirty="0"/>
          </a:p>
        </p:txBody>
      </p:sp>
      <p:sp>
        <p:nvSpPr>
          <p:cNvPr id="43" name="Shape 41"/>
          <p:cNvSpPr/>
          <p:nvPr/>
        </p:nvSpPr>
        <p:spPr>
          <a:xfrm>
            <a:off x="12039600" y="3647678"/>
            <a:ext cx="5105400" cy="5356821"/>
          </a:xfrm>
          <a:prstGeom prst="rect">
            <a:avLst/>
          </a:prstGeom>
          <a:solidFill>
            <a:srgbClr val="EAE9E9"/>
          </a:solidFill>
          <a:ln/>
        </p:spPr>
      </p:sp>
      <p:sp>
        <p:nvSpPr>
          <p:cNvPr id="44" name="Shape 42"/>
          <p:cNvSpPr/>
          <p:nvPr/>
        </p:nvSpPr>
        <p:spPr>
          <a:xfrm>
            <a:off x="12306300" y="3876278"/>
            <a:ext cx="438150" cy="438150"/>
          </a:xfrm>
          <a:prstGeom prst="rect">
            <a:avLst/>
          </a:prstGeom>
          <a:solidFill>
            <a:srgbClr val="EC3013"/>
          </a:solidFill>
          <a:ln/>
        </p:spPr>
      </p:sp>
      <p:sp>
        <p:nvSpPr>
          <p:cNvPr id="45" name="Text 43"/>
          <p:cNvSpPr/>
          <p:nvPr/>
        </p:nvSpPr>
        <p:spPr>
          <a:xfrm>
            <a:off x="12268200" y="3876278"/>
            <a:ext cx="514350" cy="476250"/>
          </a:xfrm>
          <a:prstGeom prst="rect">
            <a:avLst/>
          </a:prstGeom>
          <a:noFill/>
          <a:ln/>
        </p:spPr>
        <p:txBody>
          <a:bodyPr wrap="square" lIns="25400" tIns="25400" rIns="25400" bIns="25400" rtlCol="0" anchor="ctr">
            <a:normAutofit/>
          </a:bodyPr>
          <a:lstStyle/>
          <a:p>
            <a:pPr algn="ctr" indent="0" marL="0">
              <a:lnSpc>
                <a:spcPct val="109412"/>
              </a:lnSpc>
              <a:buNone/>
            </a:pPr>
            <a:r>
              <a:rPr lang="en-US" sz="1800" b="1" dirty="0">
                <a:solidFill>
                  <a:srgbClr val="F3F2F2"/>
                </a:solidFill>
                <a:latin typeface="Arial" pitchFamily="34" charset="0"/>
                <a:ea typeface="Arial" pitchFamily="34" charset="-122"/>
                <a:cs typeface="Arial" pitchFamily="34" charset="-120"/>
              </a:rPr>
              <a:t>03</a:t>
            </a:r>
            <a:endParaRPr lang="en-US" sz="1800" dirty="0"/>
          </a:p>
        </p:txBody>
      </p:sp>
      <p:sp>
        <p:nvSpPr>
          <p:cNvPr id="46" name="Text 44"/>
          <p:cNvSpPr/>
          <p:nvPr/>
        </p:nvSpPr>
        <p:spPr>
          <a:xfrm>
            <a:off x="12915900" y="3941961"/>
            <a:ext cx="2723059" cy="344785"/>
          </a:xfrm>
          <a:prstGeom prst="rect">
            <a:avLst/>
          </a:prstGeom>
          <a:noFill/>
          <a:ln/>
        </p:spPr>
        <p:txBody>
          <a:bodyPr wrap="square" lIns="25400" tIns="25400" rIns="25400" bIns="25400" rtlCol="0" anchor="t">
            <a:normAutofit/>
          </a:bodyPr>
          <a:lstStyle/>
          <a:p>
            <a:pPr algn="l" indent="0" marL="0">
              <a:lnSpc>
                <a:spcPct val="81864"/>
              </a:lnSpc>
              <a:buNone/>
            </a:pPr>
            <a:r>
              <a:rPr lang="en-US" sz="2100" b="1" spc="-31" kern="0" dirty="0">
                <a:solidFill>
                  <a:srgbClr val="201E1D"/>
                </a:solidFill>
                <a:latin typeface="Arial" pitchFamily="34" charset="0"/>
                <a:ea typeface="Arial" pitchFamily="34" charset="-122"/>
                <a:cs typeface="Arial" pitchFamily="34" charset="-120"/>
              </a:rPr>
              <a:t>We test our own tests</a:t>
            </a:r>
            <a:endParaRPr lang="en-US" sz="2100" dirty="0"/>
          </a:p>
        </p:txBody>
      </p:sp>
      <p:sp>
        <p:nvSpPr>
          <p:cNvPr id="47" name="Text 45"/>
          <p:cNvSpPr/>
          <p:nvPr/>
        </p:nvSpPr>
        <p:spPr>
          <a:xfrm>
            <a:off x="12306300" y="4447778"/>
            <a:ext cx="47091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“Everything passed” proves nothing unless the inputs could have caught a failure. So we break the legacy on purpose.</a:t>
            </a:r>
            <a:endParaRPr lang="en-US" sz="1800" dirty="0"/>
          </a:p>
        </p:txBody>
      </p:sp>
      <p:sp>
        <p:nvSpPr>
          <p:cNvPr id="48" name="Shape 46"/>
          <p:cNvSpPr/>
          <p:nvPr/>
        </p:nvSpPr>
        <p:spPr>
          <a:xfrm>
            <a:off x="12306300" y="5466954"/>
            <a:ext cx="4572000" cy="1095375"/>
          </a:xfrm>
          <a:prstGeom prst="rect">
            <a:avLst/>
          </a:prstGeom>
          <a:solidFill>
            <a:srgbClr val="F3F2F2"/>
          </a:solidFill>
          <a:ln/>
        </p:spPr>
      </p:sp>
      <p:sp>
        <p:nvSpPr>
          <p:cNvPr id="49" name="Text 47"/>
          <p:cNvSpPr/>
          <p:nvPr/>
        </p:nvSpPr>
        <p:spPr>
          <a:xfrm>
            <a:off x="12458700" y="5571729"/>
            <a:ext cx="4404360"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Inject a deliberate defect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100000 → 100001 · &gt; → &gt;= · delete ROUNDED · 360 → 365</a:t>
            </a:r>
            <a:endParaRPr lang="en-US" sz="1800" dirty="0"/>
          </a:p>
        </p:txBody>
      </p:sp>
      <p:sp>
        <p:nvSpPr>
          <p:cNvPr id="50" name="Shape 48"/>
          <p:cNvSpPr/>
          <p:nvPr/>
        </p:nvSpPr>
        <p:spPr>
          <a:xfrm>
            <a:off x="12306300" y="6638529"/>
            <a:ext cx="4572000" cy="504825"/>
          </a:xfrm>
          <a:prstGeom prst="rect">
            <a:avLst/>
          </a:prstGeom>
          <a:solidFill>
            <a:srgbClr val="F3F2F2"/>
          </a:solidFill>
          <a:ln/>
        </p:spPr>
      </p:sp>
      <p:sp>
        <p:nvSpPr>
          <p:cNvPr id="51" name="Text 49"/>
          <p:cNvSpPr/>
          <p:nvPr/>
        </p:nvSpPr>
        <p:spPr>
          <a:xfrm>
            <a:off x="12458700" y="6743304"/>
            <a:ext cx="4404360" cy="333375"/>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Re-run the same input corpus</a:t>
            </a:r>
            <a:endParaRPr lang="en-US" sz="1800" dirty="0"/>
          </a:p>
        </p:txBody>
      </p:sp>
      <p:sp>
        <p:nvSpPr>
          <p:cNvPr id="52" name="Shape 50"/>
          <p:cNvSpPr/>
          <p:nvPr/>
        </p:nvSpPr>
        <p:spPr>
          <a:xfrm>
            <a:off x="12306300" y="7219554"/>
            <a:ext cx="2247900" cy="800100"/>
          </a:xfrm>
          <a:prstGeom prst="rect">
            <a:avLst/>
          </a:prstGeom>
          <a:solidFill>
            <a:srgbClr val="F3F2F2"/>
          </a:solidFill>
          <a:ln/>
        </p:spPr>
      </p:sp>
      <p:sp>
        <p:nvSpPr>
          <p:cNvPr id="53" name="Text 51"/>
          <p:cNvSpPr/>
          <p:nvPr/>
        </p:nvSpPr>
        <p:spPr>
          <a:xfrm>
            <a:off x="12458700" y="7324329"/>
            <a:ext cx="201930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Caught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claim stands</a:t>
            </a:r>
            <a:endParaRPr lang="en-US" sz="1800" dirty="0"/>
          </a:p>
        </p:txBody>
      </p:sp>
      <p:sp>
        <p:nvSpPr>
          <p:cNvPr id="54" name="Shape 52"/>
          <p:cNvSpPr/>
          <p:nvPr/>
        </p:nvSpPr>
        <p:spPr>
          <a:xfrm>
            <a:off x="14630400" y="7219554"/>
            <a:ext cx="2247900" cy="800100"/>
          </a:xfrm>
          <a:prstGeom prst="rect">
            <a:avLst/>
          </a:prstGeom>
          <a:solidFill>
            <a:srgbClr val="F3F2F2"/>
          </a:solidFill>
          <a:ln/>
        </p:spPr>
      </p:sp>
      <p:sp>
        <p:nvSpPr>
          <p:cNvPr id="55" name="Text 53"/>
          <p:cNvSpPr/>
          <p:nvPr/>
        </p:nvSpPr>
        <p:spPr>
          <a:xfrm>
            <a:off x="14782800" y="7324329"/>
            <a:ext cx="2019300"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201E1D"/>
                </a:solidFill>
                <a:latin typeface="Arial" pitchFamily="34" charset="0"/>
                <a:ea typeface="Arial" pitchFamily="34" charset="-122"/>
                <a:cs typeface="Arial" pitchFamily="34" charset="-120"/>
              </a:rPr>
              <a:t>Missed </a:t>
            </a:r>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we do not claim it</a:t>
            </a:r>
            <a:endParaRPr lang="en-US" sz="1800" dirty="0"/>
          </a:p>
        </p:txBody>
      </p:sp>
      <p:sp>
        <p:nvSpPr>
          <p:cNvPr id="56" name="Text 54"/>
          <p:cNvSpPr/>
          <p:nvPr/>
        </p:nvSpPr>
        <p:spPr>
          <a:xfrm>
            <a:off x="12306300" y="8153004"/>
            <a:ext cx="4709160" cy="60960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The equivalence claim ships with its own strength score.</a:t>
            </a:r>
            <a:endParaRPr lang="en-US" sz="1800" dirty="0"/>
          </a:p>
        </p:txBody>
      </p:sp>
      <p:sp>
        <p:nvSpPr>
          <p:cNvPr id="57" name="Text 55"/>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Checked against Locksmith (arXiv 2607.28271), AgentModernize (arXiv 2605.17535) and the shipping vendor tools. None reports per-rule results, scores its own corpus, or consults a regulator.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82401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MARKET POTENTIAL</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09</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spend is already committed. Assurance is the gate.</a:t>
            </a:r>
            <a:endParaRPr lang="en-US" sz="4650" dirty="0"/>
          </a:p>
        </p:txBody>
      </p:sp>
      <p:sp>
        <p:nvSpPr>
          <p:cNvPr id="6" name="Shape 4"/>
          <p:cNvSpPr/>
          <p:nvPr/>
        </p:nvSpPr>
        <p:spPr>
          <a:xfrm>
            <a:off x="1143000" y="2733278"/>
            <a:ext cx="3657600" cy="19050"/>
          </a:xfrm>
          <a:prstGeom prst="rect">
            <a:avLst/>
          </a:prstGeom>
          <a:solidFill>
            <a:srgbClr val="201E1E">
              <a:alpha val="40000"/>
            </a:srgbClr>
          </a:solidFill>
          <a:ln/>
        </p:spPr>
      </p:sp>
      <p:sp>
        <p:nvSpPr>
          <p:cNvPr id="7" name="Text 5"/>
          <p:cNvSpPr/>
          <p:nvPr/>
        </p:nvSpPr>
        <p:spPr>
          <a:xfrm>
            <a:off x="11430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~$1bn</a:t>
            </a:r>
            <a:endParaRPr lang="en-US" sz="6300" dirty="0"/>
          </a:p>
        </p:txBody>
      </p:sp>
      <p:sp>
        <p:nvSpPr>
          <p:cNvPr id="8" name="Text 6"/>
          <p:cNvSpPr/>
          <p:nvPr/>
        </p:nvSpPr>
        <p:spPr>
          <a:xfrm>
            <a:off x="1143000" y="3895328"/>
            <a:ext cx="3767328"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Indian lenders must invest over 5–10 years to upgrade legacy core banking</a:t>
            </a:r>
            <a:endParaRPr lang="en-US" sz="1875" dirty="0"/>
          </a:p>
        </p:txBody>
      </p:sp>
      <p:sp>
        <p:nvSpPr>
          <p:cNvPr id="9" name="Text 7"/>
          <p:cNvSpPr/>
          <p:nvPr/>
        </p:nvSpPr>
        <p:spPr>
          <a:xfrm>
            <a:off x="1143000" y="4952604"/>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Boston Consulting Group, 2024</a:t>
            </a:r>
            <a:endParaRPr lang="en-US" sz="1800" dirty="0"/>
          </a:p>
        </p:txBody>
      </p:sp>
      <p:sp>
        <p:nvSpPr>
          <p:cNvPr id="10" name="Shape 8"/>
          <p:cNvSpPr/>
          <p:nvPr/>
        </p:nvSpPr>
        <p:spPr>
          <a:xfrm>
            <a:off x="5257800" y="2733278"/>
            <a:ext cx="3657600" cy="19050"/>
          </a:xfrm>
          <a:prstGeom prst="rect">
            <a:avLst/>
          </a:prstGeom>
          <a:solidFill>
            <a:srgbClr val="201E1E">
              <a:alpha val="40000"/>
            </a:srgbClr>
          </a:solidFill>
          <a:ln/>
        </p:spPr>
      </p:sp>
      <p:sp>
        <p:nvSpPr>
          <p:cNvPr id="11" name="Text 9"/>
          <p:cNvSpPr/>
          <p:nvPr/>
        </p:nvSpPr>
        <p:spPr>
          <a:xfrm>
            <a:off x="52578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92</a:t>
            </a:r>
            <a:pPr algn="l" indent="0" marL="0">
              <a:lnSpc>
                <a:spcPct val="70787"/>
              </a:lnSpc>
              <a:buNone/>
            </a:pPr>
            <a:r>
              <a:rPr lang="en-US" sz="3600" b="1" spc="-126" kern="0" dirty="0">
                <a:solidFill>
                  <a:srgbClr val="201E1D"/>
                </a:solidFill>
                <a:latin typeface="Arial" pitchFamily="34" charset="0"/>
                <a:ea typeface="Arial" pitchFamily="34" charset="-122"/>
                <a:cs typeface="Arial" pitchFamily="34" charset="-120"/>
              </a:rPr>
              <a:t>/100</a:t>
            </a:r>
            <a:endParaRPr lang="en-US" sz="6300" dirty="0"/>
          </a:p>
        </p:txBody>
      </p:sp>
      <p:sp>
        <p:nvSpPr>
          <p:cNvPr id="12" name="Text 10"/>
          <p:cNvSpPr/>
          <p:nvPr/>
        </p:nvSpPr>
        <p:spPr>
          <a:xfrm>
            <a:off x="5257800" y="3895328"/>
            <a:ext cx="3767328"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the world’s largest banks run core operations on IBM mainframes</a:t>
            </a:r>
            <a:endParaRPr lang="en-US" sz="1875" dirty="0"/>
          </a:p>
        </p:txBody>
      </p:sp>
      <p:sp>
        <p:nvSpPr>
          <p:cNvPr id="13" name="Text 11"/>
          <p:cNvSpPr/>
          <p:nvPr/>
        </p:nvSpPr>
        <p:spPr>
          <a:xfrm>
            <a:off x="5257800" y="4952604"/>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widely reported industry figure</a:t>
            </a:r>
            <a:endParaRPr lang="en-US" sz="1800" dirty="0"/>
          </a:p>
        </p:txBody>
      </p:sp>
      <p:sp>
        <p:nvSpPr>
          <p:cNvPr id="14" name="Shape 12"/>
          <p:cNvSpPr/>
          <p:nvPr/>
        </p:nvSpPr>
        <p:spPr>
          <a:xfrm>
            <a:off x="9372600" y="2733278"/>
            <a:ext cx="3657600" cy="19050"/>
          </a:xfrm>
          <a:prstGeom prst="rect">
            <a:avLst/>
          </a:prstGeom>
          <a:solidFill>
            <a:srgbClr val="201E1E">
              <a:alpha val="40000"/>
            </a:srgbClr>
          </a:solidFill>
          <a:ln/>
        </p:spPr>
      </p:sp>
      <p:sp>
        <p:nvSpPr>
          <p:cNvPr id="15" name="Text 13"/>
          <p:cNvSpPr/>
          <p:nvPr/>
        </p:nvSpPr>
        <p:spPr>
          <a:xfrm>
            <a:off x="9372600" y="2961878"/>
            <a:ext cx="4023360" cy="838200"/>
          </a:xfrm>
          <a:prstGeom prst="rect">
            <a:avLst/>
          </a:prstGeom>
          <a:noFill/>
          <a:ln/>
        </p:spPr>
        <p:txBody>
          <a:bodyPr wrap="square" lIns="25400" tIns="25400" rIns="25400" bIns="25400" rtlCol="0" anchor="t">
            <a:normAutofit/>
          </a:bodyPr>
          <a:lstStyle/>
          <a:p>
            <a:pPr algn="l" indent="0" marL="0">
              <a:lnSpc>
                <a:spcPct val="70787"/>
              </a:lnSpc>
              <a:buNone/>
            </a:pPr>
            <a:r>
              <a:rPr lang="en-US" sz="6300" b="1" spc="-126" kern="0" dirty="0">
                <a:solidFill>
                  <a:srgbClr val="201E1D"/>
                </a:solidFill>
                <a:latin typeface="Arial" pitchFamily="34" charset="0"/>
                <a:ea typeface="Arial" pitchFamily="34" charset="-122"/>
                <a:cs typeface="Arial" pitchFamily="34" charset="-120"/>
              </a:rPr>
              <a:t>&gt;40%</a:t>
            </a:r>
            <a:endParaRPr lang="en-US" sz="6300" dirty="0"/>
          </a:p>
        </p:txBody>
      </p:sp>
      <p:sp>
        <p:nvSpPr>
          <p:cNvPr id="16" name="Text 14"/>
          <p:cNvSpPr/>
          <p:nvPr/>
        </p:nvSpPr>
        <p:spPr>
          <a:xfrm>
            <a:off x="9372600" y="389532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of banking systems still run COBOL in production today</a:t>
            </a:r>
            <a:endParaRPr lang="en-US" sz="1875" dirty="0"/>
          </a:p>
        </p:txBody>
      </p:sp>
      <p:sp>
        <p:nvSpPr>
          <p:cNvPr id="17" name="Text 15"/>
          <p:cNvSpPr/>
          <p:nvPr/>
        </p:nvSpPr>
        <p:spPr>
          <a:xfrm>
            <a:off x="9372600" y="4638278"/>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Pragmatic Coders, 2025</a:t>
            </a:r>
            <a:endParaRPr lang="en-US" sz="1800" dirty="0"/>
          </a:p>
        </p:txBody>
      </p:sp>
      <p:sp>
        <p:nvSpPr>
          <p:cNvPr id="18" name="Shape 16"/>
          <p:cNvSpPr/>
          <p:nvPr/>
        </p:nvSpPr>
        <p:spPr>
          <a:xfrm>
            <a:off x="13487400" y="2733278"/>
            <a:ext cx="3657600" cy="19050"/>
          </a:xfrm>
          <a:prstGeom prst="rect">
            <a:avLst/>
          </a:prstGeom>
          <a:solidFill>
            <a:srgbClr val="201E1E">
              <a:alpha val="40000"/>
            </a:srgbClr>
          </a:solidFill>
          <a:ln/>
        </p:spPr>
      </p:sp>
      <p:sp>
        <p:nvSpPr>
          <p:cNvPr id="19" name="Text 17"/>
          <p:cNvSpPr/>
          <p:nvPr/>
        </p:nvSpPr>
        <p:spPr>
          <a:xfrm>
            <a:off x="13487400" y="2961878"/>
            <a:ext cx="4023360" cy="920750"/>
          </a:xfrm>
          <a:prstGeom prst="rect">
            <a:avLst/>
          </a:prstGeom>
          <a:noFill/>
          <a:ln/>
        </p:spPr>
        <p:txBody>
          <a:bodyPr wrap="square" lIns="25400" tIns="25400" rIns="25400" bIns="25400" rtlCol="0" anchor="t">
            <a:normAutofit/>
          </a:bodyPr>
          <a:lstStyle/>
          <a:p>
            <a:pPr algn="l" indent="0" marL="0">
              <a:lnSpc>
                <a:spcPct val="92647"/>
              </a:lnSpc>
              <a:buNone/>
            </a:pPr>
            <a:r>
              <a:rPr lang="en-US" sz="4800" b="1" spc="-96" kern="0" dirty="0">
                <a:solidFill>
                  <a:srgbClr val="EC3013"/>
                </a:solidFill>
                <a:latin typeface="Arial" pitchFamily="34" charset="0"/>
                <a:ea typeface="Arial" pitchFamily="34" charset="-122"/>
                <a:cs typeface="Arial" pitchFamily="34" charset="-120"/>
              </a:rPr>
              <a:t>5% </a:t>
            </a:r>
            <a:pPr algn="l" indent="0" marL="0">
              <a:lnSpc>
                <a:spcPct val="92647"/>
              </a:lnSpc>
              <a:buNone/>
            </a:pPr>
            <a:r>
              <a:rPr lang="en-US" sz="3000" b="1" spc="-96" kern="0" dirty="0">
                <a:solidFill>
                  <a:srgbClr val="EC3013"/>
                </a:solidFill>
                <a:latin typeface="Arial" pitchFamily="34" charset="0"/>
                <a:ea typeface="Arial" pitchFamily="34" charset="-122"/>
                <a:cs typeface="Arial" pitchFamily="34" charset="-120"/>
              </a:rPr>
              <a:t>vs </a:t>
            </a:r>
            <a:pPr algn="l" indent="0" marL="0">
              <a:lnSpc>
                <a:spcPct val="92647"/>
              </a:lnSpc>
              <a:buNone/>
            </a:pPr>
            <a:r>
              <a:rPr lang="en-US" sz="4800" b="1" spc="-96" kern="0" dirty="0">
                <a:solidFill>
                  <a:srgbClr val="EC3013"/>
                </a:solidFill>
                <a:latin typeface="Arial" pitchFamily="34" charset="0"/>
                <a:ea typeface="Arial" pitchFamily="34" charset="-122"/>
                <a:cs typeface="Arial" pitchFamily="34" charset="-120"/>
              </a:rPr>
              <a:t>7–9%</a:t>
            </a:r>
            <a:endParaRPr lang="en-US" sz="4800" dirty="0"/>
          </a:p>
        </p:txBody>
      </p:sp>
      <p:sp>
        <p:nvSpPr>
          <p:cNvPr id="20" name="Text 18"/>
          <p:cNvSpPr/>
          <p:nvPr/>
        </p:nvSpPr>
        <p:spPr>
          <a:xfrm>
            <a:off x="13487400" y="3977878"/>
            <a:ext cx="3767328" cy="666750"/>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201E1C">
                    <a:alpha val="60000"/>
                  </a:srgbClr>
                </a:solidFill>
                <a:latin typeface="Arial" pitchFamily="34" charset="0"/>
                <a:ea typeface="Arial" pitchFamily="34" charset="-122"/>
                <a:cs typeface="Arial" pitchFamily="34" charset="-120"/>
              </a:rPr>
              <a:t>Indian banks’ IT spend as a share of revenue, against global peers</a:t>
            </a:r>
            <a:endParaRPr lang="en-US" sz="1875" dirty="0"/>
          </a:p>
        </p:txBody>
      </p:sp>
      <p:sp>
        <p:nvSpPr>
          <p:cNvPr id="21" name="Text 19"/>
          <p:cNvSpPr/>
          <p:nvPr/>
        </p:nvSpPr>
        <p:spPr>
          <a:xfrm>
            <a:off x="13487400" y="4720828"/>
            <a:ext cx="402336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AE1800"/>
                </a:solidFill>
                <a:latin typeface="Arial" pitchFamily="34" charset="0"/>
                <a:ea typeface="Arial" pitchFamily="34" charset="-122"/>
                <a:cs typeface="Arial" pitchFamily="34" charset="-120"/>
              </a:rPr>
              <a:t>industry analysis</a:t>
            </a:r>
            <a:endParaRPr lang="en-US" sz="1800" dirty="0"/>
          </a:p>
        </p:txBody>
      </p:sp>
      <p:sp>
        <p:nvSpPr>
          <p:cNvPr id="22" name="Shape 20"/>
          <p:cNvSpPr/>
          <p:nvPr/>
        </p:nvSpPr>
        <p:spPr>
          <a:xfrm>
            <a:off x="1143000" y="5619354"/>
            <a:ext cx="7772400" cy="19050"/>
          </a:xfrm>
          <a:prstGeom prst="rect">
            <a:avLst/>
          </a:prstGeom>
          <a:solidFill>
            <a:srgbClr val="201E1E">
              <a:alpha val="40000"/>
            </a:srgbClr>
          </a:solidFill>
          <a:ln/>
        </p:spPr>
      </p:sp>
      <p:sp>
        <p:nvSpPr>
          <p:cNvPr id="23" name="Text 21"/>
          <p:cNvSpPr/>
          <p:nvPr/>
        </p:nvSpPr>
        <p:spPr>
          <a:xfrm>
            <a:off x="1143000" y="5809854"/>
            <a:ext cx="854964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Every rupee of it is gated by one step</a:t>
            </a:r>
            <a:endParaRPr lang="en-US" sz="2400" dirty="0"/>
          </a:p>
        </p:txBody>
      </p:sp>
      <p:sp>
        <p:nvSpPr>
          <p:cNvPr id="24" name="Text 22"/>
          <p:cNvSpPr/>
          <p:nvPr/>
        </p:nvSpPr>
        <p:spPr>
          <a:xfrm>
            <a:off x="1143000" y="6293644"/>
            <a:ext cx="8005572"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Modernisation budgets are approved. What stalls them is the assurance step between “the new code exists” and “we are willing to run it on real money”. That step has no product category yet — it is absorbed as consulting hours and schedule risk.</a:t>
            </a:r>
            <a:endParaRPr lang="en-US" sz="1875" dirty="0"/>
          </a:p>
        </p:txBody>
      </p:sp>
      <p:sp>
        <p:nvSpPr>
          <p:cNvPr id="25" name="Shape 23"/>
          <p:cNvSpPr/>
          <p:nvPr/>
        </p:nvSpPr>
        <p:spPr>
          <a:xfrm>
            <a:off x="9372600" y="5619354"/>
            <a:ext cx="7772400" cy="19050"/>
          </a:xfrm>
          <a:prstGeom prst="rect">
            <a:avLst/>
          </a:prstGeom>
          <a:solidFill>
            <a:srgbClr val="201E1E">
              <a:alpha val="40000"/>
            </a:srgbClr>
          </a:solidFill>
          <a:ln/>
        </p:spPr>
      </p:sp>
      <p:sp>
        <p:nvSpPr>
          <p:cNvPr id="26" name="Text 24"/>
          <p:cNvSpPr/>
          <p:nvPr/>
        </p:nvSpPr>
        <p:spPr>
          <a:xfrm>
            <a:off x="9372600" y="5809854"/>
            <a:ext cx="8549640" cy="388541"/>
          </a:xfrm>
          <a:prstGeom prst="rect">
            <a:avLst/>
          </a:prstGeom>
          <a:noFill/>
          <a:ln/>
        </p:spPr>
        <p:txBody>
          <a:bodyPr wrap="square" lIns="25400" tIns="25400" rIns="25400" bIns="25400" rtlCol="0" anchor="t">
            <a:normAutofit/>
          </a:bodyPr>
          <a:lstStyle/>
          <a:p>
            <a:pPr algn="l" indent="0" marL="0">
              <a:lnSpc>
                <a:spcPct val="81176"/>
              </a:lnSpc>
              <a:buNone/>
            </a:pPr>
            <a:r>
              <a:rPr lang="en-US" sz="2400" b="1" spc="-36" kern="0" dirty="0">
                <a:solidFill>
                  <a:srgbClr val="201E1D"/>
                </a:solidFill>
                <a:latin typeface="Arial" pitchFamily="34" charset="0"/>
                <a:ea typeface="Arial" pitchFamily="34" charset="-122"/>
                <a:cs typeface="Arial" pitchFamily="34" charset="-120"/>
              </a:rPr>
              <a:t>The category is forming around generation</a:t>
            </a:r>
            <a:endParaRPr lang="en-US" sz="2400" dirty="0"/>
          </a:p>
        </p:txBody>
      </p:sp>
      <p:sp>
        <p:nvSpPr>
          <p:cNvPr id="27" name="Text 25"/>
          <p:cNvSpPr/>
          <p:nvPr/>
        </p:nvSpPr>
        <p:spPr>
          <a:xfrm>
            <a:off x="9372600" y="6293644"/>
            <a:ext cx="8005572" cy="1562100"/>
          </a:xfrm>
          <a:prstGeom prst="rect">
            <a:avLst/>
          </a:prstGeom>
          <a:noFill/>
          <a:ln/>
        </p:spPr>
        <p:txBody>
          <a:bodyPr wrap="square" lIns="25400" tIns="25400" rIns="25400" bIns="25400" rtlCol="0" anchor="t">
            <a:normAutofit/>
          </a:bodyPr>
          <a:lstStyle/>
          <a:p>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AWS Transform for mainframe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GA May 2025; ADP cut rule-extraction time 80%, manual effort over 90%. </a:t>
            </a:r>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IBM watsonx Code Assistant for Z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ships a validation assistant; IBM’s own papers say the output cannot be trusted without checking. </a:t>
            </a:r>
            <a:pPr algn="l" indent="0" marL="0">
              <a:lnSpc>
                <a:spcPct val="114286"/>
              </a:lnSpc>
              <a:buNone/>
            </a:pPr>
            <a:r>
              <a:rPr lang="en-US" sz="1800" b="1" dirty="0">
                <a:solidFill>
                  <a:srgbClr val="201E1D"/>
                </a:solidFill>
                <a:latin typeface="Arial" pitchFamily="34" charset="0"/>
                <a:ea typeface="Arial" pitchFamily="34" charset="-122"/>
                <a:cs typeface="Arial" pitchFamily="34" charset="-120"/>
              </a:rPr>
              <a:t>Mechanical Orchard, Imogen </a:t>
            </a:r>
            <a:pPr algn="l" indent="0" marL="0">
              <a:lnSpc>
                <a:spcPct val="114286"/>
              </a:lnSpc>
              <a:buNone/>
            </a:pPr>
            <a:r>
              <a:rPr lang="en-US" sz="1800" dirty="0">
                <a:solidFill>
                  <a:srgbClr val="201E1C">
                    <a:alpha val="60000"/>
                  </a:srgbClr>
                </a:solidFill>
                <a:latin typeface="Arial" pitchFamily="34" charset="0"/>
                <a:ea typeface="Arial" pitchFamily="34" charset="-122"/>
                <a:cs typeface="Arial" pitchFamily="34" charset="-120"/>
              </a:rPr>
              <a:t>— a generate-then-validate loop.</a:t>
            </a:r>
            <a:endParaRPr lang="en-US" sz="1800" dirty="0"/>
          </a:p>
        </p:txBody>
      </p:sp>
      <p:sp>
        <p:nvSpPr>
          <p:cNvPr id="28" name="Text 26"/>
          <p:cNvSpPr/>
          <p:nvPr/>
        </p:nvSpPr>
        <p:spPr>
          <a:xfrm>
            <a:off x="9372600" y="7970044"/>
            <a:ext cx="8549640" cy="361950"/>
          </a:xfrm>
          <a:prstGeom prst="rect">
            <a:avLst/>
          </a:prstGeom>
          <a:noFill/>
          <a:ln/>
        </p:spPr>
        <p:txBody>
          <a:bodyPr wrap="square" lIns="25400" tIns="25400" rIns="25400" bIns="25400" rtlCol="0" anchor="t">
            <a:normAutofit/>
          </a:bodyPr>
          <a:lstStyle/>
          <a:p>
            <a:pPr algn="l" indent="0" marL="0">
              <a:lnSpc>
                <a:spcPct val="92727"/>
              </a:lnSpc>
              <a:buNone/>
            </a:pPr>
            <a:r>
              <a:rPr lang="en-US" sz="1950" b="1" dirty="0">
                <a:solidFill>
                  <a:srgbClr val="AE1800"/>
                </a:solidFill>
                <a:latin typeface="Arial" pitchFamily="34" charset="0"/>
                <a:ea typeface="Arial" pitchFamily="34" charset="-122"/>
                <a:cs typeface="Arial" pitchFamily="34" charset="-120"/>
              </a:rPr>
              <a:t>All of them generate. None of them sells the proof as the product.</a:t>
            </a:r>
            <a:endParaRPr lang="en-US" sz="1950" dirty="0"/>
          </a:p>
        </p:txBody>
      </p:sp>
      <p:sp>
        <p:nvSpPr>
          <p:cNvPr id="29" name="Text 27"/>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The spend gap compounds: less budget → fewer modernisation attempts → more undocumented logic.</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txBody>
          <a:bodyPr/>
          <a:p/>
        </p:txBody>
      </p:sp>
      <p:sp>
        <p:nvSpPr>
          <p:cNvPr id="3" name="Text 1"/>
          <p:cNvSpPr/>
          <p:nvPr/>
        </p:nvSpPr>
        <p:spPr>
          <a:xfrm>
            <a:off x="1143000" y="609600"/>
            <a:ext cx="302647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FEASIBILITY &amp; SCOPE</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10</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Narrow by design, and buildable now</a:t>
            </a:r>
            <a:endParaRPr lang="en-US" sz="4650" dirty="0"/>
          </a:p>
        </p:txBody>
      </p:sp>
      <p:sp>
        <p:nvSpPr>
          <p:cNvPr id="6" name="Shape 4"/>
          <p:cNvSpPr/>
          <p:nvPr/>
        </p:nvSpPr>
        <p:spPr>
          <a:xfrm>
            <a:off x="1143000" y="2771378"/>
            <a:ext cx="7772400" cy="19050"/>
          </a:xfrm>
          <a:prstGeom prst="rect">
            <a:avLst/>
          </a:prstGeom>
          <a:solidFill>
            <a:srgbClr val="201E1E">
              <a:alpha val="40000"/>
            </a:srgbClr>
          </a:solidFill>
          <a:ln/>
        </p:spPr>
        <p:txBody>
          <a:bodyPr/>
          <a:p/>
        </p:txBody>
      </p:sp>
      <p:sp>
        <p:nvSpPr>
          <p:cNvPr id="7" name="Text 5"/>
          <p:cNvSpPr/>
          <p:nvPr/>
        </p:nvSpPr>
        <p:spPr>
          <a:xfrm>
            <a:off x="1143000" y="2961878"/>
            <a:ext cx="8549640"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spc="-33" kern="0" dirty="0">
                <a:solidFill>
                  <a:srgbClr val="201E1D"/>
                </a:solidFill>
                <a:latin typeface="Arial" pitchFamily="34" charset="0"/>
                <a:ea typeface="Arial" pitchFamily="34" charset="-122"/>
                <a:cs typeface="Arial" pitchFamily="34" charset="-120"/>
              </a:rPr>
              <a:t>In scope</a:t>
            </a:r>
            <a:endParaRPr lang="en-US" sz="2175" dirty="0"/>
          </a:p>
        </p:txBody>
      </p:sp>
      <p:sp>
        <p:nvSpPr>
          <p:cNvPr id="8" name="Text 6"/>
          <p:cNvSpPr/>
          <p:nvPr/>
        </p:nvSpPr>
        <p:spPr>
          <a:xfrm>
            <a:off x="1143000" y="3412827"/>
            <a:ext cx="8005572" cy="1371600"/>
          </a:xfrm>
          <a:prstGeom prst="rect">
            <a:avLst/>
          </a:prstGeom>
          <a:noFill/>
          <a:ln/>
        </p:spPr>
        <p:txBody>
          <a:bodyPr wrap="square" lIns="25400" tIns="25400" rIns="25400" bIns="25400" rtlCol="0" anchor="t">
            <a:normAutofit/>
          </a:bodyPr>
          <a:lstStyle/>
          <a:p>
            <a:pPr algn="l" indent="0" marL="0">
              <a:lnSpc>
                <a:spcPct val="125000"/>
              </a:lnSpc>
              <a:buNone/>
            </a:pPr>
            <a:r>
              <a:rPr lang="en-US" sz="1800" dirty="0">
                <a:solidFill>
                  <a:srgbClr val="201E1D"/>
                </a:solidFill>
                <a:latin typeface="Arial" pitchFamily="34" charset="0"/>
                <a:ea typeface="Arial" pitchFamily="34" charset="-122"/>
                <a:cs typeface="Arial" pitchFamily="34" charset="-120"/>
              </a:rPr>
              <a:t>COBOL compiled and executed via GnuCOBOL — free, open source, runs on a laptop Retail banking interest accrual — pure computation: input in, output out Third-party COBOL, including AWS’s own CardDemo sample</a:t>
            </a:r>
            <a:endParaRPr lang="en-US" sz="1800" dirty="0"/>
          </a:p>
        </p:txBody>
      </p:sp>
      <p:sp>
        <p:nvSpPr>
          <p:cNvPr id="9" name="Shape 7"/>
          <p:cNvSpPr/>
          <p:nvPr/>
        </p:nvSpPr>
        <p:spPr>
          <a:xfrm>
            <a:off x="9372600" y="2771378"/>
            <a:ext cx="7772400" cy="19050"/>
          </a:xfrm>
          <a:prstGeom prst="rect">
            <a:avLst/>
          </a:prstGeom>
          <a:solidFill>
            <a:srgbClr val="201E1E">
              <a:alpha val="40000"/>
            </a:srgbClr>
          </a:solidFill>
          <a:ln/>
        </p:spPr>
        <p:txBody>
          <a:bodyPr/>
          <a:p/>
        </p:txBody>
      </p:sp>
      <p:sp>
        <p:nvSpPr>
          <p:cNvPr id="10" name="Text 8"/>
          <p:cNvSpPr/>
          <p:nvPr/>
        </p:nvSpPr>
        <p:spPr>
          <a:xfrm>
            <a:off x="9372600" y="2961878"/>
            <a:ext cx="8549640" cy="355699"/>
          </a:xfrm>
          <a:prstGeom prst="rect">
            <a:avLst/>
          </a:prstGeom>
          <a:noFill/>
          <a:ln/>
        </p:spPr>
        <p:txBody>
          <a:bodyPr wrap="square" lIns="25400" tIns="25400" rIns="25400" bIns="25400" rtlCol="0" anchor="t">
            <a:normAutofit/>
          </a:bodyPr>
          <a:lstStyle/>
          <a:p>
            <a:pPr algn="l" indent="0" marL="0">
              <a:lnSpc>
                <a:spcPct val="82008"/>
              </a:lnSpc>
              <a:buNone/>
            </a:pPr>
            <a:r>
              <a:rPr lang="en-US" sz="2175" b="1" spc="-33" kern="0" dirty="0">
                <a:solidFill>
                  <a:srgbClr val="201E1D"/>
                </a:solidFill>
                <a:latin typeface="Arial" pitchFamily="34" charset="0"/>
                <a:ea typeface="Arial" pitchFamily="34" charset="-122"/>
                <a:cs typeface="Arial" pitchFamily="34" charset="-120"/>
              </a:rPr>
              <a:t>Out of scope — detected, not ignored</a:t>
            </a:r>
            <a:endParaRPr lang="en-US" sz="2175" dirty="0"/>
          </a:p>
        </p:txBody>
      </p:sp>
      <p:sp>
        <p:nvSpPr>
          <p:cNvPr id="11" name="Text 9"/>
          <p:cNvSpPr/>
          <p:nvPr/>
        </p:nvSpPr>
        <p:spPr>
          <a:xfrm>
            <a:off x="9372600" y="3412827"/>
            <a:ext cx="8005572" cy="1038225"/>
          </a:xfrm>
          <a:prstGeom prst="rect">
            <a:avLst/>
          </a:prstGeom>
          <a:noFill/>
          <a:ln/>
        </p:spPr>
        <p:txBody>
          <a:bodyPr wrap="square" lIns="25400" tIns="25400" rIns="25400" bIns="25400" rtlCol="0" anchor="t">
            <a:normAutofit/>
          </a:bodyPr>
          <a:lstStyle/>
          <a:p>
            <a:pPr algn="l" indent="0" marL="0">
              <a:lnSpc>
                <a:spcPct val="125000"/>
              </a:lnSpc>
              <a:buNone/>
            </a:pPr>
            <a:r>
              <a:rPr lang="en-US" sz="1800" dirty="0">
                <a:solidFill>
                  <a:srgbClr val="201E1D"/>
                </a:solidFill>
                <a:latin typeface="Arial" pitchFamily="34" charset="0"/>
                <a:ea typeface="Arial" pitchFamily="34" charset="-122"/>
                <a:cs typeface="Arial" pitchFamily="34" charset="-120"/>
              </a:rPr>
              <a:t>CICS screens and JCL orchestration · database-coupled programs · anything non-deterministic — system clocks, randomness, external state</a:t>
            </a:r>
            <a:endParaRPr lang="en-US" sz="1800" dirty="0"/>
          </a:p>
        </p:txBody>
      </p:sp>
      <p:sp>
        <p:nvSpPr>
          <p:cNvPr id="12" name="Text 10"/>
          <p:cNvSpPr/>
          <p:nvPr/>
        </p:nvSpPr>
        <p:spPr>
          <a:xfrm>
            <a:off x="9372600" y="4546302"/>
            <a:ext cx="8005572"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Differential testing compares outputs for equality, so non-determinism makes the verdict meaningless. The tool refuses these at intake, with a reason.</a:t>
            </a:r>
            <a:endParaRPr lang="en-US" sz="1800" dirty="0"/>
          </a:p>
        </p:txBody>
      </p:sp>
      <p:sp>
        <p:nvSpPr>
          <p:cNvPr id="13" name="Text 11"/>
          <p:cNvSpPr/>
          <p:nvPr/>
        </p:nvSpPr>
        <p:spPr>
          <a:xfrm>
            <a:off x="1143000" y="5517853"/>
            <a:ext cx="17602200" cy="379413"/>
          </a:xfrm>
          <a:prstGeom prst="rect">
            <a:avLst/>
          </a:prstGeom>
          <a:noFill/>
          <a:ln/>
        </p:spPr>
        <p:txBody>
          <a:bodyPr wrap="square" lIns="25400" tIns="25400" rIns="25400" bIns="25400" rtlCol="0" anchor="t">
            <a:normAutofit/>
          </a:bodyPr>
          <a:lstStyle/>
          <a:p>
            <a:pPr algn="l" indent="0" marL="0">
              <a:lnSpc>
                <a:spcPct val="79059"/>
              </a:lnSpc>
              <a:buNone/>
            </a:pPr>
            <a:r>
              <a:rPr lang="en-US" sz="2400" b="1" spc="-36" kern="0" dirty="0">
                <a:solidFill>
                  <a:srgbClr val="201E1D"/>
                </a:solidFill>
                <a:latin typeface="Arial" pitchFamily="34" charset="0"/>
                <a:ea typeface="Arial" pitchFamily="34" charset="-122"/>
                <a:cs typeface="Arial" pitchFamily="34" charset="-120"/>
              </a:rPr>
              <a:t>Build stages — the spine first, the novelty protected</a:t>
            </a:r>
            <a:endParaRPr lang="en-US" sz="2400" dirty="0"/>
          </a:p>
        </p:txBody>
      </p:sp>
      <p:sp>
        <p:nvSpPr>
          <p:cNvPr id="14" name="Shape 12"/>
          <p:cNvSpPr/>
          <p:nvPr/>
        </p:nvSpPr>
        <p:spPr>
          <a:xfrm>
            <a:off x="1143000" y="6087765"/>
            <a:ext cx="3657600" cy="19050"/>
          </a:xfrm>
          <a:prstGeom prst="rect">
            <a:avLst/>
          </a:prstGeom>
          <a:solidFill>
            <a:srgbClr val="EC3013"/>
          </a:solidFill>
          <a:ln/>
        </p:spPr>
        <p:txBody>
          <a:bodyPr/>
          <a:p/>
        </p:txBody>
      </p:sp>
      <p:sp>
        <p:nvSpPr>
          <p:cNvPr id="15" name="Text 13"/>
          <p:cNvSpPr/>
          <p:nvPr/>
        </p:nvSpPr>
        <p:spPr>
          <a:xfrm>
            <a:off x="11430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01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Differential harness</a:t>
            </a:r>
            <a:endParaRPr lang="en-US" sz="2025" dirty="0"/>
          </a:p>
        </p:txBody>
      </p:sp>
      <p:sp>
        <p:nvSpPr>
          <p:cNvPr id="16" name="Text 14"/>
          <p:cNvSpPr/>
          <p:nvPr/>
        </p:nvSpPr>
        <p:spPr>
          <a:xfrm>
            <a:off x="11430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GnuCOBOL compiles and runs; diff two implementations across an input list.</a:t>
            </a:r>
            <a:endParaRPr lang="en-US" sz="1800" dirty="0"/>
          </a:p>
        </p:txBody>
      </p:sp>
      <p:sp>
        <p:nvSpPr>
          <p:cNvPr id="17" name="Shape 15"/>
          <p:cNvSpPr/>
          <p:nvPr/>
        </p:nvSpPr>
        <p:spPr>
          <a:xfrm>
            <a:off x="5257800" y="6087765"/>
            <a:ext cx="3657600" cy="19050"/>
          </a:xfrm>
          <a:prstGeom prst="rect">
            <a:avLst/>
          </a:prstGeom>
          <a:solidFill>
            <a:srgbClr val="EC3013"/>
          </a:solidFill>
          <a:ln/>
        </p:spPr>
        <p:txBody>
          <a:bodyPr/>
          <a:p/>
        </p:txBody>
      </p:sp>
      <p:sp>
        <p:nvSpPr>
          <p:cNvPr id="18" name="Text 16"/>
          <p:cNvSpPr/>
          <p:nvPr/>
        </p:nvSpPr>
        <p:spPr>
          <a:xfrm>
            <a:off x="52578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02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Rules and boundaries</a:t>
            </a:r>
            <a:endParaRPr lang="en-US" sz="2025" dirty="0"/>
          </a:p>
        </p:txBody>
      </p:sp>
      <p:sp>
        <p:nvSpPr>
          <p:cNvPr id="19" name="Text 17"/>
          <p:cNvSpPr/>
          <p:nvPr/>
        </p:nvSpPr>
        <p:spPr>
          <a:xfrm>
            <a:off x="52578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Slice, extract with line citations, derive boundary inputs from the rules.</a:t>
            </a:r>
            <a:endParaRPr lang="en-US" sz="1800" dirty="0"/>
          </a:p>
        </p:txBody>
      </p:sp>
      <p:sp>
        <p:nvSpPr>
          <p:cNvPr id="20" name="Shape 18"/>
          <p:cNvSpPr/>
          <p:nvPr/>
        </p:nvSpPr>
        <p:spPr>
          <a:xfrm>
            <a:off x="9372600" y="6087765"/>
            <a:ext cx="3657600" cy="19050"/>
          </a:xfrm>
          <a:prstGeom prst="rect">
            <a:avLst/>
          </a:prstGeom>
          <a:solidFill>
            <a:srgbClr val="EC3013"/>
          </a:solidFill>
          <a:ln/>
        </p:spPr>
        <p:txBody>
          <a:bodyPr/>
          <a:p/>
        </p:txBody>
      </p:sp>
      <p:sp>
        <p:nvSpPr>
          <p:cNvPr id="21" name="Text 19"/>
          <p:cNvSpPr/>
          <p:nvPr/>
        </p:nvSpPr>
        <p:spPr>
          <a:xfrm>
            <a:off x="93726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03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Per-rule results</a:t>
            </a:r>
            <a:endParaRPr lang="en-US" sz="2025" dirty="0"/>
          </a:p>
        </p:txBody>
      </p:sp>
      <p:sp>
        <p:nvSpPr>
          <p:cNvPr id="22" name="Text 20"/>
          <p:cNvSpPr/>
          <p:nvPr/>
        </p:nvSpPr>
        <p:spPr>
          <a:xfrm>
            <a:off x="9372600" y="6707287"/>
            <a:ext cx="3767328" cy="923925"/>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Coverage mapped back to rules, including the ones we could not confirm.</a:t>
            </a:r>
            <a:endParaRPr lang="en-US" sz="1800" dirty="0"/>
          </a:p>
        </p:txBody>
      </p:sp>
      <p:sp>
        <p:nvSpPr>
          <p:cNvPr id="23" name="Shape 21"/>
          <p:cNvSpPr/>
          <p:nvPr/>
        </p:nvSpPr>
        <p:spPr>
          <a:xfrm>
            <a:off x="13487400" y="6087765"/>
            <a:ext cx="3657600" cy="19050"/>
          </a:xfrm>
          <a:prstGeom prst="rect">
            <a:avLst/>
          </a:prstGeom>
          <a:solidFill>
            <a:srgbClr val="EC3013"/>
          </a:solidFill>
          <a:ln/>
        </p:spPr>
        <p:txBody>
          <a:bodyPr/>
          <a:p/>
        </p:txBody>
      </p:sp>
      <p:sp>
        <p:nvSpPr>
          <p:cNvPr id="24" name="Text 22"/>
          <p:cNvSpPr/>
          <p:nvPr/>
        </p:nvSpPr>
        <p:spPr>
          <a:xfrm>
            <a:off x="13487400" y="6278265"/>
            <a:ext cx="4023360" cy="333772"/>
          </a:xfrm>
          <a:prstGeom prst="rect">
            <a:avLst/>
          </a:prstGeom>
          <a:noFill/>
          <a:ln/>
        </p:spPr>
        <p:txBody>
          <a:bodyPr wrap="square" lIns="25400" tIns="25400" rIns="25400" bIns="25400" rtlCol="0" anchor="t">
            <a:normAutofit/>
          </a:bodyPr>
          <a:lstStyle/>
          <a:p>
            <a:pPr algn="l" indent="0" marL="0">
              <a:lnSpc>
                <a:spcPct val="80302"/>
              </a:lnSpc>
              <a:buNone/>
            </a:pPr>
            <a:r>
              <a:rPr lang="en-US" sz="2025" b="1" spc="-30" kern="0" dirty="0">
                <a:solidFill>
                  <a:srgbClr val="AE1800"/>
                </a:solidFill>
                <a:latin typeface="Arial" pitchFamily="34" charset="0"/>
                <a:ea typeface="Arial" pitchFamily="34" charset="-122"/>
                <a:cs typeface="Arial" pitchFamily="34" charset="-120"/>
              </a:rPr>
              <a:t>04 </a:t>
            </a:r>
            <a:pPr algn="l" indent="0" marL="0">
              <a:lnSpc>
                <a:spcPct val="80302"/>
              </a:lnSpc>
              <a:buNone/>
            </a:pPr>
            <a:r>
              <a:rPr lang="en-US" sz="2025" b="1" spc="-30" kern="0" dirty="0">
                <a:solidFill>
                  <a:srgbClr val="201E1D"/>
                </a:solidFill>
                <a:latin typeface="Arial" pitchFamily="34" charset="0"/>
                <a:ea typeface="Arial" pitchFamily="34" charset="-122"/>
                <a:cs typeface="Arial" pitchFamily="34" charset="-120"/>
              </a:rPr>
              <a:t>· Regulation and mutation</a:t>
            </a:r>
            <a:endParaRPr lang="en-US" sz="2025" dirty="0"/>
          </a:p>
        </p:txBody>
      </p:sp>
      <p:sp>
        <p:nvSpPr>
          <p:cNvPr id="25" name="Text 23"/>
          <p:cNvSpPr/>
          <p:nvPr/>
        </p:nvSpPr>
        <p:spPr>
          <a:xfrm>
            <a:off x="13487400" y="6707287"/>
            <a:ext cx="3767328" cy="628650"/>
          </a:xfrm>
          <a:prstGeom prst="rect">
            <a:avLst/>
          </a:prstGeom>
          <a:noFill/>
          <a:ln/>
        </p:spPr>
        <p:txBody>
          <a:bodyPr wrap="square" lIns="25400" tIns="25400" rIns="25400" bIns="25400" rtlCol="0" anchor="t">
            <a:normAutofit/>
          </a:bodyPr>
          <a:lstStyle/>
          <a:p>
            <a:pPr algn="l" indent="0" marL="0">
              <a:lnSpc>
                <a:spcPct val="110714"/>
              </a:lnSpc>
              <a:buNone/>
            </a:pPr>
            <a:r>
              <a:rPr lang="en-US" sz="1800" dirty="0">
                <a:solidFill>
                  <a:srgbClr val="201E1C">
                    <a:alpha val="60000"/>
                  </a:srgbClr>
                </a:solidFill>
                <a:latin typeface="Arial" pitchFamily="34" charset="0"/>
                <a:ea typeface="Arial" pitchFamily="34" charset="-122"/>
                <a:cs typeface="Arial" pitchFamily="34" charset="-120"/>
              </a:rPr>
              <a:t>The RBI reference model, then fault injection to score the corpus.</a:t>
            </a:r>
            <a:endParaRPr lang="en-US" sz="1800" dirty="0"/>
          </a:p>
        </p:txBody>
      </p:sp>
      <p:sp>
        <p:nvSpPr>
          <p:cNvPr id="26" name="Text 24"/>
          <p:cNvSpPr/>
          <p:nvPr/>
        </p:nvSpPr>
        <p:spPr>
          <a:xfrm>
            <a:off x="1143000" y="9029700"/>
            <a:ext cx="16482060" cy="68580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Known limitation, stated up front: input-generation quality caps everything — stage 04 scores the corpus instead of trusting it. GnuCOBOL passes 9,700 of 9,748 NIST COBOL-85 conformance tests; the method is compiler-agnostic — a bank points it at its own compiler.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973536"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BUSINESS PLAN (1/2)</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11</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The plan on a page: why, how, what</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8228"/>
            <a:ext cx="860524"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WHY</a:t>
            </a:r>
            <a:endParaRPr lang="en-US" sz="2400" dirty="0"/>
          </a:p>
        </p:txBody>
      </p:sp>
      <p:sp>
        <p:nvSpPr>
          <p:cNvPr id="8" name="Text 6"/>
          <p:cNvSpPr/>
          <p:nvPr/>
        </p:nvSpPr>
        <p:spPr>
          <a:xfrm>
            <a:off x="11430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explain the problem</a:t>
            </a:r>
            <a:endParaRPr lang="en-US" sz="2000" dirty="0"/>
          </a:p>
        </p:txBody>
      </p:sp>
      <p:sp>
        <p:nvSpPr>
          <p:cNvPr id="9" name="Text 7"/>
          <p:cNvSpPr/>
          <p:nvPr/>
        </p:nvSpPr>
        <p:spPr>
          <a:xfrm>
            <a:off x="1143000" y="3775869"/>
            <a:ext cx="5180076" cy="19812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Problem &amp; business scenario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92 of the top 100 banks run on mainframes; over 40% of banking systems still run COBOL. Indian lenders face ~$1bn of core upgrades over 5–10 years (BCG). The rules were never documented anywhere except the code.</a:t>
            </a:r>
            <a:endParaRPr lang="en-US" sz="1875" dirty="0"/>
          </a:p>
        </p:txBody>
      </p:sp>
      <p:sp>
        <p:nvSpPr>
          <p:cNvPr id="10" name="Text 8"/>
          <p:cNvSpPr/>
          <p:nvPr/>
        </p:nvSpPr>
        <p:spPr>
          <a:xfrm>
            <a:off x="1143000" y="585231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Problem scope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COBOL, pure-computation programs, retail interest accrual. CICS/JCL, database-coupled and non-deterministic programs are excluded — detected and refused at intake, not silently mishandled.</a:t>
            </a:r>
            <a:endParaRPr lang="en-US" sz="1875" dirty="0"/>
          </a:p>
        </p:txBody>
      </p:sp>
      <p:sp>
        <p:nvSpPr>
          <p:cNvPr id="11" name="Text 9"/>
          <p:cNvSpPr/>
          <p:nvPr/>
        </p:nvSpPr>
        <p:spPr>
          <a:xfrm>
            <a:off x="1143000" y="760491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Target users &amp; stakeholders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CIO and core-banking head, risk and internal audit, modernisation SIs, the supervisor. All can generate the new code. None can prove it is safe.</a:t>
            </a:r>
            <a:endParaRPr lang="en-US" sz="1875" dirty="0"/>
          </a:p>
        </p:txBody>
      </p:sp>
      <p:sp>
        <p:nvSpPr>
          <p:cNvPr id="12" name="Shape 10"/>
          <p:cNvSpPr/>
          <p:nvPr/>
        </p:nvSpPr>
        <p:spPr>
          <a:xfrm>
            <a:off x="6629400" y="2771378"/>
            <a:ext cx="5029200" cy="19050"/>
          </a:xfrm>
          <a:prstGeom prst="rect">
            <a:avLst/>
          </a:prstGeom>
          <a:solidFill>
            <a:srgbClr val="201E1E">
              <a:alpha val="40000"/>
            </a:srgbClr>
          </a:solidFill>
          <a:ln/>
        </p:spPr>
      </p:sp>
      <p:sp>
        <p:nvSpPr>
          <p:cNvPr id="13" name="Text 11"/>
          <p:cNvSpPr/>
          <p:nvPr/>
        </p:nvSpPr>
        <p:spPr>
          <a:xfrm>
            <a:off x="6629400" y="2968228"/>
            <a:ext cx="894259"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HOW</a:t>
            </a:r>
            <a:endParaRPr lang="en-US" sz="2400" dirty="0"/>
          </a:p>
        </p:txBody>
      </p:sp>
      <p:sp>
        <p:nvSpPr>
          <p:cNvPr id="14" name="Text 12"/>
          <p:cNvSpPr/>
          <p:nvPr/>
        </p:nvSpPr>
        <p:spPr>
          <a:xfrm>
            <a:off x="66294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explain the solve</a:t>
            </a:r>
            <a:endParaRPr lang="en-US" sz="2000" dirty="0"/>
          </a:p>
        </p:txBody>
      </p:sp>
      <p:sp>
        <p:nvSpPr>
          <p:cNvPr id="15" name="Text 13"/>
          <p:cNvSpPr/>
          <p:nvPr/>
        </p:nvSpPr>
        <p:spPr>
          <a:xfrm>
            <a:off x="6629400" y="377586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Solution overview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intake gate → parse and slice → bounded LLM rule extraction with line citations → rule-directed inputs → execute three ways → diff. Outputs: rule verdicts, mutation score, compliance findings, evidence bundle.</a:t>
            </a:r>
            <a:endParaRPr lang="en-US" sz="1875" dirty="0"/>
          </a:p>
        </p:txBody>
      </p:sp>
      <p:sp>
        <p:nvSpPr>
          <p:cNvPr id="16" name="Text 14"/>
          <p:cNvSpPr/>
          <p:nvPr/>
        </p:nvSpPr>
        <p:spPr>
          <a:xfrm>
            <a:off x="6629400" y="55284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Technical details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GnuCOBOL (19 dialects, 9,700/9,748 NIST), ProLeap ANTLR4 parser, program slicing, gcov coverage, delta debugging.</a:t>
            </a:r>
            <a:endParaRPr lang="en-US" sz="1875" dirty="0"/>
          </a:p>
        </p:txBody>
      </p:sp>
      <p:sp>
        <p:nvSpPr>
          <p:cNvPr id="17" name="Text 15"/>
          <p:cNvSpPr/>
          <p:nvPr/>
        </p:nvSpPr>
        <p:spPr>
          <a:xfrm>
            <a:off x="6629400" y="695721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Innovation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legacy binary is its own oracle; the reciprocal loop lets execution judge the extracted rules; the RBI Direction checks the legacy against the regulator too.</a:t>
            </a:r>
            <a:endParaRPr lang="en-US" sz="1875" dirty="0"/>
          </a:p>
        </p:txBody>
      </p:sp>
      <p:sp>
        <p:nvSpPr>
          <p:cNvPr id="18" name="Text 16"/>
          <p:cNvSpPr/>
          <p:nvPr/>
        </p:nvSpPr>
        <p:spPr>
          <a:xfrm>
            <a:off x="6629400" y="83859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Why these technologies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free, NIST-validated, runs on a laptop with no mainframe. Deterministic orchestration at up to 3.5× lower token cost.</a:t>
            </a:r>
            <a:endParaRPr lang="en-US" sz="1875" dirty="0"/>
          </a:p>
        </p:txBody>
      </p:sp>
      <p:sp>
        <p:nvSpPr>
          <p:cNvPr id="19" name="Shape 17"/>
          <p:cNvSpPr/>
          <p:nvPr/>
        </p:nvSpPr>
        <p:spPr>
          <a:xfrm>
            <a:off x="12115800" y="2771378"/>
            <a:ext cx="5029200" cy="19050"/>
          </a:xfrm>
          <a:prstGeom prst="rect">
            <a:avLst/>
          </a:prstGeom>
          <a:solidFill>
            <a:srgbClr val="201E1E">
              <a:alpha val="40000"/>
            </a:srgbClr>
          </a:solidFill>
          <a:ln/>
        </p:spPr>
      </p:sp>
      <p:sp>
        <p:nvSpPr>
          <p:cNvPr id="20" name="Text 18"/>
          <p:cNvSpPr/>
          <p:nvPr/>
        </p:nvSpPr>
        <p:spPr>
          <a:xfrm>
            <a:off x="12115800" y="2968228"/>
            <a:ext cx="1048445"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WHAT</a:t>
            </a:r>
            <a:endParaRPr lang="en-US" sz="2400" dirty="0"/>
          </a:p>
        </p:txBody>
      </p:sp>
      <p:sp>
        <p:nvSpPr>
          <p:cNvPr id="21" name="Text 19"/>
          <p:cNvSpPr/>
          <p:nvPr/>
        </p:nvSpPr>
        <p:spPr>
          <a:xfrm>
            <a:off x="121158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value proposition</a:t>
            </a:r>
            <a:endParaRPr lang="en-US" sz="2000" dirty="0"/>
          </a:p>
        </p:txBody>
      </p:sp>
      <p:sp>
        <p:nvSpPr>
          <p:cNvPr id="22" name="Text 20"/>
          <p:cNvSpPr/>
          <p:nvPr/>
        </p:nvSpPr>
        <p:spPr>
          <a:xfrm>
            <a:off x="12115800" y="37758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 specification that never existed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plain-language rules, each traced to the exact lines that produce it.</a:t>
            </a:r>
            <a:endParaRPr lang="en-US" sz="1875" dirty="0"/>
          </a:p>
        </p:txBody>
      </p:sp>
      <p:sp>
        <p:nvSpPr>
          <p:cNvPr id="23" name="Text 21"/>
          <p:cNvSpPr/>
          <p:nvPr/>
        </p:nvSpPr>
        <p:spPr>
          <a:xfrm>
            <a:off x="12115800" y="48807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 permanent regression suite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thousands of input–output pairs, reusable on every future change.</a:t>
            </a:r>
            <a:endParaRPr lang="en-US" sz="1875" dirty="0"/>
          </a:p>
        </p:txBody>
      </p:sp>
      <p:sp>
        <p:nvSpPr>
          <p:cNvPr id="24" name="Text 22"/>
          <p:cNvSpPr/>
          <p:nvPr/>
        </p:nvSpPr>
        <p:spPr>
          <a:xfrm>
            <a:off x="12115800" y="59856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An equivalence claim someone can sign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evidence-backed, coverage stated honestly, per rule.</a:t>
            </a:r>
            <a:endParaRPr lang="en-US" sz="1875" dirty="0"/>
          </a:p>
        </p:txBody>
      </p:sp>
      <p:sp>
        <p:nvSpPr>
          <p:cNvPr id="25" name="Text 23"/>
          <p:cNvSpPr/>
          <p:nvPr/>
        </p:nvSpPr>
        <p:spPr>
          <a:xfrm>
            <a:off x="12115800" y="70905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Compliance findings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legacy checked against RBI’s written arithmetic, not only against itself.</a:t>
            </a:r>
            <a:endParaRPr lang="en-US" sz="1875" dirty="0"/>
          </a:p>
        </p:txBody>
      </p:sp>
      <p:sp>
        <p:nvSpPr>
          <p:cNvPr id="26" name="Text 24"/>
          <p:cNvSpPr/>
          <p:nvPr/>
        </p:nvSpPr>
        <p:spPr>
          <a:xfrm>
            <a:off x="12115800" y="8195469"/>
            <a:ext cx="5180076" cy="10096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Value even if the migration is cancelled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spec and the suite are retained. The bank gets documentation for a system it could not touch.</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2973536"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BUSINESS PLAN (2/2)</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12</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Financials &amp; timelines</a:t>
            </a:r>
            <a:endParaRPr lang="en-US" sz="4650" dirty="0"/>
          </a:p>
        </p:txBody>
      </p:sp>
      <p:sp>
        <p:nvSpPr>
          <p:cNvPr id="6" name="Shape 4"/>
          <p:cNvSpPr/>
          <p:nvPr/>
        </p:nvSpPr>
        <p:spPr>
          <a:xfrm>
            <a:off x="1143000" y="2771378"/>
            <a:ext cx="5029200" cy="19050"/>
          </a:xfrm>
          <a:prstGeom prst="rect">
            <a:avLst/>
          </a:prstGeom>
          <a:solidFill>
            <a:srgbClr val="201E1E">
              <a:alpha val="40000"/>
            </a:srgbClr>
          </a:solidFill>
          <a:ln/>
        </p:spPr>
      </p:sp>
      <p:sp>
        <p:nvSpPr>
          <p:cNvPr id="7" name="Text 5"/>
          <p:cNvSpPr/>
          <p:nvPr/>
        </p:nvSpPr>
        <p:spPr>
          <a:xfrm>
            <a:off x="1143000" y="2968228"/>
            <a:ext cx="2512120"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INVESTMENTS</a:t>
            </a:r>
            <a:endParaRPr lang="en-US" sz="2400" dirty="0"/>
          </a:p>
        </p:txBody>
      </p:sp>
      <p:sp>
        <p:nvSpPr>
          <p:cNvPr id="8" name="Text 6"/>
          <p:cNvSpPr/>
          <p:nvPr/>
        </p:nvSpPr>
        <p:spPr>
          <a:xfrm>
            <a:off x="11430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what it takes, and what it costs</a:t>
            </a:r>
            <a:endParaRPr lang="en-US" sz="2000" dirty="0"/>
          </a:p>
        </p:txBody>
      </p:sp>
      <p:sp>
        <p:nvSpPr>
          <p:cNvPr id="9" name="Text 7"/>
          <p:cNvSpPr/>
          <p:nvPr/>
        </p:nvSpPr>
        <p:spPr>
          <a:xfrm>
            <a:off x="1143000" y="37758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Licence cost: nil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GnuCOBOL (GPL/LGPL), ProLeap (MIT), gcov, NIST CCVS85 and AWS CardDemo are all open. No mainframe, no vendor contract.</a:t>
            </a:r>
            <a:endParaRPr lang="en-US" sz="1875" dirty="0"/>
          </a:p>
        </p:txBody>
      </p:sp>
      <p:sp>
        <p:nvSpPr>
          <p:cNvPr id="10" name="Text 8"/>
          <p:cNvSpPr/>
          <p:nvPr/>
        </p:nvSpPr>
        <p:spPr>
          <a:xfrm>
            <a:off x="1143000" y="52046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Prototype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4 engineers × 12 weeks, on commodity laptops.</a:t>
            </a:r>
            <a:endParaRPr lang="en-US" sz="1875" dirty="0"/>
          </a:p>
        </p:txBody>
      </p:sp>
      <p:sp>
        <p:nvSpPr>
          <p:cNvPr id="11" name="Text 9"/>
          <p:cNvSpPr/>
          <p:nvPr/>
        </p:nvSpPr>
        <p:spPr>
          <a:xfrm>
            <a:off x="1143000" y="598566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Only variable cost is inference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one bounded LLM call per slice; deterministic orchestration measured at up to 3.5× lower token cost than an agentic loop.</a:t>
            </a:r>
            <a:endParaRPr lang="en-US" sz="1875" dirty="0"/>
          </a:p>
        </p:txBody>
      </p:sp>
      <p:sp>
        <p:nvSpPr>
          <p:cNvPr id="12" name="Text 10"/>
          <p:cNvSpPr/>
          <p:nvPr/>
        </p:nvSpPr>
        <p:spPr>
          <a:xfrm>
            <a:off x="1143000" y="74144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Bank pilot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2 engineers plus SME time from the bank, one program family, about 6 months.</a:t>
            </a:r>
            <a:endParaRPr lang="en-US" sz="1875" dirty="0"/>
          </a:p>
        </p:txBody>
      </p:sp>
      <p:sp>
        <p:nvSpPr>
          <p:cNvPr id="13" name="Shape 11"/>
          <p:cNvSpPr/>
          <p:nvPr/>
        </p:nvSpPr>
        <p:spPr>
          <a:xfrm>
            <a:off x="6629400" y="2771378"/>
            <a:ext cx="5029200" cy="19050"/>
          </a:xfrm>
          <a:prstGeom prst="rect">
            <a:avLst/>
          </a:prstGeom>
          <a:solidFill>
            <a:srgbClr val="201E1E">
              <a:alpha val="40000"/>
            </a:srgbClr>
          </a:solidFill>
          <a:ln/>
        </p:spPr>
      </p:sp>
      <p:sp>
        <p:nvSpPr>
          <p:cNvPr id="14" name="Text 12"/>
          <p:cNvSpPr/>
          <p:nvPr/>
        </p:nvSpPr>
        <p:spPr>
          <a:xfrm>
            <a:off x="6629400" y="2968228"/>
            <a:ext cx="1720155"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RETURNS</a:t>
            </a:r>
            <a:endParaRPr lang="en-US" sz="2400" dirty="0"/>
          </a:p>
        </p:txBody>
      </p:sp>
      <p:sp>
        <p:nvSpPr>
          <p:cNvPr id="15" name="Text 13"/>
          <p:cNvSpPr/>
          <p:nvPr/>
        </p:nvSpPr>
        <p:spPr>
          <a:xfrm>
            <a:off x="66294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quantified — and the cost of not solving</a:t>
            </a:r>
            <a:endParaRPr lang="en-US" sz="2000" dirty="0"/>
          </a:p>
        </p:txBody>
      </p:sp>
      <p:sp>
        <p:nvSpPr>
          <p:cNvPr id="16" name="Text 14"/>
          <p:cNvSpPr/>
          <p:nvPr/>
        </p:nvSpPr>
        <p:spPr>
          <a:xfrm>
            <a:off x="6629400" y="3775869"/>
            <a:ext cx="5180076" cy="165735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What it unlocks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~$1bn of Indian core-banking upgrade spend is gated on assurance. Comparable automation (ADP via AWS Transform) cut rule-extraction time 80% and manual effort over 90%.</a:t>
            </a:r>
            <a:endParaRPr lang="en-US" sz="1875" dirty="0"/>
          </a:p>
        </p:txBody>
      </p:sp>
      <p:sp>
        <p:nvSpPr>
          <p:cNvPr id="17" name="Text 15"/>
          <p:cNvSpPr/>
          <p:nvPr/>
        </p:nvSpPr>
        <p:spPr>
          <a:xfrm>
            <a:off x="6629400" y="5528469"/>
            <a:ext cx="5180076" cy="19812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What if I don’t solve — TSB, 2018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1.9m of 5.2m customers hit. £48.65m FCA/PRA fine, £32.7m redress, ~£400m total. The CEO resigned; the CIO was personally fined £81,620. The finding was about assurance — not programming.</a:t>
            </a:r>
            <a:endParaRPr lang="en-US" sz="1875" dirty="0"/>
          </a:p>
        </p:txBody>
      </p:sp>
      <p:sp>
        <p:nvSpPr>
          <p:cNvPr id="18" name="Text 16"/>
          <p:cNvSpPr/>
          <p:nvPr/>
        </p:nvSpPr>
        <p:spPr>
          <a:xfrm>
            <a:off x="6629400" y="7604919"/>
            <a:ext cx="5180076" cy="13335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And in India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RBI halted HDFC’s Digital 2.0 launches and new card issuance in Dec 2020; restrictions ran into 2022. An IT failure here freezes the product roadmap.</a:t>
            </a:r>
            <a:endParaRPr lang="en-US" sz="1875" dirty="0"/>
          </a:p>
        </p:txBody>
      </p:sp>
      <p:sp>
        <p:nvSpPr>
          <p:cNvPr id="19" name="Shape 17"/>
          <p:cNvSpPr/>
          <p:nvPr/>
        </p:nvSpPr>
        <p:spPr>
          <a:xfrm>
            <a:off x="12115800" y="2771378"/>
            <a:ext cx="5029200" cy="19050"/>
          </a:xfrm>
          <a:prstGeom prst="rect">
            <a:avLst/>
          </a:prstGeom>
          <a:solidFill>
            <a:srgbClr val="201E1E">
              <a:alpha val="40000"/>
            </a:srgbClr>
          </a:solidFill>
          <a:ln/>
        </p:spPr>
      </p:sp>
      <p:sp>
        <p:nvSpPr>
          <p:cNvPr id="20" name="Text 18"/>
          <p:cNvSpPr/>
          <p:nvPr/>
        </p:nvSpPr>
        <p:spPr>
          <a:xfrm>
            <a:off x="12115800" y="2968228"/>
            <a:ext cx="1904702" cy="374650"/>
          </a:xfrm>
          <a:prstGeom prst="rect">
            <a:avLst/>
          </a:prstGeom>
          <a:noFill/>
          <a:ln/>
        </p:spPr>
        <p:txBody>
          <a:bodyPr wrap="square" lIns="0" tIns="0" rIns="0" bIns="0" rtlCol="0" anchor="t">
            <a:normAutofit/>
          </a:bodyPr>
          <a:lstStyle/>
          <a:p>
            <a:pPr algn="l" indent="0" marL="0">
              <a:lnSpc>
                <a:spcPct val="81176"/>
              </a:lnSpc>
              <a:buNone/>
            </a:pPr>
            <a:r>
              <a:rPr lang="en-US" sz="2400" b="1" spc="192" kern="0" dirty="0">
                <a:solidFill>
                  <a:srgbClr val="EC3013"/>
                </a:solidFill>
                <a:latin typeface="Arial" pitchFamily="34" charset="0"/>
                <a:ea typeface="Arial" pitchFamily="34" charset="-122"/>
                <a:cs typeface="Arial" pitchFamily="34" charset="-120"/>
              </a:rPr>
              <a:t>TIMELINES</a:t>
            </a:r>
            <a:endParaRPr lang="en-US" sz="2400" dirty="0"/>
          </a:p>
        </p:txBody>
      </p:sp>
      <p:sp>
        <p:nvSpPr>
          <p:cNvPr id="21" name="Text 19"/>
          <p:cNvSpPr/>
          <p:nvPr/>
        </p:nvSpPr>
        <p:spPr>
          <a:xfrm>
            <a:off x="12115800" y="3350419"/>
            <a:ext cx="5532120" cy="330200"/>
          </a:xfrm>
          <a:prstGeom prst="rect">
            <a:avLst/>
          </a:prstGeom>
          <a:noFill/>
          <a:ln/>
        </p:spPr>
        <p:txBody>
          <a:bodyPr wrap="square" lIns="25400" tIns="25400" rIns="25400" bIns="25400" rtlCol="0" anchor="t">
            <a:normAutofit/>
          </a:bodyPr>
          <a:lstStyle/>
          <a:p>
            <a:pPr algn="l" indent="0" marL="0">
              <a:lnSpc>
                <a:spcPct val="102222"/>
              </a:lnSpc>
              <a:buNone/>
            </a:pPr>
            <a:r>
              <a:rPr lang="en-US" sz="2000" dirty="0">
                <a:solidFill>
                  <a:srgbClr val="201E1C">
                    <a:alpha val="60000"/>
                  </a:srgbClr>
                </a:solidFill>
                <a:latin typeface="Arial" pitchFamily="34" charset="0"/>
                <a:ea typeface="Arial" pitchFamily="34" charset="-122"/>
                <a:cs typeface="Arial" pitchFamily="34" charset="-120"/>
              </a:rPr>
              <a:t>time to realise the benefit</a:t>
            </a:r>
            <a:endParaRPr lang="en-US" sz="2000" dirty="0"/>
          </a:p>
        </p:txBody>
      </p:sp>
      <p:sp>
        <p:nvSpPr>
          <p:cNvPr id="22" name="Text 20"/>
          <p:cNvSpPr/>
          <p:nvPr/>
        </p:nvSpPr>
        <p:spPr>
          <a:xfrm>
            <a:off x="12115800" y="37758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1–2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harness runs two programs on an input list and diffs. Already a working demo.</a:t>
            </a:r>
            <a:endParaRPr lang="en-US" sz="1875" dirty="0"/>
          </a:p>
        </p:txBody>
      </p:sp>
      <p:sp>
        <p:nvSpPr>
          <p:cNvPr id="23" name="Text 21"/>
          <p:cNvSpPr/>
          <p:nvPr/>
        </p:nvSpPr>
        <p:spPr>
          <a:xfrm>
            <a:off x="12115800" y="45569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3–4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input generation from PIC clauses plus hand-written boundaries.</a:t>
            </a:r>
            <a:endParaRPr lang="en-US" sz="1875" dirty="0"/>
          </a:p>
        </p:txBody>
      </p:sp>
      <p:sp>
        <p:nvSpPr>
          <p:cNvPr id="24" name="Text 22"/>
          <p:cNvSpPr/>
          <p:nvPr/>
        </p:nvSpPr>
        <p:spPr>
          <a:xfrm>
            <a:off x="12115800" y="53379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5–7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parse, slice, extract rules with line citations.</a:t>
            </a:r>
            <a:endParaRPr lang="en-US" sz="1875" dirty="0"/>
          </a:p>
        </p:txBody>
      </p:sp>
      <p:sp>
        <p:nvSpPr>
          <p:cNvPr id="25" name="Text 23"/>
          <p:cNvSpPr/>
          <p:nvPr/>
        </p:nvSpPr>
        <p:spPr>
          <a:xfrm>
            <a:off x="12115800" y="61190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AE1800"/>
                </a:solidFill>
                <a:latin typeface="Arial" pitchFamily="34" charset="0"/>
                <a:ea typeface="Arial" pitchFamily="34" charset="-122"/>
                <a:cs typeface="Arial" pitchFamily="34" charset="-120"/>
              </a:rPr>
              <a:t>Weeks 8–10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the reciprocal loop and per-rule coverage verdicts. This is the contribution.</a:t>
            </a:r>
            <a:endParaRPr lang="en-US" sz="1875" dirty="0"/>
          </a:p>
        </p:txBody>
      </p:sp>
      <p:sp>
        <p:nvSpPr>
          <p:cNvPr id="26" name="Text 24"/>
          <p:cNvSpPr/>
          <p:nvPr/>
        </p:nvSpPr>
        <p:spPr>
          <a:xfrm>
            <a:off x="12115800" y="690006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Weeks 11–12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delta debugging to minimal counterexamples; evidence bundle generated.</a:t>
            </a:r>
            <a:endParaRPr lang="en-US" sz="1875" dirty="0"/>
          </a:p>
        </p:txBody>
      </p:sp>
      <p:sp>
        <p:nvSpPr>
          <p:cNvPr id="27" name="Text 25"/>
          <p:cNvSpPr/>
          <p:nvPr/>
        </p:nvSpPr>
        <p:spPr>
          <a:xfrm>
            <a:off x="12115800" y="7681119"/>
            <a:ext cx="5180076" cy="685800"/>
          </a:xfrm>
          <a:prstGeom prst="rect">
            <a:avLst/>
          </a:prstGeom>
          <a:noFill/>
          <a:ln/>
        </p:spPr>
        <p:txBody>
          <a:bodyPr wrap="square" lIns="25400" tIns="25400" rIns="25400" bIns="25400" rtlCol="0" anchor="t">
            <a:normAutofit/>
          </a:bodyPr>
          <a:lstStyle/>
          <a:p>
            <a:pPr algn="l" indent="0" marL="0">
              <a:lnSpc>
                <a:spcPct val="118605"/>
              </a:lnSpc>
              <a:buNone/>
            </a:pPr>
            <a:r>
              <a:rPr lang="en-US" sz="1875" b="1" dirty="0">
                <a:solidFill>
                  <a:srgbClr val="201E1D"/>
                </a:solidFill>
                <a:latin typeface="Arial" pitchFamily="34" charset="0"/>
                <a:ea typeface="Arial" pitchFamily="34" charset="-122"/>
                <a:cs typeface="Arial" pitchFamily="34" charset="-120"/>
              </a:rPr>
              <a:t>Months 4–9 </a:t>
            </a:r>
            <a:pPr algn="l" indent="0" marL="0">
              <a:lnSpc>
                <a:spcPct val="118605"/>
              </a:lnSpc>
              <a:buNone/>
            </a:pPr>
            <a:r>
              <a:rPr lang="en-US" sz="1875" dirty="0">
                <a:solidFill>
                  <a:srgbClr val="201E1C">
                    <a:alpha val="60000"/>
                  </a:srgbClr>
                </a:solidFill>
                <a:latin typeface="Arial" pitchFamily="34" charset="0"/>
                <a:ea typeface="Arial" pitchFamily="34" charset="-122"/>
                <a:cs typeface="Arial" pitchFamily="34" charset="-120"/>
              </a:rPr>
              <a:t>— bank pilot on one program family, inside the bank’s own compiler environment.</a:t>
            </a:r>
            <a:endParaRPr lang="en-US" sz="1875" dirty="0"/>
          </a:p>
        </p:txBody>
      </p:sp>
      <p:sp>
        <p:nvSpPr>
          <p:cNvPr id="28" name="Text 26"/>
          <p:cNvSpPr/>
          <p:nvPr/>
        </p:nvSpPr>
        <p:spPr>
          <a:xfrm>
            <a:off x="1143000" y="9505950"/>
            <a:ext cx="17602200" cy="323850"/>
          </a:xfrm>
          <a:prstGeom prst="rect">
            <a:avLst/>
          </a:prstGeom>
          <a:noFill/>
          <a:ln/>
        </p:spPr>
        <p:txBody>
          <a:bodyPr wrap="square" lIns="25400" tIns="25400" rIns="25400" bIns="25400" rtlCol="0" anchor="t">
            <a:normAutofit/>
          </a:bodyPr>
          <a:lstStyle/>
          <a:p>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Indicative and effort-based. No licence or infrastructure spend is assumed because none is required.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1143000" y="1211560"/>
            <a:ext cx="16002000" cy="19050"/>
          </a:xfrm>
          <a:prstGeom prst="rect">
            <a:avLst/>
          </a:prstGeom>
          <a:solidFill>
            <a:srgbClr val="201E1E">
              <a:alpha val="40000"/>
            </a:srgbClr>
          </a:solidFill>
          <a:ln/>
        </p:spPr>
      </p:sp>
      <p:sp>
        <p:nvSpPr>
          <p:cNvPr id="3" name="Text 1"/>
          <p:cNvSpPr/>
          <p:nvPr/>
        </p:nvSpPr>
        <p:spPr>
          <a:xfrm>
            <a:off x="1143000" y="609600"/>
            <a:ext cx="193910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REFERENCES</a:t>
            </a:r>
            <a:endParaRPr lang="en-US" sz="1800" dirty="0"/>
          </a:p>
        </p:txBody>
      </p:sp>
      <p:sp>
        <p:nvSpPr>
          <p:cNvPr id="4" name="Text 2"/>
          <p:cNvSpPr/>
          <p:nvPr/>
        </p:nvSpPr>
        <p:spPr>
          <a:xfrm>
            <a:off x="16848733" y="609600"/>
            <a:ext cx="37246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201E1C">
                    <a:alpha val="60000"/>
                  </a:srgbClr>
                </a:solidFill>
                <a:latin typeface="Arial" pitchFamily="34" charset="0"/>
                <a:ea typeface="Arial" pitchFamily="34" charset="-122"/>
                <a:cs typeface="Arial" pitchFamily="34" charset="-120"/>
              </a:rPr>
              <a:t>13</a:t>
            </a:r>
            <a:endParaRPr lang="en-US" sz="1800" dirty="0"/>
          </a:p>
        </p:txBody>
      </p:sp>
      <p:sp>
        <p:nvSpPr>
          <p:cNvPr id="5" name="Text 3"/>
          <p:cNvSpPr/>
          <p:nvPr/>
        </p:nvSpPr>
        <p:spPr>
          <a:xfrm>
            <a:off x="1116509" y="1790700"/>
            <a:ext cx="17631341" cy="675878"/>
          </a:xfrm>
          <a:prstGeom prst="rect">
            <a:avLst/>
          </a:prstGeom>
          <a:noFill/>
          <a:ln/>
        </p:spPr>
        <p:txBody>
          <a:bodyPr wrap="square" lIns="25400" tIns="25400" rIns="25400" bIns="25400" rtlCol="0" anchor="t">
            <a:normAutofit/>
          </a:bodyPr>
          <a:lstStyle/>
          <a:p>
            <a:pPr algn="l" indent="0" marL="0">
              <a:lnSpc>
                <a:spcPct val="76672"/>
              </a:lnSpc>
              <a:buNone/>
            </a:pPr>
            <a:r>
              <a:rPr lang="en-US" sz="4650" b="1" spc="-70" kern="0" dirty="0">
                <a:solidFill>
                  <a:srgbClr val="201E1D"/>
                </a:solidFill>
                <a:latin typeface="Arial" pitchFamily="34" charset="0"/>
                <a:ea typeface="Arial" pitchFamily="34" charset="-122"/>
                <a:cs typeface="Arial" pitchFamily="34" charset="-120"/>
              </a:rPr>
              <a:t>Sources</a:t>
            </a:r>
            <a:endParaRPr lang="en-US" sz="4650" dirty="0"/>
          </a:p>
        </p:txBody>
      </p:sp>
      <p:sp>
        <p:nvSpPr>
          <p:cNvPr id="6" name="Shape 4"/>
          <p:cNvSpPr/>
          <p:nvPr/>
        </p:nvSpPr>
        <p:spPr>
          <a:xfrm>
            <a:off x="1143000" y="2733278"/>
            <a:ext cx="7543800" cy="19050"/>
          </a:xfrm>
          <a:prstGeom prst="rect">
            <a:avLst/>
          </a:prstGeom>
          <a:solidFill>
            <a:srgbClr val="201E1E">
              <a:alpha val="40000"/>
            </a:srgbClr>
          </a:solidFill>
          <a:ln/>
        </p:spPr>
      </p:sp>
      <p:sp>
        <p:nvSpPr>
          <p:cNvPr id="7" name="Text 5"/>
          <p:cNvSpPr/>
          <p:nvPr/>
        </p:nvSpPr>
        <p:spPr>
          <a:xfrm>
            <a:off x="1143000" y="2923778"/>
            <a:ext cx="8298180"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PEER-REVIEWED AND PREPRINTS</a:t>
            </a:r>
            <a:endParaRPr lang="en-US" sz="1800" dirty="0"/>
          </a:p>
        </p:txBody>
      </p:sp>
      <p:sp>
        <p:nvSpPr>
          <p:cNvPr id="8" name="Text 6"/>
          <p:cNvSpPr/>
          <p:nvPr/>
        </p:nvSpPr>
        <p:spPr>
          <a:xfrm>
            <a:off x="1143000" y="33390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Hans, S. et al.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Automated Testing of COBOL to Java Transformation. arXiv:2504.10548.</a:t>
            </a:r>
            <a:endParaRPr lang="en-US" sz="1800" dirty="0"/>
          </a:p>
        </p:txBody>
      </p:sp>
      <p:sp>
        <p:nvSpPr>
          <p:cNvPr id="9" name="Text 7"/>
          <p:cNvSpPr/>
          <p:nvPr/>
        </p:nvSpPr>
        <p:spPr>
          <a:xfrm>
            <a:off x="1143000" y="40311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Pan, R. et al.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Lost in Translation: A Study of Bugs Introduced by LLMs while Translating Code. ICSE 2024, arXiv:2308.03109.</a:t>
            </a:r>
            <a:endParaRPr lang="en-US" sz="1800" dirty="0"/>
          </a:p>
        </p:txBody>
      </p:sp>
      <p:sp>
        <p:nvSpPr>
          <p:cNvPr id="10" name="Text 8"/>
          <p:cNvSpPr/>
          <p:nvPr/>
        </p:nvSpPr>
        <p:spPr>
          <a:xfrm>
            <a:off x="1143000" y="47233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Ahmed, S. N. &amp; Galib, M.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AgentModernize: Preserving Business Logic in Legacy Modernization. arXiv:2605.17535.</a:t>
            </a:r>
            <a:endParaRPr lang="en-US" sz="1800" dirty="0"/>
          </a:p>
        </p:txBody>
      </p:sp>
      <p:sp>
        <p:nvSpPr>
          <p:cNvPr id="11" name="Text 9"/>
          <p:cNvSpPr/>
          <p:nvPr/>
        </p:nvSpPr>
        <p:spPr>
          <a:xfrm>
            <a:off x="1143000" y="54154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Ferenczi, A. et al.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Agentic Method for Deterministic Validation of Legacy Code Migration. arXiv:2607.28271.</a:t>
            </a:r>
            <a:endParaRPr lang="en-US" sz="1800" dirty="0"/>
          </a:p>
        </p:txBody>
      </p:sp>
      <p:sp>
        <p:nvSpPr>
          <p:cNvPr id="12" name="Text 10"/>
          <p:cNvSpPr/>
          <p:nvPr/>
        </p:nvSpPr>
        <p:spPr>
          <a:xfrm>
            <a:off x="1143000" y="61076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Shah, S. et al.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A-COBREX: Identifying Business Rules in COBOL Programs. ICSE 2025, Demonstrations.</a:t>
            </a:r>
            <a:endParaRPr lang="en-US" sz="1800" dirty="0"/>
          </a:p>
        </p:txBody>
      </p:sp>
      <p:sp>
        <p:nvSpPr>
          <p:cNvPr id="13" name="Text 11"/>
          <p:cNvSpPr/>
          <p:nvPr/>
        </p:nvSpPr>
        <p:spPr>
          <a:xfrm>
            <a:off x="1143000" y="67997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 S, C. &amp; Chimalakonda, S.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LLM vs Rule-Based: the COBRAIN Tool. EASE 2025, doi:10.1145/3756681.3756982.</a:t>
            </a:r>
            <a:endParaRPr lang="en-US" sz="1800" dirty="0"/>
          </a:p>
        </p:txBody>
      </p:sp>
      <p:sp>
        <p:nvSpPr>
          <p:cNvPr id="14" name="Text 12"/>
          <p:cNvSpPr/>
          <p:nvPr/>
        </p:nvSpPr>
        <p:spPr>
          <a:xfrm>
            <a:off x="1143000" y="74919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Lwin, N. O. &amp; Kumar, R. (2026).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Deterministic vs LLM-Controlled Orchestration for COBOL-to-Python Modernization. arXiv:2605.09894.</a:t>
            </a:r>
            <a:endParaRPr lang="en-US" sz="1800" dirty="0"/>
          </a:p>
        </p:txBody>
      </p:sp>
      <p:sp>
        <p:nvSpPr>
          <p:cNvPr id="15" name="Text 13"/>
          <p:cNvSpPr/>
          <p:nvPr/>
        </p:nvSpPr>
        <p:spPr>
          <a:xfrm>
            <a:off x="1143000" y="81840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Barr, E. T. et al. (2015).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The Oracle Problem in Software Testing: A Survey. IEEE TSE 41(5), 507–525.</a:t>
            </a:r>
            <a:endParaRPr lang="en-US" sz="1800" dirty="0"/>
          </a:p>
        </p:txBody>
      </p:sp>
      <p:sp>
        <p:nvSpPr>
          <p:cNvPr id="16" name="Shape 14"/>
          <p:cNvSpPr/>
          <p:nvPr/>
        </p:nvSpPr>
        <p:spPr>
          <a:xfrm>
            <a:off x="9601200" y="2733278"/>
            <a:ext cx="7543800" cy="19050"/>
          </a:xfrm>
          <a:prstGeom prst="rect">
            <a:avLst/>
          </a:prstGeom>
          <a:solidFill>
            <a:srgbClr val="201E1E">
              <a:alpha val="40000"/>
            </a:srgbClr>
          </a:solidFill>
          <a:ln/>
        </p:spPr>
      </p:sp>
      <p:sp>
        <p:nvSpPr>
          <p:cNvPr id="17" name="Text 15"/>
          <p:cNvSpPr/>
          <p:nvPr/>
        </p:nvSpPr>
        <p:spPr>
          <a:xfrm>
            <a:off x="9601200" y="2923778"/>
            <a:ext cx="8298180"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REGULATORY AND SUPERVISORY</a:t>
            </a:r>
            <a:endParaRPr lang="en-US" sz="1800" dirty="0"/>
          </a:p>
        </p:txBody>
      </p:sp>
      <p:sp>
        <p:nvSpPr>
          <p:cNvPr id="18" name="Text 16"/>
          <p:cNvSpPr/>
          <p:nvPr/>
        </p:nvSpPr>
        <p:spPr>
          <a:xfrm>
            <a:off x="9601200" y="33199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(2016, upd.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Master Direction — Interest Rate on Deposits. Clauses 4(f), 6(a), 6(a)(1)–(2).</a:t>
            </a:r>
            <a:endParaRPr lang="en-US" sz="1800" dirty="0"/>
          </a:p>
        </p:txBody>
      </p:sp>
      <p:sp>
        <p:nvSpPr>
          <p:cNvPr id="19" name="Text 17"/>
          <p:cNvSpPr/>
          <p:nvPr/>
        </p:nvSpPr>
        <p:spPr>
          <a:xfrm>
            <a:off x="9601200" y="397400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Reserve Bank of India (2023).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Master Direction on IT Governance, Risk, Controls and Assurance Practices.</a:t>
            </a:r>
            <a:endParaRPr lang="en-US" sz="1800" dirty="0"/>
          </a:p>
        </p:txBody>
      </p:sp>
      <p:sp>
        <p:nvSpPr>
          <p:cNvPr id="20" name="Text 18"/>
          <p:cNvSpPr/>
          <p:nvPr/>
        </p:nvSpPr>
        <p:spPr>
          <a:xfrm>
            <a:off x="9601200" y="462805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Financial Conduct Authority (2022).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TSB fined £48.65m for operational resilience failings.</a:t>
            </a:r>
            <a:endParaRPr lang="en-US" sz="1800" dirty="0"/>
          </a:p>
        </p:txBody>
      </p:sp>
      <p:sp>
        <p:nvSpPr>
          <p:cNvPr id="21" name="Shape 19"/>
          <p:cNvSpPr/>
          <p:nvPr/>
        </p:nvSpPr>
        <p:spPr>
          <a:xfrm>
            <a:off x="9601200" y="5358309"/>
            <a:ext cx="7543800" cy="19050"/>
          </a:xfrm>
          <a:prstGeom prst="rect">
            <a:avLst/>
          </a:prstGeom>
          <a:solidFill>
            <a:srgbClr val="201E1E">
              <a:alpha val="40000"/>
            </a:srgbClr>
          </a:solidFill>
          <a:ln/>
        </p:spPr>
      </p:sp>
      <p:sp>
        <p:nvSpPr>
          <p:cNvPr id="22" name="Text 20"/>
          <p:cNvSpPr/>
          <p:nvPr/>
        </p:nvSpPr>
        <p:spPr>
          <a:xfrm>
            <a:off x="9601200" y="5491659"/>
            <a:ext cx="7770114"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INDUSTRY AND MARKET</a:t>
            </a:r>
            <a:endParaRPr lang="en-US" sz="1800" dirty="0"/>
          </a:p>
        </p:txBody>
      </p:sp>
      <p:sp>
        <p:nvSpPr>
          <p:cNvPr id="23" name="Text 21"/>
          <p:cNvSpPr/>
          <p:nvPr/>
        </p:nvSpPr>
        <p:spPr>
          <a:xfrm>
            <a:off x="9601200" y="5887839"/>
            <a:ext cx="7770114" cy="6159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Boston Consulting Group (2024).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Cloud-based Core Transformations, via Business Standard.</a:t>
            </a:r>
            <a:endParaRPr lang="en-US" sz="1800" dirty="0"/>
          </a:p>
        </p:txBody>
      </p:sp>
      <p:sp>
        <p:nvSpPr>
          <p:cNvPr id="24" name="Text 22"/>
          <p:cNvSpPr/>
          <p:nvPr/>
        </p:nvSpPr>
        <p:spPr>
          <a:xfrm>
            <a:off x="9601200" y="6541889"/>
            <a:ext cx="8298180" cy="33020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IBM.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watsonx Code Assistant for Z — Validation Assistant documentation.</a:t>
            </a:r>
            <a:endParaRPr lang="en-US" sz="1800" dirty="0"/>
          </a:p>
        </p:txBody>
      </p:sp>
      <p:sp>
        <p:nvSpPr>
          <p:cNvPr id="25" name="Text 23"/>
          <p:cNvSpPr/>
          <p:nvPr/>
        </p:nvSpPr>
        <p:spPr>
          <a:xfrm>
            <a:off x="9601200" y="6910189"/>
            <a:ext cx="7770114" cy="9080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Amazon Web Services (2025).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AWS Transform for mainframe, generally available.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Mechanical Orchard.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Imogen platform — generate-validate loop.</a:t>
            </a:r>
            <a:endParaRPr lang="en-US" sz="1800" dirty="0"/>
          </a:p>
        </p:txBody>
      </p:sp>
      <p:sp>
        <p:nvSpPr>
          <p:cNvPr id="26" name="Shape 24"/>
          <p:cNvSpPr/>
          <p:nvPr/>
        </p:nvSpPr>
        <p:spPr>
          <a:xfrm>
            <a:off x="9601200" y="7932539"/>
            <a:ext cx="7543800" cy="19050"/>
          </a:xfrm>
          <a:prstGeom prst="rect">
            <a:avLst/>
          </a:prstGeom>
          <a:solidFill>
            <a:srgbClr val="201E1E">
              <a:alpha val="40000"/>
            </a:srgbClr>
          </a:solidFill>
          <a:ln/>
        </p:spPr>
      </p:sp>
      <p:sp>
        <p:nvSpPr>
          <p:cNvPr id="27" name="Text 25"/>
          <p:cNvSpPr/>
          <p:nvPr/>
        </p:nvSpPr>
        <p:spPr>
          <a:xfrm>
            <a:off x="9601200" y="8065889"/>
            <a:ext cx="7770114" cy="300930"/>
          </a:xfrm>
          <a:prstGeom prst="rect">
            <a:avLst/>
          </a:prstGeom>
          <a:noFill/>
          <a:ln/>
        </p:spPr>
        <p:txBody>
          <a:bodyPr wrap="square" lIns="25400" tIns="25400" rIns="25400" bIns="25400" rtlCol="0" anchor="t">
            <a:normAutofit/>
          </a:bodyPr>
          <a:lstStyle/>
          <a:p>
            <a:pPr algn="l" indent="0" marL="0">
              <a:lnSpc>
                <a:spcPct val="98571"/>
              </a:lnSpc>
              <a:buNone/>
            </a:pPr>
            <a:r>
              <a:rPr lang="en-US" sz="1800" b="1" spc="144" kern="0" dirty="0">
                <a:solidFill>
                  <a:srgbClr val="EC3013"/>
                </a:solidFill>
                <a:latin typeface="Arial" pitchFamily="34" charset="0"/>
                <a:ea typeface="Arial" pitchFamily="34" charset="-122"/>
                <a:cs typeface="Arial" pitchFamily="34" charset="-120"/>
              </a:rPr>
              <a:t>TOOLS AND STANDARDS</a:t>
            </a:r>
            <a:endParaRPr lang="en-US" sz="1800" dirty="0"/>
          </a:p>
        </p:txBody>
      </p:sp>
      <p:sp>
        <p:nvSpPr>
          <p:cNvPr id="28" name="Text 26"/>
          <p:cNvSpPr/>
          <p:nvPr/>
        </p:nvSpPr>
        <p:spPr>
          <a:xfrm>
            <a:off x="9601200" y="8423970"/>
            <a:ext cx="7770114" cy="908050"/>
          </a:xfrm>
          <a:prstGeom prst="rect">
            <a:avLst/>
          </a:prstGeom>
          <a:noFill/>
          <a:ln/>
        </p:spPr>
        <p:txBody>
          <a:bodyPr wrap="square" lIns="25400" tIns="25400" rIns="25400" bIns="25400" rtlCol="0" anchor="t">
            <a:normAutofit/>
          </a:bodyPr>
          <a:lstStyle/>
          <a:p>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GnuCOBOL Project.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GnuCOBOL compiler, GPL/LGPL. NIST COBOL-85: 9,700 of 9,748.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Wolf, U.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ProLeap COBOL Parser, MIT licence. </a:t>
            </a:r>
            <a:pPr algn="l" indent="0" marL="0">
              <a:lnSpc>
                <a:spcPct val="107143"/>
              </a:lnSpc>
              <a:buNone/>
            </a:pPr>
            <a:r>
              <a:rPr lang="en-US" sz="1800" b="1" dirty="0">
                <a:solidFill>
                  <a:srgbClr val="201E1D"/>
                </a:solidFill>
                <a:latin typeface="Arial" pitchFamily="34" charset="0"/>
                <a:ea typeface="Arial" pitchFamily="34" charset="-122"/>
                <a:cs typeface="Arial" pitchFamily="34" charset="-120"/>
              </a:rPr>
              <a:t>NIST (1992). </a:t>
            </a:r>
            <a:pPr algn="l" indent="0" marL="0">
              <a:lnSpc>
                <a:spcPct val="107143"/>
              </a:lnSpc>
              <a:buNone/>
            </a:pPr>
            <a:r>
              <a:rPr lang="en-US" sz="1800" dirty="0">
                <a:solidFill>
                  <a:srgbClr val="201E1C">
                    <a:alpha val="60000"/>
                  </a:srgbClr>
                </a:solidFill>
                <a:latin typeface="Arial" pitchFamily="34" charset="0"/>
                <a:ea typeface="Arial" pitchFamily="34" charset="-122"/>
                <a:cs typeface="Arial" pitchFamily="34" charset="-120"/>
              </a:rPr>
              <a:t>CCVS85 validation system.</a:t>
            </a:r>
            <a:endParaRPr lang="en-US" sz="1800" dirty="0"/>
          </a:p>
        </p:txBody>
      </p:sp>
      <p:sp>
        <p:nvSpPr>
          <p:cNvPr id="29" name="Text 27"/>
          <p:cNvSpPr/>
          <p:nvPr/>
        </p:nvSpPr>
        <p:spPr>
          <a:xfrm>
            <a:off x="1143000" y="9353550"/>
            <a:ext cx="17602200" cy="361950"/>
          </a:xfrm>
          <a:prstGeom prst="rect">
            <a:avLst/>
          </a:prstGeom>
          <a:noFill/>
          <a:ln/>
        </p:spPr>
        <p:txBody>
          <a:bodyPr wrap="square" lIns="25400" tIns="25400" rIns="25400" bIns="25400" rtlCol="0" anchor="t">
            <a:normAutofit/>
          </a:bodyPr>
          <a:lstStyle/>
          <a:p>
            <a:pPr algn="l" indent="0" marL="0">
              <a:lnSpc>
                <a:spcPct val="121429"/>
              </a:lnSpc>
              <a:buNone/>
            </a:pPr>
            <a:r>
              <a:rPr lang="en-US" sz="1800" dirty="0">
                <a:solidFill>
                  <a:srgbClr val="201E1C">
                    <a:alpha val="60000"/>
                  </a:srgbClr>
                </a:solidFill>
                <a:latin typeface="Arial" pitchFamily="34" charset="0"/>
                <a:ea typeface="Arial" pitchFamily="34" charset="-122"/>
                <a:cs typeface="Arial" pitchFamily="34" charset="-120"/>
              </a:rPr>
              <a:t>Full annotated bibliography, with per-source confidence ratings, is in the research dossier.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2026-08-12T23:56:31Z</dcterms:created>
  <dcterms:modified xsi:type="dcterms:W3CDTF">2026-08-12T23:56:31Z</dcterms:modified>
</cp:coreProperties>
</file>