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6-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9" r:id="rId20"/>
    <p:sldId id="262" r:id="rId8"/>
    <p:sldId id="263" r:id="rId9"/>
    <p:sldId id="264" r:id="rId10"/>
    <p:sldId id="265" r:id="rId11"/>
    <p:sldId id="266" r:id="rId12"/>
    <p:sldId id="267" r:id="rId13"/>
    <p:sldId id="268" r:id="rId14"/>
  </p:sldIdLst>
  <p:notesMasterIdLst>
    <p:notesMasterId r:id="rId1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everyone proves the rewrite matches the legacy; we also ask whether the legacy matches the regulator, and we report the answer per business rule. Scope: COBOL interest-accrual programs executed via GnuCOBOL. Whole-system migration is out of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1.9 million customer figure often quoted for TSB is press reporting, not the FCA — the regulator says 'a significant proportion of its 5.2 million customers'. That is why the slide does not use it. HDFC is the example that matters for an Indian panel: an IT failure froze the bank's product roadmap for over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quote in the footer is verbatim from the paper's abstract — verified word for word. Do not paraphrase it as 'IBM says its product does not work'; the paper's point is that validation is necessary, which is our point too. Be generous to the incumbents. The 91.2% / under-20% pair is the sharpest argument in the deck and it comes from someone else's paper: AgentModernize captured 91.2% of gold-standard rules but its Behavioural Equivalence Rate was 9.4%, 8.1% and 19.4% across three models, with baselines at 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buyer is whoever signs the cutover memo. Risk and audit own the board-approved Change Management Policy required by RBI's IT Governance Direction (2023) — that is why the output is shaped like an audit artefact, not a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reciprocal loop: extracted rules feed the input generator, and the differential run then catches the extraction layer stating rules that are wrong. Neither half works alone. The intake gate matters: the tool refuses programs it cannot verify soundly, with a reason, rather than producing a confident wrong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dashed red arrows are the reciprocal loop: extracted rules feed the input generator, and those inputs drive both implementations — the differential run then catches the extraction layer stating rules that are wrong. Neither half works alone. LLM calls are confined to two bounded points; everything else is deterministic.</a:t>
            </a:r>
          </a:p>
          <a:p>
            <a:r>
              <a:t>If asked why the outputs read 11, 12, 14: the numbers are the architecture stage numbers from the research dossier; stage 13 is the compliance-findings path, which this diagram folds into the regulation model arrow. Slide 5's footer lists all four outputs.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piece is open: GnuCOBOL GPL/LGPL, ProLeap MIT, gcov, NIST CCVS85 and AWS CardDemo. The methodology is compiler-agnostic — inside the bank, swap GnuCOBOL for IBM Enterprise COBOL and the harness is unchanged. No mainframe access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regulator claim is the strongest in the deck, and it survived a deliberate falsification pass: Locksmith (arXiv 2607.28271) has no regulatory checks; AgentModernize has none; EvolveWare is static documentation with no execution. Say 'warrants a compliance review', never 'this is a breach'. On verdicts: rule-level reporting exists (AgentModernize's BRPS); what we could not find anywhere is requiring the boundary to be behaviourally live, issuing a refutation verdict on self-extracted rules, and injecting faults into the oracle to score corpus adequacy. REFUTED means 'contradicted by the evidence we have', never 'false' — always show the counterexample.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claim is not that banks will spend more — the spend is committed. The assurance step has no product category yet; it is absorbed as consulting hours and schedule risk. The ADP figures (80% rule-extraction time, 90%+ manual effort) are AWS's published case study for Transform.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COBOL interest-accrual programs executed via GnuCOBOL. Whole-system migration is out of scope. The intake gate matters: the tool refuses programs it cannot verify soundly, with a reason, rather than producing a confident wrong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three questions. WHY and HOW compress slides 2 to 8; WHAT is the value proposition — including the value if the migration is cancelled: the specification and the regression suite are retained regardless.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figures indicative and effort-based — no licence or infrastructure spend is assumed because none is required. The TSB numbers are the cost of not solving: £48.65m fine, £32.7m redress, ~£400m total cost, CEO resigned, CIO personally fined £81,620 — and the regulator's finding was about assurance, not programming.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annotated bibliography, with a confidence rating per source and a record of which claims were independently re-verified, is in the research dossier accompanying this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moment that convinces the room. Say plainly that the numbers are illustrative - this is the finding format the demo is built to produce (research 04 §5). If asked how a one-rupee gap arises: daily-product accrual truncated per day in the COBOL versus a single HALF_UP at the end in the Java - the divergence is the accumulation mechanism, and it is silent. The report-card figures at the bottom are likewise illustrative.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txBody>
          <a:bodyPr/>
          <a:p/>
        </p:txBody>
      </p:sp>
      <p:sp>
        <p:nvSpPr>
          <p:cNvPr id="3" name="Text 1"/>
          <p:cNvSpPr/>
          <p:nvPr/>
        </p:nvSpPr>
        <p:spPr>
          <a:xfrm>
            <a:off x="1143000" y="609600"/>
            <a:ext cx="10666204"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CII EASTERN REGION HACKATHON · BANKING AND FINANCE TECHNOLOGY</a:t>
            </a:r>
            <a:endParaRPr lang="en-US" sz="1800" dirty="0"/>
          </a:p>
        </p:txBody>
      </p:sp>
      <p:sp>
        <p:nvSpPr>
          <p:cNvPr id="4" name="Text 2"/>
          <p:cNvSpPr/>
          <p:nvPr/>
        </p:nvSpPr>
        <p:spPr>
          <a:xfrm>
            <a:off x="1093490" y="2121991"/>
            <a:ext cx="16533056" cy="2058789"/>
          </a:xfrm>
          <a:prstGeom prst="rect">
            <a:avLst/>
          </a:prstGeom>
          <a:noFill/>
          <a:ln/>
        </p:spPr>
        <p:txBody>
          <a:bodyPr wrap="square" lIns="25400" tIns="25400" rIns="25400" bIns="25400" rtlCol="0" anchor="t">
            <a:normAutofit/>
          </a:bodyPr>
          <a:lstStyle/>
          <a:p>
            <a:pPr algn="l" indent="0" marL="0">
              <a:lnSpc>
                <a:spcPct val="72327"/>
              </a:lnSpc>
              <a:buNone/>
            </a:pPr>
            <a:r>
              <a:rPr lang="en-US" sz="7800" b="1" spc="-156" kern="0" dirty="0">
                <a:solidFill>
                  <a:srgbClr val="201E1D"/>
                </a:solidFill>
                <a:latin typeface="Arial" pitchFamily="34" charset="0"/>
                <a:ea typeface="Arial" pitchFamily="34" charset="-122"/>
                <a:cs typeface="Arial" pitchFamily="34" charset="-120"/>
              </a:rPr>
              <a:t>Legacy Banking Modernisation Platform</a:t>
            </a:r>
            <a:endParaRPr lang="en-US" sz="7800" dirty="0"/>
          </a:p>
        </p:txBody>
      </p:sp>
      <p:sp>
        <p:nvSpPr>
          <p:cNvPr id="5" name="Text 3"/>
          <p:cNvSpPr/>
          <p:nvPr/>
        </p:nvSpPr>
        <p:spPr>
          <a:xfrm>
            <a:off x="1143000" y="4561781"/>
            <a:ext cx="6745810" cy="990600"/>
          </a:xfrm>
          <a:prstGeom prst="rect">
            <a:avLst/>
          </a:prstGeom>
          <a:noFill/>
          <a:ln/>
        </p:spPr>
        <p:txBody>
          <a:bodyPr wrap="square" lIns="25400" tIns="25400" rIns="25400" bIns="25400" rtlCol="0" anchor="t">
            <a:normAutofit/>
          </a:bodyPr>
          <a:lstStyle/>
          <a:p>
            <a:pPr algn="l" indent="0" marL="0">
              <a:lnSpc>
                <a:spcPct val="108696"/>
              </a:lnSpc>
              <a:buNone/>
            </a:pPr>
            <a:r>
              <a:rPr lang="en-US" sz="3000" dirty="0">
                <a:solidFill>
                  <a:srgbClr val="201E1D"/>
                </a:solidFill>
                <a:latin typeface="Arial" pitchFamily="34" charset="0"/>
                <a:ea typeface="Arial" pitchFamily="34" charset="-122"/>
                <a:cs typeface="Arial" pitchFamily="34" charset="-120"/>
              </a:rPr>
              <a:t>Proving the rewrite behaves exactly like the original.</a:t>
            </a:r>
            <a:endParaRPr lang="en-US" sz="3000" dirty="0"/>
          </a:p>
        </p:txBody>
      </p:sp>
      <p:sp>
        <p:nvSpPr>
          <p:cNvPr id="6" name="Text 4"/>
          <p:cNvSpPr/>
          <p:nvPr/>
        </p:nvSpPr>
        <p:spPr>
          <a:xfrm>
            <a:off x="1143000" y="5933381"/>
            <a:ext cx="9758937" cy="1181100"/>
          </a:xfrm>
          <a:prstGeom prst="rect">
            <a:avLst/>
          </a:prstGeom>
          <a:noFill/>
          <a:ln/>
        </p:spPr>
        <p:txBody>
          <a:bodyPr wrap="square" lIns="25400" tIns="25400" rIns="25400" bIns="25400" rtlCol="0" anchor="t">
            <a:normAutofit/>
          </a:bodyPr>
          <a:lstStyle/>
          <a:p>
            <a:pPr algn="l" indent="0" marL="0">
              <a:lnSpc>
                <a:spcPct val="125000"/>
              </a:lnSpc>
              <a:buNone/>
            </a:pPr>
            <a:r>
              <a:rPr lang="en-US" sz="2100" dirty="0">
                <a:solidFill>
                  <a:srgbClr val="201E1C">
                    <a:alpha val="60000"/>
                  </a:srgbClr>
                </a:solidFill>
                <a:latin typeface="Arial" pitchFamily="34" charset="0"/>
                <a:ea typeface="Arial" pitchFamily="34" charset="-122"/>
                <a:cs typeface="Arial" pitchFamily="34" charset="-120"/>
              </a:rPr>
              <a:t>Legacy migration fails on verification, not translation. We make behavioural equivalence something a bank can prove, then check that answer against the regulator.</a:t>
            </a:r>
            <a:endParaRPr lang="en-US" sz="2100" dirty="0"/>
          </a:p>
        </p:txBody>
      </p:sp>
      <p:sp>
        <p:nvSpPr>
          <p:cNvPr id="7" name="Shape 5"/>
          <p:cNvSpPr/>
          <p:nvPr/>
        </p:nvSpPr>
        <p:spPr>
          <a:xfrm>
            <a:off x="1143000" y="7495481"/>
            <a:ext cx="10477500" cy="19050"/>
          </a:xfrm>
          <a:prstGeom prst="rect">
            <a:avLst/>
          </a:prstGeom>
          <a:solidFill>
            <a:srgbClr val="201E1E">
              <a:alpha val="40000"/>
            </a:srgbClr>
          </a:solidFill>
          <a:ln/>
        </p:spPr>
        <p:txBody>
          <a:bodyPr/>
          <a:p/>
        </p:txBody>
      </p:sp>
      <p:sp>
        <p:nvSpPr>
          <p:cNvPr id="17" name="Text 15"/>
          <p:cNvSpPr/>
          <p:nvPr/>
        </p:nvSpPr>
        <p:spPr>
          <a:xfrm>
            <a:off x="1143000" y="8513763"/>
            <a:ext cx="1994872" cy="407194"/>
          </a:xfrm>
          <a:prstGeom prst="rect">
            <a:avLst/>
          </a:prstGeom>
          <a:noFill/>
          <a:ln/>
        </p:spPr>
        <p:txBody>
          <a:bodyPr wrap="square" lIns="25400" tIns="25400" rIns="25400" bIns="25400" rtlCol="0" anchor="t">
            <a:normAutofit/>
          </a:bodyPr>
          <a:lstStyle/>
          <a:p>
            <a:pPr algn="l" indent="0" marL="0">
              <a:lnSpc>
                <a:spcPct val="109670"/>
              </a:lnSpc>
              <a:buNone/>
            </a:pPr>
            <a:r>
              <a:rPr lang="en-US" sz="1875" b="1" dirty="0">
                <a:solidFill>
                  <a:srgbClr val="201E1D"/>
                </a:solidFill>
                <a:latin typeface="Arial" pitchFamily="34" charset="0"/>
                <a:ea typeface="Arial" pitchFamily="34" charset="-122"/>
                <a:cs typeface="Arial" pitchFamily="34" charset="-120"/>
              </a:rPr>
              <a:t>Team StudyEdge</a:t>
            </a:r>
            <a:endParaRPr lang="en-US" sz="1875" dirty="0"/>
          </a:p>
        </p:txBody>
      </p:sp>
      <p:sp>
        <p:nvSpPr>
          <p:cNvPr id="18" name="Text 16"/>
          <p:cNvSpPr/>
          <p:nvPr/>
        </p:nvSpPr>
        <p:spPr>
          <a:xfrm>
            <a:off x="3147020" y="8520113"/>
            <a:ext cx="7138016" cy="407194"/>
          </a:xfrm>
          <a:prstGeom prst="rect">
            <a:avLst/>
          </a:prstGeom>
          <a:noFill/>
          <a:ln/>
        </p:spPr>
        <p:txBody>
          <a:bodyPr wrap="square" lIns="25400" tIns="25400" rIns="25400" bIns="25400" rtlCol="0" anchor="t">
            <a:normAutofit/>
          </a:bodyPr>
          <a:lstStyle/>
          <a:p>
            <a:pPr algn="l" indent="0" marL="0">
              <a:lnSpc>
                <a:spcPct val="135174"/>
              </a:lnSpc>
              <a:buNone/>
            </a:pPr>
            <a:r>
              <a:rPr lang="en-US" sz="1875" dirty="0">
                <a:solidFill>
                  <a:srgbClr val="201E1C">
                    <a:alpha val="60000"/>
                  </a:srgbClr>
                </a:solidFill>
                <a:latin typeface="Arial" pitchFamily="34" charset="0"/>
                <a:ea typeface="Arial" pitchFamily="34" charset="-122"/>
                <a:cs typeface="Arial" pitchFamily="34" charset="-120"/>
              </a:rPr>
              <a:t>Odisha University of Technology and Research, Bhubaneswar</a:t>
            </a:r>
            <a:endParaRPr lang="en-US" sz="1875" dirty="0"/>
          </a:p>
        </p:txBody>
      </p:sp>
      <p:sp>
        <p:nvSpPr>
          <p:cNvPr id="19" name="Text 17"/>
          <p:cNvSpPr/>
          <p:nvPr/>
        </p:nvSpPr>
        <p:spPr>
          <a:xfrm>
            <a:off x="1143000" y="9079706"/>
            <a:ext cx="9151114" cy="407194"/>
          </a:xfrm>
          <a:prstGeom prst="rect">
            <a:avLst/>
          </a:prstGeom>
          <a:noFill/>
          <a:ln/>
        </p:spPr>
        <p:txBody>
          <a:bodyPr wrap="square" lIns="25400" tIns="25400" rIns="25400" bIns="25400" rtlCol="0" anchor="t">
            <a:normAutofit/>
          </a:bodyPr>
          <a:lstStyle/>
          <a:p>
            <a:pPr algn="l" indent="0" marL="0">
              <a:lnSpc>
                <a:spcPct val="135174"/>
              </a:lnSpc>
              <a:buNone/>
            </a:pPr>
            <a:r>
              <a:rPr lang="en-US" sz="1875" dirty="0">
                <a:solidFill>
                  <a:srgbClr val="201E1C">
                    <a:alpha val="60000"/>
                  </a:srgbClr>
                </a:solidFill>
                <a:latin typeface="Arial" pitchFamily="34" charset="0"/>
                <a:ea typeface="Arial" pitchFamily="34" charset="-122"/>
                <a:cs typeface="Arial" pitchFamily="34" charset="-120"/>
              </a:rPr>
              <a:t>Tamanna Panda · Adyasha Das · Soumyajit Sarkar · Swayam Subhankar Sahoo</a:t>
            </a:r>
            <a:endParaRPr lang="en-US" sz="1875" dirty="0"/>
          </a:p>
        </p:txBody>
      </p:sp>
      <p:sp>
        <p:nvSpPr>
          <p:cNvPr id="20" name="Rectangle 19"/>
          <p:cNvSpPr/>
          <p:nvPr/>
        </p:nvSpPr>
        <p:spPr>
          <a:xfrm>
            <a:off x="13304520" y="4590288"/>
            <a:ext cx="2468880" cy="493776"/>
          </a:xfrm>
          <a:prstGeom prst="rect">
            <a:avLst/>
          </a:prstGeom>
          <a:solidFill>
            <a:srgbClr val="EA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304520" y="4590288"/>
            <a:ext cx="2468880" cy="493776"/>
          </a:xfrm>
          <a:prstGeom prst="rect">
            <a:avLst/>
          </a:prstGeom>
          <a:noFill/>
        </p:spPr>
        <p:txBody>
          <a:bodyPr wrap="square" lIns="0" rIns="0" tIns="0" bIns="0" anchor="ctr">
            <a:spAutoFit/>
          </a:bodyPr>
          <a:lstStyle/>
          <a:p>
            <a:pPr algn="ctr"/>
            <a:r>
              <a:rPr sz="1300" b="1" spc="60">
                <a:solidFill>
                  <a:srgbClr val="201E1D"/>
                </a:solidFill>
                <a:latin typeface="Arial"/>
              </a:rPr>
              <a:t>COBOL SOURCE</a:t>
            </a:r>
          </a:p>
        </p:txBody>
      </p:sp>
      <p:sp>
        <p:nvSpPr>
          <p:cNvPr id="22" name="Rectangle 21"/>
          <p:cNvSpPr/>
          <p:nvPr/>
        </p:nvSpPr>
        <p:spPr>
          <a:xfrm>
            <a:off x="11932920" y="5742432"/>
            <a:ext cx="2103120" cy="493776"/>
          </a:xfrm>
          <a:prstGeom prst="rect">
            <a:avLst/>
          </a:prstGeom>
          <a:noFill/>
          <a:ln w="15875">
            <a:solidFill>
              <a:srgbClr val="C9C6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932920" y="5742432"/>
            <a:ext cx="2103120" cy="493776"/>
          </a:xfrm>
          <a:prstGeom prst="rect">
            <a:avLst/>
          </a:prstGeom>
          <a:noFill/>
        </p:spPr>
        <p:txBody>
          <a:bodyPr wrap="square" lIns="0" rIns="0" tIns="0" bIns="0" anchor="ctr">
            <a:spAutoFit/>
          </a:bodyPr>
          <a:lstStyle/>
          <a:p>
            <a:pPr algn="ctr"/>
            <a:r>
              <a:rPr sz="1300" b="1" spc="60">
                <a:solidFill>
                  <a:srgbClr val="6F6C6B"/>
                </a:solidFill>
                <a:latin typeface="Arial"/>
              </a:rPr>
              <a:t>LEGACY</a:t>
            </a:r>
          </a:p>
        </p:txBody>
      </p:sp>
      <p:sp>
        <p:nvSpPr>
          <p:cNvPr id="24" name="Rectangle 23"/>
          <p:cNvSpPr/>
          <p:nvPr/>
        </p:nvSpPr>
        <p:spPr>
          <a:xfrm>
            <a:off x="15041880" y="5742432"/>
            <a:ext cx="2103120" cy="493776"/>
          </a:xfrm>
          <a:prstGeom prst="rect">
            <a:avLst/>
          </a:prstGeom>
          <a:noFill/>
          <a:ln w="15875">
            <a:solidFill>
              <a:srgbClr val="C9C6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041880" y="5742432"/>
            <a:ext cx="2103120" cy="493776"/>
          </a:xfrm>
          <a:prstGeom prst="rect">
            <a:avLst/>
          </a:prstGeom>
          <a:noFill/>
        </p:spPr>
        <p:txBody>
          <a:bodyPr wrap="square" lIns="0" rIns="0" tIns="0" bIns="0" anchor="ctr">
            <a:spAutoFit/>
          </a:bodyPr>
          <a:lstStyle/>
          <a:p>
            <a:pPr algn="ctr"/>
            <a:r>
              <a:rPr sz="1300" b="1" spc="60">
                <a:solidFill>
                  <a:srgbClr val="6F6C6B"/>
                </a:solidFill>
                <a:latin typeface="Arial"/>
              </a:rPr>
              <a:t>REWRITE</a:t>
            </a:r>
          </a:p>
        </p:txBody>
      </p:sp>
      <p:sp>
        <p:nvSpPr>
          <p:cNvPr id="26" name="Rectangle 25"/>
          <p:cNvSpPr/>
          <p:nvPr/>
        </p:nvSpPr>
        <p:spPr>
          <a:xfrm>
            <a:off x="13761720" y="6876288"/>
            <a:ext cx="1554480" cy="493776"/>
          </a:xfrm>
          <a:prstGeom prst="rect">
            <a:avLst/>
          </a:prstGeom>
          <a:solidFill>
            <a:srgbClr val="EC30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761720" y="6876288"/>
            <a:ext cx="1554480" cy="493776"/>
          </a:xfrm>
          <a:prstGeom prst="rect">
            <a:avLst/>
          </a:prstGeom>
          <a:noFill/>
        </p:spPr>
        <p:txBody>
          <a:bodyPr wrap="square" lIns="0" rIns="0" tIns="0" bIns="0" anchor="ctr">
            <a:spAutoFit/>
          </a:bodyPr>
          <a:lstStyle/>
          <a:p>
            <a:pPr algn="ctr"/>
            <a:r>
              <a:rPr sz="1350" b="1" spc="80">
                <a:solidFill>
                  <a:srgbClr val="F3F2F2"/>
                </a:solidFill>
                <a:latin typeface="Arial"/>
              </a:rPr>
              <a:t>DIFF</a:t>
            </a:r>
          </a:p>
        </p:txBody>
      </p:sp>
      <p:cxnSp>
        <p:nvCxnSpPr>
          <p:cNvPr id="28" name="Connector 27"/>
          <p:cNvCxnSpPr/>
          <p:nvPr/>
        </p:nvCxnSpPr>
        <p:spPr>
          <a:xfrm flipH="1">
            <a:off x="13213080" y="5120640"/>
            <a:ext cx="777240" cy="585216"/>
          </a:xfrm>
          <a:prstGeom prst="line">
            <a:avLst/>
          </a:prstGeom>
          <a:ln w="19050">
            <a:solidFill>
              <a:srgbClr val="8C88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5087600" y="5120640"/>
            <a:ext cx="777240" cy="585216"/>
          </a:xfrm>
          <a:prstGeom prst="line">
            <a:avLst/>
          </a:prstGeom>
          <a:ln w="19050">
            <a:solidFill>
              <a:srgbClr val="8C88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2984480" y="6272784"/>
            <a:ext cx="1051560" cy="566928"/>
          </a:xfrm>
          <a:prstGeom prst="line">
            <a:avLst/>
          </a:prstGeom>
          <a:ln w="19050">
            <a:solidFill>
              <a:srgbClr val="8C88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15041880" y="6272784"/>
            <a:ext cx="1051560" cy="566928"/>
          </a:xfrm>
          <a:prstGeom prst="line">
            <a:avLst/>
          </a:prstGeom>
          <a:ln w="19050">
            <a:solidFill>
              <a:srgbClr val="8C88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1932920" y="7589520"/>
            <a:ext cx="5212080" cy="329184"/>
          </a:xfrm>
          <a:prstGeom prst="rect">
            <a:avLst/>
          </a:prstGeom>
          <a:noFill/>
        </p:spPr>
        <p:txBody>
          <a:bodyPr wrap="square" lIns="0" rIns="0" tIns="0" bIns="0" anchor="ctr">
            <a:spAutoFit/>
          </a:bodyPr>
          <a:lstStyle/>
          <a:p>
            <a:pPr algn="ctr"/>
            <a:r>
              <a:rPr sz="1250" b="0">
                <a:solidFill>
                  <a:srgbClr val="8C8886"/>
                </a:solidFill>
                <a:latin typeface="Arial"/>
              </a:rPr>
              <a:t>every rule · proven / unproven / refuted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sp>
      <p:sp>
        <p:nvSpPr>
          <p:cNvPr id="3" name="Text 1"/>
          <p:cNvSpPr/>
          <p:nvPr/>
        </p:nvSpPr>
        <p:spPr>
          <a:xfrm>
            <a:off x="1143000" y="609600"/>
            <a:ext cx="1378992"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PROBLEM</a:t>
            </a:r>
            <a:endParaRPr lang="en-US" sz="1800" dirty="0"/>
          </a:p>
        </p:txBody>
      </p:sp>
      <p:sp>
        <p:nvSpPr>
          <p:cNvPr id="4" name="Text 2"/>
          <p:cNvSpPr/>
          <p:nvPr/>
        </p:nvSpPr>
        <p:spPr>
          <a:xfrm>
            <a:off x="16848733" y="609600"/>
            <a:ext cx="372467"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201E1C">
                    <a:alpha val="60000"/>
                  </a:srgbClr>
                </a:solidFill>
                <a:latin typeface="Arial" pitchFamily="34" charset="0"/>
                <a:ea typeface="Arial" pitchFamily="34" charset="-122"/>
                <a:cs typeface="Arial" pitchFamily="34" charset="-120"/>
              </a:rPr>
              <a:t>02</a:t>
            </a:r>
            <a:endParaRPr lang="en-US" sz="1800" dirty="0"/>
          </a:p>
        </p:txBody>
      </p:sp>
      <p:sp>
        <p:nvSpPr>
          <p:cNvPr id="5" name="Text 3"/>
          <p:cNvSpPr/>
          <p:nvPr/>
        </p:nvSpPr>
        <p:spPr>
          <a:xfrm>
            <a:off x="1116509" y="1790700"/>
            <a:ext cx="17631341" cy="675878"/>
          </a:xfrm>
          <a:prstGeom prst="rect">
            <a:avLst/>
          </a:prstGeom>
          <a:noFill/>
          <a:ln/>
        </p:spPr>
        <p:txBody>
          <a:bodyPr wrap="square" lIns="25400" tIns="25400" rIns="25400" bIns="25400" rtlCol="0" anchor="t">
            <a:normAutofit/>
          </a:bodyPr>
          <a:lstStyle/>
          <a:p>
            <a:pPr algn="l" indent="0" marL="0">
              <a:lnSpc>
                <a:spcPct val="76672"/>
              </a:lnSpc>
              <a:buNone/>
            </a:pPr>
            <a:r>
              <a:rPr lang="en-US" sz="4650" b="1" spc="-70" kern="0" dirty="0">
                <a:solidFill>
                  <a:srgbClr val="201E1D"/>
                </a:solidFill>
                <a:latin typeface="Arial" pitchFamily="34" charset="0"/>
                <a:ea typeface="Arial" pitchFamily="34" charset="-122"/>
                <a:cs typeface="Arial" pitchFamily="34" charset="-120"/>
              </a:rPr>
              <a:t>India’s banks run on code nobody can safely change</a:t>
            </a:r>
            <a:endParaRPr lang="en-US" sz="4650" dirty="0"/>
          </a:p>
        </p:txBody>
      </p:sp>
      <p:sp>
        <p:nvSpPr>
          <p:cNvPr id="6" name="Shape 4"/>
          <p:cNvSpPr/>
          <p:nvPr/>
        </p:nvSpPr>
        <p:spPr>
          <a:xfrm>
            <a:off x="1143000" y="2733278"/>
            <a:ext cx="3657600" cy="19050"/>
          </a:xfrm>
          <a:prstGeom prst="rect">
            <a:avLst/>
          </a:prstGeom>
          <a:solidFill>
            <a:srgbClr val="201E1E">
              <a:alpha val="40000"/>
            </a:srgbClr>
          </a:solidFill>
          <a:ln/>
        </p:spPr>
      </p:sp>
      <p:sp>
        <p:nvSpPr>
          <p:cNvPr id="7" name="Text 5"/>
          <p:cNvSpPr/>
          <p:nvPr/>
        </p:nvSpPr>
        <p:spPr>
          <a:xfrm>
            <a:off x="1143000" y="2961878"/>
            <a:ext cx="4023360" cy="838200"/>
          </a:xfrm>
          <a:prstGeom prst="rect">
            <a:avLst/>
          </a:prstGeom>
          <a:noFill/>
          <a:ln/>
        </p:spPr>
        <p:txBody>
          <a:bodyPr wrap="square" lIns="25400" tIns="25400" rIns="25400" bIns="25400" rtlCol="0" anchor="t">
            <a:normAutofit/>
          </a:bodyPr>
          <a:lstStyle/>
          <a:p>
            <a:pPr algn="l" indent="0" marL="0">
              <a:lnSpc>
                <a:spcPct val="70787"/>
              </a:lnSpc>
              <a:buNone/>
            </a:pPr>
            <a:r>
              <a:rPr lang="en-US" sz="6300" b="1" spc="-126" kern="0" dirty="0">
                <a:solidFill>
                  <a:srgbClr val="201E1D"/>
                </a:solidFill>
                <a:latin typeface="Arial" pitchFamily="34" charset="0"/>
                <a:ea typeface="Arial" pitchFamily="34" charset="-122"/>
                <a:cs typeface="Arial" pitchFamily="34" charset="-120"/>
              </a:rPr>
              <a:t>92</a:t>
            </a:r>
            <a:endParaRPr lang="en-US" sz="6300" dirty="0"/>
          </a:p>
        </p:txBody>
      </p:sp>
      <p:sp>
        <p:nvSpPr>
          <p:cNvPr id="8" name="Text 6"/>
          <p:cNvSpPr/>
          <p:nvPr/>
        </p:nvSpPr>
        <p:spPr>
          <a:xfrm>
            <a:off x="1143000" y="3895328"/>
            <a:ext cx="3767328" cy="666750"/>
          </a:xfrm>
          <a:prstGeom prst="rect">
            <a:avLst/>
          </a:prstGeom>
          <a:noFill/>
          <a:ln/>
        </p:spPr>
        <p:txBody>
          <a:bodyPr wrap="square" lIns="25400" tIns="25400" rIns="25400" bIns="25400" rtlCol="0" anchor="t">
            <a:normAutofit/>
          </a:bodyPr>
          <a:lstStyle/>
          <a:p>
            <a:pPr algn="l" indent="0" marL="0">
              <a:lnSpc>
                <a:spcPct val="115116"/>
              </a:lnSpc>
              <a:buNone/>
            </a:pPr>
            <a:r>
              <a:rPr lang="en-US" sz="1875" dirty="0">
                <a:solidFill>
                  <a:srgbClr val="201E1C">
                    <a:alpha val="60000"/>
                  </a:srgbClr>
                </a:solidFill>
                <a:latin typeface="Arial" pitchFamily="34" charset="0"/>
                <a:ea typeface="Arial" pitchFamily="34" charset="-122"/>
                <a:cs typeface="Arial" pitchFamily="34" charset="-120"/>
              </a:rPr>
              <a:t>of the top 100 banks worldwide run on IBM mainframes</a:t>
            </a:r>
            <a:endParaRPr lang="en-US" sz="1875" dirty="0"/>
          </a:p>
        </p:txBody>
      </p:sp>
      <p:sp>
        <p:nvSpPr>
          <p:cNvPr id="9" name="Shape 7"/>
          <p:cNvSpPr/>
          <p:nvPr/>
        </p:nvSpPr>
        <p:spPr>
          <a:xfrm>
            <a:off x="5257800" y="2733278"/>
            <a:ext cx="3657600" cy="19050"/>
          </a:xfrm>
          <a:prstGeom prst="rect">
            <a:avLst/>
          </a:prstGeom>
          <a:solidFill>
            <a:srgbClr val="201E1E">
              <a:alpha val="40000"/>
            </a:srgbClr>
          </a:solidFill>
          <a:ln/>
        </p:spPr>
      </p:sp>
      <p:sp>
        <p:nvSpPr>
          <p:cNvPr id="10" name="Text 8"/>
          <p:cNvSpPr/>
          <p:nvPr/>
        </p:nvSpPr>
        <p:spPr>
          <a:xfrm>
            <a:off x="5257800" y="2961878"/>
            <a:ext cx="4023360" cy="838200"/>
          </a:xfrm>
          <a:prstGeom prst="rect">
            <a:avLst/>
          </a:prstGeom>
          <a:noFill/>
          <a:ln/>
        </p:spPr>
        <p:txBody>
          <a:bodyPr wrap="square" lIns="25400" tIns="25400" rIns="25400" bIns="25400" rtlCol="0" anchor="t">
            <a:normAutofit/>
          </a:bodyPr>
          <a:lstStyle/>
          <a:p>
            <a:pPr algn="l" indent="0" marL="0">
              <a:lnSpc>
                <a:spcPct val="70787"/>
              </a:lnSpc>
              <a:buNone/>
            </a:pPr>
            <a:r>
              <a:rPr lang="en-US" sz="6300" b="1" spc="-126" kern="0" dirty="0">
                <a:solidFill>
                  <a:srgbClr val="201E1D"/>
                </a:solidFill>
                <a:latin typeface="Arial" pitchFamily="34" charset="0"/>
                <a:ea typeface="Arial" pitchFamily="34" charset="-122"/>
                <a:cs typeface="Arial" pitchFamily="34" charset="-120"/>
              </a:rPr>
              <a:t>40%+</a:t>
            </a:r>
            <a:endParaRPr lang="en-US" sz="6300" dirty="0"/>
          </a:p>
        </p:txBody>
      </p:sp>
      <p:sp>
        <p:nvSpPr>
          <p:cNvPr id="11" name="Text 9"/>
          <p:cNvSpPr/>
          <p:nvPr/>
        </p:nvSpPr>
        <p:spPr>
          <a:xfrm>
            <a:off x="5257800" y="3895328"/>
            <a:ext cx="3767328" cy="666750"/>
          </a:xfrm>
          <a:prstGeom prst="rect">
            <a:avLst/>
          </a:prstGeom>
          <a:noFill/>
          <a:ln/>
        </p:spPr>
        <p:txBody>
          <a:bodyPr wrap="square" lIns="25400" tIns="25400" rIns="25400" bIns="25400" rtlCol="0" anchor="t">
            <a:normAutofit/>
          </a:bodyPr>
          <a:lstStyle/>
          <a:p>
            <a:pPr algn="l" indent="0" marL="0">
              <a:lnSpc>
                <a:spcPct val="115116"/>
              </a:lnSpc>
              <a:buNone/>
            </a:pPr>
            <a:r>
              <a:rPr lang="en-US" sz="1875" dirty="0">
                <a:solidFill>
                  <a:srgbClr val="201E1C">
                    <a:alpha val="60000"/>
                  </a:srgbClr>
                </a:solidFill>
                <a:latin typeface="Arial" pitchFamily="34" charset="0"/>
                <a:ea typeface="Arial" pitchFamily="34" charset="-122"/>
                <a:cs typeface="Arial" pitchFamily="34" charset="-120"/>
              </a:rPr>
              <a:t>of banking systems still run COBOL written decades ago</a:t>
            </a:r>
            <a:endParaRPr lang="en-US" sz="1875" dirty="0"/>
          </a:p>
        </p:txBody>
      </p:sp>
      <p:sp>
        <p:nvSpPr>
          <p:cNvPr id="12" name="Shape 10"/>
          <p:cNvSpPr/>
          <p:nvPr/>
        </p:nvSpPr>
        <p:spPr>
          <a:xfrm>
            <a:off x="9372600" y="2733278"/>
            <a:ext cx="3657600" cy="19050"/>
          </a:xfrm>
          <a:prstGeom prst="rect">
            <a:avLst/>
          </a:prstGeom>
          <a:solidFill>
            <a:srgbClr val="201E1E">
              <a:alpha val="40000"/>
            </a:srgbClr>
          </a:solidFill>
          <a:ln/>
        </p:spPr>
      </p:sp>
      <p:sp>
        <p:nvSpPr>
          <p:cNvPr id="13" name="Text 11"/>
          <p:cNvSpPr/>
          <p:nvPr/>
        </p:nvSpPr>
        <p:spPr>
          <a:xfrm>
            <a:off x="9372600" y="2961878"/>
            <a:ext cx="4023360" cy="838200"/>
          </a:xfrm>
          <a:prstGeom prst="rect">
            <a:avLst/>
          </a:prstGeom>
          <a:noFill/>
          <a:ln/>
        </p:spPr>
        <p:txBody>
          <a:bodyPr wrap="square" lIns="25400" tIns="25400" rIns="25400" bIns="25400" rtlCol="0" anchor="t">
            <a:normAutofit/>
          </a:bodyPr>
          <a:lstStyle/>
          <a:p>
            <a:pPr algn="l" indent="0" marL="0">
              <a:lnSpc>
                <a:spcPct val="70787"/>
              </a:lnSpc>
              <a:buNone/>
            </a:pPr>
            <a:r>
              <a:rPr lang="en-US" sz="6300" b="1" spc="-126" kern="0" dirty="0">
                <a:solidFill>
                  <a:srgbClr val="201E1D"/>
                </a:solidFill>
                <a:latin typeface="Arial" pitchFamily="34" charset="0"/>
                <a:ea typeface="Arial" pitchFamily="34" charset="-122"/>
                <a:cs typeface="Arial" pitchFamily="34" charset="-120"/>
              </a:rPr>
              <a:t>$1bn</a:t>
            </a:r>
            <a:endParaRPr lang="en-US" sz="6300" dirty="0"/>
          </a:p>
        </p:txBody>
      </p:sp>
      <p:sp>
        <p:nvSpPr>
          <p:cNvPr id="14" name="Text 12"/>
          <p:cNvSpPr/>
          <p:nvPr/>
        </p:nvSpPr>
        <p:spPr>
          <a:xfrm>
            <a:off x="9372600" y="3895328"/>
            <a:ext cx="3767328" cy="666750"/>
          </a:xfrm>
          <a:prstGeom prst="rect">
            <a:avLst/>
          </a:prstGeom>
          <a:noFill/>
          <a:ln/>
        </p:spPr>
        <p:txBody>
          <a:bodyPr wrap="square" lIns="25400" tIns="25400" rIns="25400" bIns="25400" rtlCol="0" anchor="t">
            <a:normAutofit/>
          </a:bodyPr>
          <a:lstStyle/>
          <a:p>
            <a:pPr algn="l" indent="0" marL="0">
              <a:lnSpc>
                <a:spcPct val="115116"/>
              </a:lnSpc>
              <a:buNone/>
            </a:pPr>
            <a:r>
              <a:rPr lang="en-US" sz="1875" dirty="0">
                <a:solidFill>
                  <a:srgbClr val="201E1C">
                    <a:alpha val="60000"/>
                  </a:srgbClr>
                </a:solidFill>
                <a:latin typeface="Arial" pitchFamily="34" charset="0"/>
                <a:ea typeface="Arial" pitchFamily="34" charset="-122"/>
                <a:cs typeface="Arial" pitchFamily="34" charset="-120"/>
              </a:rPr>
              <a:t>over 5–10 years to upgrade Indian core banking systems (BCG)</a:t>
            </a:r>
            <a:endParaRPr lang="en-US" sz="1875" dirty="0"/>
          </a:p>
        </p:txBody>
      </p:sp>
      <p:sp>
        <p:nvSpPr>
          <p:cNvPr id="15" name="Shape 13"/>
          <p:cNvSpPr/>
          <p:nvPr/>
        </p:nvSpPr>
        <p:spPr>
          <a:xfrm>
            <a:off x="13487400" y="2733278"/>
            <a:ext cx="3657600" cy="19050"/>
          </a:xfrm>
          <a:prstGeom prst="rect">
            <a:avLst/>
          </a:prstGeom>
          <a:solidFill>
            <a:srgbClr val="201E1E">
              <a:alpha val="40000"/>
            </a:srgbClr>
          </a:solidFill>
          <a:ln/>
        </p:spPr>
      </p:sp>
      <p:sp>
        <p:nvSpPr>
          <p:cNvPr id="16" name="Text 14"/>
          <p:cNvSpPr/>
          <p:nvPr/>
        </p:nvSpPr>
        <p:spPr>
          <a:xfrm>
            <a:off x="13487400" y="2961878"/>
            <a:ext cx="4023360" cy="838200"/>
          </a:xfrm>
          <a:prstGeom prst="rect">
            <a:avLst/>
          </a:prstGeom>
          <a:noFill/>
          <a:ln/>
        </p:spPr>
        <p:txBody>
          <a:bodyPr wrap="square" lIns="25400" tIns="25400" rIns="25400" bIns="25400" rtlCol="0" anchor="t">
            <a:normAutofit/>
          </a:bodyPr>
          <a:lstStyle/>
          <a:p>
            <a:pPr algn="l" indent="0" marL="0">
              <a:lnSpc>
                <a:spcPct val="70787"/>
              </a:lnSpc>
              <a:buNone/>
            </a:pPr>
            <a:r>
              <a:rPr lang="en-US" sz="6300" b="1" spc="-126" kern="0" dirty="0">
                <a:solidFill>
                  <a:srgbClr val="EC3013"/>
                </a:solidFill>
                <a:latin typeface="Arial" pitchFamily="34" charset="0"/>
                <a:ea typeface="Arial" pitchFamily="34" charset="-122"/>
                <a:cs typeface="Arial" pitchFamily="34" charset="-120"/>
              </a:rPr>
              <a:t>0</a:t>
            </a:r>
            <a:endParaRPr lang="en-US" sz="6300" dirty="0"/>
          </a:p>
        </p:txBody>
      </p:sp>
      <p:sp>
        <p:nvSpPr>
          <p:cNvPr id="17" name="Text 15"/>
          <p:cNvSpPr/>
          <p:nvPr/>
        </p:nvSpPr>
        <p:spPr>
          <a:xfrm>
            <a:off x="13487400" y="3895328"/>
            <a:ext cx="3767328" cy="666750"/>
          </a:xfrm>
          <a:prstGeom prst="rect">
            <a:avLst/>
          </a:prstGeom>
          <a:noFill/>
          <a:ln/>
        </p:spPr>
        <p:txBody>
          <a:bodyPr wrap="square" lIns="25400" tIns="25400" rIns="25400" bIns="25400" rtlCol="0" anchor="t">
            <a:normAutofit/>
          </a:bodyPr>
          <a:lstStyle/>
          <a:p>
            <a:pPr algn="l" indent="0" marL="0">
              <a:lnSpc>
                <a:spcPct val="115116"/>
              </a:lnSpc>
              <a:buNone/>
            </a:pPr>
            <a:r>
              <a:rPr lang="en-US" sz="1875" dirty="0">
                <a:solidFill>
                  <a:srgbClr val="201E1C">
                    <a:alpha val="60000"/>
                  </a:srgbClr>
                </a:solidFill>
                <a:latin typeface="Arial" pitchFamily="34" charset="0"/>
                <a:ea typeface="Arial" pitchFamily="34" charset="-122"/>
                <a:cs typeface="Arial" pitchFamily="34" charset="-120"/>
              </a:rPr>
              <a:t>specifications state what those programs should do</a:t>
            </a:r>
            <a:endParaRPr lang="en-US" sz="1875" dirty="0"/>
          </a:p>
        </p:txBody>
      </p:sp>
      <p:sp>
        <p:nvSpPr>
          <p:cNvPr id="18" name="Text 16"/>
          <p:cNvSpPr/>
          <p:nvPr/>
        </p:nvSpPr>
        <p:spPr>
          <a:xfrm>
            <a:off x="1143000" y="4828778"/>
            <a:ext cx="17602200" cy="379413"/>
          </a:xfrm>
          <a:prstGeom prst="rect">
            <a:avLst/>
          </a:prstGeom>
          <a:noFill/>
          <a:ln/>
        </p:spPr>
        <p:txBody>
          <a:bodyPr wrap="square" lIns="25400" tIns="25400" rIns="25400" bIns="25400" rtlCol="0" anchor="t">
            <a:normAutofit/>
          </a:bodyPr>
          <a:lstStyle/>
          <a:p>
            <a:pPr algn="l" indent="0" marL="0">
              <a:lnSpc>
                <a:spcPct val="79059"/>
              </a:lnSpc>
              <a:buNone/>
            </a:pPr>
            <a:r>
              <a:rPr lang="en-US" sz="2400" b="1" spc="-36" kern="0" dirty="0">
                <a:solidFill>
                  <a:srgbClr val="201E1D"/>
                </a:solidFill>
                <a:latin typeface="Arial" pitchFamily="34" charset="0"/>
                <a:ea typeface="Arial" pitchFamily="34" charset="-122"/>
                <a:cs typeface="Arial" pitchFamily="34" charset="-120"/>
              </a:rPr>
              <a:t>When a bank guesses wrong, it is a supervisory event, not a bug report</a:t>
            </a:r>
            <a:endParaRPr lang="en-US" sz="2400" dirty="0"/>
          </a:p>
        </p:txBody>
      </p:sp>
      <p:sp>
        <p:nvSpPr>
          <p:cNvPr id="19" name="Shape 17"/>
          <p:cNvSpPr/>
          <p:nvPr/>
        </p:nvSpPr>
        <p:spPr>
          <a:xfrm>
            <a:off x="1143000" y="5398691"/>
            <a:ext cx="5029200" cy="19050"/>
          </a:xfrm>
          <a:prstGeom prst="rect">
            <a:avLst/>
          </a:prstGeom>
          <a:solidFill>
            <a:srgbClr val="201E1E">
              <a:alpha val="40000"/>
            </a:srgbClr>
          </a:solidFill>
          <a:ln/>
        </p:spPr>
      </p:sp>
      <p:sp>
        <p:nvSpPr>
          <p:cNvPr id="20" name="Text 18"/>
          <p:cNvSpPr/>
          <p:nvPr/>
        </p:nvSpPr>
        <p:spPr>
          <a:xfrm>
            <a:off x="1143000" y="5589191"/>
            <a:ext cx="5532120" cy="388541"/>
          </a:xfrm>
          <a:prstGeom prst="rect">
            <a:avLst/>
          </a:prstGeom>
          <a:noFill/>
          <a:ln/>
        </p:spPr>
        <p:txBody>
          <a:bodyPr wrap="square" lIns="25400" tIns="25400" rIns="25400" bIns="25400" rtlCol="0" anchor="t">
            <a:normAutofit/>
          </a:bodyPr>
          <a:lstStyle/>
          <a:p>
            <a:pPr algn="l" indent="0" marL="0">
              <a:lnSpc>
                <a:spcPct val="81176"/>
              </a:lnSpc>
              <a:buNone/>
            </a:pPr>
            <a:r>
              <a:rPr lang="en-US" sz="2400" b="1" spc="-36" kern="0" dirty="0">
                <a:solidFill>
                  <a:srgbClr val="201E1D"/>
                </a:solidFill>
                <a:latin typeface="Arial" pitchFamily="34" charset="0"/>
                <a:ea typeface="Arial" pitchFamily="34" charset="-122"/>
                <a:cs typeface="Arial" pitchFamily="34" charset="-120"/>
              </a:rPr>
              <a:t>TSB, United Kingdom — 2018</a:t>
            </a:r>
            <a:endParaRPr lang="en-US" sz="2400" dirty="0"/>
          </a:p>
        </p:txBody>
      </p:sp>
      <p:sp>
        <p:nvSpPr>
          <p:cNvPr id="21" name="Text 19"/>
          <p:cNvSpPr/>
          <p:nvPr/>
        </p:nvSpPr>
        <p:spPr>
          <a:xfrm>
            <a:off x="1143000" y="6072982"/>
            <a:ext cx="5180076" cy="1657350"/>
          </a:xfrm>
          <a:prstGeom prst="rect">
            <a:avLst/>
          </a:prstGeom>
          <a:noFill/>
          <a:ln/>
        </p:spPr>
        <p:txBody>
          <a:bodyPr wrap="square" lIns="25400" tIns="25400" rIns="25400" bIns="25400" rtlCol="0" anchor="t">
            <a:normAutofit/>
          </a:bodyPr>
          <a:lstStyle/>
          <a:p>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A core migration failed at cutover. The FCA and PRA fined TSB £48.65m for operational risk and governance failings, and £32.7m went in customer redress. Business as usual took eight months to return.</a:t>
            </a:r>
            <a:endParaRPr lang="en-US" sz="1875" dirty="0"/>
          </a:p>
        </p:txBody>
      </p:sp>
      <p:sp>
        <p:nvSpPr>
          <p:cNvPr id="22" name="Shape 20"/>
          <p:cNvSpPr/>
          <p:nvPr/>
        </p:nvSpPr>
        <p:spPr>
          <a:xfrm>
            <a:off x="6629400" y="5398691"/>
            <a:ext cx="5029200" cy="19050"/>
          </a:xfrm>
          <a:prstGeom prst="rect">
            <a:avLst/>
          </a:prstGeom>
          <a:solidFill>
            <a:srgbClr val="201E1E">
              <a:alpha val="40000"/>
            </a:srgbClr>
          </a:solidFill>
          <a:ln/>
        </p:spPr>
      </p:sp>
      <p:sp>
        <p:nvSpPr>
          <p:cNvPr id="23" name="Text 21"/>
          <p:cNvSpPr/>
          <p:nvPr/>
        </p:nvSpPr>
        <p:spPr>
          <a:xfrm>
            <a:off x="6629400" y="5589191"/>
            <a:ext cx="5532120" cy="388541"/>
          </a:xfrm>
          <a:prstGeom prst="rect">
            <a:avLst/>
          </a:prstGeom>
          <a:noFill/>
          <a:ln/>
        </p:spPr>
        <p:txBody>
          <a:bodyPr wrap="square" lIns="25400" tIns="25400" rIns="25400" bIns="25400" rtlCol="0" anchor="t">
            <a:normAutofit/>
          </a:bodyPr>
          <a:lstStyle/>
          <a:p>
            <a:pPr algn="l" indent="0" marL="0">
              <a:lnSpc>
                <a:spcPct val="81176"/>
              </a:lnSpc>
              <a:buNone/>
            </a:pPr>
            <a:r>
              <a:rPr lang="en-US" sz="2400" b="1" spc="-36" kern="0" dirty="0">
                <a:solidFill>
                  <a:srgbClr val="201E1D"/>
                </a:solidFill>
                <a:latin typeface="Arial" pitchFamily="34" charset="0"/>
                <a:ea typeface="Arial" pitchFamily="34" charset="-122"/>
                <a:cs typeface="Arial" pitchFamily="34" charset="-120"/>
              </a:rPr>
              <a:t>HDFC Bank, India — 2020</a:t>
            </a:r>
            <a:endParaRPr lang="en-US" sz="2400" dirty="0"/>
          </a:p>
        </p:txBody>
      </p:sp>
      <p:sp>
        <p:nvSpPr>
          <p:cNvPr id="24" name="Text 22"/>
          <p:cNvSpPr/>
          <p:nvPr/>
        </p:nvSpPr>
        <p:spPr>
          <a:xfrm>
            <a:off x="6629400" y="6072982"/>
            <a:ext cx="5180076" cy="1333500"/>
          </a:xfrm>
          <a:prstGeom prst="rect">
            <a:avLst/>
          </a:prstGeom>
          <a:noFill/>
          <a:ln/>
        </p:spPr>
        <p:txBody>
          <a:bodyPr wrap="square" lIns="25400" tIns="25400" rIns="25400" bIns="25400" rtlCol="0" anchor="t">
            <a:normAutofit/>
          </a:bodyPr>
          <a:lstStyle/>
          <a:p>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After repeated outages the RBI halted every Digital 2.0 launch and froze new credit-card issuance. The card freeze lifted only in August 2021; the digital freeze ran into 2022.</a:t>
            </a:r>
            <a:endParaRPr lang="en-US" sz="1875" dirty="0"/>
          </a:p>
        </p:txBody>
      </p:sp>
      <p:sp>
        <p:nvSpPr>
          <p:cNvPr id="25" name="Shape 23"/>
          <p:cNvSpPr/>
          <p:nvPr/>
        </p:nvSpPr>
        <p:spPr>
          <a:xfrm>
            <a:off x="12115800" y="5398691"/>
            <a:ext cx="5029200" cy="19050"/>
          </a:xfrm>
          <a:prstGeom prst="rect">
            <a:avLst/>
          </a:prstGeom>
          <a:solidFill>
            <a:srgbClr val="201E1E">
              <a:alpha val="40000"/>
            </a:srgbClr>
          </a:solidFill>
          <a:ln/>
        </p:spPr>
      </p:sp>
      <p:sp>
        <p:nvSpPr>
          <p:cNvPr id="26" name="Text 24"/>
          <p:cNvSpPr/>
          <p:nvPr/>
        </p:nvSpPr>
        <p:spPr>
          <a:xfrm>
            <a:off x="12115800" y="5589191"/>
            <a:ext cx="5532120" cy="388541"/>
          </a:xfrm>
          <a:prstGeom prst="rect">
            <a:avLst/>
          </a:prstGeom>
          <a:noFill/>
          <a:ln/>
        </p:spPr>
        <p:txBody>
          <a:bodyPr wrap="square" lIns="25400" tIns="25400" rIns="25400" bIns="25400" rtlCol="0" anchor="t">
            <a:normAutofit/>
          </a:bodyPr>
          <a:lstStyle/>
          <a:p>
            <a:pPr algn="l" indent="0" marL="0">
              <a:lnSpc>
                <a:spcPct val="81176"/>
              </a:lnSpc>
              <a:buNone/>
            </a:pPr>
            <a:r>
              <a:rPr lang="en-US" sz="2400" b="1" spc="-36" kern="0" dirty="0">
                <a:solidFill>
                  <a:srgbClr val="201E1D"/>
                </a:solidFill>
                <a:latin typeface="Arial" pitchFamily="34" charset="0"/>
                <a:ea typeface="Arial" pitchFamily="34" charset="-122"/>
                <a:cs typeface="Arial" pitchFamily="34" charset="-120"/>
              </a:rPr>
              <a:t>Why the backlog is decades long</a:t>
            </a:r>
            <a:endParaRPr lang="en-US" sz="2400" dirty="0"/>
          </a:p>
        </p:txBody>
      </p:sp>
      <p:sp>
        <p:nvSpPr>
          <p:cNvPr id="27" name="Text 25"/>
          <p:cNvSpPr/>
          <p:nvPr/>
        </p:nvSpPr>
        <p:spPr>
          <a:xfrm>
            <a:off x="12115800" y="6072982"/>
            <a:ext cx="5180076" cy="1333500"/>
          </a:xfrm>
          <a:prstGeom prst="rect">
            <a:avLst/>
          </a:prstGeom>
          <a:noFill/>
          <a:ln/>
        </p:spPr>
        <p:txBody>
          <a:bodyPr wrap="square" lIns="25400" tIns="25400" rIns="25400" bIns="25400" rtlCol="0" anchor="t">
            <a:normAutofit/>
          </a:bodyPr>
          <a:lstStyle/>
          <a:p>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A one-paisa divergence across millions of accounts is a reportable regulatory event. Refusing to touch the system is the correct decision under the bank’s own risk framework.</a:t>
            </a:r>
            <a:endParaRPr lang="en-US" sz="1875" dirty="0"/>
          </a:p>
        </p:txBody>
      </p:sp>
      <p:sp>
        <p:nvSpPr>
          <p:cNvPr id="28" name="Shape 26"/>
          <p:cNvSpPr/>
          <p:nvPr/>
        </p:nvSpPr>
        <p:spPr>
          <a:xfrm>
            <a:off x="1143000" y="7958932"/>
            <a:ext cx="3657600" cy="9525"/>
          </a:xfrm>
          <a:prstGeom prst="rect">
            <a:avLst/>
          </a:prstGeom>
          <a:solidFill>
            <a:srgbClr val="201E1E">
              <a:alpha val="40000"/>
            </a:srgbClr>
          </a:solidFill>
          <a:ln/>
        </p:spPr>
      </p:sp>
      <p:sp>
        <p:nvSpPr>
          <p:cNvPr id="29" name="Text 27"/>
          <p:cNvSpPr/>
          <p:nvPr/>
        </p:nvSpPr>
        <p:spPr>
          <a:xfrm>
            <a:off x="1143000" y="8079582"/>
            <a:ext cx="3767328" cy="776188"/>
          </a:xfrm>
          <a:prstGeom prst="rect">
            <a:avLst/>
          </a:prstGeom>
          <a:noFill/>
          <a:ln/>
        </p:spPr>
        <p:txBody>
          <a:bodyPr wrap="square" lIns="25400" tIns="25400" rIns="25400" bIns="25400" rtlCol="0" anchor="t">
            <a:normAutofit/>
          </a:bodyPr>
          <a:lstStyle/>
          <a:p>
            <a:pPr algn="l" indent="0" marL="0">
              <a:lnSpc>
                <a:spcPct val="134135"/>
              </a:lnSpc>
              <a:buNone/>
            </a:pPr>
            <a:r>
              <a:rPr lang="en-US" sz="1950" b="1" dirty="0">
                <a:solidFill>
                  <a:srgbClr val="EC3013"/>
                </a:solidFill>
                <a:latin typeface="Arial" pitchFamily="34" charset="0"/>
                <a:ea typeface="Arial" pitchFamily="34" charset="-122"/>
                <a:cs typeface="Arial" pitchFamily="34" charset="-120"/>
              </a:rPr>
              <a:t>1987 </a:t>
            </a:r>
            <a:pPr algn="l" indent="0" marL="0">
              <a:lnSpc>
                <a:spcPct val="134135"/>
              </a:lnSpc>
              <a:buNone/>
            </a:pPr>
            <a:r>
              <a:rPr lang="en-US" sz="1800" dirty="0">
                <a:solidFill>
                  <a:srgbClr val="201E1C">
                    <a:alpha val="60000"/>
                  </a:srgbClr>
                </a:solidFill>
                <a:latin typeface="Arial" pitchFamily="34" charset="0"/>
                <a:ea typeface="Arial" pitchFamily="34" charset="-122"/>
                <a:cs typeface="Arial" pitchFamily="34" charset="-120"/>
              </a:rPr>
              <a:t>core interest engine written</a:t>
            </a:r>
            <a:endParaRPr lang="en-US" sz="1125" dirty="0"/>
          </a:p>
        </p:txBody>
      </p:sp>
      <p:sp>
        <p:nvSpPr>
          <p:cNvPr id="30" name="Shape 28"/>
          <p:cNvSpPr/>
          <p:nvPr/>
        </p:nvSpPr>
        <p:spPr>
          <a:xfrm>
            <a:off x="5257800" y="7958932"/>
            <a:ext cx="3657600" cy="9525"/>
          </a:xfrm>
          <a:prstGeom prst="rect">
            <a:avLst/>
          </a:prstGeom>
          <a:solidFill>
            <a:srgbClr val="201E1E">
              <a:alpha val="40000"/>
            </a:srgbClr>
          </a:solidFill>
          <a:ln/>
        </p:spPr>
      </p:sp>
      <p:sp>
        <p:nvSpPr>
          <p:cNvPr id="31" name="Text 29"/>
          <p:cNvSpPr/>
          <p:nvPr/>
        </p:nvSpPr>
        <p:spPr>
          <a:xfrm>
            <a:off x="5257800" y="8079582"/>
            <a:ext cx="3767328" cy="776188"/>
          </a:xfrm>
          <a:prstGeom prst="rect">
            <a:avLst/>
          </a:prstGeom>
          <a:noFill/>
          <a:ln/>
        </p:spPr>
        <p:txBody>
          <a:bodyPr wrap="square" lIns="25400" tIns="25400" rIns="25400" bIns="25400" rtlCol="0" anchor="t">
            <a:normAutofit/>
          </a:bodyPr>
          <a:lstStyle/>
          <a:p>
            <a:pPr algn="l" indent="0" marL="0">
              <a:lnSpc>
                <a:spcPct val="134135"/>
              </a:lnSpc>
              <a:buNone/>
            </a:pPr>
            <a:r>
              <a:rPr lang="en-US" sz="1950" b="1" dirty="0">
                <a:solidFill>
                  <a:srgbClr val="EC3013"/>
                </a:solidFill>
                <a:latin typeface="Arial" pitchFamily="34" charset="0"/>
                <a:ea typeface="Arial" pitchFamily="34" charset="-122"/>
                <a:cs typeface="Arial" pitchFamily="34" charset="-120"/>
              </a:rPr>
              <a:t>2018 </a:t>
            </a:r>
            <a:pPr algn="l" indent="0" marL="0">
              <a:lnSpc>
                <a:spcPct val="134135"/>
              </a:lnSpc>
              <a:buNone/>
            </a:pPr>
            <a:r>
              <a:rPr lang="en-US" sz="1800" dirty="0">
                <a:solidFill>
                  <a:srgbClr val="201E1C">
                    <a:alpha val="60000"/>
                  </a:srgbClr>
                </a:solidFill>
                <a:latin typeface="Arial" pitchFamily="34" charset="0"/>
                <a:ea typeface="Arial" pitchFamily="34" charset="-122"/>
                <a:cs typeface="Arial" pitchFamily="34" charset="-120"/>
              </a:rPr>
              <a:t>TSB — £400m failed cutover</a:t>
            </a:r>
            <a:endParaRPr lang="en-US" sz="1125" dirty="0"/>
          </a:p>
        </p:txBody>
      </p:sp>
      <p:sp>
        <p:nvSpPr>
          <p:cNvPr id="32" name="Shape 30"/>
          <p:cNvSpPr/>
          <p:nvPr/>
        </p:nvSpPr>
        <p:spPr>
          <a:xfrm>
            <a:off x="9372600" y="7958932"/>
            <a:ext cx="3657600" cy="9525"/>
          </a:xfrm>
          <a:prstGeom prst="rect">
            <a:avLst/>
          </a:prstGeom>
          <a:solidFill>
            <a:srgbClr val="201E1E">
              <a:alpha val="40000"/>
            </a:srgbClr>
          </a:solidFill>
          <a:ln/>
        </p:spPr>
      </p:sp>
      <p:sp>
        <p:nvSpPr>
          <p:cNvPr id="33" name="Text 31"/>
          <p:cNvSpPr/>
          <p:nvPr/>
        </p:nvSpPr>
        <p:spPr>
          <a:xfrm>
            <a:off x="9372600" y="8079582"/>
            <a:ext cx="3767328" cy="776188"/>
          </a:xfrm>
          <a:prstGeom prst="rect">
            <a:avLst/>
          </a:prstGeom>
          <a:noFill/>
          <a:ln/>
        </p:spPr>
        <p:txBody>
          <a:bodyPr wrap="square" lIns="25400" tIns="25400" rIns="25400" bIns="25400" rtlCol="0" anchor="t">
            <a:normAutofit/>
          </a:bodyPr>
          <a:lstStyle/>
          <a:p>
            <a:pPr algn="l" indent="0" marL="0">
              <a:lnSpc>
                <a:spcPct val="134135"/>
              </a:lnSpc>
              <a:buNone/>
            </a:pPr>
            <a:r>
              <a:rPr lang="en-US" sz="1950" b="1" dirty="0">
                <a:solidFill>
                  <a:srgbClr val="EC3013"/>
                </a:solidFill>
                <a:latin typeface="Arial" pitchFamily="34" charset="0"/>
                <a:ea typeface="Arial" pitchFamily="34" charset="-122"/>
                <a:cs typeface="Arial" pitchFamily="34" charset="-120"/>
              </a:rPr>
              <a:t>2020 </a:t>
            </a:r>
            <a:pPr algn="l" indent="0" marL="0">
              <a:lnSpc>
                <a:spcPct val="134135"/>
              </a:lnSpc>
              <a:buNone/>
            </a:pPr>
            <a:r>
              <a:rPr lang="en-US" sz="1800" dirty="0">
                <a:solidFill>
                  <a:srgbClr val="201E1C">
                    <a:alpha val="60000"/>
                  </a:srgbClr>
                </a:solidFill>
                <a:latin typeface="Arial" pitchFamily="34" charset="0"/>
                <a:ea typeface="Arial" pitchFamily="34" charset="-122"/>
                <a:cs typeface="Arial" pitchFamily="34" charset="-120"/>
              </a:rPr>
              <a:t>HDFC — RBI freezes the roadmap</a:t>
            </a:r>
            <a:endParaRPr lang="en-US" sz="1125" dirty="0"/>
          </a:p>
        </p:txBody>
      </p:sp>
      <p:sp>
        <p:nvSpPr>
          <p:cNvPr id="34" name="Shape 32"/>
          <p:cNvSpPr/>
          <p:nvPr/>
        </p:nvSpPr>
        <p:spPr>
          <a:xfrm>
            <a:off x="13487400" y="7958932"/>
            <a:ext cx="3657600" cy="9525"/>
          </a:xfrm>
          <a:prstGeom prst="rect">
            <a:avLst/>
          </a:prstGeom>
          <a:solidFill>
            <a:srgbClr val="201E1E">
              <a:alpha val="40000"/>
            </a:srgbClr>
          </a:solidFill>
          <a:ln/>
        </p:spPr>
      </p:sp>
      <p:sp>
        <p:nvSpPr>
          <p:cNvPr id="35" name="Text 33"/>
          <p:cNvSpPr/>
          <p:nvPr/>
        </p:nvSpPr>
        <p:spPr>
          <a:xfrm>
            <a:off x="13487400" y="8079582"/>
            <a:ext cx="3767328" cy="776188"/>
          </a:xfrm>
          <a:prstGeom prst="rect">
            <a:avLst/>
          </a:prstGeom>
          <a:noFill/>
          <a:ln/>
        </p:spPr>
        <p:txBody>
          <a:bodyPr wrap="square" lIns="25400" tIns="25400" rIns="25400" bIns="25400" rtlCol="0" anchor="t">
            <a:normAutofit/>
          </a:bodyPr>
          <a:lstStyle/>
          <a:p>
            <a:pPr algn="l" indent="0" marL="0">
              <a:lnSpc>
                <a:spcPct val="134135"/>
              </a:lnSpc>
              <a:buNone/>
            </a:pPr>
            <a:r>
              <a:rPr lang="en-US" sz="1950" b="1" dirty="0">
                <a:solidFill>
                  <a:srgbClr val="EC3013"/>
                </a:solidFill>
                <a:latin typeface="Arial" pitchFamily="34" charset="0"/>
                <a:ea typeface="Arial" pitchFamily="34" charset="-122"/>
                <a:cs typeface="Arial" pitchFamily="34" charset="-120"/>
              </a:rPr>
              <a:t>2026 </a:t>
            </a:r>
            <a:pPr algn="l" indent="0" marL="0">
              <a:lnSpc>
                <a:spcPct val="134135"/>
              </a:lnSpc>
              <a:buNone/>
            </a:pPr>
            <a:r>
              <a:rPr lang="en-US" sz="1800" dirty="0">
                <a:solidFill>
                  <a:srgbClr val="201E1C">
                    <a:alpha val="60000"/>
                  </a:srgbClr>
                </a:solidFill>
                <a:latin typeface="Arial" pitchFamily="34" charset="0"/>
                <a:ea typeface="Arial" pitchFamily="34" charset="-122"/>
                <a:cs typeface="Arial" pitchFamily="34" charset="-120"/>
              </a:rPr>
              <a:t>migration still deferred</a:t>
            </a:r>
            <a:endParaRPr lang="en-US" sz="1125" dirty="0"/>
          </a:p>
        </p:txBody>
      </p:sp>
      <p:sp>
        <p:nvSpPr>
          <p:cNvPr id="36" name="Text 34"/>
          <p:cNvSpPr/>
          <p:nvPr/>
        </p:nvSpPr>
        <p:spPr>
          <a:xfrm>
            <a:off x="1143000" y="9353550"/>
            <a:ext cx="17602200" cy="361950"/>
          </a:xfrm>
          <a:prstGeom prst="rect">
            <a:avLst/>
          </a:prstGeom>
          <a:noFill/>
          <a:ln/>
        </p:spPr>
        <p:txBody>
          <a:bodyPr wrap="square" lIns="25400" tIns="25400" rIns="25400" bIns="25400" rtlCol="0" anchor="t">
            <a:normAutofit/>
          </a:bodyPr>
          <a:lstStyle/>
          <a:p>
            <a:pPr algn="l" indent="0" marL="0">
              <a:lnSpc>
                <a:spcPct val="121429"/>
              </a:lnSpc>
              <a:buNone/>
            </a:pPr>
            <a:r>
              <a:rPr lang="en-US" sz="1800" dirty="0">
                <a:solidFill>
                  <a:srgbClr val="201E1C">
                    <a:alpha val="60000"/>
                  </a:srgbClr>
                </a:solidFill>
                <a:latin typeface="Arial" pitchFamily="34" charset="0"/>
                <a:ea typeface="Arial" pitchFamily="34" charset="-122"/>
                <a:cs typeface="Arial" pitchFamily="34" charset="-120"/>
              </a:rPr>
              <a:t>Sources: FCA press release, Dec 2022 · BCG, Cloud-based Core Transformations, Aug 2024 · RBI supervisory action, Dec 2020.</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sp>
      <p:sp>
        <p:nvSpPr>
          <p:cNvPr id="3" name="Text 1"/>
          <p:cNvSpPr/>
          <p:nvPr/>
        </p:nvSpPr>
        <p:spPr>
          <a:xfrm>
            <a:off x="1143000" y="609600"/>
            <a:ext cx="2831763"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WHY IT’S UNSOLVED</a:t>
            </a:r>
            <a:endParaRPr lang="en-US" sz="1800" dirty="0"/>
          </a:p>
        </p:txBody>
      </p:sp>
      <p:sp>
        <p:nvSpPr>
          <p:cNvPr id="4" name="Text 2"/>
          <p:cNvSpPr/>
          <p:nvPr/>
        </p:nvSpPr>
        <p:spPr>
          <a:xfrm>
            <a:off x="16848733" y="609600"/>
            <a:ext cx="372467"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201E1C">
                    <a:alpha val="60000"/>
                  </a:srgbClr>
                </a:solidFill>
                <a:latin typeface="Arial" pitchFamily="34" charset="0"/>
                <a:ea typeface="Arial" pitchFamily="34" charset="-122"/>
                <a:cs typeface="Arial" pitchFamily="34" charset="-120"/>
              </a:rPr>
              <a:t>03</a:t>
            </a:r>
            <a:endParaRPr lang="en-US" sz="1800" dirty="0"/>
          </a:p>
        </p:txBody>
      </p:sp>
      <p:sp>
        <p:nvSpPr>
          <p:cNvPr id="5" name="Text 3"/>
          <p:cNvSpPr/>
          <p:nvPr/>
        </p:nvSpPr>
        <p:spPr>
          <a:xfrm>
            <a:off x="1116509" y="1790700"/>
            <a:ext cx="17631341" cy="675878"/>
          </a:xfrm>
          <a:prstGeom prst="rect">
            <a:avLst/>
          </a:prstGeom>
          <a:noFill/>
          <a:ln/>
        </p:spPr>
        <p:txBody>
          <a:bodyPr wrap="square" lIns="25400" tIns="25400" rIns="25400" bIns="25400" rtlCol="0" anchor="t">
            <a:normAutofit/>
          </a:bodyPr>
          <a:lstStyle/>
          <a:p>
            <a:pPr algn="l" indent="0" marL="0">
              <a:lnSpc>
                <a:spcPct val="76672"/>
              </a:lnSpc>
              <a:buNone/>
            </a:pPr>
            <a:r>
              <a:rPr lang="en-US" sz="4650" b="1" spc="-70" kern="0" dirty="0">
                <a:solidFill>
                  <a:srgbClr val="201E1D"/>
                </a:solidFill>
                <a:latin typeface="Arial" pitchFamily="34" charset="0"/>
                <a:ea typeface="Arial" pitchFamily="34" charset="-122"/>
                <a:cs typeface="Arial" pitchFamily="34" charset="-120"/>
              </a:rPr>
              <a:t>Translation is solved. Proof is not.</a:t>
            </a:r>
            <a:endParaRPr lang="en-US" sz="4650" dirty="0"/>
          </a:p>
        </p:txBody>
      </p:sp>
      <p:sp>
        <p:nvSpPr>
          <p:cNvPr id="6" name="Shape 4"/>
          <p:cNvSpPr/>
          <p:nvPr/>
        </p:nvSpPr>
        <p:spPr>
          <a:xfrm>
            <a:off x="1143000" y="2771378"/>
            <a:ext cx="2727920" cy="19050"/>
          </a:xfrm>
          <a:prstGeom prst="rect">
            <a:avLst/>
          </a:prstGeom>
          <a:solidFill>
            <a:srgbClr val="201E1E">
              <a:alpha val="40000"/>
            </a:srgbClr>
          </a:solidFill>
          <a:ln/>
        </p:spPr>
      </p:sp>
      <p:sp>
        <p:nvSpPr>
          <p:cNvPr id="7" name="Text 5"/>
          <p:cNvSpPr/>
          <p:nvPr/>
        </p:nvSpPr>
        <p:spPr>
          <a:xfrm>
            <a:off x="1143000" y="2961878"/>
            <a:ext cx="3000712" cy="366713"/>
          </a:xfrm>
          <a:prstGeom prst="rect">
            <a:avLst/>
          </a:prstGeom>
          <a:noFill/>
          <a:ln/>
        </p:spPr>
        <p:txBody>
          <a:bodyPr wrap="square" lIns="25400" tIns="25400" rIns="25400" bIns="25400" rtlCol="0" anchor="t">
            <a:normAutofit/>
          </a:bodyPr>
          <a:lstStyle/>
          <a:p>
            <a:pPr algn="l" indent="0" marL="0">
              <a:lnSpc>
                <a:spcPct val="80859"/>
              </a:lnSpc>
              <a:buNone/>
            </a:pPr>
            <a:r>
              <a:rPr lang="en-US" sz="2250" b="1" spc="-34" kern="0" dirty="0">
                <a:solidFill>
                  <a:srgbClr val="201E1D"/>
                </a:solidFill>
                <a:latin typeface="Arial" pitchFamily="34" charset="0"/>
                <a:ea typeface="Arial" pitchFamily="34" charset="-122"/>
                <a:cs typeface="Arial" pitchFamily="34" charset="-120"/>
              </a:rPr>
              <a:t>COBOL source</a:t>
            </a:r>
            <a:endParaRPr lang="en-US" sz="2250" dirty="0"/>
          </a:p>
        </p:txBody>
      </p:sp>
      <p:sp>
        <p:nvSpPr>
          <p:cNvPr id="8" name="Text 6"/>
          <p:cNvSpPr/>
          <p:nvPr/>
        </p:nvSpPr>
        <p:spPr>
          <a:xfrm>
            <a:off x="1143000" y="3404791"/>
            <a:ext cx="2809758" cy="628650"/>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4,000 lines · 1987 ~200 undocumented edits</a:t>
            </a:r>
            <a:endParaRPr lang="en-US" sz="1800" dirty="0"/>
          </a:p>
        </p:txBody>
      </p:sp>
      <p:sp>
        <p:nvSpPr>
          <p:cNvPr id="9" name="Text 7"/>
          <p:cNvSpPr/>
          <p:nvPr/>
        </p:nvSpPr>
        <p:spPr>
          <a:xfrm>
            <a:off x="3966170" y="2923778"/>
            <a:ext cx="400050" cy="481012"/>
          </a:xfrm>
          <a:prstGeom prst="rect">
            <a:avLst/>
          </a:prstGeom>
          <a:noFill/>
          <a:ln/>
        </p:spPr>
        <p:txBody>
          <a:bodyPr wrap="square" lIns="25400" tIns="25400" rIns="25400" bIns="25400" rtlCol="0" anchor="t">
            <a:normAutofit/>
          </a:bodyPr>
          <a:lstStyle/>
          <a:p>
            <a:pPr algn="ctr" indent="0" marL="0">
              <a:lnSpc>
                <a:spcPct val="134135"/>
              </a:lnSpc>
              <a:buNone/>
            </a:pPr>
            <a:r>
              <a:rPr lang="en-US" sz="2250" dirty="0">
                <a:solidFill>
                  <a:srgbClr val="201E1C">
                    <a:alpha val="60000"/>
                  </a:srgbClr>
                </a:solidFill>
                <a:latin typeface="Arial" pitchFamily="34" charset="0"/>
                <a:ea typeface="Arial" pitchFamily="34" charset="-122"/>
                <a:cs typeface="Arial" pitchFamily="34" charset="-120"/>
              </a:rPr>
              <a:t>→</a:t>
            </a:r>
            <a:endParaRPr lang="en-US" sz="2250" dirty="0"/>
          </a:p>
        </p:txBody>
      </p:sp>
      <p:sp>
        <p:nvSpPr>
          <p:cNvPr id="10" name="Shape 8"/>
          <p:cNvSpPr/>
          <p:nvPr/>
        </p:nvSpPr>
        <p:spPr>
          <a:xfrm>
            <a:off x="4461470" y="2771378"/>
            <a:ext cx="2727920" cy="19050"/>
          </a:xfrm>
          <a:prstGeom prst="rect">
            <a:avLst/>
          </a:prstGeom>
          <a:solidFill>
            <a:srgbClr val="201E1E">
              <a:alpha val="40000"/>
            </a:srgbClr>
          </a:solidFill>
          <a:ln/>
        </p:spPr>
      </p:sp>
      <p:sp>
        <p:nvSpPr>
          <p:cNvPr id="11" name="Text 9"/>
          <p:cNvSpPr/>
          <p:nvPr/>
        </p:nvSpPr>
        <p:spPr>
          <a:xfrm>
            <a:off x="4461470" y="2961878"/>
            <a:ext cx="3000712" cy="366713"/>
          </a:xfrm>
          <a:prstGeom prst="rect">
            <a:avLst/>
          </a:prstGeom>
          <a:noFill/>
          <a:ln/>
        </p:spPr>
        <p:txBody>
          <a:bodyPr wrap="square" lIns="25400" tIns="25400" rIns="25400" bIns="25400" rtlCol="0" anchor="t">
            <a:normAutofit/>
          </a:bodyPr>
          <a:lstStyle/>
          <a:p>
            <a:pPr algn="l" indent="0" marL="0">
              <a:lnSpc>
                <a:spcPct val="80859"/>
              </a:lnSpc>
              <a:buNone/>
            </a:pPr>
            <a:r>
              <a:rPr lang="en-US" sz="2250" b="1" spc="-34" kern="0" dirty="0">
                <a:solidFill>
                  <a:srgbClr val="201E1D"/>
                </a:solidFill>
                <a:latin typeface="Arial" pitchFamily="34" charset="0"/>
                <a:ea typeface="Arial" pitchFamily="34" charset="-122"/>
                <a:cs typeface="Arial" pitchFamily="34" charset="-120"/>
              </a:rPr>
              <a:t>Translate</a:t>
            </a:r>
            <a:endParaRPr lang="en-US" sz="2250" dirty="0"/>
          </a:p>
        </p:txBody>
      </p:sp>
      <p:sp>
        <p:nvSpPr>
          <p:cNvPr id="12" name="Text 10"/>
          <p:cNvSpPr/>
          <p:nvPr/>
        </p:nvSpPr>
        <p:spPr>
          <a:xfrm>
            <a:off x="4461470" y="3404791"/>
            <a:ext cx="2809758" cy="628650"/>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transpilers · LLMs AWS · IBM · TCS ship this</a:t>
            </a:r>
            <a:endParaRPr lang="en-US" sz="1800" dirty="0"/>
          </a:p>
        </p:txBody>
      </p:sp>
      <p:sp>
        <p:nvSpPr>
          <p:cNvPr id="13" name="Text 11"/>
          <p:cNvSpPr/>
          <p:nvPr/>
        </p:nvSpPr>
        <p:spPr>
          <a:xfrm>
            <a:off x="7284641" y="2923778"/>
            <a:ext cx="400050" cy="481012"/>
          </a:xfrm>
          <a:prstGeom prst="rect">
            <a:avLst/>
          </a:prstGeom>
          <a:noFill/>
          <a:ln/>
        </p:spPr>
        <p:txBody>
          <a:bodyPr wrap="square" lIns="25400" tIns="25400" rIns="25400" bIns="25400" rtlCol="0" anchor="t">
            <a:normAutofit/>
          </a:bodyPr>
          <a:lstStyle/>
          <a:p>
            <a:pPr algn="ctr" indent="0" marL="0">
              <a:lnSpc>
                <a:spcPct val="134135"/>
              </a:lnSpc>
              <a:buNone/>
            </a:pPr>
            <a:r>
              <a:rPr lang="en-US" sz="2250" dirty="0">
                <a:solidFill>
                  <a:srgbClr val="201E1C">
                    <a:alpha val="60000"/>
                  </a:srgbClr>
                </a:solidFill>
                <a:latin typeface="Arial" pitchFamily="34" charset="0"/>
                <a:ea typeface="Arial" pitchFamily="34" charset="-122"/>
                <a:cs typeface="Arial" pitchFamily="34" charset="-120"/>
              </a:rPr>
              <a:t>→</a:t>
            </a:r>
            <a:endParaRPr lang="en-US" sz="2250" dirty="0"/>
          </a:p>
        </p:txBody>
      </p:sp>
      <p:sp>
        <p:nvSpPr>
          <p:cNvPr id="14" name="Shape 12"/>
          <p:cNvSpPr/>
          <p:nvPr/>
        </p:nvSpPr>
        <p:spPr>
          <a:xfrm>
            <a:off x="7779941" y="2771378"/>
            <a:ext cx="2728020" cy="19050"/>
          </a:xfrm>
          <a:prstGeom prst="rect">
            <a:avLst/>
          </a:prstGeom>
          <a:solidFill>
            <a:srgbClr val="201E1E">
              <a:alpha val="40000"/>
            </a:srgbClr>
          </a:solidFill>
          <a:ln/>
        </p:spPr>
      </p:sp>
      <p:sp>
        <p:nvSpPr>
          <p:cNvPr id="15" name="Text 13"/>
          <p:cNvSpPr/>
          <p:nvPr/>
        </p:nvSpPr>
        <p:spPr>
          <a:xfrm>
            <a:off x="7779941" y="2961878"/>
            <a:ext cx="3000821" cy="366713"/>
          </a:xfrm>
          <a:prstGeom prst="rect">
            <a:avLst/>
          </a:prstGeom>
          <a:noFill/>
          <a:ln/>
        </p:spPr>
        <p:txBody>
          <a:bodyPr wrap="square" lIns="25400" tIns="25400" rIns="25400" bIns="25400" rtlCol="0" anchor="t">
            <a:normAutofit/>
          </a:bodyPr>
          <a:lstStyle/>
          <a:p>
            <a:pPr algn="l" indent="0" marL="0">
              <a:lnSpc>
                <a:spcPct val="80859"/>
              </a:lnSpc>
              <a:buNone/>
            </a:pPr>
            <a:r>
              <a:rPr lang="en-US" sz="2250" b="1" spc="-34" kern="0" dirty="0">
                <a:solidFill>
                  <a:srgbClr val="201E1D"/>
                </a:solidFill>
                <a:latin typeface="Arial" pitchFamily="34" charset="0"/>
                <a:ea typeface="Arial" pitchFamily="34" charset="-122"/>
                <a:cs typeface="Arial" pitchFamily="34" charset="-120"/>
              </a:rPr>
              <a:t>Modern Java</a:t>
            </a:r>
            <a:endParaRPr lang="en-US" sz="2250" dirty="0"/>
          </a:p>
        </p:txBody>
      </p:sp>
      <p:sp>
        <p:nvSpPr>
          <p:cNvPr id="16" name="Text 14"/>
          <p:cNvSpPr/>
          <p:nvPr/>
        </p:nvSpPr>
        <p:spPr>
          <a:xfrm>
            <a:off x="7779941" y="3404791"/>
            <a:ext cx="2809860" cy="628650"/>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compiles · passes the tests you wrote</a:t>
            </a:r>
            <a:endParaRPr lang="en-US" sz="1800" dirty="0"/>
          </a:p>
        </p:txBody>
      </p:sp>
      <p:sp>
        <p:nvSpPr>
          <p:cNvPr id="17" name="Text 15"/>
          <p:cNvSpPr/>
          <p:nvPr/>
        </p:nvSpPr>
        <p:spPr>
          <a:xfrm>
            <a:off x="10603211" y="2923778"/>
            <a:ext cx="400050" cy="481012"/>
          </a:xfrm>
          <a:prstGeom prst="rect">
            <a:avLst/>
          </a:prstGeom>
          <a:noFill/>
          <a:ln/>
        </p:spPr>
        <p:txBody>
          <a:bodyPr wrap="square" lIns="25400" tIns="25400" rIns="25400" bIns="25400" rtlCol="0" anchor="t">
            <a:normAutofit/>
          </a:bodyPr>
          <a:lstStyle/>
          <a:p>
            <a:pPr algn="ctr" indent="0" marL="0">
              <a:lnSpc>
                <a:spcPct val="134135"/>
              </a:lnSpc>
              <a:buNone/>
            </a:pPr>
            <a:r>
              <a:rPr lang="en-US" sz="2250" dirty="0">
                <a:solidFill>
                  <a:srgbClr val="201E1C">
                    <a:alpha val="60000"/>
                  </a:srgbClr>
                </a:solidFill>
                <a:latin typeface="Arial" pitchFamily="34" charset="0"/>
                <a:ea typeface="Arial" pitchFamily="34" charset="-122"/>
                <a:cs typeface="Arial" pitchFamily="34" charset="-120"/>
              </a:rPr>
              <a:t>→</a:t>
            </a:r>
            <a:endParaRPr lang="en-US" sz="2250" dirty="0"/>
          </a:p>
        </p:txBody>
      </p:sp>
      <p:sp>
        <p:nvSpPr>
          <p:cNvPr id="18" name="Shape 16"/>
          <p:cNvSpPr/>
          <p:nvPr/>
        </p:nvSpPr>
        <p:spPr>
          <a:xfrm>
            <a:off x="11098511" y="2771378"/>
            <a:ext cx="3409950" cy="19050"/>
          </a:xfrm>
          <a:prstGeom prst="rect">
            <a:avLst/>
          </a:prstGeom>
          <a:solidFill>
            <a:srgbClr val="EC3013"/>
          </a:solidFill>
          <a:ln/>
        </p:spPr>
      </p:sp>
      <p:sp>
        <p:nvSpPr>
          <p:cNvPr id="19" name="Text 17"/>
          <p:cNvSpPr/>
          <p:nvPr/>
        </p:nvSpPr>
        <p:spPr>
          <a:xfrm>
            <a:off x="11098511" y="2961878"/>
            <a:ext cx="3750945" cy="366713"/>
          </a:xfrm>
          <a:prstGeom prst="rect">
            <a:avLst/>
          </a:prstGeom>
          <a:noFill/>
          <a:ln/>
        </p:spPr>
        <p:txBody>
          <a:bodyPr wrap="square" lIns="25400" tIns="25400" rIns="25400" bIns="25400" rtlCol="0" anchor="t">
            <a:normAutofit/>
          </a:bodyPr>
          <a:lstStyle/>
          <a:p>
            <a:pPr algn="l" indent="0" marL="0">
              <a:lnSpc>
                <a:spcPct val="80859"/>
              </a:lnSpc>
              <a:buNone/>
            </a:pPr>
            <a:r>
              <a:rPr lang="en-US" sz="2250" b="1" spc="-34" kern="0" dirty="0">
                <a:solidFill>
                  <a:srgbClr val="EC3013"/>
                </a:solidFill>
                <a:latin typeface="Arial" pitchFamily="34" charset="0"/>
                <a:ea typeface="Arial" pitchFamily="34" charset="-122"/>
                <a:cs typeface="Arial" pitchFamily="34" charset="-120"/>
              </a:rPr>
              <a:t>Verification</a:t>
            </a:r>
            <a:endParaRPr lang="en-US" sz="2250" dirty="0"/>
          </a:p>
        </p:txBody>
      </p:sp>
      <p:sp>
        <p:nvSpPr>
          <p:cNvPr id="20" name="Text 18"/>
          <p:cNvSpPr/>
          <p:nvPr/>
        </p:nvSpPr>
        <p:spPr>
          <a:xfrm>
            <a:off x="11098511" y="3404791"/>
            <a:ext cx="3512249" cy="92392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AE1800"/>
                </a:solidFill>
                <a:latin typeface="Arial" pitchFamily="34" charset="0"/>
                <a:ea typeface="Arial" pitchFamily="34" charset="-122"/>
                <a:cs typeface="Arial" pitchFamily="34" charset="-120"/>
              </a:rPr>
              <a:t>Can anyone prove the new program behaves identically to the old one?</a:t>
            </a:r>
            <a:endParaRPr lang="en-US" sz="1800" dirty="0"/>
          </a:p>
        </p:txBody>
      </p:sp>
      <p:sp>
        <p:nvSpPr>
          <p:cNvPr id="21" name="Text 19"/>
          <p:cNvSpPr/>
          <p:nvPr/>
        </p:nvSpPr>
        <p:spPr>
          <a:xfrm>
            <a:off x="14603711" y="2923778"/>
            <a:ext cx="400050" cy="481012"/>
          </a:xfrm>
          <a:prstGeom prst="rect">
            <a:avLst/>
          </a:prstGeom>
          <a:noFill/>
          <a:ln/>
        </p:spPr>
        <p:txBody>
          <a:bodyPr wrap="square" lIns="25400" tIns="25400" rIns="25400" bIns="25400" rtlCol="0" anchor="t">
            <a:normAutofit/>
          </a:bodyPr>
          <a:lstStyle/>
          <a:p>
            <a:pPr algn="ctr" indent="0" marL="0">
              <a:lnSpc>
                <a:spcPct val="134135"/>
              </a:lnSpc>
              <a:buNone/>
            </a:pPr>
            <a:r>
              <a:rPr lang="en-US" sz="2250" dirty="0">
                <a:solidFill>
                  <a:srgbClr val="201E1C">
                    <a:alpha val="60000"/>
                  </a:srgbClr>
                </a:solidFill>
                <a:latin typeface="Arial" pitchFamily="34" charset="0"/>
                <a:ea typeface="Arial" pitchFamily="34" charset="-122"/>
                <a:cs typeface="Arial" pitchFamily="34" charset="-120"/>
              </a:rPr>
              <a:t>→</a:t>
            </a:r>
            <a:endParaRPr lang="en-US" sz="2250" dirty="0"/>
          </a:p>
        </p:txBody>
      </p:sp>
      <p:sp>
        <p:nvSpPr>
          <p:cNvPr id="22" name="Shape 20"/>
          <p:cNvSpPr/>
          <p:nvPr/>
        </p:nvSpPr>
        <p:spPr>
          <a:xfrm>
            <a:off x="15099011" y="2771378"/>
            <a:ext cx="2045990" cy="19050"/>
          </a:xfrm>
          <a:prstGeom prst="rect">
            <a:avLst/>
          </a:prstGeom>
          <a:solidFill>
            <a:srgbClr val="201E1E">
              <a:alpha val="40000"/>
            </a:srgbClr>
          </a:solidFill>
          <a:ln/>
        </p:spPr>
      </p:sp>
      <p:sp>
        <p:nvSpPr>
          <p:cNvPr id="23" name="Text 21"/>
          <p:cNvSpPr/>
          <p:nvPr/>
        </p:nvSpPr>
        <p:spPr>
          <a:xfrm>
            <a:off x="15099011" y="2961878"/>
            <a:ext cx="2250589" cy="366713"/>
          </a:xfrm>
          <a:prstGeom prst="rect">
            <a:avLst/>
          </a:prstGeom>
          <a:noFill/>
          <a:ln/>
        </p:spPr>
        <p:txBody>
          <a:bodyPr wrap="square" lIns="25400" tIns="25400" rIns="25400" bIns="25400" rtlCol="0" anchor="t">
            <a:normAutofit/>
          </a:bodyPr>
          <a:lstStyle/>
          <a:p>
            <a:pPr algn="l" indent="0" marL="0">
              <a:lnSpc>
                <a:spcPct val="80859"/>
              </a:lnSpc>
              <a:buNone/>
            </a:pPr>
            <a:r>
              <a:rPr lang="en-US" sz="2250" b="1" spc="-34" kern="0" dirty="0">
                <a:solidFill>
                  <a:srgbClr val="201E1D"/>
                </a:solidFill>
                <a:latin typeface="Arial" pitchFamily="34" charset="0"/>
                <a:ea typeface="Arial" pitchFamily="34" charset="-122"/>
                <a:cs typeface="Arial" pitchFamily="34" charset="-120"/>
              </a:rPr>
              <a:t>Production</a:t>
            </a:r>
            <a:endParaRPr lang="en-US" sz="2250" dirty="0"/>
          </a:p>
        </p:txBody>
      </p:sp>
      <p:sp>
        <p:nvSpPr>
          <p:cNvPr id="24" name="Text 22"/>
          <p:cNvSpPr/>
          <p:nvPr/>
        </p:nvSpPr>
        <p:spPr>
          <a:xfrm>
            <a:off x="15099011" y="3404791"/>
            <a:ext cx="2250589"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never reached</a:t>
            </a:r>
            <a:endParaRPr lang="en-US" sz="1800" dirty="0"/>
          </a:p>
        </p:txBody>
      </p:sp>
      <p:sp>
        <p:nvSpPr>
          <p:cNvPr id="25" name="Text 23"/>
          <p:cNvSpPr/>
          <p:nvPr/>
        </p:nvSpPr>
        <p:spPr>
          <a:xfrm>
            <a:off x="1143000" y="4595416"/>
            <a:ext cx="9275553" cy="704850"/>
          </a:xfrm>
          <a:prstGeom prst="rect">
            <a:avLst/>
          </a:prstGeom>
          <a:noFill/>
          <a:ln/>
        </p:spPr>
        <p:txBody>
          <a:bodyPr wrap="square" lIns="25400" tIns="25400" rIns="25400" bIns="25400" rtlCol="0" anchor="t">
            <a:normAutofit/>
          </a:bodyPr>
          <a:lstStyle/>
          <a:p>
            <a:pPr algn="l" indent="0" marL="0">
              <a:lnSpc>
                <a:spcPct val="122093"/>
              </a:lnSpc>
              <a:buNone/>
            </a:pPr>
            <a:r>
              <a:rPr lang="en-US" sz="1875" dirty="0">
                <a:solidFill>
                  <a:srgbClr val="201E1C">
                    <a:alpha val="60000"/>
                  </a:srgbClr>
                </a:solidFill>
                <a:latin typeface="Arial" pitchFamily="34" charset="0"/>
                <a:ea typeface="Arial" pitchFamily="34" charset="-122"/>
                <a:cs typeface="Arial" pitchFamily="34" charset="-120"/>
              </a:rPr>
              <a:t>No specification was ever written — the rules live only inside the code. Asking an AI to explain them looks excellent, and a meaningful share of the output is wrong:</a:t>
            </a:r>
            <a:endParaRPr lang="en-US" sz="1875" dirty="0"/>
          </a:p>
        </p:txBody>
      </p:sp>
      <p:sp>
        <p:nvSpPr>
          <p:cNvPr id="26" name="Shape 24"/>
          <p:cNvSpPr/>
          <p:nvPr/>
        </p:nvSpPr>
        <p:spPr>
          <a:xfrm>
            <a:off x="1143000" y="5490766"/>
            <a:ext cx="5029200" cy="19050"/>
          </a:xfrm>
          <a:prstGeom prst="rect">
            <a:avLst/>
          </a:prstGeom>
          <a:solidFill>
            <a:srgbClr val="201E1E">
              <a:alpha val="40000"/>
            </a:srgbClr>
          </a:solidFill>
          <a:ln/>
        </p:spPr>
      </p:sp>
      <p:sp>
        <p:nvSpPr>
          <p:cNvPr id="27" name="Text 25"/>
          <p:cNvSpPr/>
          <p:nvPr/>
        </p:nvSpPr>
        <p:spPr>
          <a:xfrm>
            <a:off x="1143000" y="5719366"/>
            <a:ext cx="5532120" cy="838200"/>
          </a:xfrm>
          <a:prstGeom prst="rect">
            <a:avLst/>
          </a:prstGeom>
          <a:noFill/>
          <a:ln/>
        </p:spPr>
        <p:txBody>
          <a:bodyPr wrap="square" lIns="25400" tIns="25400" rIns="25400" bIns="25400" rtlCol="0" anchor="t">
            <a:normAutofit/>
          </a:bodyPr>
          <a:lstStyle/>
          <a:p>
            <a:pPr algn="l" indent="0" marL="0">
              <a:lnSpc>
                <a:spcPct val="70787"/>
              </a:lnSpc>
              <a:buNone/>
            </a:pPr>
            <a:r>
              <a:rPr lang="en-US" sz="6300" b="1" spc="-126" kern="0" dirty="0">
                <a:solidFill>
                  <a:srgbClr val="201E1D"/>
                </a:solidFill>
                <a:latin typeface="Arial" pitchFamily="34" charset="0"/>
                <a:ea typeface="Arial" pitchFamily="34" charset="-122"/>
                <a:cs typeface="Arial" pitchFamily="34" charset="-120"/>
              </a:rPr>
              <a:t>62%</a:t>
            </a:r>
            <a:endParaRPr lang="en-US" sz="6300" dirty="0"/>
          </a:p>
        </p:txBody>
      </p:sp>
      <p:sp>
        <p:nvSpPr>
          <p:cNvPr id="28" name="Text 26"/>
          <p:cNvSpPr/>
          <p:nvPr/>
        </p:nvSpPr>
        <p:spPr>
          <a:xfrm>
            <a:off x="1143000" y="6652816"/>
            <a:ext cx="5180076" cy="666750"/>
          </a:xfrm>
          <a:prstGeom prst="rect">
            <a:avLst/>
          </a:prstGeom>
          <a:noFill/>
          <a:ln/>
        </p:spPr>
        <p:txBody>
          <a:bodyPr wrap="square" lIns="25400" tIns="25400" rIns="25400" bIns="25400" rtlCol="0" anchor="t">
            <a:normAutofit/>
          </a:bodyPr>
          <a:lstStyle/>
          <a:p>
            <a:pPr algn="l" indent="0" marL="0">
              <a:lnSpc>
                <a:spcPct val="115116"/>
              </a:lnSpc>
              <a:buNone/>
            </a:pPr>
            <a:r>
              <a:rPr lang="en-US" sz="1875" dirty="0">
                <a:solidFill>
                  <a:srgbClr val="201E1C">
                    <a:alpha val="60000"/>
                  </a:srgbClr>
                </a:solidFill>
                <a:latin typeface="Arial" pitchFamily="34" charset="0"/>
                <a:ea typeface="Arial" pitchFamily="34" charset="-122"/>
                <a:cs typeface="Arial" pitchFamily="34" charset="-120"/>
              </a:rPr>
              <a:t>precision of the best published COBOL rule extractor</a:t>
            </a:r>
            <a:endParaRPr lang="en-US" sz="1875" dirty="0"/>
          </a:p>
        </p:txBody>
      </p:sp>
      <p:sp>
        <p:nvSpPr>
          <p:cNvPr id="29" name="Text 27"/>
          <p:cNvSpPr/>
          <p:nvPr/>
        </p:nvSpPr>
        <p:spPr>
          <a:xfrm>
            <a:off x="1143000" y="7395766"/>
            <a:ext cx="5532120" cy="323850"/>
          </a:xfrm>
          <a:prstGeom prst="rect">
            <a:avLst/>
          </a:prstGeom>
          <a:noFill/>
          <a:ln/>
        </p:spPr>
        <p:txBody>
          <a:bodyPr wrap="square" lIns="25400" tIns="25400" rIns="25400" bIns="25400" rtlCol="0" anchor="t">
            <a:normAutofit/>
          </a:bodyPr>
          <a:lstStyle/>
          <a:p>
            <a:pPr algn="l" indent="0" marL="0">
              <a:lnSpc>
                <a:spcPct val="107143"/>
              </a:lnSpc>
              <a:buNone/>
            </a:pPr>
            <a:r>
              <a:rPr lang="en-US" sz="1800" dirty="0">
                <a:solidFill>
                  <a:srgbClr val="AE1800"/>
                </a:solidFill>
                <a:latin typeface="Arial" pitchFamily="34" charset="0"/>
                <a:ea typeface="Arial" pitchFamily="34" charset="-122"/>
                <a:cs typeface="Arial" pitchFamily="34" charset="-120"/>
              </a:rPr>
              <a:t>A-COBREX, ICSE 2025</a:t>
            </a:r>
            <a:endParaRPr lang="en-US" sz="1800" dirty="0"/>
          </a:p>
        </p:txBody>
      </p:sp>
      <p:sp>
        <p:nvSpPr>
          <p:cNvPr id="30" name="Shape 28"/>
          <p:cNvSpPr/>
          <p:nvPr/>
        </p:nvSpPr>
        <p:spPr>
          <a:xfrm>
            <a:off x="6629400" y="5490766"/>
            <a:ext cx="5029200" cy="19050"/>
          </a:xfrm>
          <a:prstGeom prst="rect">
            <a:avLst/>
          </a:prstGeom>
          <a:solidFill>
            <a:srgbClr val="201E1E">
              <a:alpha val="40000"/>
            </a:srgbClr>
          </a:solidFill>
          <a:ln/>
        </p:spPr>
      </p:sp>
      <p:sp>
        <p:nvSpPr>
          <p:cNvPr id="31" name="Text 29"/>
          <p:cNvSpPr/>
          <p:nvPr/>
        </p:nvSpPr>
        <p:spPr>
          <a:xfrm>
            <a:off x="6629400" y="5719366"/>
            <a:ext cx="5532120" cy="838200"/>
          </a:xfrm>
          <a:prstGeom prst="rect">
            <a:avLst/>
          </a:prstGeom>
          <a:noFill/>
          <a:ln/>
        </p:spPr>
        <p:txBody>
          <a:bodyPr wrap="square" lIns="25400" tIns="25400" rIns="25400" bIns="25400" rtlCol="0" anchor="t">
            <a:normAutofit/>
          </a:bodyPr>
          <a:lstStyle/>
          <a:p>
            <a:pPr algn="l" indent="0" marL="0">
              <a:lnSpc>
                <a:spcPct val="70787"/>
              </a:lnSpc>
              <a:buNone/>
            </a:pPr>
            <a:r>
              <a:rPr lang="en-US" sz="6300" b="1" spc="-126" kern="0" dirty="0">
                <a:solidFill>
                  <a:srgbClr val="201E1D"/>
                </a:solidFill>
                <a:latin typeface="Arial" pitchFamily="34" charset="0"/>
                <a:ea typeface="Arial" pitchFamily="34" charset="-122"/>
                <a:cs typeface="Arial" pitchFamily="34" charset="-120"/>
              </a:rPr>
              <a:t>91.2%</a:t>
            </a:r>
            <a:endParaRPr lang="en-US" sz="6300" dirty="0"/>
          </a:p>
        </p:txBody>
      </p:sp>
      <p:sp>
        <p:nvSpPr>
          <p:cNvPr id="32" name="Text 30"/>
          <p:cNvSpPr/>
          <p:nvPr/>
        </p:nvSpPr>
        <p:spPr>
          <a:xfrm>
            <a:off x="6629400" y="6652816"/>
            <a:ext cx="5180076" cy="666750"/>
          </a:xfrm>
          <a:prstGeom prst="rect">
            <a:avLst/>
          </a:prstGeom>
          <a:noFill/>
          <a:ln/>
        </p:spPr>
        <p:txBody>
          <a:bodyPr wrap="square" lIns="25400" tIns="25400" rIns="25400" bIns="25400" rtlCol="0" anchor="t">
            <a:normAutofit/>
          </a:bodyPr>
          <a:lstStyle/>
          <a:p>
            <a:pPr algn="l" indent="0" marL="0">
              <a:lnSpc>
                <a:spcPct val="115116"/>
              </a:lnSpc>
              <a:buNone/>
            </a:pPr>
            <a:r>
              <a:rPr lang="en-US" sz="1875" dirty="0">
                <a:solidFill>
                  <a:srgbClr val="201E1C">
                    <a:alpha val="60000"/>
                  </a:srgbClr>
                </a:solidFill>
                <a:latin typeface="Arial" pitchFamily="34" charset="0"/>
                <a:ea typeface="Arial" pitchFamily="34" charset="-122"/>
                <a:cs typeface="Arial" pitchFamily="34" charset="-120"/>
              </a:rPr>
              <a:t>of business rules successfully extracted by a 2026 system</a:t>
            </a:r>
            <a:endParaRPr lang="en-US" sz="1875" dirty="0"/>
          </a:p>
        </p:txBody>
      </p:sp>
      <p:sp>
        <p:nvSpPr>
          <p:cNvPr id="33" name="Text 31"/>
          <p:cNvSpPr/>
          <p:nvPr/>
        </p:nvSpPr>
        <p:spPr>
          <a:xfrm>
            <a:off x="6629400" y="7395766"/>
            <a:ext cx="5532120" cy="323850"/>
          </a:xfrm>
          <a:prstGeom prst="rect">
            <a:avLst/>
          </a:prstGeom>
          <a:noFill/>
          <a:ln/>
        </p:spPr>
        <p:txBody>
          <a:bodyPr wrap="square" lIns="25400" tIns="25400" rIns="25400" bIns="25400" rtlCol="0" anchor="t">
            <a:normAutofit/>
          </a:bodyPr>
          <a:lstStyle/>
          <a:p>
            <a:pPr algn="l" indent="0" marL="0">
              <a:lnSpc>
                <a:spcPct val="107143"/>
              </a:lnSpc>
              <a:buNone/>
            </a:pPr>
            <a:r>
              <a:rPr lang="en-US" sz="1800" dirty="0">
                <a:solidFill>
                  <a:srgbClr val="AE1800"/>
                </a:solidFill>
                <a:latin typeface="Arial" pitchFamily="34" charset="0"/>
                <a:ea typeface="Arial" pitchFamily="34" charset="-122"/>
                <a:cs typeface="Arial" pitchFamily="34" charset="-120"/>
              </a:rPr>
              <a:t>AgentModernize, arXiv 2605.17535</a:t>
            </a:r>
            <a:endParaRPr lang="en-US" sz="1800" dirty="0"/>
          </a:p>
        </p:txBody>
      </p:sp>
      <p:sp>
        <p:nvSpPr>
          <p:cNvPr id="34" name="Shape 32"/>
          <p:cNvSpPr/>
          <p:nvPr/>
        </p:nvSpPr>
        <p:spPr>
          <a:xfrm>
            <a:off x="12115800" y="5490766"/>
            <a:ext cx="5029200" cy="19050"/>
          </a:xfrm>
          <a:prstGeom prst="rect">
            <a:avLst/>
          </a:prstGeom>
          <a:solidFill>
            <a:srgbClr val="201E1E">
              <a:alpha val="40000"/>
            </a:srgbClr>
          </a:solidFill>
          <a:ln/>
        </p:spPr>
      </p:sp>
      <p:sp>
        <p:nvSpPr>
          <p:cNvPr id="35" name="Text 33"/>
          <p:cNvSpPr/>
          <p:nvPr/>
        </p:nvSpPr>
        <p:spPr>
          <a:xfrm>
            <a:off x="12115800" y="5719366"/>
            <a:ext cx="5532120" cy="838200"/>
          </a:xfrm>
          <a:prstGeom prst="rect">
            <a:avLst/>
          </a:prstGeom>
          <a:noFill/>
          <a:ln/>
        </p:spPr>
        <p:txBody>
          <a:bodyPr wrap="square" lIns="25400" tIns="25400" rIns="25400" bIns="25400" rtlCol="0" anchor="t">
            <a:normAutofit/>
          </a:bodyPr>
          <a:lstStyle/>
          <a:p>
            <a:pPr algn="l" indent="0" marL="0">
              <a:lnSpc>
                <a:spcPct val="70787"/>
              </a:lnSpc>
              <a:buNone/>
            </a:pPr>
            <a:r>
              <a:rPr lang="en-US" sz="6300" b="1" spc="-126" kern="0" dirty="0">
                <a:solidFill>
                  <a:srgbClr val="EC3013"/>
                </a:solidFill>
                <a:latin typeface="Arial" pitchFamily="34" charset="0"/>
                <a:ea typeface="Arial" pitchFamily="34" charset="-122"/>
                <a:cs typeface="Arial" pitchFamily="34" charset="-120"/>
              </a:rPr>
              <a:t>&lt;20%</a:t>
            </a:r>
            <a:endParaRPr lang="en-US" sz="6300" dirty="0"/>
          </a:p>
        </p:txBody>
      </p:sp>
      <p:sp>
        <p:nvSpPr>
          <p:cNvPr id="36" name="Text 34"/>
          <p:cNvSpPr/>
          <p:nvPr/>
        </p:nvSpPr>
        <p:spPr>
          <a:xfrm>
            <a:off x="12115800" y="6652816"/>
            <a:ext cx="5180076" cy="666750"/>
          </a:xfrm>
          <a:prstGeom prst="rect">
            <a:avLst/>
          </a:prstGeom>
          <a:noFill/>
          <a:ln/>
        </p:spPr>
        <p:txBody>
          <a:bodyPr wrap="square" lIns="25400" tIns="25400" rIns="25400" bIns="25400" rtlCol="0" anchor="t">
            <a:normAutofit/>
          </a:bodyPr>
          <a:lstStyle/>
          <a:p>
            <a:pPr algn="l" indent="0" marL="0">
              <a:lnSpc>
                <a:spcPct val="115116"/>
              </a:lnSpc>
              <a:buNone/>
            </a:pPr>
            <a:r>
              <a:rPr lang="en-US" sz="1875" dirty="0">
                <a:solidFill>
                  <a:srgbClr val="201E1C">
                    <a:alpha val="60000"/>
                  </a:srgbClr>
                </a:solidFill>
                <a:latin typeface="Arial" pitchFamily="34" charset="0"/>
                <a:ea typeface="Arial" pitchFamily="34" charset="-122"/>
                <a:cs typeface="Arial" pitchFamily="34" charset="-120"/>
              </a:rPr>
              <a:t>behavioural equivalence reached by that same system</a:t>
            </a:r>
            <a:endParaRPr lang="en-US" sz="1875" dirty="0"/>
          </a:p>
        </p:txBody>
      </p:sp>
      <p:sp>
        <p:nvSpPr>
          <p:cNvPr id="37" name="Text 35"/>
          <p:cNvSpPr/>
          <p:nvPr/>
        </p:nvSpPr>
        <p:spPr>
          <a:xfrm>
            <a:off x="12115800" y="7395766"/>
            <a:ext cx="5532120" cy="323850"/>
          </a:xfrm>
          <a:prstGeom prst="rect">
            <a:avLst/>
          </a:prstGeom>
          <a:noFill/>
          <a:ln/>
        </p:spPr>
        <p:txBody>
          <a:bodyPr wrap="square" lIns="25400" tIns="25400" rIns="25400" bIns="25400" rtlCol="0" anchor="t">
            <a:normAutofit/>
          </a:bodyPr>
          <a:lstStyle/>
          <a:p>
            <a:pPr algn="l" indent="0" marL="0">
              <a:lnSpc>
                <a:spcPct val="107143"/>
              </a:lnSpc>
              <a:buNone/>
            </a:pPr>
            <a:r>
              <a:rPr lang="en-US" sz="1800" dirty="0">
                <a:solidFill>
                  <a:srgbClr val="AE1800"/>
                </a:solidFill>
                <a:latin typeface="Arial" pitchFamily="34" charset="0"/>
                <a:ea typeface="Arial" pitchFamily="34" charset="-122"/>
                <a:cs typeface="Arial" pitchFamily="34" charset="-120"/>
              </a:rPr>
              <a:t>baselines scored 0.0%</a:t>
            </a:r>
            <a:endParaRPr lang="en-US" sz="1800" dirty="0"/>
          </a:p>
        </p:txBody>
      </p:sp>
      <p:sp>
        <p:nvSpPr>
          <p:cNvPr id="38" name="Shape 36"/>
          <p:cNvSpPr/>
          <p:nvPr/>
        </p:nvSpPr>
        <p:spPr>
          <a:xfrm>
            <a:off x="1143000" y="7910116"/>
            <a:ext cx="11811000" cy="19050"/>
          </a:xfrm>
          <a:prstGeom prst="rect">
            <a:avLst/>
          </a:prstGeom>
          <a:solidFill>
            <a:srgbClr val="201E1E">
              <a:alpha val="40000"/>
            </a:srgbClr>
          </a:solidFill>
          <a:ln/>
        </p:spPr>
      </p:sp>
      <p:sp>
        <p:nvSpPr>
          <p:cNvPr id="39" name="Text 37"/>
          <p:cNvSpPr/>
          <p:nvPr/>
        </p:nvSpPr>
        <p:spPr>
          <a:xfrm>
            <a:off x="1143000" y="8100616"/>
            <a:ext cx="12992100" cy="336748"/>
          </a:xfrm>
          <a:prstGeom prst="rect">
            <a:avLst/>
          </a:prstGeom>
          <a:noFill/>
          <a:ln/>
        </p:spPr>
        <p:txBody>
          <a:bodyPr wrap="square" lIns="25400" tIns="25400" rIns="25400" bIns="25400" rtlCol="0" anchor="t">
            <a:normAutofit/>
          </a:bodyPr>
          <a:lstStyle/>
          <a:p>
            <a:pPr algn="l" indent="0" marL="0">
              <a:lnSpc>
                <a:spcPct val="79729"/>
              </a:lnSpc>
              <a:buNone/>
            </a:pPr>
            <a:r>
              <a:rPr lang="en-US" sz="2100" b="1" spc="-31" kern="0" dirty="0">
                <a:solidFill>
                  <a:srgbClr val="201E1D"/>
                </a:solidFill>
                <a:latin typeface="Arial" pitchFamily="34" charset="0"/>
                <a:ea typeface="Arial" pitchFamily="34" charset="-122"/>
                <a:cs typeface="Arial" pitchFamily="34" charset="-120"/>
              </a:rPr>
              <a:t>Extraction works. Behavioural equivalence does not follow from it. </a:t>
            </a:r>
            <a:pPr algn="l" indent="0" marL="0">
              <a:lnSpc>
                <a:spcPct val="79729"/>
              </a:lnSpc>
              <a:buNone/>
            </a:pPr>
            <a:r>
              <a:rPr lang="en-US" sz="2100" b="1" spc="-31" kern="0" dirty="0">
                <a:solidFill>
                  <a:srgbClr val="AE1800"/>
                </a:solidFill>
                <a:latin typeface="Arial" pitchFamily="34" charset="0"/>
                <a:ea typeface="Arial" pitchFamily="34" charset="-122"/>
                <a:cs typeface="Arial" pitchFamily="34" charset="-120"/>
              </a:rPr>
              <a:t>Verification has to be the product.</a:t>
            </a:r>
            <a:endParaRPr lang="en-US" sz="2100" dirty="0"/>
          </a:p>
        </p:txBody>
      </p:sp>
      <p:sp>
        <p:nvSpPr>
          <p:cNvPr id="40" name="Text 38"/>
          <p:cNvSpPr/>
          <p:nvPr/>
        </p:nvSpPr>
        <p:spPr>
          <a:xfrm>
            <a:off x="1143000" y="9029700"/>
            <a:ext cx="16482060" cy="685800"/>
          </a:xfrm>
          <a:prstGeom prst="rect">
            <a:avLst/>
          </a:prstGeom>
          <a:noFill/>
          <a:ln/>
        </p:spPr>
        <p:txBody>
          <a:bodyPr wrap="square" lIns="25400" tIns="25400" rIns="25400" bIns="25400" rtlCol="0" anchor="t">
            <a:normAutofit/>
          </a:bodyPr>
          <a:lstStyle/>
          <a:p>
            <a:pPr algn="l" indent="0" marL="0">
              <a:lnSpc>
                <a:spcPct val="121429"/>
              </a:lnSpc>
              <a:buNone/>
            </a:pPr>
            <a:r>
              <a:rPr lang="en-US" sz="1800" dirty="0">
                <a:solidFill>
                  <a:srgbClr val="201E1C">
                    <a:alpha val="60000"/>
                  </a:srgbClr>
                </a:solidFill>
                <a:latin typeface="Arial" pitchFamily="34" charset="0"/>
                <a:ea typeface="Arial" pitchFamily="34" charset="-122"/>
                <a:cs typeface="Arial" pitchFamily="34" charset="-120"/>
              </a:rPr>
              <a:t>Even IBM Research, on its own watsonx Code Assistant for Z: “the resulting code cannot be trusted to correctly translate the original code” (arXiv:2504.10548). If the vendor cannot trust its own output without validation, no bank can.</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txBody>
          <a:bodyPr/>
          <a:p/>
        </p:txBody>
      </p:sp>
      <p:sp>
        <p:nvSpPr>
          <p:cNvPr id="3" name="Text 1"/>
          <p:cNvSpPr/>
          <p:nvPr/>
        </p:nvSpPr>
        <p:spPr>
          <a:xfrm>
            <a:off x="1143000" y="609600"/>
            <a:ext cx="4786908"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TARGET USERS &amp; STAKEHOLDERS</a:t>
            </a:r>
            <a:endParaRPr lang="en-US" sz="1800" dirty="0"/>
          </a:p>
        </p:txBody>
      </p:sp>
      <p:sp>
        <p:nvSpPr>
          <p:cNvPr id="4" name="Text 2"/>
          <p:cNvSpPr/>
          <p:nvPr/>
        </p:nvSpPr>
        <p:spPr>
          <a:xfrm>
            <a:off x="16848733" y="609600"/>
            <a:ext cx="372467"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201E1C">
                    <a:alpha val="60000"/>
                  </a:srgbClr>
                </a:solidFill>
                <a:latin typeface="Arial" pitchFamily="34" charset="0"/>
                <a:ea typeface="Arial" pitchFamily="34" charset="-122"/>
                <a:cs typeface="Arial" pitchFamily="34" charset="-120"/>
              </a:rPr>
              <a:t>04</a:t>
            </a:r>
            <a:endParaRPr lang="en-US" sz="1800" dirty="0"/>
          </a:p>
        </p:txBody>
      </p:sp>
      <p:sp>
        <p:nvSpPr>
          <p:cNvPr id="5" name="Text 3"/>
          <p:cNvSpPr/>
          <p:nvPr/>
        </p:nvSpPr>
        <p:spPr>
          <a:xfrm>
            <a:off x="1116509" y="1790700"/>
            <a:ext cx="17631341" cy="675878"/>
          </a:xfrm>
          <a:prstGeom prst="rect">
            <a:avLst/>
          </a:prstGeom>
          <a:noFill/>
          <a:ln/>
        </p:spPr>
        <p:txBody>
          <a:bodyPr wrap="square" lIns="25400" tIns="25400" rIns="25400" bIns="25400" rtlCol="0" anchor="t">
            <a:normAutofit/>
          </a:bodyPr>
          <a:lstStyle/>
          <a:p>
            <a:pPr algn="l" indent="0" marL="0">
              <a:lnSpc>
                <a:spcPct val="76672"/>
              </a:lnSpc>
              <a:buNone/>
            </a:pPr>
            <a:r>
              <a:rPr lang="en-US" sz="4650" b="1" spc="-70" kern="0" dirty="0">
                <a:solidFill>
                  <a:srgbClr val="201E1D"/>
                </a:solidFill>
                <a:latin typeface="Arial" pitchFamily="34" charset="0"/>
                <a:ea typeface="Arial" pitchFamily="34" charset="-122"/>
                <a:cs typeface="Arial" pitchFamily="34" charset="-120"/>
              </a:rPr>
              <a:t>Who is stuck, and what they are stuck on</a:t>
            </a:r>
            <a:endParaRPr lang="en-US" sz="4650" dirty="0"/>
          </a:p>
        </p:txBody>
      </p:sp>
      <p:sp>
        <p:nvSpPr>
          <p:cNvPr id="6" name="Shape 4"/>
          <p:cNvSpPr/>
          <p:nvPr/>
        </p:nvSpPr>
        <p:spPr>
          <a:xfrm>
            <a:off x="1143000" y="2847578"/>
            <a:ext cx="3657600" cy="19050"/>
          </a:xfrm>
          <a:prstGeom prst="rect">
            <a:avLst/>
          </a:prstGeom>
          <a:solidFill>
            <a:srgbClr val="201E1E">
              <a:alpha val="40000"/>
            </a:srgbClr>
          </a:solidFill>
          <a:ln/>
        </p:spPr>
        <p:txBody>
          <a:bodyPr/>
          <a:p/>
        </p:txBody>
      </p:sp>
      <p:sp>
        <p:nvSpPr>
          <p:cNvPr id="7" name="Text 5"/>
          <p:cNvSpPr/>
          <p:nvPr/>
        </p:nvSpPr>
        <p:spPr>
          <a:xfrm>
            <a:off x="1143000" y="3038078"/>
            <a:ext cx="4023360" cy="344785"/>
          </a:xfrm>
          <a:prstGeom prst="rect">
            <a:avLst/>
          </a:prstGeom>
          <a:noFill/>
          <a:ln/>
        </p:spPr>
        <p:txBody>
          <a:bodyPr wrap="square" lIns="25400" tIns="25400" rIns="25400" bIns="25400" rtlCol="0" anchor="t">
            <a:normAutofit/>
          </a:bodyPr>
          <a:lstStyle/>
          <a:p>
            <a:pPr algn="l" indent="0" marL="0">
              <a:lnSpc>
                <a:spcPct val="81864"/>
              </a:lnSpc>
              <a:buNone/>
            </a:pPr>
            <a:r>
              <a:rPr lang="en-US" sz="2100" b="1" spc="-31" kern="0" dirty="0">
                <a:solidFill>
                  <a:srgbClr val="201E1D"/>
                </a:solidFill>
                <a:latin typeface="Arial" pitchFamily="34" charset="0"/>
                <a:ea typeface="Arial" pitchFamily="34" charset="-122"/>
                <a:cs typeface="Arial" pitchFamily="34" charset="-120"/>
              </a:rPr>
              <a:t>Bank CIO / core banking head</a:t>
            </a:r>
            <a:endParaRPr lang="en-US" sz="2100" dirty="0"/>
          </a:p>
        </p:txBody>
      </p:sp>
      <p:sp>
        <p:nvSpPr>
          <p:cNvPr id="8" name="Text 6"/>
          <p:cNvSpPr/>
          <p:nvPr/>
        </p:nvSpPr>
        <p:spPr>
          <a:xfrm>
            <a:off x="1143000" y="3478113"/>
            <a:ext cx="3767328" cy="628650"/>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Owns the migration decision and the cutover date.</a:t>
            </a:r>
            <a:endParaRPr lang="en-US" sz="1800" dirty="0"/>
          </a:p>
        </p:txBody>
      </p:sp>
      <p:sp>
        <p:nvSpPr>
          <p:cNvPr id="9" name="Text 7"/>
          <p:cNvSpPr/>
          <p:nvPr/>
        </p:nvSpPr>
        <p:spPr>
          <a:xfrm>
            <a:off x="1143000" y="5102352"/>
            <a:ext cx="3767328" cy="923925"/>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AE1800"/>
                </a:solidFill>
                <a:latin typeface="Arial" pitchFamily="34" charset="0"/>
                <a:ea typeface="Arial" pitchFamily="34" charset="-122"/>
                <a:cs typeface="Arial" pitchFamily="34" charset="-120"/>
              </a:rPr>
              <a:t>Pain </a:t>
            </a:r>
            <a:pPr algn="l" indent="0" marL="0">
              <a:lnSpc>
                <a:spcPct val="110714"/>
              </a:lnSpc>
              <a:buNone/>
            </a:pPr>
            <a:r>
              <a:rPr lang="en-US" sz="1800" dirty="0">
                <a:solidFill>
                  <a:srgbClr val="201E1D"/>
                </a:solidFill>
                <a:latin typeface="Arial" pitchFamily="34" charset="0"/>
                <a:ea typeface="Arial" pitchFamily="34" charset="-122"/>
                <a:cs typeface="Arial" pitchFamily="34" charset="-120"/>
              </a:rPr>
              <a:t>— cannot sign off a replacement nobody can prove behaves identically.</a:t>
            </a:r>
            <a:endParaRPr lang="en-US" sz="1800" dirty="0"/>
          </a:p>
        </p:txBody>
      </p:sp>
      <p:sp>
        <p:nvSpPr>
          <p:cNvPr id="10" name="Shape 8"/>
          <p:cNvSpPr/>
          <p:nvPr/>
        </p:nvSpPr>
        <p:spPr>
          <a:xfrm>
            <a:off x="5257800" y="2847578"/>
            <a:ext cx="3657600" cy="19050"/>
          </a:xfrm>
          <a:prstGeom prst="rect">
            <a:avLst/>
          </a:prstGeom>
          <a:solidFill>
            <a:srgbClr val="201E1E">
              <a:alpha val="40000"/>
            </a:srgbClr>
          </a:solidFill>
          <a:ln/>
        </p:spPr>
        <p:txBody>
          <a:bodyPr/>
          <a:p/>
        </p:txBody>
      </p:sp>
      <p:sp>
        <p:nvSpPr>
          <p:cNvPr id="11" name="Text 9"/>
          <p:cNvSpPr/>
          <p:nvPr/>
        </p:nvSpPr>
        <p:spPr>
          <a:xfrm>
            <a:off x="5257800" y="3038078"/>
            <a:ext cx="3767328" cy="651470"/>
          </a:xfrm>
          <a:prstGeom prst="rect">
            <a:avLst/>
          </a:prstGeom>
          <a:noFill/>
          <a:ln/>
        </p:spPr>
        <p:txBody>
          <a:bodyPr wrap="square" lIns="25400" tIns="25400" rIns="25400" bIns="25400" rtlCol="0" anchor="t">
            <a:normAutofit/>
          </a:bodyPr>
          <a:lstStyle/>
          <a:p>
            <a:pPr algn="l" indent="0" marL="0">
              <a:lnSpc>
                <a:spcPct val="81864"/>
              </a:lnSpc>
              <a:buNone/>
            </a:pPr>
            <a:r>
              <a:rPr lang="en-US" sz="2100" b="1" spc="-31" kern="0" dirty="0">
                <a:solidFill>
                  <a:srgbClr val="201E1D"/>
                </a:solidFill>
                <a:latin typeface="Arial" pitchFamily="34" charset="0"/>
                <a:ea typeface="Arial" pitchFamily="34" charset="-122"/>
                <a:cs typeface="Arial" pitchFamily="34" charset="-120"/>
              </a:rPr>
              <a:t>Risk, compliance and internal audit</a:t>
            </a:r>
            <a:endParaRPr lang="en-US" sz="2100" dirty="0"/>
          </a:p>
        </p:txBody>
      </p:sp>
      <p:sp>
        <p:nvSpPr>
          <p:cNvPr id="12" name="Text 10"/>
          <p:cNvSpPr/>
          <p:nvPr/>
        </p:nvSpPr>
        <p:spPr>
          <a:xfrm>
            <a:off x="5257800" y="3784799"/>
            <a:ext cx="3767328" cy="1219200"/>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Owns the board-approved Change Management Policy required by RBI’s IT Governance Direction (2023).</a:t>
            </a:r>
            <a:endParaRPr lang="en-US" sz="1800" dirty="0"/>
          </a:p>
        </p:txBody>
      </p:sp>
      <p:sp>
        <p:nvSpPr>
          <p:cNvPr id="13" name="Text 11"/>
          <p:cNvSpPr/>
          <p:nvPr/>
        </p:nvSpPr>
        <p:spPr>
          <a:xfrm>
            <a:off x="5257800" y="5099249"/>
            <a:ext cx="3767328" cy="923925"/>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AE1800"/>
                </a:solidFill>
                <a:latin typeface="Arial" pitchFamily="34" charset="0"/>
                <a:ea typeface="Arial" pitchFamily="34" charset="-122"/>
                <a:cs typeface="Arial" pitchFamily="34" charset="-120"/>
              </a:rPr>
              <a:t>Pain </a:t>
            </a:r>
            <a:pPr algn="l" indent="0" marL="0">
              <a:lnSpc>
                <a:spcPct val="110714"/>
              </a:lnSpc>
              <a:buNone/>
            </a:pPr>
            <a:r>
              <a:rPr lang="en-US" sz="1800" dirty="0">
                <a:solidFill>
                  <a:srgbClr val="201E1D"/>
                </a:solidFill>
                <a:latin typeface="Arial" pitchFamily="34" charset="0"/>
                <a:ea typeface="Arial" pitchFamily="34" charset="-122"/>
                <a:cs typeface="Arial" pitchFamily="34" charset="-120"/>
              </a:rPr>
              <a:t>— no auditable artefact showing old and new agree, case by case.</a:t>
            </a:r>
            <a:endParaRPr lang="en-US" sz="1800" dirty="0"/>
          </a:p>
        </p:txBody>
      </p:sp>
      <p:sp>
        <p:nvSpPr>
          <p:cNvPr id="14" name="Shape 12"/>
          <p:cNvSpPr/>
          <p:nvPr/>
        </p:nvSpPr>
        <p:spPr>
          <a:xfrm>
            <a:off x="9372600" y="2847578"/>
            <a:ext cx="3657600" cy="19050"/>
          </a:xfrm>
          <a:prstGeom prst="rect">
            <a:avLst/>
          </a:prstGeom>
          <a:solidFill>
            <a:srgbClr val="201E1E">
              <a:alpha val="40000"/>
            </a:srgbClr>
          </a:solidFill>
          <a:ln/>
        </p:spPr>
        <p:txBody>
          <a:bodyPr/>
          <a:p/>
        </p:txBody>
      </p:sp>
      <p:sp>
        <p:nvSpPr>
          <p:cNvPr id="15" name="Text 13"/>
          <p:cNvSpPr/>
          <p:nvPr/>
        </p:nvSpPr>
        <p:spPr>
          <a:xfrm>
            <a:off x="9372600" y="3038078"/>
            <a:ext cx="4023360" cy="344785"/>
          </a:xfrm>
          <a:prstGeom prst="rect">
            <a:avLst/>
          </a:prstGeom>
          <a:noFill/>
          <a:ln/>
        </p:spPr>
        <p:txBody>
          <a:bodyPr wrap="square" lIns="25400" tIns="25400" rIns="25400" bIns="25400" rtlCol="0" anchor="t">
            <a:normAutofit/>
          </a:bodyPr>
          <a:lstStyle/>
          <a:p>
            <a:pPr algn="l" indent="0" marL="0">
              <a:lnSpc>
                <a:spcPct val="81864"/>
              </a:lnSpc>
              <a:buNone/>
            </a:pPr>
            <a:r>
              <a:rPr lang="en-US" sz="2100" b="1" spc="-31" kern="0" dirty="0">
                <a:solidFill>
                  <a:srgbClr val="201E1D"/>
                </a:solidFill>
                <a:latin typeface="Arial" pitchFamily="34" charset="0"/>
                <a:ea typeface="Arial" pitchFamily="34" charset="-122"/>
                <a:cs typeface="Arial" pitchFamily="34" charset="-120"/>
              </a:rPr>
              <a:t>Modernisation vendors and SIs</a:t>
            </a:r>
            <a:endParaRPr lang="en-US" sz="2100" dirty="0"/>
          </a:p>
        </p:txBody>
      </p:sp>
      <p:sp>
        <p:nvSpPr>
          <p:cNvPr id="16" name="Text 14"/>
          <p:cNvSpPr/>
          <p:nvPr/>
        </p:nvSpPr>
        <p:spPr>
          <a:xfrm>
            <a:off x="9372600" y="3478113"/>
            <a:ext cx="3767328" cy="628650"/>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Cognizant, TCS, Infosys and in-house delivery teams.</a:t>
            </a:r>
            <a:endParaRPr lang="en-US" sz="1800" dirty="0"/>
          </a:p>
        </p:txBody>
      </p:sp>
      <p:sp>
        <p:nvSpPr>
          <p:cNvPr id="17" name="Text 15"/>
          <p:cNvSpPr/>
          <p:nvPr/>
        </p:nvSpPr>
        <p:spPr>
          <a:xfrm>
            <a:off x="9372600" y="5102352"/>
            <a:ext cx="3767328" cy="923925"/>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AE1800"/>
                </a:solidFill>
                <a:latin typeface="Arial" pitchFamily="34" charset="0"/>
                <a:ea typeface="Arial" pitchFamily="34" charset="-122"/>
                <a:cs typeface="Arial" pitchFamily="34" charset="-120"/>
              </a:rPr>
              <a:t>Pain </a:t>
            </a:r>
            <a:pPr algn="l" indent="0" marL="0">
              <a:lnSpc>
                <a:spcPct val="110714"/>
              </a:lnSpc>
              <a:buNone/>
            </a:pPr>
            <a:r>
              <a:rPr lang="en-US" sz="1800" dirty="0">
                <a:solidFill>
                  <a:srgbClr val="201E1D"/>
                </a:solidFill>
                <a:latin typeface="Arial" pitchFamily="34" charset="0"/>
                <a:ea typeface="Arial" pitchFamily="34" charset="-122"/>
                <a:cs typeface="Arial" pitchFamily="34" charset="-120"/>
              </a:rPr>
              <a:t>— translation is already commoditised; assurance is what stretches the programme.</a:t>
            </a:r>
            <a:endParaRPr lang="en-US" sz="1800" dirty="0"/>
          </a:p>
        </p:txBody>
      </p:sp>
      <p:sp>
        <p:nvSpPr>
          <p:cNvPr id="18" name="Shape 16"/>
          <p:cNvSpPr/>
          <p:nvPr/>
        </p:nvSpPr>
        <p:spPr>
          <a:xfrm>
            <a:off x="13487400" y="2847578"/>
            <a:ext cx="3657600" cy="19050"/>
          </a:xfrm>
          <a:prstGeom prst="rect">
            <a:avLst/>
          </a:prstGeom>
          <a:solidFill>
            <a:srgbClr val="201E1E">
              <a:alpha val="40000"/>
            </a:srgbClr>
          </a:solidFill>
          <a:ln/>
        </p:spPr>
        <p:txBody>
          <a:bodyPr/>
          <a:p/>
        </p:txBody>
      </p:sp>
      <p:sp>
        <p:nvSpPr>
          <p:cNvPr id="19" name="Text 17"/>
          <p:cNvSpPr/>
          <p:nvPr/>
        </p:nvSpPr>
        <p:spPr>
          <a:xfrm>
            <a:off x="13487400" y="3038078"/>
            <a:ext cx="4023360" cy="344785"/>
          </a:xfrm>
          <a:prstGeom prst="rect">
            <a:avLst/>
          </a:prstGeom>
          <a:noFill/>
          <a:ln/>
        </p:spPr>
        <p:txBody>
          <a:bodyPr wrap="square" lIns="25400" tIns="25400" rIns="25400" bIns="25400" rtlCol="0" anchor="t">
            <a:normAutofit/>
          </a:bodyPr>
          <a:lstStyle/>
          <a:p>
            <a:pPr algn="l" indent="0" marL="0">
              <a:lnSpc>
                <a:spcPct val="81864"/>
              </a:lnSpc>
              <a:buNone/>
            </a:pPr>
            <a:r>
              <a:rPr lang="en-US" sz="2100" b="1" spc="-31" kern="0" dirty="0">
                <a:solidFill>
                  <a:srgbClr val="201E1D"/>
                </a:solidFill>
                <a:latin typeface="Arial" pitchFamily="34" charset="0"/>
                <a:ea typeface="Arial" pitchFamily="34" charset="-122"/>
                <a:cs typeface="Arial" pitchFamily="34" charset="-120"/>
              </a:rPr>
              <a:t>The supervisor</a:t>
            </a:r>
            <a:endParaRPr lang="en-US" sz="2100" dirty="0"/>
          </a:p>
        </p:txBody>
      </p:sp>
      <p:sp>
        <p:nvSpPr>
          <p:cNvPr id="20" name="Text 18"/>
          <p:cNvSpPr/>
          <p:nvPr/>
        </p:nvSpPr>
        <p:spPr>
          <a:xfrm>
            <a:off x="13487400" y="3478113"/>
            <a:ext cx="4023360"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RBI, and the bank’s own board.</a:t>
            </a:r>
            <a:endParaRPr lang="en-US" sz="1800" dirty="0"/>
          </a:p>
        </p:txBody>
      </p:sp>
      <p:sp>
        <p:nvSpPr>
          <p:cNvPr id="21" name="Text 19"/>
          <p:cNvSpPr/>
          <p:nvPr/>
        </p:nvSpPr>
        <p:spPr>
          <a:xfrm>
            <a:off x="13487400" y="5102352"/>
            <a:ext cx="3767328" cy="628650"/>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AE1800"/>
                </a:solidFill>
                <a:latin typeface="Arial" pitchFamily="34" charset="0"/>
                <a:ea typeface="Arial" pitchFamily="34" charset="-122"/>
                <a:cs typeface="Arial" pitchFamily="34" charset="-120"/>
              </a:rPr>
              <a:t>Pain </a:t>
            </a:r>
            <a:pPr algn="l" indent="0" marL="0">
              <a:lnSpc>
                <a:spcPct val="110714"/>
              </a:lnSpc>
              <a:buNone/>
            </a:pPr>
            <a:r>
              <a:rPr lang="en-US" sz="1800" dirty="0">
                <a:solidFill>
                  <a:srgbClr val="201E1D"/>
                </a:solidFill>
                <a:latin typeface="Arial" pitchFamily="34" charset="0"/>
                <a:ea typeface="Arial" pitchFamily="34" charset="-122"/>
                <a:cs typeface="Arial" pitchFamily="34" charset="-120"/>
              </a:rPr>
              <a:t>— an IT failure is a supervisory event, not an engineering incident.</a:t>
            </a:r>
            <a:endParaRPr lang="en-US" sz="1800" dirty="0"/>
          </a:p>
        </p:txBody>
      </p:sp>
      <p:sp>
        <p:nvSpPr>
          <p:cNvPr id="22" name="Shape 20"/>
          <p:cNvSpPr/>
          <p:nvPr/>
        </p:nvSpPr>
        <p:spPr>
          <a:xfrm>
            <a:off x="1143000" y="6480374"/>
            <a:ext cx="16002000" cy="19050"/>
          </a:xfrm>
          <a:prstGeom prst="rect">
            <a:avLst/>
          </a:prstGeom>
          <a:solidFill>
            <a:srgbClr val="201E1E">
              <a:alpha val="40000"/>
            </a:srgbClr>
          </a:solidFill>
          <a:ln/>
        </p:spPr>
        <p:txBody>
          <a:bodyPr/>
          <a:p/>
        </p:txBody>
      </p:sp>
      <p:sp>
        <p:nvSpPr>
          <p:cNvPr id="23" name="Text 21"/>
          <p:cNvSpPr/>
          <p:nvPr/>
        </p:nvSpPr>
        <p:spPr>
          <a:xfrm>
            <a:off x="1143000" y="6728024"/>
            <a:ext cx="9035497" cy="861020"/>
          </a:xfrm>
          <a:prstGeom prst="rect">
            <a:avLst/>
          </a:prstGeom>
          <a:noFill/>
          <a:ln/>
        </p:spPr>
        <p:txBody>
          <a:bodyPr wrap="square" lIns="25400" tIns="25400" rIns="25400" bIns="25400" rtlCol="0" anchor="t">
            <a:normAutofit/>
          </a:bodyPr>
          <a:lstStyle/>
          <a:p>
            <a:pPr algn="l" indent="0" marL="0">
              <a:lnSpc>
                <a:spcPct val="85263"/>
              </a:lnSpc>
              <a:buNone/>
            </a:pPr>
            <a:r>
              <a:rPr lang="en-US" sz="2700" b="1" spc="-40" kern="0" dirty="0">
                <a:solidFill>
                  <a:srgbClr val="201E1D"/>
                </a:solidFill>
                <a:latin typeface="Arial" pitchFamily="34" charset="0"/>
                <a:ea typeface="Arial" pitchFamily="34" charset="-122"/>
                <a:cs typeface="Arial" pitchFamily="34" charset="-120"/>
              </a:rPr>
              <a:t>Nobody on this list is short of a translator. Everybody on this list is short of proof.</a:t>
            </a:r>
            <a:endParaRPr lang="en-US" sz="2700" dirty="0"/>
          </a:p>
        </p:txBody>
      </p:sp>
      <p:sp>
        <p:nvSpPr>
          <p:cNvPr id="24" name="Text 22"/>
          <p:cNvSpPr/>
          <p:nvPr/>
        </p:nvSpPr>
        <p:spPr>
          <a:xfrm>
            <a:off x="1143000" y="7703344"/>
            <a:ext cx="17602200" cy="361950"/>
          </a:xfrm>
          <a:prstGeom prst="rect">
            <a:avLst/>
          </a:prstGeom>
          <a:noFill/>
          <a:ln/>
        </p:spPr>
        <p:txBody>
          <a:bodyPr wrap="square" lIns="25400" tIns="25400" rIns="25400" bIns="25400" rtlCol="0" anchor="t">
            <a:normAutofit/>
          </a:bodyPr>
          <a:lstStyle/>
          <a:p>
            <a:pPr algn="l" indent="0" marL="0">
              <a:lnSpc>
                <a:spcPct val="118605"/>
              </a:lnSpc>
              <a:buNone/>
            </a:pPr>
            <a:r>
              <a:rPr lang="en-US" sz="1875" dirty="0">
                <a:solidFill>
                  <a:srgbClr val="AE1800"/>
                </a:solidFill>
                <a:latin typeface="Arial" pitchFamily="34" charset="0"/>
                <a:ea typeface="Arial" pitchFamily="34" charset="-122"/>
                <a:cs typeface="Arial" pitchFamily="34" charset="-120"/>
              </a:rPr>
              <a:t>Our buyer is the person who has to sign the cutover memo — and today has nothing to attach to it.</a:t>
            </a:r>
            <a:endParaRPr lang="en-US" sz="18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sp>
      <p:sp>
        <p:nvSpPr>
          <p:cNvPr id="3" name="Text 1"/>
          <p:cNvSpPr/>
          <p:nvPr/>
        </p:nvSpPr>
        <p:spPr>
          <a:xfrm>
            <a:off x="1143000" y="609600"/>
            <a:ext cx="2138720"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OUR SOLUTION</a:t>
            </a:r>
            <a:endParaRPr lang="en-US" sz="1800" dirty="0"/>
          </a:p>
        </p:txBody>
      </p:sp>
      <p:sp>
        <p:nvSpPr>
          <p:cNvPr id="4" name="Text 2"/>
          <p:cNvSpPr/>
          <p:nvPr/>
        </p:nvSpPr>
        <p:spPr>
          <a:xfrm>
            <a:off x="16848733" y="609600"/>
            <a:ext cx="372467"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201E1C">
                    <a:alpha val="60000"/>
                  </a:srgbClr>
                </a:solidFill>
                <a:latin typeface="Arial" pitchFamily="34" charset="0"/>
                <a:ea typeface="Arial" pitchFamily="34" charset="-122"/>
                <a:cs typeface="Arial" pitchFamily="34" charset="-120"/>
              </a:rPr>
              <a:t>05</a:t>
            </a:r>
            <a:endParaRPr lang="en-US" sz="1800" dirty="0"/>
          </a:p>
        </p:txBody>
      </p:sp>
      <p:sp>
        <p:nvSpPr>
          <p:cNvPr id="5" name="Text 3"/>
          <p:cNvSpPr/>
          <p:nvPr/>
        </p:nvSpPr>
        <p:spPr>
          <a:xfrm>
            <a:off x="1116509" y="1790700"/>
            <a:ext cx="17631341" cy="675878"/>
          </a:xfrm>
          <a:prstGeom prst="rect">
            <a:avLst/>
          </a:prstGeom>
          <a:noFill/>
          <a:ln/>
        </p:spPr>
        <p:txBody>
          <a:bodyPr wrap="square" lIns="25400" tIns="25400" rIns="25400" bIns="25400" rtlCol="0" anchor="t">
            <a:normAutofit/>
          </a:bodyPr>
          <a:lstStyle/>
          <a:p>
            <a:pPr algn="l" indent="0" marL="0">
              <a:lnSpc>
                <a:spcPct val="76672"/>
              </a:lnSpc>
              <a:buNone/>
            </a:pPr>
            <a:r>
              <a:rPr lang="en-US" sz="4650" b="1" spc="-70" kern="0" dirty="0">
                <a:solidFill>
                  <a:srgbClr val="201E1D"/>
                </a:solidFill>
                <a:latin typeface="Arial" pitchFamily="34" charset="0"/>
                <a:ea typeface="Arial" pitchFamily="34" charset="-122"/>
                <a:cs typeface="Arial" pitchFamily="34" charset="-120"/>
              </a:rPr>
              <a:t>A deterministic pipeline, with the AI on a short leash</a:t>
            </a:r>
            <a:endParaRPr lang="en-US" sz="4650" dirty="0"/>
          </a:p>
        </p:txBody>
      </p:sp>
      <p:sp>
        <p:nvSpPr>
          <p:cNvPr id="6" name="Shape 4"/>
          <p:cNvSpPr/>
          <p:nvPr/>
        </p:nvSpPr>
        <p:spPr>
          <a:xfrm>
            <a:off x="1143000" y="2733278"/>
            <a:ext cx="16002000" cy="19050"/>
          </a:xfrm>
          <a:prstGeom prst="rect">
            <a:avLst/>
          </a:prstGeom>
          <a:solidFill>
            <a:srgbClr val="201E1E">
              <a:alpha val="40000"/>
            </a:srgbClr>
          </a:solidFill>
          <a:ln/>
        </p:spPr>
      </p:sp>
      <p:sp>
        <p:nvSpPr>
          <p:cNvPr id="7" name="Text 5"/>
          <p:cNvSpPr/>
          <p:nvPr/>
        </p:nvSpPr>
        <p:spPr>
          <a:xfrm>
            <a:off x="1143000" y="2914253"/>
            <a:ext cx="609600" cy="451445"/>
          </a:xfrm>
          <a:prstGeom prst="rect">
            <a:avLst/>
          </a:prstGeom>
          <a:noFill/>
          <a:ln/>
        </p:spPr>
        <p:txBody>
          <a:bodyPr wrap="square" lIns="25400" tIns="25400" rIns="25400" bIns="25400" rtlCol="0" anchor="t">
            <a:normAutofit/>
          </a:bodyPr>
          <a:lstStyle/>
          <a:p>
            <a:pPr algn="l" indent="0" marL="0">
              <a:lnSpc>
                <a:spcPct val="110339"/>
              </a:lnSpc>
              <a:buNone/>
            </a:pPr>
            <a:r>
              <a:rPr lang="en-US" sz="2100" b="1" dirty="0">
                <a:solidFill>
                  <a:srgbClr val="EC3013"/>
                </a:solidFill>
                <a:latin typeface="Arial" pitchFamily="34" charset="0"/>
                <a:ea typeface="Arial" pitchFamily="34" charset="-122"/>
                <a:cs typeface="Arial" pitchFamily="34" charset="-120"/>
              </a:rPr>
              <a:t>0</a:t>
            </a:r>
            <a:endParaRPr lang="en-US" sz="2100" dirty="0"/>
          </a:p>
        </p:txBody>
      </p:sp>
      <p:sp>
        <p:nvSpPr>
          <p:cNvPr id="8" name="Text 6"/>
          <p:cNvSpPr/>
          <p:nvPr/>
        </p:nvSpPr>
        <p:spPr>
          <a:xfrm>
            <a:off x="2019300" y="2958703"/>
            <a:ext cx="4924425" cy="355699"/>
          </a:xfrm>
          <a:prstGeom prst="rect">
            <a:avLst/>
          </a:prstGeom>
          <a:noFill/>
          <a:ln/>
        </p:spPr>
        <p:txBody>
          <a:bodyPr wrap="square" lIns="25400" tIns="25400" rIns="25400" bIns="25400" rtlCol="0" anchor="t">
            <a:normAutofit/>
          </a:bodyPr>
          <a:lstStyle/>
          <a:p>
            <a:pPr algn="l" indent="0" marL="0">
              <a:lnSpc>
                <a:spcPct val="82008"/>
              </a:lnSpc>
              <a:buNone/>
            </a:pPr>
            <a:r>
              <a:rPr lang="en-US" sz="2175" b="1" dirty="0">
                <a:solidFill>
                  <a:srgbClr val="201E1D"/>
                </a:solidFill>
                <a:latin typeface="Arial" pitchFamily="34" charset="0"/>
                <a:ea typeface="Arial" pitchFamily="34" charset="-122"/>
                <a:cs typeface="Arial" pitchFamily="34" charset="-120"/>
              </a:rPr>
              <a:t>Intake gate</a:t>
            </a:r>
            <a:endParaRPr lang="en-US" sz="2175" dirty="0"/>
          </a:p>
        </p:txBody>
      </p:sp>
      <p:sp>
        <p:nvSpPr>
          <p:cNvPr id="9" name="Text 7"/>
          <p:cNvSpPr/>
          <p:nvPr/>
        </p:nvSpPr>
        <p:spPr>
          <a:xfrm>
            <a:off x="6838950" y="2990453"/>
            <a:ext cx="7613142" cy="628650"/>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clock / DB / CICS detected? REFUSED — non-deterministic, cannot be verified soundly</a:t>
            </a:r>
            <a:endParaRPr lang="en-US" sz="1800" dirty="0"/>
          </a:p>
        </p:txBody>
      </p:sp>
      <p:sp>
        <p:nvSpPr>
          <p:cNvPr id="10" name="Shape 8"/>
          <p:cNvSpPr/>
          <p:nvPr/>
        </p:nvSpPr>
        <p:spPr>
          <a:xfrm>
            <a:off x="14876066" y="2955528"/>
            <a:ext cx="2268934" cy="361950"/>
          </a:xfrm>
          <a:prstGeom prst="rect">
            <a:avLst/>
          </a:prstGeom>
          <a:ln w="19050">
            <a:solidFill>
              <a:srgbClr val="201E1E">
                <a:alpha val="40000"/>
              </a:srgbClr>
            </a:solidFill>
            <a:prstDash val="solid"/>
          </a:ln>
        </p:spPr>
      </p:sp>
      <p:sp>
        <p:nvSpPr>
          <p:cNvPr id="11" name="Text 9"/>
          <p:cNvSpPr/>
          <p:nvPr/>
        </p:nvSpPr>
        <p:spPr>
          <a:xfrm>
            <a:off x="15028466" y="3022203"/>
            <a:ext cx="2191028" cy="266700"/>
          </a:xfrm>
          <a:prstGeom prst="rect">
            <a:avLst/>
          </a:prstGeom>
          <a:noFill/>
          <a:ln/>
        </p:spPr>
        <p:txBody>
          <a:bodyPr wrap="none" lIns="25400" tIns="25400" rIns="25400" bIns="25400" rtlCol="0" anchor="t">
            <a:normAutofit/>
          </a:bodyPr>
          <a:lstStyle/>
          <a:p>
            <a:pPr algn="l" indent="0" marL="0">
              <a:lnSpc>
                <a:spcPct val="85714"/>
              </a:lnSpc>
              <a:buNone/>
            </a:pPr>
            <a:r>
              <a:rPr lang="en-US" sz="1800" spc="108" kern="0" dirty="0">
                <a:solidFill>
                  <a:srgbClr val="201E1C">
                    <a:alpha val="60000"/>
                  </a:srgbClr>
                </a:solidFill>
                <a:latin typeface="Arial" pitchFamily="34" charset="0"/>
                <a:ea typeface="Arial" pitchFamily="34" charset="-122"/>
                <a:cs typeface="Arial" pitchFamily="34" charset="-120"/>
              </a:rPr>
              <a:t>DETERMINISTIC</a:t>
            </a:r>
            <a:endParaRPr lang="en-US" sz="1800" dirty="0"/>
          </a:p>
        </p:txBody>
      </p:sp>
      <p:sp>
        <p:nvSpPr>
          <p:cNvPr id="12" name="Shape 10"/>
          <p:cNvSpPr/>
          <p:nvPr/>
        </p:nvSpPr>
        <p:spPr>
          <a:xfrm>
            <a:off x="1143000" y="3761978"/>
            <a:ext cx="16002000" cy="19050"/>
          </a:xfrm>
          <a:prstGeom prst="rect">
            <a:avLst/>
          </a:prstGeom>
          <a:solidFill>
            <a:srgbClr val="201E1E">
              <a:alpha val="40000"/>
            </a:srgbClr>
          </a:solidFill>
          <a:ln/>
        </p:spPr>
      </p:sp>
      <p:sp>
        <p:nvSpPr>
          <p:cNvPr id="13" name="Text 11"/>
          <p:cNvSpPr/>
          <p:nvPr/>
        </p:nvSpPr>
        <p:spPr>
          <a:xfrm>
            <a:off x="1143000" y="3942953"/>
            <a:ext cx="609600" cy="451445"/>
          </a:xfrm>
          <a:prstGeom prst="rect">
            <a:avLst/>
          </a:prstGeom>
          <a:noFill/>
          <a:ln/>
        </p:spPr>
        <p:txBody>
          <a:bodyPr wrap="square" lIns="25400" tIns="25400" rIns="25400" bIns="25400" rtlCol="0" anchor="t">
            <a:normAutofit/>
          </a:bodyPr>
          <a:lstStyle/>
          <a:p>
            <a:pPr algn="l" indent="0" marL="0">
              <a:lnSpc>
                <a:spcPct val="110339"/>
              </a:lnSpc>
              <a:buNone/>
            </a:pPr>
            <a:r>
              <a:rPr lang="en-US" sz="2100" b="1" dirty="0">
                <a:solidFill>
                  <a:srgbClr val="EC3013"/>
                </a:solidFill>
                <a:latin typeface="Arial" pitchFamily="34" charset="0"/>
                <a:ea typeface="Arial" pitchFamily="34" charset="-122"/>
                <a:cs typeface="Arial" pitchFamily="34" charset="-120"/>
              </a:rPr>
              <a:t>1</a:t>
            </a:r>
            <a:endParaRPr lang="en-US" sz="2100" dirty="0"/>
          </a:p>
        </p:txBody>
      </p:sp>
      <p:sp>
        <p:nvSpPr>
          <p:cNvPr id="14" name="Text 12"/>
          <p:cNvSpPr/>
          <p:nvPr/>
        </p:nvSpPr>
        <p:spPr>
          <a:xfrm>
            <a:off x="2019300" y="3987403"/>
            <a:ext cx="4924425" cy="355699"/>
          </a:xfrm>
          <a:prstGeom prst="rect">
            <a:avLst/>
          </a:prstGeom>
          <a:noFill/>
          <a:ln/>
        </p:spPr>
        <p:txBody>
          <a:bodyPr wrap="square" lIns="25400" tIns="25400" rIns="25400" bIns="25400" rtlCol="0" anchor="t">
            <a:normAutofit/>
          </a:bodyPr>
          <a:lstStyle/>
          <a:p>
            <a:pPr algn="l" indent="0" marL="0">
              <a:lnSpc>
                <a:spcPct val="82008"/>
              </a:lnSpc>
              <a:buNone/>
            </a:pPr>
            <a:r>
              <a:rPr lang="en-US" sz="2175" b="1" dirty="0">
                <a:solidFill>
                  <a:srgbClr val="201E1D"/>
                </a:solidFill>
                <a:latin typeface="Arial" pitchFamily="34" charset="0"/>
                <a:ea typeface="Arial" pitchFamily="34" charset="-122"/>
                <a:cs typeface="Arial" pitchFamily="34" charset="-120"/>
              </a:rPr>
              <a:t>Parse &amp; slice</a:t>
            </a:r>
            <a:endParaRPr lang="en-US" sz="2175" dirty="0"/>
          </a:p>
        </p:txBody>
      </p:sp>
      <p:sp>
        <p:nvSpPr>
          <p:cNvPr id="15" name="Text 13"/>
          <p:cNvSpPr/>
          <p:nvPr/>
        </p:nvSpPr>
        <p:spPr>
          <a:xfrm>
            <a:off x="6838950" y="4019153"/>
            <a:ext cx="8130540"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ProLeap AST → rule slices</a:t>
            </a:r>
            <a:endParaRPr lang="en-US" sz="1800" dirty="0"/>
          </a:p>
        </p:txBody>
      </p:sp>
      <p:sp>
        <p:nvSpPr>
          <p:cNvPr id="16" name="Shape 14"/>
          <p:cNvSpPr/>
          <p:nvPr/>
        </p:nvSpPr>
        <p:spPr>
          <a:xfrm>
            <a:off x="14876066" y="3984228"/>
            <a:ext cx="2268934" cy="361950"/>
          </a:xfrm>
          <a:prstGeom prst="rect">
            <a:avLst/>
          </a:prstGeom>
          <a:ln w="19050">
            <a:solidFill>
              <a:srgbClr val="201E1E">
                <a:alpha val="40000"/>
              </a:srgbClr>
            </a:solidFill>
            <a:prstDash val="solid"/>
          </a:ln>
        </p:spPr>
      </p:sp>
      <p:sp>
        <p:nvSpPr>
          <p:cNvPr id="17" name="Text 15"/>
          <p:cNvSpPr/>
          <p:nvPr/>
        </p:nvSpPr>
        <p:spPr>
          <a:xfrm>
            <a:off x="15028466" y="4050903"/>
            <a:ext cx="2191028" cy="266700"/>
          </a:xfrm>
          <a:prstGeom prst="rect">
            <a:avLst/>
          </a:prstGeom>
          <a:noFill/>
          <a:ln/>
        </p:spPr>
        <p:txBody>
          <a:bodyPr wrap="none" lIns="25400" tIns="25400" rIns="25400" bIns="25400" rtlCol="0" anchor="t">
            <a:normAutofit/>
          </a:bodyPr>
          <a:lstStyle/>
          <a:p>
            <a:pPr algn="l" indent="0" marL="0">
              <a:lnSpc>
                <a:spcPct val="85714"/>
              </a:lnSpc>
              <a:buNone/>
            </a:pPr>
            <a:r>
              <a:rPr lang="en-US" sz="1800" spc="108" kern="0" dirty="0">
                <a:solidFill>
                  <a:srgbClr val="201E1C">
                    <a:alpha val="60000"/>
                  </a:srgbClr>
                </a:solidFill>
                <a:latin typeface="Arial" pitchFamily="34" charset="0"/>
                <a:ea typeface="Arial" pitchFamily="34" charset="-122"/>
                <a:cs typeface="Arial" pitchFamily="34" charset="-120"/>
              </a:rPr>
              <a:t>DETERMINISTIC</a:t>
            </a:r>
            <a:endParaRPr lang="en-US" sz="1800" dirty="0"/>
          </a:p>
        </p:txBody>
      </p:sp>
      <p:sp>
        <p:nvSpPr>
          <p:cNvPr id="18" name="Shape 16"/>
          <p:cNvSpPr/>
          <p:nvPr/>
        </p:nvSpPr>
        <p:spPr>
          <a:xfrm>
            <a:off x="1143000" y="4537274"/>
            <a:ext cx="16002000" cy="19050"/>
          </a:xfrm>
          <a:prstGeom prst="rect">
            <a:avLst/>
          </a:prstGeom>
          <a:solidFill>
            <a:srgbClr val="201E1E">
              <a:alpha val="40000"/>
            </a:srgbClr>
          </a:solidFill>
          <a:ln/>
        </p:spPr>
      </p:sp>
      <p:sp>
        <p:nvSpPr>
          <p:cNvPr id="19" name="Text 17"/>
          <p:cNvSpPr/>
          <p:nvPr/>
        </p:nvSpPr>
        <p:spPr>
          <a:xfrm>
            <a:off x="1143000" y="4718249"/>
            <a:ext cx="609600" cy="451445"/>
          </a:xfrm>
          <a:prstGeom prst="rect">
            <a:avLst/>
          </a:prstGeom>
          <a:noFill/>
          <a:ln/>
        </p:spPr>
        <p:txBody>
          <a:bodyPr wrap="square" lIns="25400" tIns="25400" rIns="25400" bIns="25400" rtlCol="0" anchor="t">
            <a:normAutofit/>
          </a:bodyPr>
          <a:lstStyle/>
          <a:p>
            <a:pPr algn="l" indent="0" marL="0">
              <a:lnSpc>
                <a:spcPct val="110339"/>
              </a:lnSpc>
              <a:buNone/>
            </a:pPr>
            <a:r>
              <a:rPr lang="en-US" sz="2100" b="1" dirty="0">
                <a:solidFill>
                  <a:srgbClr val="EC3013"/>
                </a:solidFill>
                <a:latin typeface="Arial" pitchFamily="34" charset="0"/>
                <a:ea typeface="Arial" pitchFamily="34" charset="-122"/>
                <a:cs typeface="Arial" pitchFamily="34" charset="-120"/>
              </a:rPr>
              <a:t>2</a:t>
            </a:r>
            <a:endParaRPr lang="en-US" sz="2100" dirty="0"/>
          </a:p>
        </p:txBody>
      </p:sp>
      <p:sp>
        <p:nvSpPr>
          <p:cNvPr id="20" name="Text 18"/>
          <p:cNvSpPr/>
          <p:nvPr/>
        </p:nvSpPr>
        <p:spPr>
          <a:xfrm>
            <a:off x="2019300" y="4762699"/>
            <a:ext cx="4924425" cy="355699"/>
          </a:xfrm>
          <a:prstGeom prst="rect">
            <a:avLst/>
          </a:prstGeom>
          <a:noFill/>
          <a:ln/>
        </p:spPr>
        <p:txBody>
          <a:bodyPr wrap="square" lIns="25400" tIns="25400" rIns="25400" bIns="25400" rtlCol="0" anchor="t">
            <a:normAutofit/>
          </a:bodyPr>
          <a:lstStyle/>
          <a:p>
            <a:pPr algn="l" indent="0" marL="0">
              <a:lnSpc>
                <a:spcPct val="82008"/>
              </a:lnSpc>
              <a:buNone/>
            </a:pPr>
            <a:r>
              <a:rPr lang="en-US" sz="2175" b="1" dirty="0">
                <a:solidFill>
                  <a:srgbClr val="201E1D"/>
                </a:solidFill>
                <a:latin typeface="Arial" pitchFamily="34" charset="0"/>
                <a:ea typeface="Arial" pitchFamily="34" charset="-122"/>
                <a:cs typeface="Arial" pitchFamily="34" charset="-120"/>
              </a:rPr>
              <a:t>Extract rules</a:t>
            </a:r>
            <a:endParaRPr lang="en-US" sz="2175" dirty="0"/>
          </a:p>
        </p:txBody>
      </p:sp>
      <p:sp>
        <p:nvSpPr>
          <p:cNvPr id="21" name="Text 19"/>
          <p:cNvSpPr/>
          <p:nvPr/>
        </p:nvSpPr>
        <p:spPr>
          <a:xfrm>
            <a:off x="6838950" y="4794449"/>
            <a:ext cx="8130540"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with line citations from the slice</a:t>
            </a:r>
            <a:endParaRPr lang="en-US" sz="1800" dirty="0"/>
          </a:p>
        </p:txBody>
      </p:sp>
      <p:sp>
        <p:nvSpPr>
          <p:cNvPr id="22" name="Shape 20"/>
          <p:cNvSpPr/>
          <p:nvPr/>
        </p:nvSpPr>
        <p:spPr>
          <a:xfrm>
            <a:off x="14353680" y="4759523"/>
            <a:ext cx="2791321" cy="361950"/>
          </a:xfrm>
          <a:prstGeom prst="rect">
            <a:avLst/>
          </a:prstGeom>
          <a:solidFill>
            <a:srgbClr val="EC3013"/>
          </a:solidFill>
          <a:ln/>
        </p:spPr>
      </p:sp>
      <p:sp>
        <p:nvSpPr>
          <p:cNvPr id="23" name="Text 21"/>
          <p:cNvSpPr/>
          <p:nvPr/>
        </p:nvSpPr>
        <p:spPr>
          <a:xfrm>
            <a:off x="14506080" y="4826198"/>
            <a:ext cx="2765653" cy="266700"/>
          </a:xfrm>
          <a:prstGeom prst="rect">
            <a:avLst/>
          </a:prstGeom>
          <a:noFill/>
          <a:ln/>
        </p:spPr>
        <p:txBody>
          <a:bodyPr wrap="none" lIns="25400" tIns="25400" rIns="25400" bIns="25400" rtlCol="0" anchor="t">
            <a:normAutofit/>
          </a:bodyPr>
          <a:lstStyle/>
          <a:p>
            <a:pPr algn="l" indent="0" marL="0">
              <a:lnSpc>
                <a:spcPct val="85714"/>
              </a:lnSpc>
              <a:buNone/>
            </a:pPr>
            <a:r>
              <a:rPr lang="en-US" sz="1800" spc="108" kern="0" dirty="0">
                <a:solidFill>
                  <a:srgbClr val="F3F2F2"/>
                </a:solidFill>
                <a:latin typeface="Arial" pitchFamily="34" charset="0"/>
                <a:ea typeface="Arial" pitchFamily="34" charset="-122"/>
                <a:cs typeface="Arial" pitchFamily="34" charset="-120"/>
              </a:rPr>
              <a:t>BOUNDED LLM CALL</a:t>
            </a:r>
            <a:endParaRPr lang="en-US" sz="1800" dirty="0"/>
          </a:p>
        </p:txBody>
      </p:sp>
      <p:sp>
        <p:nvSpPr>
          <p:cNvPr id="24" name="Shape 22"/>
          <p:cNvSpPr/>
          <p:nvPr/>
        </p:nvSpPr>
        <p:spPr>
          <a:xfrm>
            <a:off x="1143000" y="5312569"/>
            <a:ext cx="16002000" cy="19050"/>
          </a:xfrm>
          <a:prstGeom prst="rect">
            <a:avLst/>
          </a:prstGeom>
          <a:solidFill>
            <a:srgbClr val="201E1E">
              <a:alpha val="40000"/>
            </a:srgbClr>
          </a:solidFill>
          <a:ln/>
        </p:spPr>
      </p:sp>
      <p:sp>
        <p:nvSpPr>
          <p:cNvPr id="25" name="Text 23"/>
          <p:cNvSpPr/>
          <p:nvPr/>
        </p:nvSpPr>
        <p:spPr>
          <a:xfrm>
            <a:off x="1143000" y="5455444"/>
            <a:ext cx="609600" cy="451445"/>
          </a:xfrm>
          <a:prstGeom prst="rect">
            <a:avLst/>
          </a:prstGeom>
          <a:noFill/>
          <a:ln/>
        </p:spPr>
        <p:txBody>
          <a:bodyPr wrap="square" lIns="25400" tIns="25400" rIns="25400" bIns="25400" rtlCol="0" anchor="t">
            <a:normAutofit/>
          </a:bodyPr>
          <a:lstStyle/>
          <a:p>
            <a:pPr algn="l" indent="0" marL="0">
              <a:lnSpc>
                <a:spcPct val="110339"/>
              </a:lnSpc>
              <a:buNone/>
            </a:pPr>
            <a:r>
              <a:rPr lang="en-US" sz="2100" b="1" dirty="0">
                <a:solidFill>
                  <a:srgbClr val="EC3013"/>
                </a:solidFill>
                <a:latin typeface="Arial" pitchFamily="34" charset="0"/>
                <a:ea typeface="Arial" pitchFamily="34" charset="-122"/>
                <a:cs typeface="Arial" pitchFamily="34" charset="-120"/>
              </a:rPr>
              <a:t>3</a:t>
            </a:r>
            <a:endParaRPr lang="en-US" sz="2100" dirty="0"/>
          </a:p>
        </p:txBody>
      </p:sp>
      <p:sp>
        <p:nvSpPr>
          <p:cNvPr id="26" name="Text 24"/>
          <p:cNvSpPr/>
          <p:nvPr/>
        </p:nvSpPr>
        <p:spPr>
          <a:xfrm>
            <a:off x="2019300" y="5499894"/>
            <a:ext cx="4924425" cy="355699"/>
          </a:xfrm>
          <a:prstGeom prst="rect">
            <a:avLst/>
          </a:prstGeom>
          <a:noFill/>
          <a:ln/>
        </p:spPr>
        <p:txBody>
          <a:bodyPr wrap="square" lIns="25400" tIns="25400" rIns="25400" bIns="25400" rtlCol="0" anchor="t">
            <a:normAutofit/>
          </a:bodyPr>
          <a:lstStyle/>
          <a:p>
            <a:pPr algn="l" indent="0" marL="0">
              <a:lnSpc>
                <a:spcPct val="82008"/>
              </a:lnSpc>
              <a:buNone/>
            </a:pPr>
            <a:r>
              <a:rPr lang="en-US" sz="2175" b="1" dirty="0">
                <a:solidFill>
                  <a:srgbClr val="201E1D"/>
                </a:solidFill>
                <a:latin typeface="Arial" pitchFamily="34" charset="0"/>
                <a:ea typeface="Arial" pitchFamily="34" charset="-122"/>
                <a:cs typeface="Arial" pitchFamily="34" charset="-120"/>
              </a:rPr>
              <a:t>Rule-directed input generation</a:t>
            </a:r>
            <a:endParaRPr lang="en-US" sz="2175" dirty="0"/>
          </a:p>
        </p:txBody>
      </p:sp>
      <p:sp>
        <p:nvSpPr>
          <p:cNvPr id="27" name="Text 25"/>
          <p:cNvSpPr/>
          <p:nvPr/>
        </p:nvSpPr>
        <p:spPr>
          <a:xfrm>
            <a:off x="6838950" y="5531644"/>
            <a:ext cx="7613142" cy="92392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the extracted rules say where the boundaries are — ₹99,999 / ₹1,00,000 / ₹1,00,001 · ₹0.50 rounding midpoints · 29 February · month and quarter ends · zero and maximum values</a:t>
            </a:r>
            <a:endParaRPr lang="en-US" sz="1800" dirty="0"/>
          </a:p>
        </p:txBody>
      </p:sp>
      <p:sp>
        <p:nvSpPr>
          <p:cNvPr id="28" name="Shape 26"/>
          <p:cNvSpPr/>
          <p:nvPr/>
        </p:nvSpPr>
        <p:spPr>
          <a:xfrm>
            <a:off x="14876066" y="5496719"/>
            <a:ext cx="2268934" cy="361950"/>
          </a:xfrm>
          <a:prstGeom prst="rect">
            <a:avLst/>
          </a:prstGeom>
          <a:ln w="19050">
            <a:solidFill>
              <a:srgbClr val="201E1E">
                <a:alpha val="40000"/>
              </a:srgbClr>
            </a:solidFill>
            <a:prstDash val="solid"/>
          </a:ln>
        </p:spPr>
      </p:sp>
      <p:sp>
        <p:nvSpPr>
          <p:cNvPr id="29" name="Text 27"/>
          <p:cNvSpPr/>
          <p:nvPr/>
        </p:nvSpPr>
        <p:spPr>
          <a:xfrm>
            <a:off x="15028466" y="5563394"/>
            <a:ext cx="2191028" cy="266700"/>
          </a:xfrm>
          <a:prstGeom prst="rect">
            <a:avLst/>
          </a:prstGeom>
          <a:noFill/>
          <a:ln/>
        </p:spPr>
        <p:txBody>
          <a:bodyPr wrap="none" lIns="25400" tIns="25400" rIns="25400" bIns="25400" rtlCol="0" anchor="t">
            <a:normAutofit/>
          </a:bodyPr>
          <a:lstStyle/>
          <a:p>
            <a:pPr algn="l" indent="0" marL="0">
              <a:lnSpc>
                <a:spcPct val="85714"/>
              </a:lnSpc>
              <a:buNone/>
            </a:pPr>
            <a:r>
              <a:rPr lang="en-US" sz="1800" spc="108" kern="0" dirty="0">
                <a:solidFill>
                  <a:srgbClr val="201E1C">
                    <a:alpha val="60000"/>
                  </a:srgbClr>
                </a:solidFill>
                <a:latin typeface="Arial" pitchFamily="34" charset="0"/>
                <a:ea typeface="Arial" pitchFamily="34" charset="-122"/>
                <a:cs typeface="Arial" pitchFamily="34" charset="-120"/>
              </a:rPr>
              <a:t>DETERMINISTIC</a:t>
            </a:r>
            <a:endParaRPr lang="en-US" sz="1800" dirty="0"/>
          </a:p>
        </p:txBody>
      </p:sp>
      <p:sp>
        <p:nvSpPr>
          <p:cNvPr id="30" name="Shape 28"/>
          <p:cNvSpPr/>
          <p:nvPr/>
        </p:nvSpPr>
        <p:spPr>
          <a:xfrm>
            <a:off x="1143000" y="7808119"/>
            <a:ext cx="16002000" cy="19050"/>
          </a:xfrm>
          <a:prstGeom prst="rect">
            <a:avLst/>
          </a:prstGeom>
          <a:solidFill>
            <a:srgbClr val="201E1E">
              <a:alpha val="40000"/>
            </a:srgbClr>
          </a:solidFill>
          <a:ln/>
        </p:spPr>
      </p:sp>
      <p:sp>
        <p:nvSpPr>
          <p:cNvPr id="31" name="Shape 29"/>
          <p:cNvSpPr/>
          <p:nvPr/>
        </p:nvSpPr>
        <p:spPr>
          <a:xfrm>
            <a:off x="1143000" y="6560344"/>
            <a:ext cx="16002000" cy="19050"/>
          </a:xfrm>
          <a:prstGeom prst="rect">
            <a:avLst/>
          </a:prstGeom>
          <a:solidFill>
            <a:srgbClr val="201E1E">
              <a:alpha val="40000"/>
            </a:srgbClr>
          </a:solidFill>
          <a:ln/>
        </p:spPr>
      </p:sp>
      <p:sp>
        <p:nvSpPr>
          <p:cNvPr id="32" name="Text 30"/>
          <p:cNvSpPr/>
          <p:nvPr/>
        </p:nvSpPr>
        <p:spPr>
          <a:xfrm>
            <a:off x="1143000" y="6703219"/>
            <a:ext cx="609600" cy="451445"/>
          </a:xfrm>
          <a:prstGeom prst="rect">
            <a:avLst/>
          </a:prstGeom>
          <a:noFill/>
          <a:ln/>
        </p:spPr>
        <p:txBody>
          <a:bodyPr wrap="square" lIns="25400" tIns="25400" rIns="25400" bIns="25400" rtlCol="0" anchor="t">
            <a:normAutofit/>
          </a:bodyPr>
          <a:lstStyle/>
          <a:p>
            <a:pPr algn="l" indent="0" marL="0">
              <a:lnSpc>
                <a:spcPct val="110339"/>
              </a:lnSpc>
              <a:buNone/>
            </a:pPr>
            <a:r>
              <a:rPr lang="en-US" sz="2100" b="1" dirty="0">
                <a:solidFill>
                  <a:srgbClr val="EC3013"/>
                </a:solidFill>
                <a:latin typeface="Arial" pitchFamily="34" charset="0"/>
                <a:ea typeface="Arial" pitchFamily="34" charset="-122"/>
                <a:cs typeface="Arial" pitchFamily="34" charset="-120"/>
              </a:rPr>
              <a:t>4</a:t>
            </a:r>
            <a:endParaRPr lang="en-US" sz="2100" dirty="0"/>
          </a:p>
        </p:txBody>
      </p:sp>
      <p:sp>
        <p:nvSpPr>
          <p:cNvPr id="33" name="Text 31"/>
          <p:cNvSpPr/>
          <p:nvPr/>
        </p:nvSpPr>
        <p:spPr>
          <a:xfrm>
            <a:off x="2019300" y="6747669"/>
            <a:ext cx="4924425" cy="355699"/>
          </a:xfrm>
          <a:prstGeom prst="rect">
            <a:avLst/>
          </a:prstGeom>
          <a:noFill/>
          <a:ln/>
        </p:spPr>
        <p:txBody>
          <a:bodyPr wrap="square" lIns="25400" tIns="25400" rIns="25400" bIns="25400" rtlCol="0" anchor="t">
            <a:normAutofit/>
          </a:bodyPr>
          <a:lstStyle/>
          <a:p>
            <a:pPr algn="l" indent="0" marL="0">
              <a:lnSpc>
                <a:spcPct val="82008"/>
              </a:lnSpc>
              <a:buNone/>
            </a:pPr>
            <a:r>
              <a:rPr lang="en-US" sz="2175" b="1" dirty="0">
                <a:solidFill>
                  <a:srgbClr val="201E1D"/>
                </a:solidFill>
                <a:latin typeface="Arial" pitchFamily="34" charset="0"/>
                <a:ea typeface="Arial" pitchFamily="34" charset="-122"/>
                <a:cs typeface="Arial" pitchFamily="34" charset="-120"/>
              </a:rPr>
              <a:t>Execute and compare — three ways</a:t>
            </a:r>
            <a:endParaRPr lang="en-US" sz="2175" dirty="0"/>
          </a:p>
        </p:txBody>
      </p:sp>
      <p:sp>
        <p:nvSpPr>
          <p:cNvPr id="34" name="Text 32"/>
          <p:cNvSpPr/>
          <p:nvPr/>
        </p:nvSpPr>
        <p:spPr>
          <a:xfrm>
            <a:off x="6838950" y="6779419"/>
            <a:ext cx="7613142" cy="92392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same input, three outputs: legacy COBOL (GnuCOBOL — the oracle) · reimplementation (generated Java, untrusted) · RBI Direction (the third reference)</a:t>
            </a:r>
            <a:endParaRPr lang="en-US" sz="1800" dirty="0"/>
          </a:p>
        </p:txBody>
      </p:sp>
      <p:sp>
        <p:nvSpPr>
          <p:cNvPr id="35" name="Shape 33"/>
          <p:cNvSpPr/>
          <p:nvPr/>
        </p:nvSpPr>
        <p:spPr>
          <a:xfrm>
            <a:off x="14876066" y="6744494"/>
            <a:ext cx="2268934" cy="361950"/>
          </a:xfrm>
          <a:prstGeom prst="rect">
            <a:avLst/>
          </a:prstGeom>
          <a:ln w="19050">
            <a:solidFill>
              <a:srgbClr val="201E1E">
                <a:alpha val="40000"/>
              </a:srgbClr>
            </a:solidFill>
            <a:prstDash val="solid"/>
          </a:ln>
        </p:spPr>
      </p:sp>
      <p:sp>
        <p:nvSpPr>
          <p:cNvPr id="36" name="Text 34"/>
          <p:cNvSpPr/>
          <p:nvPr/>
        </p:nvSpPr>
        <p:spPr>
          <a:xfrm>
            <a:off x="15028466" y="6811169"/>
            <a:ext cx="2191028" cy="266700"/>
          </a:xfrm>
          <a:prstGeom prst="rect">
            <a:avLst/>
          </a:prstGeom>
          <a:noFill/>
          <a:ln/>
        </p:spPr>
        <p:txBody>
          <a:bodyPr wrap="none" lIns="25400" tIns="25400" rIns="25400" bIns="25400" rtlCol="0" anchor="t">
            <a:normAutofit/>
          </a:bodyPr>
          <a:lstStyle/>
          <a:p>
            <a:pPr algn="l" indent="0" marL="0">
              <a:lnSpc>
                <a:spcPct val="85714"/>
              </a:lnSpc>
              <a:buNone/>
            </a:pPr>
            <a:r>
              <a:rPr lang="en-US" sz="1800" spc="108" kern="0" dirty="0">
                <a:solidFill>
                  <a:srgbClr val="201E1C">
                    <a:alpha val="60000"/>
                  </a:srgbClr>
                </a:solidFill>
                <a:latin typeface="Arial" pitchFamily="34" charset="0"/>
                <a:ea typeface="Arial" pitchFamily="34" charset="-122"/>
                <a:cs typeface="Arial" pitchFamily="34" charset="-120"/>
              </a:rPr>
              <a:t>DETERMINISTIC</a:t>
            </a:r>
            <a:endParaRPr lang="en-US" sz="1800" dirty="0"/>
          </a:p>
        </p:txBody>
      </p:sp>
      <p:sp>
        <p:nvSpPr>
          <p:cNvPr id="37" name="Shape 35"/>
          <p:cNvSpPr/>
          <p:nvPr/>
        </p:nvSpPr>
        <p:spPr>
          <a:xfrm>
            <a:off x="1143000" y="8131969"/>
            <a:ext cx="3657600" cy="19050"/>
          </a:xfrm>
          <a:prstGeom prst="rect">
            <a:avLst/>
          </a:prstGeom>
          <a:solidFill>
            <a:srgbClr val="EC3013"/>
          </a:solidFill>
          <a:ln/>
        </p:spPr>
      </p:sp>
      <p:sp>
        <p:nvSpPr>
          <p:cNvPr id="38" name="Text 36"/>
          <p:cNvSpPr/>
          <p:nvPr/>
        </p:nvSpPr>
        <p:spPr>
          <a:xfrm>
            <a:off x="1143000" y="8322469"/>
            <a:ext cx="4023360" cy="333772"/>
          </a:xfrm>
          <a:prstGeom prst="rect">
            <a:avLst/>
          </a:prstGeom>
          <a:noFill/>
          <a:ln/>
        </p:spPr>
        <p:txBody>
          <a:bodyPr wrap="square" lIns="25400" tIns="25400" rIns="25400" bIns="25400" rtlCol="0" anchor="t">
            <a:normAutofit/>
          </a:bodyPr>
          <a:lstStyle/>
          <a:p>
            <a:pPr algn="l" indent="0" marL="0">
              <a:lnSpc>
                <a:spcPct val="80302"/>
              </a:lnSpc>
              <a:buNone/>
            </a:pPr>
            <a:r>
              <a:rPr lang="en-US" sz="2025" b="1" spc="-30" kern="0" dirty="0">
                <a:solidFill>
                  <a:srgbClr val="201E1D"/>
                </a:solidFill>
                <a:latin typeface="Arial" pitchFamily="34" charset="0"/>
                <a:ea typeface="Arial" pitchFamily="34" charset="-122"/>
                <a:cs typeface="Arial" pitchFamily="34" charset="-120"/>
              </a:rPr>
              <a:t>Rule verdicts</a:t>
            </a:r>
            <a:endParaRPr lang="en-US" sz="2025" dirty="0"/>
          </a:p>
        </p:txBody>
      </p:sp>
      <p:sp>
        <p:nvSpPr>
          <p:cNvPr id="39" name="Text 37"/>
          <p:cNvSpPr/>
          <p:nvPr/>
        </p:nvSpPr>
        <p:spPr>
          <a:xfrm>
            <a:off x="1143000" y="8751491"/>
            <a:ext cx="4023360"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proven · unproven · refuted</a:t>
            </a:r>
            <a:endParaRPr lang="en-US" sz="1800" dirty="0"/>
          </a:p>
        </p:txBody>
      </p:sp>
      <p:sp>
        <p:nvSpPr>
          <p:cNvPr id="40" name="Shape 38"/>
          <p:cNvSpPr/>
          <p:nvPr/>
        </p:nvSpPr>
        <p:spPr>
          <a:xfrm>
            <a:off x="5257800" y="8131969"/>
            <a:ext cx="3657600" cy="19050"/>
          </a:xfrm>
          <a:prstGeom prst="rect">
            <a:avLst/>
          </a:prstGeom>
          <a:solidFill>
            <a:srgbClr val="EC3013"/>
          </a:solidFill>
          <a:ln/>
        </p:spPr>
      </p:sp>
      <p:sp>
        <p:nvSpPr>
          <p:cNvPr id="41" name="Text 39"/>
          <p:cNvSpPr/>
          <p:nvPr/>
        </p:nvSpPr>
        <p:spPr>
          <a:xfrm>
            <a:off x="5257800" y="8322469"/>
            <a:ext cx="4023360" cy="333772"/>
          </a:xfrm>
          <a:prstGeom prst="rect">
            <a:avLst/>
          </a:prstGeom>
          <a:noFill/>
          <a:ln/>
        </p:spPr>
        <p:txBody>
          <a:bodyPr wrap="square" lIns="25400" tIns="25400" rIns="25400" bIns="25400" rtlCol="0" anchor="t">
            <a:normAutofit/>
          </a:bodyPr>
          <a:lstStyle/>
          <a:p>
            <a:pPr algn="l" indent="0" marL="0">
              <a:lnSpc>
                <a:spcPct val="80302"/>
              </a:lnSpc>
              <a:buNone/>
            </a:pPr>
            <a:r>
              <a:rPr lang="en-US" sz="2025" b="1" spc="-30" kern="0" dirty="0">
                <a:solidFill>
                  <a:srgbClr val="201E1D"/>
                </a:solidFill>
                <a:latin typeface="Arial" pitchFamily="34" charset="0"/>
                <a:ea typeface="Arial" pitchFamily="34" charset="-122"/>
                <a:cs typeface="Arial" pitchFamily="34" charset="-120"/>
              </a:rPr>
              <a:t>Mutation score</a:t>
            </a:r>
            <a:endParaRPr lang="en-US" sz="2025" dirty="0"/>
          </a:p>
        </p:txBody>
      </p:sp>
      <p:sp>
        <p:nvSpPr>
          <p:cNvPr id="42" name="Text 40"/>
          <p:cNvSpPr/>
          <p:nvPr/>
        </p:nvSpPr>
        <p:spPr>
          <a:xfrm>
            <a:off x="5257800" y="8751491"/>
            <a:ext cx="4023360"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how strong is this claim?</a:t>
            </a:r>
            <a:endParaRPr lang="en-US" sz="1800" dirty="0"/>
          </a:p>
        </p:txBody>
      </p:sp>
      <p:sp>
        <p:nvSpPr>
          <p:cNvPr id="43" name="Shape 41"/>
          <p:cNvSpPr/>
          <p:nvPr/>
        </p:nvSpPr>
        <p:spPr>
          <a:xfrm>
            <a:off x="9372600" y="8131969"/>
            <a:ext cx="3657600" cy="19050"/>
          </a:xfrm>
          <a:prstGeom prst="rect">
            <a:avLst/>
          </a:prstGeom>
          <a:solidFill>
            <a:srgbClr val="EC3013"/>
          </a:solidFill>
          <a:ln/>
        </p:spPr>
      </p:sp>
      <p:sp>
        <p:nvSpPr>
          <p:cNvPr id="44" name="Text 42"/>
          <p:cNvSpPr/>
          <p:nvPr/>
        </p:nvSpPr>
        <p:spPr>
          <a:xfrm>
            <a:off x="9372600" y="8322469"/>
            <a:ext cx="4023360" cy="333772"/>
          </a:xfrm>
          <a:prstGeom prst="rect">
            <a:avLst/>
          </a:prstGeom>
          <a:noFill/>
          <a:ln/>
        </p:spPr>
        <p:txBody>
          <a:bodyPr wrap="square" lIns="25400" tIns="25400" rIns="25400" bIns="25400" rtlCol="0" anchor="t">
            <a:normAutofit/>
          </a:bodyPr>
          <a:lstStyle/>
          <a:p>
            <a:pPr algn="l" indent="0" marL="0">
              <a:lnSpc>
                <a:spcPct val="80302"/>
              </a:lnSpc>
              <a:buNone/>
            </a:pPr>
            <a:r>
              <a:rPr lang="en-US" sz="2025" b="1" spc="-30" kern="0" dirty="0">
                <a:solidFill>
                  <a:srgbClr val="201E1D"/>
                </a:solidFill>
                <a:latin typeface="Arial" pitchFamily="34" charset="0"/>
                <a:ea typeface="Arial" pitchFamily="34" charset="-122"/>
                <a:cs typeface="Arial" pitchFamily="34" charset="-120"/>
              </a:rPr>
              <a:t>Compliance findings</a:t>
            </a:r>
            <a:endParaRPr lang="en-US" sz="2025" dirty="0"/>
          </a:p>
        </p:txBody>
      </p:sp>
      <p:sp>
        <p:nvSpPr>
          <p:cNvPr id="45" name="Text 43"/>
          <p:cNvSpPr/>
          <p:nvPr/>
        </p:nvSpPr>
        <p:spPr>
          <a:xfrm>
            <a:off x="9372600" y="8751491"/>
            <a:ext cx="4023360"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legacy vs the regulator</a:t>
            </a:r>
            <a:endParaRPr lang="en-US" sz="1800" dirty="0"/>
          </a:p>
        </p:txBody>
      </p:sp>
      <p:sp>
        <p:nvSpPr>
          <p:cNvPr id="46" name="Shape 44"/>
          <p:cNvSpPr/>
          <p:nvPr/>
        </p:nvSpPr>
        <p:spPr>
          <a:xfrm>
            <a:off x="13487400" y="8131969"/>
            <a:ext cx="3657600" cy="19050"/>
          </a:xfrm>
          <a:prstGeom prst="rect">
            <a:avLst/>
          </a:prstGeom>
          <a:solidFill>
            <a:srgbClr val="EC3013"/>
          </a:solidFill>
          <a:ln/>
        </p:spPr>
      </p:sp>
      <p:sp>
        <p:nvSpPr>
          <p:cNvPr id="47" name="Text 45"/>
          <p:cNvSpPr/>
          <p:nvPr/>
        </p:nvSpPr>
        <p:spPr>
          <a:xfrm>
            <a:off x="13487400" y="8322469"/>
            <a:ext cx="4023360" cy="333772"/>
          </a:xfrm>
          <a:prstGeom prst="rect">
            <a:avLst/>
          </a:prstGeom>
          <a:noFill/>
          <a:ln/>
        </p:spPr>
        <p:txBody>
          <a:bodyPr wrap="square" lIns="25400" tIns="25400" rIns="25400" bIns="25400" rtlCol="0" anchor="t">
            <a:normAutofit/>
          </a:bodyPr>
          <a:lstStyle/>
          <a:p>
            <a:pPr algn="l" indent="0" marL="0">
              <a:lnSpc>
                <a:spcPct val="80302"/>
              </a:lnSpc>
              <a:buNone/>
            </a:pPr>
            <a:r>
              <a:rPr lang="en-US" sz="2025" b="1" spc="-30" kern="0" dirty="0">
                <a:solidFill>
                  <a:srgbClr val="201E1D"/>
                </a:solidFill>
                <a:latin typeface="Arial" pitchFamily="34" charset="0"/>
                <a:ea typeface="Arial" pitchFamily="34" charset="-122"/>
                <a:cs typeface="Arial" pitchFamily="34" charset="-120"/>
              </a:rPr>
              <a:t>Evidence bundle</a:t>
            </a:r>
            <a:endParaRPr lang="en-US" sz="2025" dirty="0"/>
          </a:p>
        </p:txBody>
      </p:sp>
      <p:sp>
        <p:nvSpPr>
          <p:cNvPr id="48" name="Text 46"/>
          <p:cNvSpPr/>
          <p:nvPr/>
        </p:nvSpPr>
        <p:spPr>
          <a:xfrm>
            <a:off x="13487400" y="8751491"/>
            <a:ext cx="4023360"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spec · tests · signed claim</a:t>
            </a:r>
            <a:endParaRPr lang="en-US" sz="1800" dirty="0"/>
          </a:p>
        </p:txBody>
      </p:sp>
      <p:sp>
        <p:nvSpPr>
          <p:cNvPr id="49" name="Text 47"/>
          <p:cNvSpPr/>
          <p:nvPr/>
        </p:nvSpPr>
        <p:spPr>
          <a:xfrm>
            <a:off x="1143000" y="9029700"/>
            <a:ext cx="16482060" cy="685800"/>
          </a:xfrm>
          <a:prstGeom prst="rect">
            <a:avLst/>
          </a:prstGeom>
          <a:noFill/>
          <a:ln/>
        </p:spPr>
        <p:txBody>
          <a:bodyPr wrap="square" lIns="25400" tIns="25400" rIns="25400" bIns="25400" rtlCol="0" anchor="t">
            <a:normAutofit/>
          </a:bodyPr>
          <a:lstStyle/>
          <a:p>
            <a:pPr algn="l" indent="0" marL="0">
              <a:lnSpc>
                <a:spcPct val="121429"/>
              </a:lnSpc>
              <a:buNone/>
            </a:pPr>
            <a:r>
              <a:rPr lang="en-US" sz="1800" dirty="0">
                <a:solidFill>
                  <a:srgbClr val="201E1C">
                    <a:alpha val="60000"/>
                  </a:srgbClr>
                </a:solidFill>
                <a:latin typeface="Arial" pitchFamily="34" charset="0"/>
                <a:ea typeface="Arial" pitchFamily="34" charset="-122"/>
                <a:cs typeface="Arial" pitchFamily="34" charset="-120"/>
              </a:rPr>
              <a:t>Deterministic orchestration matches agentic accuracy at up to 3.5× lower token cost, with better worst-case robustness (arXiv 2605.09894) — the fixed pipeline is a defended choice, not a simplification.</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sp>
      <p:sp>
        <p:nvSpPr>
          <p:cNvPr id="3" name="Text 1"/>
          <p:cNvSpPr/>
          <p:nvPr/>
        </p:nvSpPr>
        <p:spPr>
          <a:xfrm>
            <a:off x="1143000" y="609600"/>
            <a:ext cx="2124313"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HOW IT WORKS</a:t>
            </a:r>
            <a:endParaRPr lang="en-US" sz="1800" dirty="0"/>
          </a:p>
        </p:txBody>
      </p:sp>
      <p:sp>
        <p:nvSpPr>
          <p:cNvPr id="4" name="Text 2"/>
          <p:cNvSpPr/>
          <p:nvPr/>
        </p:nvSpPr>
        <p:spPr>
          <a:xfrm>
            <a:off x="16848733" y="609600"/>
            <a:ext cx="372467"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201E1C">
                    <a:alpha val="60000"/>
                  </a:srgbClr>
                </a:solidFill>
                <a:latin typeface="Arial" pitchFamily="34" charset="0"/>
                <a:ea typeface="Arial" pitchFamily="34" charset="-122"/>
                <a:cs typeface="Arial" pitchFamily="34" charset="-120"/>
              </a:rPr>
              <a:t>06</a:t>
            </a:r>
            <a:endParaRPr lang="en-US" sz="1800" dirty="0"/>
          </a:p>
        </p:txBody>
      </p:sp>
      <p:sp>
        <p:nvSpPr>
          <p:cNvPr id="5" name="Text 3"/>
          <p:cNvSpPr/>
          <p:nvPr/>
        </p:nvSpPr>
        <p:spPr>
          <a:xfrm>
            <a:off x="1116509" y="1790700"/>
            <a:ext cx="17631341" cy="675878"/>
          </a:xfrm>
          <a:prstGeom prst="rect">
            <a:avLst/>
          </a:prstGeom>
          <a:noFill/>
          <a:ln/>
        </p:spPr>
        <p:txBody>
          <a:bodyPr wrap="square" lIns="25400" tIns="25400" rIns="25400" bIns="25400" rtlCol="0" anchor="t">
            <a:normAutofit/>
          </a:bodyPr>
          <a:lstStyle/>
          <a:p>
            <a:pPr algn="l" indent="0" marL="0">
              <a:lnSpc>
                <a:spcPct val="76672"/>
              </a:lnSpc>
              <a:buNone/>
            </a:pPr>
            <a:r>
              <a:rPr lang="en-US" sz="4650" b="1" spc="-70" kern="0" dirty="0">
                <a:solidFill>
                  <a:srgbClr val="201E1D"/>
                </a:solidFill>
                <a:latin typeface="Arial" pitchFamily="34" charset="0"/>
                <a:ea typeface="Arial" pitchFamily="34" charset="-122"/>
                <a:cs typeface="Arial" pitchFamily="34" charset="-120"/>
              </a:rPr>
              <a:t>The pipeline, end to end</a:t>
            </a:r>
            <a:endParaRPr lang="en-US" sz="4650" dirty="0"/>
          </a:p>
        </p:txBody>
      </p:sp>
      <p:sp>
        <p:nvSpPr>
          <p:cNvPr id="6" name="Shape 4"/>
          <p:cNvSpPr/>
          <p:nvPr/>
        </p:nvSpPr>
        <p:spPr>
          <a:xfrm>
            <a:off x="1143000" y="2657078"/>
            <a:ext cx="2268934" cy="361950"/>
          </a:xfrm>
          <a:prstGeom prst="rect">
            <a:avLst/>
          </a:prstGeom>
          <a:ln w="19050">
            <a:solidFill>
              <a:srgbClr val="201E1E">
                <a:alpha val="40000"/>
              </a:srgbClr>
            </a:solidFill>
            <a:prstDash val="solid"/>
          </a:ln>
        </p:spPr>
      </p:sp>
      <p:sp>
        <p:nvSpPr>
          <p:cNvPr id="7" name="Text 5"/>
          <p:cNvSpPr/>
          <p:nvPr/>
        </p:nvSpPr>
        <p:spPr>
          <a:xfrm>
            <a:off x="1295400" y="2723753"/>
            <a:ext cx="2191028" cy="266700"/>
          </a:xfrm>
          <a:prstGeom prst="rect">
            <a:avLst/>
          </a:prstGeom>
          <a:noFill/>
          <a:ln/>
        </p:spPr>
        <p:txBody>
          <a:bodyPr wrap="none" lIns="25400" tIns="25400" rIns="25400" bIns="25400" rtlCol="0" anchor="t">
            <a:normAutofit/>
          </a:bodyPr>
          <a:lstStyle/>
          <a:p>
            <a:pPr algn="l" indent="0" marL="0">
              <a:lnSpc>
                <a:spcPct val="85714"/>
              </a:lnSpc>
              <a:buNone/>
            </a:pPr>
            <a:r>
              <a:rPr lang="en-US" sz="1800" spc="108" kern="0" dirty="0">
                <a:solidFill>
                  <a:srgbClr val="201E1C">
                    <a:alpha val="60000"/>
                  </a:srgbClr>
                </a:solidFill>
                <a:latin typeface="Arial" pitchFamily="34" charset="0"/>
                <a:ea typeface="Arial" pitchFamily="34" charset="-122"/>
                <a:cs typeface="Arial" pitchFamily="34" charset="-120"/>
              </a:rPr>
              <a:t>DETERMINISTIC</a:t>
            </a:r>
            <a:endParaRPr lang="en-US" sz="1800" dirty="0"/>
          </a:p>
        </p:txBody>
      </p:sp>
      <p:sp>
        <p:nvSpPr>
          <p:cNvPr id="8" name="Shape 6"/>
          <p:cNvSpPr/>
          <p:nvPr/>
        </p:nvSpPr>
        <p:spPr>
          <a:xfrm>
            <a:off x="3602434" y="2657078"/>
            <a:ext cx="2791321" cy="361950"/>
          </a:xfrm>
          <a:prstGeom prst="rect">
            <a:avLst/>
          </a:prstGeom>
          <a:solidFill>
            <a:srgbClr val="EC3013"/>
          </a:solidFill>
          <a:ln/>
        </p:spPr>
      </p:sp>
      <p:sp>
        <p:nvSpPr>
          <p:cNvPr id="9" name="Text 7"/>
          <p:cNvSpPr/>
          <p:nvPr/>
        </p:nvSpPr>
        <p:spPr>
          <a:xfrm>
            <a:off x="3754834" y="2723753"/>
            <a:ext cx="2765653" cy="266700"/>
          </a:xfrm>
          <a:prstGeom prst="rect">
            <a:avLst/>
          </a:prstGeom>
          <a:noFill/>
          <a:ln/>
        </p:spPr>
        <p:txBody>
          <a:bodyPr wrap="none" lIns="25400" tIns="25400" rIns="25400" bIns="25400" rtlCol="0" anchor="t">
            <a:normAutofit/>
          </a:bodyPr>
          <a:lstStyle/>
          <a:p>
            <a:pPr algn="l" indent="0" marL="0">
              <a:lnSpc>
                <a:spcPct val="85714"/>
              </a:lnSpc>
              <a:buNone/>
            </a:pPr>
            <a:r>
              <a:rPr lang="en-US" sz="1800" spc="108" kern="0" dirty="0">
                <a:solidFill>
                  <a:srgbClr val="F3F2F2"/>
                </a:solidFill>
                <a:latin typeface="Arial" pitchFamily="34" charset="0"/>
                <a:ea typeface="Arial" pitchFamily="34" charset="-122"/>
                <a:cs typeface="Arial" pitchFamily="34" charset="-120"/>
              </a:rPr>
              <a:t>BOUNDED LLM CALL</a:t>
            </a:r>
            <a:endParaRPr lang="en-US" sz="1800" dirty="0"/>
          </a:p>
        </p:txBody>
      </p:sp>
      <p:sp>
        <p:nvSpPr>
          <p:cNvPr id="10" name="Text 8"/>
          <p:cNvSpPr/>
          <p:nvPr/>
        </p:nvSpPr>
        <p:spPr>
          <a:xfrm>
            <a:off x="6584256" y="2666603"/>
            <a:ext cx="8296652"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dirty="0">
                <a:solidFill>
                  <a:srgbClr val="201E1C">
                    <a:alpha val="60000"/>
                  </a:srgbClr>
                </a:solidFill>
                <a:latin typeface="Arial" pitchFamily="34" charset="0"/>
                <a:ea typeface="Arial" pitchFamily="34" charset="-122"/>
                <a:cs typeface="Arial" pitchFamily="34" charset="-120"/>
              </a:rPr>
              <a:t>dashed — the reciprocal loop: rules pick the inputs, the run checks the rules</a:t>
            </a:r>
            <a:endParaRPr lang="en-US" sz="1800" dirty="0"/>
          </a:p>
        </p:txBody>
      </p:sp>
      <p:pic>
        <p:nvPicPr>
          <p:cNvPr id="1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43000" y="3287613"/>
            <a:ext cx="16002000" cy="63246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3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612648"/>
            <a:ext cx="7315200" cy="393192"/>
          </a:xfrm>
          <a:prstGeom prst="rect">
            <a:avLst/>
          </a:prstGeom>
          <a:noFill/>
        </p:spPr>
        <p:txBody>
          <a:bodyPr wrap="square" lIns="0" rIns="0" tIns="0" bIns="0" anchor="t">
            <a:spAutoFit/>
          </a:bodyPr>
          <a:lstStyle/>
          <a:p>
            <a:pPr algn="l">
              <a:lnSpc>
                <a:spcPct val="128000"/>
              </a:lnSpc>
            </a:pPr>
            <a:r>
              <a:rPr sz="1800" b="1" spc="150">
                <a:solidFill>
                  <a:srgbClr val="EC3013"/>
                </a:solidFill>
                <a:latin typeface="Arial"/>
              </a:rPr>
              <a:t>THE FINDING</a:t>
            </a:r>
          </a:p>
        </p:txBody>
      </p:sp>
      <p:sp>
        <p:nvSpPr>
          <p:cNvPr id="4" name="TextBox 3"/>
          <p:cNvSpPr txBox="1"/>
          <p:nvPr/>
        </p:nvSpPr>
        <p:spPr>
          <a:xfrm>
            <a:off x="16852392" y="612648"/>
            <a:ext cx="374904" cy="393192"/>
          </a:xfrm>
          <a:prstGeom prst="rect">
            <a:avLst/>
          </a:prstGeom>
          <a:noFill/>
        </p:spPr>
        <p:txBody>
          <a:bodyPr wrap="square" lIns="0" rIns="0" tIns="0" bIns="0" anchor="t">
            <a:spAutoFit/>
          </a:bodyPr>
          <a:lstStyle/>
          <a:p>
            <a:pPr algn="l">
              <a:lnSpc>
                <a:spcPct val="128000"/>
              </a:lnSpc>
            </a:pPr>
            <a:r>
              <a:rPr sz="1800" b="0">
                <a:solidFill>
                  <a:srgbClr val="8C8886"/>
                </a:solidFill>
                <a:latin typeface="Arial"/>
              </a:rPr>
              <a:t>07</a:t>
            </a:r>
          </a:p>
        </p:txBody>
      </p:sp>
      <p:sp>
        <p:nvSpPr>
          <p:cNvPr id="5" name="Rectangle 4"/>
          <p:cNvSpPr/>
          <p:nvPr/>
        </p:nvSpPr>
        <p:spPr>
          <a:xfrm>
            <a:off x="1143000" y="1207008"/>
            <a:ext cx="16002000" cy="18288"/>
          </a:xfrm>
          <a:prstGeom prst="rect">
            <a:avLst/>
          </a:prstGeom>
          <a:solidFill>
            <a:srgbClr val="20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 y="1792224"/>
            <a:ext cx="17629632" cy="676656"/>
          </a:xfrm>
          <a:prstGeom prst="rect">
            <a:avLst/>
          </a:prstGeom>
          <a:noFill/>
        </p:spPr>
        <p:txBody>
          <a:bodyPr wrap="square" lIns="0" rIns="0" tIns="0" bIns="0" anchor="t">
            <a:spAutoFit/>
          </a:bodyPr>
          <a:lstStyle/>
          <a:p>
            <a:pPr algn="l">
              <a:lnSpc>
                <a:spcPct val="102000"/>
              </a:lnSpc>
            </a:pPr>
            <a:r>
              <a:rPr sz="4650" b="1">
                <a:solidFill>
                  <a:srgbClr val="201E1D"/>
                </a:solidFill>
                <a:latin typeface="Arial"/>
              </a:rPr>
              <a:t>What one finding looks like</a:t>
            </a:r>
          </a:p>
        </p:txBody>
      </p:sp>
      <p:sp>
        <p:nvSpPr>
          <p:cNvPr id="7" name="Rectangle 6"/>
          <p:cNvSpPr/>
          <p:nvPr/>
        </p:nvSpPr>
        <p:spPr>
          <a:xfrm>
            <a:off x="1143000" y="2843784"/>
            <a:ext cx="3657600" cy="18288"/>
          </a:xfrm>
          <a:prstGeom prst="rect">
            <a:avLst/>
          </a:prstGeom>
          <a:solidFill>
            <a:srgbClr val="20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3035808"/>
            <a:ext cx="5120640" cy="347472"/>
          </a:xfrm>
          <a:prstGeom prst="rect">
            <a:avLst/>
          </a:prstGeom>
          <a:noFill/>
        </p:spPr>
        <p:txBody>
          <a:bodyPr wrap="square" lIns="0" rIns="0" tIns="0" bIns="0" anchor="t">
            <a:spAutoFit/>
          </a:bodyPr>
          <a:lstStyle/>
          <a:p>
            <a:pPr algn="l">
              <a:lnSpc>
                <a:spcPct val="128000"/>
              </a:lnSpc>
            </a:pPr>
            <a:r>
              <a:rPr sz="2175" b="1">
                <a:solidFill>
                  <a:srgbClr val="201E1D"/>
                </a:solidFill>
                <a:latin typeface="Arial"/>
              </a:rPr>
              <a:t>The run</a:t>
            </a:r>
          </a:p>
        </p:txBody>
      </p:sp>
      <p:sp>
        <p:nvSpPr>
          <p:cNvPr id="9" name="TextBox 8"/>
          <p:cNvSpPr txBox="1"/>
          <p:nvPr/>
        </p:nvSpPr>
        <p:spPr>
          <a:xfrm>
            <a:off x="1143000" y="3584448"/>
            <a:ext cx="5394960" cy="320040"/>
          </a:xfrm>
          <a:prstGeom prst="rect">
            <a:avLst/>
          </a:prstGeom>
          <a:noFill/>
        </p:spPr>
        <p:txBody>
          <a:bodyPr wrap="square" lIns="0" rIns="0" tIns="0" bIns="0" anchor="t">
            <a:spAutoFit/>
          </a:bodyPr>
          <a:lstStyle/>
          <a:p>
            <a:pPr algn="l">
              <a:lnSpc>
                <a:spcPct val="128000"/>
              </a:lnSpc>
            </a:pPr>
            <a:r>
              <a:rPr sz="1500" b="0">
                <a:solidFill>
                  <a:srgbClr val="8C8886"/>
                </a:solidFill>
                <a:latin typeface="Consolas"/>
              </a:rPr>
              <a:t>input:  </a:t>
            </a:r>
            <a:r>
              <a:rPr sz="1500" b="0">
                <a:solidFill>
                  <a:srgbClr val="201E1C"/>
                </a:solidFill>
                <a:latin typeface="Consolas"/>
              </a:rPr>
              <a:t>₹1,00,000.00 · 12 days · 3.5%</a:t>
            </a:r>
          </a:p>
        </p:txBody>
      </p:sp>
      <p:sp>
        <p:nvSpPr>
          <p:cNvPr id="10" name="TextBox 9"/>
          <p:cNvSpPr txBox="1"/>
          <p:nvPr/>
        </p:nvSpPr>
        <p:spPr>
          <a:xfrm>
            <a:off x="1143000" y="4160520"/>
            <a:ext cx="2377440" cy="822960"/>
          </a:xfrm>
          <a:prstGeom prst="rect">
            <a:avLst/>
          </a:prstGeom>
          <a:noFill/>
        </p:spPr>
        <p:txBody>
          <a:bodyPr wrap="square" lIns="0" rIns="0" tIns="0" bIns="0" anchor="t">
            <a:spAutoFit/>
          </a:bodyPr>
          <a:lstStyle/>
          <a:p>
            <a:pPr algn="l">
              <a:lnSpc>
                <a:spcPct val="100000"/>
              </a:lnSpc>
            </a:pPr>
            <a:r>
              <a:rPr sz="5400" b="1">
                <a:solidFill>
                  <a:srgbClr val="201E1D"/>
                </a:solidFill>
                <a:latin typeface="Arial"/>
              </a:rPr>
              <a:t>₹115</a:t>
            </a:r>
          </a:p>
        </p:txBody>
      </p:sp>
      <p:sp>
        <p:nvSpPr>
          <p:cNvPr id="11" name="TextBox 10"/>
          <p:cNvSpPr txBox="1"/>
          <p:nvPr/>
        </p:nvSpPr>
        <p:spPr>
          <a:xfrm>
            <a:off x="1143000" y="5074920"/>
            <a:ext cx="2377440" cy="292608"/>
          </a:xfrm>
          <a:prstGeom prst="rect">
            <a:avLst/>
          </a:prstGeom>
          <a:noFill/>
        </p:spPr>
        <p:txBody>
          <a:bodyPr wrap="square" lIns="0" rIns="0" tIns="0" bIns="0" anchor="t">
            <a:spAutoFit/>
          </a:bodyPr>
          <a:lstStyle/>
          <a:p>
            <a:pPr algn="l">
              <a:lnSpc>
                <a:spcPct val="128000"/>
              </a:lnSpc>
            </a:pPr>
            <a:r>
              <a:rPr sz="1400" b="0">
                <a:solidFill>
                  <a:srgbClr val="6F6C6B"/>
                </a:solidFill>
                <a:latin typeface="Arial"/>
              </a:rPr>
              <a:t>legacy COBOL</a:t>
            </a:r>
          </a:p>
        </p:txBody>
      </p:sp>
      <p:sp>
        <p:nvSpPr>
          <p:cNvPr id="12" name="TextBox 11"/>
          <p:cNvSpPr txBox="1"/>
          <p:nvPr/>
        </p:nvSpPr>
        <p:spPr>
          <a:xfrm>
            <a:off x="3017520" y="4315968"/>
            <a:ext cx="822960" cy="457200"/>
          </a:xfrm>
          <a:prstGeom prst="rect">
            <a:avLst/>
          </a:prstGeom>
          <a:noFill/>
        </p:spPr>
        <p:txBody>
          <a:bodyPr wrap="square" lIns="0" rIns="0" tIns="0" bIns="0" anchor="t">
            <a:spAutoFit/>
          </a:bodyPr>
          <a:lstStyle/>
          <a:p>
            <a:pPr algn="l">
              <a:lnSpc>
                <a:spcPct val="128000"/>
              </a:lnSpc>
            </a:pPr>
            <a:r>
              <a:rPr sz="2000" b="0">
                <a:solidFill>
                  <a:srgbClr val="8C8886"/>
                </a:solidFill>
                <a:latin typeface="Arial"/>
              </a:rPr>
              <a:t>vs</a:t>
            </a:r>
          </a:p>
        </p:txBody>
      </p:sp>
      <p:sp>
        <p:nvSpPr>
          <p:cNvPr id="13" name="TextBox 12"/>
          <p:cNvSpPr txBox="1"/>
          <p:nvPr/>
        </p:nvSpPr>
        <p:spPr>
          <a:xfrm>
            <a:off x="3794760" y="4160520"/>
            <a:ext cx="2377440" cy="822960"/>
          </a:xfrm>
          <a:prstGeom prst="rect">
            <a:avLst/>
          </a:prstGeom>
          <a:noFill/>
        </p:spPr>
        <p:txBody>
          <a:bodyPr wrap="square" lIns="0" rIns="0" tIns="0" bIns="0" anchor="t">
            <a:spAutoFit/>
          </a:bodyPr>
          <a:lstStyle/>
          <a:p>
            <a:pPr algn="l">
              <a:lnSpc>
                <a:spcPct val="100000"/>
              </a:lnSpc>
            </a:pPr>
            <a:r>
              <a:rPr sz="5400" b="1">
                <a:solidFill>
                  <a:srgbClr val="EC3013"/>
                </a:solidFill>
                <a:latin typeface="Arial"/>
              </a:rPr>
              <a:t>₹116</a:t>
            </a:r>
          </a:p>
        </p:txBody>
      </p:sp>
      <p:sp>
        <p:nvSpPr>
          <p:cNvPr id="14" name="TextBox 13"/>
          <p:cNvSpPr txBox="1"/>
          <p:nvPr/>
        </p:nvSpPr>
        <p:spPr>
          <a:xfrm>
            <a:off x="3794760" y="5074920"/>
            <a:ext cx="2651760" cy="292608"/>
          </a:xfrm>
          <a:prstGeom prst="rect">
            <a:avLst/>
          </a:prstGeom>
          <a:noFill/>
        </p:spPr>
        <p:txBody>
          <a:bodyPr wrap="square" lIns="0" rIns="0" tIns="0" bIns="0" anchor="t">
            <a:spAutoFit/>
          </a:bodyPr>
          <a:lstStyle/>
          <a:p>
            <a:pPr algn="l">
              <a:lnSpc>
                <a:spcPct val="128000"/>
              </a:lnSpc>
            </a:pPr>
            <a:r>
              <a:rPr sz="1400" b="0">
                <a:solidFill>
                  <a:srgbClr val="6F6C6B"/>
                </a:solidFill>
                <a:latin typeface="Arial"/>
              </a:rPr>
              <a:t>generated Java</a:t>
            </a:r>
          </a:p>
        </p:txBody>
      </p:sp>
      <p:sp>
        <p:nvSpPr>
          <p:cNvPr id="15" name="TextBox 14"/>
          <p:cNvSpPr txBox="1"/>
          <p:nvPr/>
        </p:nvSpPr>
        <p:spPr>
          <a:xfrm>
            <a:off x="1143000" y="5623560"/>
            <a:ext cx="5394960" cy="640080"/>
          </a:xfrm>
          <a:prstGeom prst="rect">
            <a:avLst/>
          </a:prstGeom>
          <a:noFill/>
        </p:spPr>
        <p:txBody>
          <a:bodyPr wrap="square" lIns="0" rIns="0" tIns="0" bIns="0" anchor="t">
            <a:spAutoFit/>
          </a:bodyPr>
          <a:lstStyle/>
          <a:p>
            <a:pPr algn="l">
              <a:lnSpc>
                <a:spcPct val="130000"/>
              </a:lnSpc>
            </a:pPr>
            <a:r>
              <a:rPr sz="1500" b="1">
                <a:solidFill>
                  <a:srgbClr val="AE1800"/>
                </a:solidFill>
                <a:latin typeface="Arial"/>
              </a:rPr>
              <a:t>Δ = ₹1 per account, per accrual — across millions of accounts.</a:t>
            </a:r>
          </a:p>
        </p:txBody>
      </p:sp>
      <p:sp>
        <p:nvSpPr>
          <p:cNvPr id="16" name="Rectangle 15"/>
          <p:cNvSpPr/>
          <p:nvPr/>
        </p:nvSpPr>
        <p:spPr>
          <a:xfrm>
            <a:off x="6995160" y="2843784"/>
            <a:ext cx="3657600" cy="18288"/>
          </a:xfrm>
          <a:prstGeom prst="rect">
            <a:avLst/>
          </a:prstGeom>
          <a:solidFill>
            <a:srgbClr val="20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95160" y="3035808"/>
            <a:ext cx="4937760" cy="347472"/>
          </a:xfrm>
          <a:prstGeom prst="rect">
            <a:avLst/>
          </a:prstGeom>
          <a:noFill/>
        </p:spPr>
        <p:txBody>
          <a:bodyPr wrap="square" lIns="0" rIns="0" tIns="0" bIns="0" anchor="t">
            <a:spAutoFit/>
          </a:bodyPr>
          <a:lstStyle/>
          <a:p>
            <a:pPr algn="l">
              <a:lnSpc>
                <a:spcPct val="128000"/>
              </a:lnSpc>
            </a:pPr>
            <a:r>
              <a:rPr sz="2175" b="1">
                <a:solidFill>
                  <a:srgbClr val="201E1D"/>
                </a:solidFill>
                <a:latin typeface="Arial"/>
              </a:rPr>
              <a:t>Traced to one word</a:t>
            </a:r>
          </a:p>
        </p:txBody>
      </p:sp>
      <p:sp>
        <p:nvSpPr>
          <p:cNvPr id="18" name="TextBox 17"/>
          <p:cNvSpPr txBox="1"/>
          <p:nvPr/>
        </p:nvSpPr>
        <p:spPr>
          <a:xfrm>
            <a:off x="6995160" y="3584448"/>
            <a:ext cx="4892040" cy="1463040"/>
          </a:xfrm>
          <a:prstGeom prst="rect">
            <a:avLst/>
          </a:prstGeom>
          <a:noFill/>
        </p:spPr>
        <p:txBody>
          <a:bodyPr wrap="square" lIns="0" rIns="0" tIns="0" bIns="0" anchor="t">
            <a:spAutoFit/>
          </a:bodyPr>
          <a:lstStyle/>
          <a:p>
            <a:pPr algn="l">
              <a:lnSpc>
                <a:spcPct val="135000"/>
              </a:lnSpc>
            </a:pPr>
            <a:r>
              <a:rPr sz="1500" b="0">
                <a:solidFill>
                  <a:srgbClr val="6F6C6B"/>
                </a:solidFill>
                <a:latin typeface="Arial"/>
              </a:rPr>
              <a:t>Delta debugging shrinks 73 failing inputs to this one. Coverage maps it to rule R-07 — line 214:</a:t>
            </a:r>
          </a:p>
        </p:txBody>
      </p:sp>
      <p:sp>
        <p:nvSpPr>
          <p:cNvPr id="19" name="Rectangle 18"/>
          <p:cNvSpPr/>
          <p:nvPr/>
        </p:nvSpPr>
        <p:spPr>
          <a:xfrm>
            <a:off x="6995160" y="4846320"/>
            <a:ext cx="4892040" cy="566928"/>
          </a:xfrm>
          <a:prstGeom prst="rect">
            <a:avLst/>
          </a:prstGeom>
          <a:solidFill>
            <a:srgbClr val="20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69480" y="4983480"/>
            <a:ext cx="4480560" cy="320040"/>
          </a:xfrm>
          <a:prstGeom prst="rect">
            <a:avLst/>
          </a:prstGeom>
          <a:noFill/>
        </p:spPr>
        <p:txBody>
          <a:bodyPr wrap="square" lIns="0" rIns="0" tIns="0" bIns="0" anchor="t">
            <a:spAutoFit/>
          </a:bodyPr>
          <a:lstStyle/>
          <a:p>
            <a:pPr algn="l">
              <a:lnSpc>
                <a:spcPct val="128000"/>
              </a:lnSpc>
            </a:pPr>
            <a:r>
              <a:rPr sz="1500" b="0">
                <a:solidFill>
                  <a:srgbClr val="F3F2F2"/>
                </a:solidFill>
                <a:latin typeface="Consolas"/>
              </a:rPr>
              <a:t>COMPUTE WS-INT ROUNDED</a:t>
            </a:r>
          </a:p>
        </p:txBody>
      </p:sp>
      <p:sp>
        <p:nvSpPr>
          <p:cNvPr id="21" name="TextBox 20"/>
          <p:cNvSpPr txBox="1"/>
          <p:nvPr/>
        </p:nvSpPr>
        <p:spPr>
          <a:xfrm>
            <a:off x="6995160" y="5623560"/>
            <a:ext cx="4892040" cy="1097280"/>
          </a:xfrm>
          <a:prstGeom prst="rect">
            <a:avLst/>
          </a:prstGeom>
          <a:noFill/>
        </p:spPr>
        <p:txBody>
          <a:bodyPr wrap="square" lIns="0" rIns="0" tIns="0" bIns="0" anchor="t">
            <a:spAutoFit/>
          </a:bodyPr>
          <a:lstStyle/>
          <a:p>
            <a:pPr algn="l">
              <a:lnSpc>
                <a:spcPct val="135000"/>
              </a:lnSpc>
            </a:pPr>
            <a:r>
              <a:rPr sz="1500" b="0">
                <a:solidFill>
                  <a:srgbClr val="6F6C6B"/>
                </a:solidFill>
                <a:latin typeface="Arial"/>
              </a:rPr>
              <a:t>The Java rounds </a:t>
            </a:r>
            <a:r>
              <a:rPr sz="1500" b="1">
                <a:solidFill>
                  <a:srgbClr val="AE1800"/>
                </a:solidFill>
                <a:latin typeface="Consolas"/>
              </a:rPr>
              <a:t>HALF_UP</a:t>
            </a:r>
            <a:r>
              <a:rPr sz="1500" b="0">
                <a:solidFill>
                  <a:srgbClr val="6F6C6B"/>
                </a:solidFill>
                <a:latin typeface="Arial"/>
              </a:rPr>
              <a:t>; the COBOL truncates at the PIC boundary. No crash, no exception — just a different number.</a:t>
            </a:r>
          </a:p>
        </p:txBody>
      </p:sp>
      <p:sp>
        <p:nvSpPr>
          <p:cNvPr id="22" name="Rectangle 21"/>
          <p:cNvSpPr/>
          <p:nvPr/>
        </p:nvSpPr>
        <p:spPr>
          <a:xfrm>
            <a:off x="12847320" y="2843784"/>
            <a:ext cx="3657600" cy="18288"/>
          </a:xfrm>
          <a:prstGeom prst="rect">
            <a:avLst/>
          </a:prstGeom>
          <a:solidFill>
            <a:srgbClr val="20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847320" y="3035808"/>
            <a:ext cx="4297680" cy="347472"/>
          </a:xfrm>
          <a:prstGeom prst="rect">
            <a:avLst/>
          </a:prstGeom>
          <a:noFill/>
        </p:spPr>
        <p:txBody>
          <a:bodyPr wrap="square" lIns="0" rIns="0" tIns="0" bIns="0" anchor="t">
            <a:spAutoFit/>
          </a:bodyPr>
          <a:lstStyle/>
          <a:p>
            <a:pPr algn="l">
              <a:lnSpc>
                <a:spcPct val="128000"/>
              </a:lnSpc>
            </a:pPr>
            <a:r>
              <a:rPr sz="2175" b="1">
                <a:solidFill>
                  <a:srgbClr val="201E1D"/>
                </a:solidFill>
                <a:latin typeface="Arial"/>
              </a:rPr>
              <a:t>The regulator has ruled</a:t>
            </a:r>
          </a:p>
        </p:txBody>
      </p:sp>
      <p:sp>
        <p:nvSpPr>
          <p:cNvPr id="24" name="Rectangle 23"/>
          <p:cNvSpPr/>
          <p:nvPr/>
        </p:nvSpPr>
        <p:spPr>
          <a:xfrm>
            <a:off x="12847320" y="3584448"/>
            <a:ext cx="4297680" cy="2331720"/>
          </a:xfrm>
          <a:prstGeom prst="rect">
            <a:avLst/>
          </a:prstGeom>
          <a:solidFill>
            <a:srgbClr val="EA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121640" y="3803904"/>
            <a:ext cx="3749039" cy="1371600"/>
          </a:xfrm>
          <a:prstGeom prst="rect">
            <a:avLst/>
          </a:prstGeom>
          <a:noFill/>
        </p:spPr>
        <p:txBody>
          <a:bodyPr wrap="square" lIns="0" rIns="0" tIns="0" bIns="0" anchor="t">
            <a:spAutoFit/>
          </a:bodyPr>
          <a:lstStyle/>
          <a:p>
            <a:pPr algn="l">
              <a:lnSpc>
                <a:spcPct val="135000"/>
              </a:lnSpc>
            </a:pPr>
            <a:r>
              <a:rPr sz="1600" b="1">
                <a:solidFill>
                  <a:srgbClr val="201E1D"/>
                </a:solidFill>
                <a:latin typeface="Arial"/>
              </a:rPr>
              <a:t>“Rounded off to the nearest rupee… fifty paise and above rounds to the next higher rupee.”</a:t>
            </a:r>
          </a:p>
        </p:txBody>
      </p:sp>
      <p:sp>
        <p:nvSpPr>
          <p:cNvPr id="26" name="TextBox 25"/>
          <p:cNvSpPr txBox="1"/>
          <p:nvPr/>
        </p:nvSpPr>
        <p:spPr>
          <a:xfrm>
            <a:off x="13121640" y="5257800"/>
            <a:ext cx="3749039" cy="548640"/>
          </a:xfrm>
          <a:prstGeom prst="rect">
            <a:avLst/>
          </a:prstGeom>
          <a:noFill/>
        </p:spPr>
        <p:txBody>
          <a:bodyPr wrap="square" lIns="0" rIns="0" tIns="0" bIns="0" anchor="t">
            <a:spAutoFit/>
          </a:bodyPr>
          <a:lstStyle/>
          <a:p>
            <a:pPr algn="l">
              <a:lnSpc>
                <a:spcPct val="130000"/>
              </a:lnSpc>
            </a:pPr>
            <a:r>
              <a:rPr sz="1300" b="0">
                <a:solidFill>
                  <a:srgbClr val="6F6C6B"/>
                </a:solidFill>
                <a:latin typeface="Arial"/>
              </a:rPr>
              <a:t>RBI Master Direction — Interest Rate on Deposits, clause 4(f)</a:t>
            </a:r>
          </a:p>
        </p:txBody>
      </p:sp>
      <p:sp>
        <p:nvSpPr>
          <p:cNvPr id="27" name="TextBox 26"/>
          <p:cNvSpPr txBox="1"/>
          <p:nvPr/>
        </p:nvSpPr>
        <p:spPr>
          <a:xfrm>
            <a:off x="12847320" y="6053328"/>
            <a:ext cx="4297680" cy="685800"/>
          </a:xfrm>
          <a:prstGeom prst="rect">
            <a:avLst/>
          </a:prstGeom>
          <a:noFill/>
        </p:spPr>
        <p:txBody>
          <a:bodyPr wrap="square" lIns="0" rIns="0" tIns="0" bIns="0" anchor="t">
            <a:spAutoFit/>
          </a:bodyPr>
          <a:lstStyle/>
          <a:p>
            <a:pPr algn="l">
              <a:lnSpc>
                <a:spcPct val="135000"/>
              </a:lnSpc>
            </a:pPr>
            <a:r>
              <a:rPr sz="1350" b="0">
                <a:solidFill>
                  <a:srgbClr val="8C8886"/>
                </a:solidFill>
                <a:latin typeface="Arial"/>
              </a:rPr>
              <a:t>Daily product basis · clause 6(a). Uniform rate to ₹1 lakh · 6(a)(1)–(2).</a:t>
            </a:r>
          </a:p>
        </p:txBody>
      </p:sp>
      <p:sp>
        <p:nvSpPr>
          <p:cNvPr id="28" name="Rectangle 27"/>
          <p:cNvSpPr/>
          <p:nvPr/>
        </p:nvSpPr>
        <p:spPr>
          <a:xfrm>
            <a:off x="1143000" y="7178040"/>
            <a:ext cx="16002000" cy="18288"/>
          </a:xfrm>
          <a:prstGeom prst="rect">
            <a:avLst/>
          </a:prstGeom>
          <a:solidFill>
            <a:srgbClr val="20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43000" y="7406640"/>
            <a:ext cx="10972800" cy="365760"/>
          </a:xfrm>
          <a:prstGeom prst="rect">
            <a:avLst/>
          </a:prstGeom>
          <a:noFill/>
        </p:spPr>
        <p:txBody>
          <a:bodyPr wrap="square" lIns="0" rIns="0" tIns="0" bIns="0" anchor="t">
            <a:spAutoFit/>
          </a:bodyPr>
          <a:lstStyle/>
          <a:p>
            <a:pPr algn="l">
              <a:lnSpc>
                <a:spcPct val="128000"/>
              </a:lnSpc>
            </a:pPr>
            <a:r>
              <a:rPr sz="2175" b="1">
                <a:solidFill>
                  <a:srgbClr val="201E1D"/>
                </a:solidFill>
                <a:latin typeface="Arial"/>
              </a:rPr>
              <a:t>And the report it ships inside</a:t>
            </a:r>
          </a:p>
        </p:txBody>
      </p:sp>
      <p:sp>
        <p:nvSpPr>
          <p:cNvPr id="30" name="TextBox 29"/>
          <p:cNvSpPr txBox="1"/>
          <p:nvPr/>
        </p:nvSpPr>
        <p:spPr>
          <a:xfrm>
            <a:off x="1143000" y="7973568"/>
            <a:ext cx="2011680" cy="685800"/>
          </a:xfrm>
          <a:prstGeom prst="rect">
            <a:avLst/>
          </a:prstGeom>
          <a:noFill/>
        </p:spPr>
        <p:txBody>
          <a:bodyPr wrap="square" lIns="0" rIns="0" tIns="0" bIns="0" anchor="t">
            <a:spAutoFit/>
          </a:bodyPr>
          <a:lstStyle/>
          <a:p>
            <a:pPr algn="l">
              <a:lnSpc>
                <a:spcPct val="100000"/>
              </a:lnSpc>
            </a:pPr>
            <a:r>
              <a:rPr sz="4000" b="1">
                <a:solidFill>
                  <a:srgbClr val="201E1D"/>
                </a:solidFill>
                <a:latin typeface="Arial"/>
              </a:rPr>
              <a:t>31</a:t>
            </a:r>
          </a:p>
        </p:txBody>
      </p:sp>
      <p:sp>
        <p:nvSpPr>
          <p:cNvPr id="31" name="TextBox 30"/>
          <p:cNvSpPr txBox="1"/>
          <p:nvPr/>
        </p:nvSpPr>
        <p:spPr>
          <a:xfrm>
            <a:off x="1143000" y="8732520"/>
            <a:ext cx="3749039" cy="320040"/>
          </a:xfrm>
          <a:prstGeom prst="rect">
            <a:avLst/>
          </a:prstGeom>
          <a:noFill/>
        </p:spPr>
        <p:txBody>
          <a:bodyPr wrap="square" lIns="0" rIns="0" tIns="0" bIns="0" anchor="t">
            <a:spAutoFit/>
          </a:bodyPr>
          <a:lstStyle/>
          <a:p>
            <a:pPr algn="l">
              <a:lnSpc>
                <a:spcPct val="128000"/>
              </a:lnSpc>
            </a:pPr>
            <a:r>
              <a:rPr sz="1450" b="0">
                <a:solidFill>
                  <a:srgbClr val="6F6C6B"/>
                </a:solidFill>
                <a:latin typeface="Arial"/>
              </a:rPr>
              <a:t>rules proven</a:t>
            </a:r>
          </a:p>
        </p:txBody>
      </p:sp>
      <p:sp>
        <p:nvSpPr>
          <p:cNvPr id="32" name="TextBox 31"/>
          <p:cNvSpPr txBox="1"/>
          <p:nvPr/>
        </p:nvSpPr>
        <p:spPr>
          <a:xfrm>
            <a:off x="5257800" y="7973568"/>
            <a:ext cx="2011680" cy="685800"/>
          </a:xfrm>
          <a:prstGeom prst="rect">
            <a:avLst/>
          </a:prstGeom>
          <a:noFill/>
        </p:spPr>
        <p:txBody>
          <a:bodyPr wrap="square" lIns="0" rIns="0" tIns="0" bIns="0" anchor="t">
            <a:spAutoFit/>
          </a:bodyPr>
          <a:lstStyle/>
          <a:p>
            <a:pPr algn="l">
              <a:lnSpc>
                <a:spcPct val="100000"/>
              </a:lnSpc>
            </a:pPr>
            <a:r>
              <a:rPr sz="4000" b="1">
                <a:solidFill>
                  <a:srgbClr val="B8860B"/>
                </a:solidFill>
                <a:latin typeface="Arial"/>
              </a:rPr>
              <a:t>11</a:t>
            </a:r>
          </a:p>
        </p:txBody>
      </p:sp>
      <p:sp>
        <p:nvSpPr>
          <p:cNvPr id="33" name="TextBox 32"/>
          <p:cNvSpPr txBox="1"/>
          <p:nvPr/>
        </p:nvSpPr>
        <p:spPr>
          <a:xfrm>
            <a:off x="5257800" y="8732520"/>
            <a:ext cx="3749039" cy="320040"/>
          </a:xfrm>
          <a:prstGeom prst="rect">
            <a:avLst/>
          </a:prstGeom>
          <a:noFill/>
        </p:spPr>
        <p:txBody>
          <a:bodyPr wrap="square" lIns="0" rIns="0" tIns="0" bIns="0" anchor="t">
            <a:spAutoFit/>
          </a:bodyPr>
          <a:lstStyle/>
          <a:p>
            <a:pPr algn="l">
              <a:lnSpc>
                <a:spcPct val="128000"/>
              </a:lnSpc>
            </a:pPr>
            <a:r>
              <a:rPr sz="1450" b="0">
                <a:solidFill>
                  <a:srgbClr val="6F6C6B"/>
                </a:solidFill>
                <a:latin typeface="Arial"/>
              </a:rPr>
              <a:t>unproven — named</a:t>
            </a:r>
          </a:p>
        </p:txBody>
      </p:sp>
      <p:sp>
        <p:nvSpPr>
          <p:cNvPr id="34" name="TextBox 33"/>
          <p:cNvSpPr txBox="1"/>
          <p:nvPr/>
        </p:nvSpPr>
        <p:spPr>
          <a:xfrm>
            <a:off x="9372600" y="7973568"/>
            <a:ext cx="2011680" cy="685800"/>
          </a:xfrm>
          <a:prstGeom prst="rect">
            <a:avLst/>
          </a:prstGeom>
          <a:noFill/>
        </p:spPr>
        <p:txBody>
          <a:bodyPr wrap="square" lIns="0" rIns="0" tIns="0" bIns="0" anchor="t">
            <a:spAutoFit/>
          </a:bodyPr>
          <a:lstStyle/>
          <a:p>
            <a:pPr algn="l">
              <a:lnSpc>
                <a:spcPct val="100000"/>
              </a:lnSpc>
            </a:pPr>
            <a:r>
              <a:rPr sz="4000" b="1">
                <a:solidFill>
                  <a:srgbClr val="AE1800"/>
                </a:solidFill>
                <a:latin typeface="Arial"/>
              </a:rPr>
              <a:t>5</a:t>
            </a:r>
          </a:p>
        </p:txBody>
      </p:sp>
      <p:sp>
        <p:nvSpPr>
          <p:cNvPr id="35" name="TextBox 34"/>
          <p:cNvSpPr txBox="1"/>
          <p:nvPr/>
        </p:nvSpPr>
        <p:spPr>
          <a:xfrm>
            <a:off x="9372600" y="8732520"/>
            <a:ext cx="3749039" cy="320040"/>
          </a:xfrm>
          <a:prstGeom prst="rect">
            <a:avLst/>
          </a:prstGeom>
          <a:noFill/>
        </p:spPr>
        <p:txBody>
          <a:bodyPr wrap="square" lIns="0" rIns="0" tIns="0" bIns="0" anchor="t">
            <a:spAutoFit/>
          </a:bodyPr>
          <a:lstStyle/>
          <a:p>
            <a:pPr algn="l">
              <a:lnSpc>
                <a:spcPct val="128000"/>
              </a:lnSpc>
            </a:pPr>
            <a:r>
              <a:rPr sz="1450" b="0">
                <a:solidFill>
                  <a:srgbClr val="6F6C6B"/>
                </a:solidFill>
                <a:latin typeface="Arial"/>
              </a:rPr>
              <a:t>refuted — our AI caught</a:t>
            </a:r>
          </a:p>
        </p:txBody>
      </p:sp>
      <p:sp>
        <p:nvSpPr>
          <p:cNvPr id="36" name="TextBox 35"/>
          <p:cNvSpPr txBox="1"/>
          <p:nvPr/>
        </p:nvSpPr>
        <p:spPr>
          <a:xfrm>
            <a:off x="13487400" y="7973568"/>
            <a:ext cx="2011680" cy="685800"/>
          </a:xfrm>
          <a:prstGeom prst="rect">
            <a:avLst/>
          </a:prstGeom>
          <a:noFill/>
        </p:spPr>
        <p:txBody>
          <a:bodyPr wrap="square" lIns="0" rIns="0" tIns="0" bIns="0" anchor="t">
            <a:spAutoFit/>
          </a:bodyPr>
          <a:lstStyle/>
          <a:p>
            <a:pPr algn="l">
              <a:lnSpc>
                <a:spcPct val="100000"/>
              </a:lnSpc>
            </a:pPr>
            <a:r>
              <a:rPr sz="4000" b="1">
                <a:solidFill>
                  <a:srgbClr val="201E1D"/>
                </a:solidFill>
                <a:latin typeface="Arial"/>
              </a:rPr>
              <a:t>94%</a:t>
            </a:r>
          </a:p>
        </p:txBody>
      </p:sp>
      <p:sp>
        <p:nvSpPr>
          <p:cNvPr id="37" name="TextBox 36"/>
          <p:cNvSpPr txBox="1"/>
          <p:nvPr/>
        </p:nvSpPr>
        <p:spPr>
          <a:xfrm>
            <a:off x="13487400" y="8732520"/>
            <a:ext cx="3749039" cy="320040"/>
          </a:xfrm>
          <a:prstGeom prst="rect">
            <a:avLst/>
          </a:prstGeom>
          <a:noFill/>
        </p:spPr>
        <p:txBody>
          <a:bodyPr wrap="square" lIns="0" rIns="0" tIns="0" bIns="0" anchor="t">
            <a:spAutoFit/>
          </a:bodyPr>
          <a:lstStyle/>
          <a:p>
            <a:pPr algn="l">
              <a:lnSpc>
                <a:spcPct val="128000"/>
              </a:lnSpc>
            </a:pPr>
            <a:r>
              <a:rPr sz="1450" b="0">
                <a:solidFill>
                  <a:srgbClr val="6F6C6B"/>
                </a:solidFill>
                <a:latin typeface="Arial"/>
              </a:rPr>
              <a:t>mutation kill rate</a:t>
            </a:r>
          </a:p>
        </p:txBody>
      </p:sp>
      <p:sp>
        <p:nvSpPr>
          <p:cNvPr id="38" name="TextBox 37"/>
          <p:cNvSpPr txBox="1"/>
          <p:nvPr/>
        </p:nvSpPr>
        <p:spPr>
          <a:xfrm>
            <a:off x="1143000" y="9354312"/>
            <a:ext cx="17602200" cy="365760"/>
          </a:xfrm>
          <a:prstGeom prst="rect">
            <a:avLst/>
          </a:prstGeom>
          <a:noFill/>
        </p:spPr>
        <p:txBody>
          <a:bodyPr wrap="square" lIns="0" rIns="0" tIns="0" bIns="0" anchor="t">
            <a:spAutoFit/>
          </a:bodyPr>
          <a:lstStyle/>
          <a:p>
            <a:pPr algn="l">
              <a:lnSpc>
                <a:spcPct val="128000"/>
              </a:lnSpc>
            </a:pPr>
            <a:r>
              <a:rPr sz="1350" b="0">
                <a:solidFill>
                  <a:srgbClr val="8C8886"/>
                </a:solidFill>
                <a:latin typeface="Arial"/>
              </a:rPr>
              <a:t>Illustrative output — the shape the demo is built to produce, not a completed run.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sp>
      <p:sp>
        <p:nvSpPr>
          <p:cNvPr id="3" name="Text 1"/>
          <p:cNvSpPr/>
          <p:nvPr/>
        </p:nvSpPr>
        <p:spPr>
          <a:xfrm>
            <a:off x="1143000" y="609600"/>
            <a:ext cx="2854791"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TECHNICAL DETAILS</a:t>
            </a:r>
            <a:endParaRPr lang="en-US" sz="1800" dirty="0"/>
          </a:p>
        </p:txBody>
      </p:sp>
      <p:sp>
        <p:nvSpPr>
          <p:cNvPr id="4" name="Text 2"/>
          <p:cNvSpPr/>
          <p:nvPr/>
        </p:nvSpPr>
        <p:spPr>
          <a:xfrm>
            <a:off x="16848733" y="609600"/>
            <a:ext cx="372467"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201E1C">
                    <a:alpha val="60000"/>
                  </a:srgbClr>
                </a:solidFill>
                <a:latin typeface="Arial" pitchFamily="34" charset="0"/>
                <a:ea typeface="Arial" pitchFamily="34" charset="-122"/>
                <a:cs typeface="Arial" pitchFamily="34" charset="-120"/>
              </a:rPr>
              <a:t>08</a:t>
            </a:r>
            <a:endParaRPr lang="en-US" sz="1800" dirty="0"/>
          </a:p>
        </p:txBody>
      </p:sp>
      <p:sp>
        <p:nvSpPr>
          <p:cNvPr id="5" name="Text 3"/>
          <p:cNvSpPr/>
          <p:nvPr/>
        </p:nvSpPr>
        <p:spPr>
          <a:xfrm>
            <a:off x="1116509" y="1790700"/>
            <a:ext cx="17631341" cy="675878"/>
          </a:xfrm>
          <a:prstGeom prst="rect">
            <a:avLst/>
          </a:prstGeom>
          <a:noFill/>
          <a:ln/>
        </p:spPr>
        <p:txBody>
          <a:bodyPr wrap="square" lIns="25400" tIns="25400" rIns="25400" bIns="25400" rtlCol="0" anchor="t">
            <a:normAutofit/>
          </a:bodyPr>
          <a:lstStyle/>
          <a:p>
            <a:pPr algn="l" indent="0" marL="0">
              <a:lnSpc>
                <a:spcPct val="76672"/>
              </a:lnSpc>
              <a:buNone/>
            </a:pPr>
            <a:r>
              <a:rPr lang="en-US" sz="4650" b="1" spc="-70" kern="0" dirty="0">
                <a:solidFill>
                  <a:srgbClr val="201E1D"/>
                </a:solidFill>
                <a:latin typeface="Arial" pitchFamily="34" charset="0"/>
                <a:ea typeface="Arial" pitchFamily="34" charset="-122"/>
                <a:cs typeface="Arial" pitchFamily="34" charset="-120"/>
              </a:rPr>
              <a:t>The stack, and why each piece is there</a:t>
            </a:r>
            <a:endParaRPr lang="en-US" sz="4650" dirty="0"/>
          </a:p>
        </p:txBody>
      </p:sp>
      <p:sp>
        <p:nvSpPr>
          <p:cNvPr id="6" name="Shape 4"/>
          <p:cNvSpPr/>
          <p:nvPr/>
        </p:nvSpPr>
        <p:spPr>
          <a:xfrm>
            <a:off x="1143000" y="2771378"/>
            <a:ext cx="5029200" cy="19050"/>
          </a:xfrm>
          <a:prstGeom prst="rect">
            <a:avLst/>
          </a:prstGeom>
          <a:solidFill>
            <a:srgbClr val="201E1E">
              <a:alpha val="40000"/>
            </a:srgbClr>
          </a:solidFill>
          <a:ln/>
        </p:spPr>
      </p:sp>
      <p:sp>
        <p:nvSpPr>
          <p:cNvPr id="7" name="Text 5"/>
          <p:cNvSpPr/>
          <p:nvPr/>
        </p:nvSpPr>
        <p:spPr>
          <a:xfrm>
            <a:off x="1143000" y="2961878"/>
            <a:ext cx="5532120" cy="344785"/>
          </a:xfrm>
          <a:prstGeom prst="rect">
            <a:avLst/>
          </a:prstGeom>
          <a:noFill/>
          <a:ln/>
        </p:spPr>
        <p:txBody>
          <a:bodyPr wrap="square" lIns="25400" tIns="25400" rIns="25400" bIns="25400" rtlCol="0" anchor="t">
            <a:normAutofit/>
          </a:bodyPr>
          <a:lstStyle/>
          <a:p>
            <a:pPr algn="l" indent="0" marL="0">
              <a:lnSpc>
                <a:spcPct val="81864"/>
              </a:lnSpc>
              <a:buNone/>
            </a:pPr>
            <a:r>
              <a:rPr lang="en-US" sz="2100" b="1" spc="-31" kern="0" dirty="0">
                <a:solidFill>
                  <a:srgbClr val="201E1D"/>
                </a:solidFill>
                <a:latin typeface="Arial" pitchFamily="34" charset="0"/>
                <a:ea typeface="Arial" pitchFamily="34" charset="-122"/>
                <a:cs typeface="Arial" pitchFamily="34" charset="-120"/>
              </a:rPr>
              <a:t>Legacy execution</a:t>
            </a:r>
            <a:endParaRPr lang="en-US" sz="2100" dirty="0"/>
          </a:p>
        </p:txBody>
      </p:sp>
      <p:sp>
        <p:nvSpPr>
          <p:cNvPr id="8" name="Text 6"/>
          <p:cNvSpPr/>
          <p:nvPr/>
        </p:nvSpPr>
        <p:spPr>
          <a:xfrm>
            <a:off x="1143000" y="3401913"/>
            <a:ext cx="5180076" cy="90170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GnuCOBOL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 cobc / libcob, GPL and LGPL. 19 COBOL dialects, -std=ibm-strict against Enterprise COBOL 6.3.</a:t>
            </a:r>
            <a:endParaRPr lang="en-US" sz="1800" dirty="0"/>
          </a:p>
        </p:txBody>
      </p:sp>
      <p:sp>
        <p:nvSpPr>
          <p:cNvPr id="9" name="Text 7"/>
          <p:cNvSpPr/>
          <p:nvPr/>
        </p:nvSpPr>
        <p:spPr>
          <a:xfrm>
            <a:off x="1143000" y="4398863"/>
            <a:ext cx="5180076" cy="90170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Conformance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 passes 9,700 of 9,748 NIST CCVS85 tests. The project does not claim standard conformance; we state that ourselves.</a:t>
            </a:r>
            <a:endParaRPr lang="en-US" sz="1800" dirty="0"/>
          </a:p>
        </p:txBody>
      </p:sp>
      <p:sp>
        <p:nvSpPr>
          <p:cNvPr id="10" name="Text 8"/>
          <p:cNvSpPr/>
          <p:nvPr/>
        </p:nvSpPr>
        <p:spPr>
          <a:xfrm>
            <a:off x="1143000" y="5395814"/>
            <a:ext cx="5180076" cy="90170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Why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 compiles COBOL to C to a native binary, so the legacy side is a real executable we can run, time and instrument.</a:t>
            </a:r>
            <a:endParaRPr lang="en-US" sz="1800" dirty="0"/>
          </a:p>
        </p:txBody>
      </p:sp>
      <p:sp>
        <p:nvSpPr>
          <p:cNvPr id="11" name="Shape 9"/>
          <p:cNvSpPr/>
          <p:nvPr/>
        </p:nvSpPr>
        <p:spPr>
          <a:xfrm>
            <a:off x="6629400" y="2771378"/>
            <a:ext cx="5029200" cy="19050"/>
          </a:xfrm>
          <a:prstGeom prst="rect">
            <a:avLst/>
          </a:prstGeom>
          <a:solidFill>
            <a:srgbClr val="201E1E">
              <a:alpha val="40000"/>
            </a:srgbClr>
          </a:solidFill>
          <a:ln/>
        </p:spPr>
      </p:sp>
      <p:sp>
        <p:nvSpPr>
          <p:cNvPr id="12" name="Text 10"/>
          <p:cNvSpPr/>
          <p:nvPr/>
        </p:nvSpPr>
        <p:spPr>
          <a:xfrm>
            <a:off x="6629400" y="2961878"/>
            <a:ext cx="5532120" cy="344785"/>
          </a:xfrm>
          <a:prstGeom prst="rect">
            <a:avLst/>
          </a:prstGeom>
          <a:noFill/>
          <a:ln/>
        </p:spPr>
        <p:txBody>
          <a:bodyPr wrap="square" lIns="25400" tIns="25400" rIns="25400" bIns="25400" rtlCol="0" anchor="t">
            <a:normAutofit/>
          </a:bodyPr>
          <a:lstStyle/>
          <a:p>
            <a:pPr algn="l" indent="0" marL="0">
              <a:lnSpc>
                <a:spcPct val="81864"/>
              </a:lnSpc>
              <a:buNone/>
            </a:pPr>
            <a:r>
              <a:rPr lang="en-US" sz="2100" b="1" spc="-31" kern="0" dirty="0">
                <a:solidFill>
                  <a:srgbClr val="201E1D"/>
                </a:solidFill>
                <a:latin typeface="Arial" pitchFamily="34" charset="0"/>
                <a:ea typeface="Arial" pitchFamily="34" charset="-122"/>
                <a:cs typeface="Arial" pitchFamily="34" charset="-120"/>
              </a:rPr>
              <a:t>Analysis and extraction</a:t>
            </a:r>
            <a:endParaRPr lang="en-US" sz="2100" dirty="0"/>
          </a:p>
        </p:txBody>
      </p:sp>
      <p:sp>
        <p:nvSpPr>
          <p:cNvPr id="13" name="Text 11"/>
          <p:cNvSpPr/>
          <p:nvPr/>
        </p:nvSpPr>
        <p:spPr>
          <a:xfrm>
            <a:off x="6629400" y="3401913"/>
            <a:ext cx="5180076" cy="90170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ProLeap COBOL parser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 ANTLR4, MIT licence. AST plus an abstract semantic graph with data and control flow.</a:t>
            </a:r>
            <a:endParaRPr lang="en-US" sz="1800" dirty="0"/>
          </a:p>
        </p:txBody>
      </p:sp>
      <p:sp>
        <p:nvSpPr>
          <p:cNvPr id="14" name="Text 12"/>
          <p:cNvSpPr/>
          <p:nvPr/>
        </p:nvSpPr>
        <p:spPr>
          <a:xfrm>
            <a:off x="6629400" y="4398863"/>
            <a:ext cx="5180076" cy="90170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Program slicing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 on business-concept variables. A slice is a set of source lines — exactly the traceability we promise.</a:t>
            </a:r>
            <a:endParaRPr lang="en-US" sz="1800" dirty="0"/>
          </a:p>
        </p:txBody>
      </p:sp>
      <p:sp>
        <p:nvSpPr>
          <p:cNvPr id="15" name="Text 13"/>
          <p:cNvSpPr/>
          <p:nvPr/>
        </p:nvSpPr>
        <p:spPr>
          <a:xfrm>
            <a:off x="6629400" y="5395814"/>
            <a:ext cx="5180076" cy="90170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AE1800"/>
                </a:solidFill>
                <a:latin typeface="Arial" pitchFamily="34" charset="0"/>
                <a:ea typeface="Arial" pitchFamily="34" charset="-122"/>
                <a:cs typeface="Arial" pitchFamily="34" charset="-120"/>
              </a:rPr>
              <a:t>Bounded LLM call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 one call per slice, never over the whole file. The model cannot invent a line reference the slice does not contain.</a:t>
            </a:r>
            <a:endParaRPr lang="en-US" sz="1800" dirty="0"/>
          </a:p>
        </p:txBody>
      </p:sp>
      <p:sp>
        <p:nvSpPr>
          <p:cNvPr id="16" name="Shape 14"/>
          <p:cNvSpPr/>
          <p:nvPr/>
        </p:nvSpPr>
        <p:spPr>
          <a:xfrm>
            <a:off x="12115800" y="2771378"/>
            <a:ext cx="5029200" cy="19050"/>
          </a:xfrm>
          <a:prstGeom prst="rect">
            <a:avLst/>
          </a:prstGeom>
          <a:solidFill>
            <a:srgbClr val="201E1E">
              <a:alpha val="40000"/>
            </a:srgbClr>
          </a:solidFill>
          <a:ln/>
        </p:spPr>
      </p:sp>
      <p:sp>
        <p:nvSpPr>
          <p:cNvPr id="17" name="Text 15"/>
          <p:cNvSpPr/>
          <p:nvPr/>
        </p:nvSpPr>
        <p:spPr>
          <a:xfrm>
            <a:off x="12115800" y="2961878"/>
            <a:ext cx="5532120" cy="344785"/>
          </a:xfrm>
          <a:prstGeom prst="rect">
            <a:avLst/>
          </a:prstGeom>
          <a:noFill/>
          <a:ln/>
        </p:spPr>
        <p:txBody>
          <a:bodyPr wrap="square" lIns="25400" tIns="25400" rIns="25400" bIns="25400" rtlCol="0" anchor="t">
            <a:normAutofit/>
          </a:bodyPr>
          <a:lstStyle/>
          <a:p>
            <a:pPr algn="l" indent="0" marL="0">
              <a:lnSpc>
                <a:spcPct val="81864"/>
              </a:lnSpc>
              <a:buNone/>
            </a:pPr>
            <a:r>
              <a:rPr lang="en-US" sz="2100" b="1" spc="-31" kern="0" dirty="0">
                <a:solidFill>
                  <a:srgbClr val="201E1D"/>
                </a:solidFill>
                <a:latin typeface="Arial" pitchFamily="34" charset="0"/>
                <a:ea typeface="Arial" pitchFamily="34" charset="-122"/>
                <a:cs typeface="Arial" pitchFamily="34" charset="-120"/>
              </a:rPr>
              <a:t>Verification and coverage</a:t>
            </a:r>
            <a:endParaRPr lang="en-US" sz="2100" dirty="0"/>
          </a:p>
        </p:txBody>
      </p:sp>
      <p:sp>
        <p:nvSpPr>
          <p:cNvPr id="18" name="Text 16"/>
          <p:cNvSpPr/>
          <p:nvPr/>
        </p:nvSpPr>
        <p:spPr>
          <a:xfrm>
            <a:off x="12115800" y="3401913"/>
            <a:ext cx="5180076" cy="90170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gcov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 statement execution counts via -fprofile-arcs. Fallback: paragraph-level DISPLAY trace with -fgen-c-line-directives.</a:t>
            </a:r>
            <a:endParaRPr lang="en-US" sz="1800" dirty="0"/>
          </a:p>
        </p:txBody>
      </p:sp>
      <p:sp>
        <p:nvSpPr>
          <p:cNvPr id="19" name="Text 17"/>
          <p:cNvSpPr/>
          <p:nvPr/>
        </p:nvSpPr>
        <p:spPr>
          <a:xfrm>
            <a:off x="12115800" y="4398863"/>
            <a:ext cx="5180076" cy="90170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Differential runner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 same input, three outputs: legacy COBOL, generated Java, and the RBI Direction as a third reference.</a:t>
            </a:r>
            <a:endParaRPr lang="en-US" sz="1800" dirty="0"/>
          </a:p>
        </p:txBody>
      </p:sp>
      <p:sp>
        <p:nvSpPr>
          <p:cNvPr id="20" name="Text 18"/>
          <p:cNvSpPr/>
          <p:nvPr/>
        </p:nvSpPr>
        <p:spPr>
          <a:xfrm>
            <a:off x="12115800" y="5395814"/>
            <a:ext cx="5180076" cy="61595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Delta debugging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 shrinks 73 failing inputs to one minimal counterexample.</a:t>
            </a:r>
            <a:endParaRPr lang="en-US" sz="1800" dirty="0"/>
          </a:p>
        </p:txBody>
      </p:sp>
      <p:sp>
        <p:nvSpPr>
          <p:cNvPr id="21" name="Shape 19"/>
          <p:cNvSpPr/>
          <p:nvPr/>
        </p:nvSpPr>
        <p:spPr>
          <a:xfrm>
            <a:off x="1143000" y="6602313"/>
            <a:ext cx="7772400" cy="19050"/>
          </a:xfrm>
          <a:prstGeom prst="rect">
            <a:avLst/>
          </a:prstGeom>
          <a:solidFill>
            <a:srgbClr val="201E1E">
              <a:alpha val="40000"/>
            </a:srgbClr>
          </a:solidFill>
          <a:ln/>
        </p:spPr>
      </p:sp>
      <p:sp>
        <p:nvSpPr>
          <p:cNvPr id="22" name="Text 20"/>
          <p:cNvSpPr/>
          <p:nvPr/>
        </p:nvSpPr>
        <p:spPr>
          <a:xfrm>
            <a:off x="1143000" y="6792813"/>
            <a:ext cx="8549640" cy="344785"/>
          </a:xfrm>
          <a:prstGeom prst="rect">
            <a:avLst/>
          </a:prstGeom>
          <a:noFill/>
          <a:ln/>
        </p:spPr>
        <p:txBody>
          <a:bodyPr wrap="square" lIns="25400" tIns="25400" rIns="25400" bIns="25400" rtlCol="0" anchor="t">
            <a:normAutofit/>
          </a:bodyPr>
          <a:lstStyle/>
          <a:p>
            <a:pPr algn="l" indent="0" marL="0">
              <a:lnSpc>
                <a:spcPct val="81864"/>
              </a:lnSpc>
              <a:buNone/>
            </a:pPr>
            <a:r>
              <a:rPr lang="en-US" sz="2100" b="1" spc="-31" kern="0" dirty="0">
                <a:solidFill>
                  <a:srgbClr val="201E1D"/>
                </a:solidFill>
                <a:latin typeface="Arial" pitchFamily="34" charset="0"/>
                <a:ea typeface="Arial" pitchFamily="34" charset="-122"/>
                <a:cs typeface="Arial" pitchFamily="34" charset="-120"/>
              </a:rPr>
              <a:t>Data sources</a:t>
            </a:r>
            <a:endParaRPr lang="en-US" sz="2100" dirty="0"/>
          </a:p>
        </p:txBody>
      </p:sp>
      <p:sp>
        <p:nvSpPr>
          <p:cNvPr id="23" name="Text 21"/>
          <p:cNvSpPr/>
          <p:nvPr/>
        </p:nvSpPr>
        <p:spPr>
          <a:xfrm>
            <a:off x="1143000" y="7232849"/>
            <a:ext cx="8005572" cy="895350"/>
          </a:xfrm>
          <a:prstGeom prst="rect">
            <a:avLst/>
          </a:prstGeom>
          <a:noFill/>
          <a:ln/>
        </p:spPr>
        <p:txBody>
          <a:bodyPr wrap="square" lIns="25400" tIns="25400" rIns="25400" bIns="25400" rtlCol="0" anchor="t">
            <a:normAutofit/>
          </a:bodyPr>
          <a:lstStyle/>
          <a:p>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AWS mainframe-modernisation CardDemo corpus (Apache 2.0) · NIST CCVS85, 512 programs and 8,800+ cases, public domain · RBI Master Direction clauses encoded as the third reference.</a:t>
            </a:r>
            <a:endParaRPr lang="en-US" sz="1800" dirty="0"/>
          </a:p>
        </p:txBody>
      </p:sp>
      <p:sp>
        <p:nvSpPr>
          <p:cNvPr id="24" name="Shape 22"/>
          <p:cNvSpPr/>
          <p:nvPr/>
        </p:nvSpPr>
        <p:spPr>
          <a:xfrm>
            <a:off x="9372600" y="6602313"/>
            <a:ext cx="7772400" cy="19050"/>
          </a:xfrm>
          <a:prstGeom prst="rect">
            <a:avLst/>
          </a:prstGeom>
          <a:solidFill>
            <a:srgbClr val="201E1E">
              <a:alpha val="40000"/>
            </a:srgbClr>
          </a:solidFill>
          <a:ln/>
        </p:spPr>
      </p:sp>
      <p:sp>
        <p:nvSpPr>
          <p:cNvPr id="25" name="Text 23"/>
          <p:cNvSpPr/>
          <p:nvPr/>
        </p:nvSpPr>
        <p:spPr>
          <a:xfrm>
            <a:off x="9372600" y="6792813"/>
            <a:ext cx="8549640" cy="344785"/>
          </a:xfrm>
          <a:prstGeom prst="rect">
            <a:avLst/>
          </a:prstGeom>
          <a:noFill/>
          <a:ln/>
        </p:spPr>
        <p:txBody>
          <a:bodyPr wrap="square" lIns="25400" tIns="25400" rIns="25400" bIns="25400" rtlCol="0" anchor="t">
            <a:normAutofit/>
          </a:bodyPr>
          <a:lstStyle/>
          <a:p>
            <a:pPr algn="l" indent="0" marL="0">
              <a:lnSpc>
                <a:spcPct val="81864"/>
              </a:lnSpc>
              <a:buNone/>
            </a:pPr>
            <a:r>
              <a:rPr lang="en-US" sz="2100" b="1" spc="-31" kern="0" dirty="0">
                <a:solidFill>
                  <a:srgbClr val="201E1D"/>
                </a:solidFill>
                <a:latin typeface="Arial" pitchFamily="34" charset="0"/>
                <a:ea typeface="Arial" pitchFamily="34" charset="-122"/>
                <a:cs typeface="Arial" pitchFamily="34" charset="-120"/>
              </a:rPr>
              <a:t>Integration and interoperability</a:t>
            </a:r>
            <a:endParaRPr lang="en-US" sz="2100" dirty="0"/>
          </a:p>
        </p:txBody>
      </p:sp>
      <p:sp>
        <p:nvSpPr>
          <p:cNvPr id="26" name="Text 24"/>
          <p:cNvSpPr/>
          <p:nvPr/>
        </p:nvSpPr>
        <p:spPr>
          <a:xfrm>
            <a:off x="9372600" y="7232849"/>
            <a:ext cx="8005572" cy="895350"/>
          </a:xfrm>
          <a:prstGeom prst="rect">
            <a:avLst/>
          </a:prstGeom>
          <a:noFill/>
          <a:ln/>
        </p:spPr>
        <p:txBody>
          <a:bodyPr wrap="square" lIns="25400" tIns="25400" rIns="25400" bIns="25400" rtlCol="0" anchor="t">
            <a:normAutofit/>
          </a:bodyPr>
          <a:lstStyle/>
          <a:p>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CLI plus a JSON evidence bundle. The methodology is compiler-agnostic — swap GnuCOBOL for IBM Enterprise COBOL inside the bank and the harness is unchanged. No mainframe access required.</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sp>
      <p:sp>
        <p:nvSpPr>
          <p:cNvPr id="3" name="Text 1"/>
          <p:cNvSpPr/>
          <p:nvPr/>
        </p:nvSpPr>
        <p:spPr>
          <a:xfrm>
            <a:off x="1143000" y="609600"/>
            <a:ext cx="3869908"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WHAT MAKES IT DIFFERENT</a:t>
            </a:r>
            <a:endParaRPr lang="en-US" sz="1800" dirty="0"/>
          </a:p>
        </p:txBody>
      </p:sp>
      <p:sp>
        <p:nvSpPr>
          <p:cNvPr id="4" name="Text 2"/>
          <p:cNvSpPr/>
          <p:nvPr/>
        </p:nvSpPr>
        <p:spPr>
          <a:xfrm>
            <a:off x="16848733" y="609600"/>
            <a:ext cx="372467"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201E1C">
                    <a:alpha val="60000"/>
                  </a:srgbClr>
                </a:solidFill>
                <a:latin typeface="Arial" pitchFamily="34" charset="0"/>
                <a:ea typeface="Arial" pitchFamily="34" charset="-122"/>
                <a:cs typeface="Arial" pitchFamily="34" charset="-120"/>
              </a:rPr>
              <a:t>09</a:t>
            </a:r>
            <a:endParaRPr lang="en-US" sz="1800" dirty="0"/>
          </a:p>
        </p:txBody>
      </p:sp>
      <p:sp>
        <p:nvSpPr>
          <p:cNvPr id="5" name="Text 3"/>
          <p:cNvSpPr/>
          <p:nvPr/>
        </p:nvSpPr>
        <p:spPr>
          <a:xfrm>
            <a:off x="1116509" y="1790700"/>
            <a:ext cx="17631341" cy="675878"/>
          </a:xfrm>
          <a:prstGeom prst="rect">
            <a:avLst/>
          </a:prstGeom>
          <a:noFill/>
          <a:ln/>
        </p:spPr>
        <p:txBody>
          <a:bodyPr wrap="square" lIns="25400" tIns="25400" rIns="25400" bIns="25400" rtlCol="0" anchor="t">
            <a:normAutofit/>
          </a:bodyPr>
          <a:lstStyle/>
          <a:p>
            <a:pPr algn="l" indent="0" marL="0">
              <a:lnSpc>
                <a:spcPct val="76672"/>
              </a:lnSpc>
              <a:buNone/>
            </a:pPr>
            <a:r>
              <a:rPr lang="en-US" sz="4650" b="1" spc="-70" kern="0" dirty="0">
                <a:solidFill>
                  <a:srgbClr val="201E1D"/>
                </a:solidFill>
                <a:latin typeface="Arial" pitchFamily="34" charset="0"/>
                <a:ea typeface="Arial" pitchFamily="34" charset="-122"/>
                <a:cs typeface="Arial" pitchFamily="34" charset="-120"/>
              </a:rPr>
              <a:t>Three things nobody else does</a:t>
            </a:r>
            <a:endParaRPr lang="en-US" sz="4650" dirty="0"/>
          </a:p>
        </p:txBody>
      </p:sp>
      <p:sp>
        <p:nvSpPr>
          <p:cNvPr id="6" name="Text 4"/>
          <p:cNvSpPr/>
          <p:nvPr/>
        </p:nvSpPr>
        <p:spPr>
          <a:xfrm>
            <a:off x="1143000" y="2695178"/>
            <a:ext cx="10961980" cy="685800"/>
          </a:xfrm>
          <a:prstGeom prst="rect">
            <a:avLst/>
          </a:prstGeom>
          <a:noFill/>
          <a:ln/>
        </p:spPr>
        <p:txBody>
          <a:bodyPr wrap="square" lIns="25400" tIns="25400" rIns="25400" bIns="25400" rtlCol="0" anchor="t">
            <a:normAutofit/>
          </a:bodyPr>
          <a:lstStyle/>
          <a:p>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The differential mechanism itself is prior art. IBM, AWS, Mechanical Orchard and a paper published five days ago all ship a version of it, and we say so. These three are ours.</a:t>
            </a:r>
            <a:endParaRPr lang="en-US" sz="1875" dirty="0"/>
          </a:p>
        </p:txBody>
      </p:sp>
      <p:sp>
        <p:nvSpPr>
          <p:cNvPr id="7" name="Shape 5"/>
          <p:cNvSpPr/>
          <p:nvPr/>
        </p:nvSpPr>
        <p:spPr>
          <a:xfrm>
            <a:off x="1143000" y="3647678"/>
            <a:ext cx="5105400" cy="5356821"/>
          </a:xfrm>
          <a:prstGeom prst="rect">
            <a:avLst/>
          </a:prstGeom>
          <a:solidFill>
            <a:srgbClr val="EAE9E9"/>
          </a:solidFill>
          <a:ln/>
        </p:spPr>
      </p:sp>
      <p:sp>
        <p:nvSpPr>
          <p:cNvPr id="8" name="Shape 6"/>
          <p:cNvSpPr/>
          <p:nvPr/>
        </p:nvSpPr>
        <p:spPr>
          <a:xfrm>
            <a:off x="1409700" y="3963888"/>
            <a:ext cx="438150" cy="438150"/>
          </a:xfrm>
          <a:prstGeom prst="rect">
            <a:avLst/>
          </a:prstGeom>
          <a:solidFill>
            <a:srgbClr val="EC3013"/>
          </a:solidFill>
          <a:ln/>
        </p:spPr>
      </p:sp>
      <p:sp>
        <p:nvSpPr>
          <p:cNvPr id="9" name="Text 7"/>
          <p:cNvSpPr/>
          <p:nvPr/>
        </p:nvSpPr>
        <p:spPr>
          <a:xfrm>
            <a:off x="1371600" y="3963888"/>
            <a:ext cx="514350" cy="476250"/>
          </a:xfrm>
          <a:prstGeom prst="rect">
            <a:avLst/>
          </a:prstGeom>
          <a:noFill/>
          <a:ln/>
        </p:spPr>
        <p:txBody>
          <a:bodyPr wrap="square" lIns="25400" tIns="25400" rIns="25400" bIns="25400" rtlCol="0" anchor="ctr">
            <a:normAutofit/>
          </a:bodyPr>
          <a:lstStyle/>
          <a:p>
            <a:pPr algn="ctr" indent="0" marL="0">
              <a:lnSpc>
                <a:spcPct val="109412"/>
              </a:lnSpc>
              <a:buNone/>
            </a:pPr>
            <a:r>
              <a:rPr lang="en-US" sz="1800" b="1" dirty="0">
                <a:solidFill>
                  <a:srgbClr val="F3F2F2"/>
                </a:solidFill>
                <a:latin typeface="Arial" pitchFamily="34" charset="0"/>
                <a:ea typeface="Arial" pitchFamily="34" charset="-122"/>
                <a:cs typeface="Arial" pitchFamily="34" charset="-120"/>
              </a:rPr>
              <a:t>01</a:t>
            </a:r>
            <a:endParaRPr lang="en-US" sz="1800" dirty="0"/>
          </a:p>
        </p:txBody>
      </p:sp>
      <p:sp>
        <p:nvSpPr>
          <p:cNvPr id="10" name="Text 8"/>
          <p:cNvSpPr/>
          <p:nvPr/>
        </p:nvSpPr>
        <p:spPr>
          <a:xfrm>
            <a:off x="2019300" y="3876278"/>
            <a:ext cx="4081272" cy="651470"/>
          </a:xfrm>
          <a:prstGeom prst="rect">
            <a:avLst/>
          </a:prstGeom>
          <a:noFill/>
          <a:ln/>
        </p:spPr>
        <p:txBody>
          <a:bodyPr wrap="square" lIns="25400" tIns="25400" rIns="25400" bIns="25400" rtlCol="0" anchor="t">
            <a:normAutofit/>
          </a:bodyPr>
          <a:lstStyle/>
          <a:p>
            <a:pPr algn="l" indent="0" marL="0">
              <a:lnSpc>
                <a:spcPct val="81864"/>
              </a:lnSpc>
              <a:buNone/>
            </a:pPr>
            <a:r>
              <a:rPr lang="en-US" sz="2100" b="1" spc="-31" kern="0" dirty="0">
                <a:solidFill>
                  <a:srgbClr val="201E1D"/>
                </a:solidFill>
                <a:latin typeface="Arial" pitchFamily="34" charset="0"/>
                <a:ea typeface="Arial" pitchFamily="34" charset="-122"/>
                <a:cs typeface="Arial" pitchFamily="34" charset="-120"/>
              </a:rPr>
              <a:t>We check the legacy against the regulator</a:t>
            </a:r>
            <a:endParaRPr lang="en-US" sz="2100" dirty="0"/>
          </a:p>
        </p:txBody>
      </p:sp>
      <p:sp>
        <p:nvSpPr>
          <p:cNvPr id="11" name="Text 9"/>
          <p:cNvSpPr/>
          <p:nvPr/>
        </p:nvSpPr>
        <p:spPr>
          <a:xfrm>
            <a:off x="1409700" y="4622999"/>
            <a:ext cx="4709160" cy="1219200"/>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Every tool treats the legacy as correct by definition. A program written in 1987 can breach a Direction issued decades later, so we add a third reference.</a:t>
            </a:r>
            <a:endParaRPr lang="en-US" sz="1800" dirty="0"/>
          </a:p>
        </p:txBody>
      </p:sp>
      <p:sp>
        <p:nvSpPr>
          <p:cNvPr id="12" name="Shape 10"/>
          <p:cNvSpPr/>
          <p:nvPr/>
        </p:nvSpPr>
        <p:spPr>
          <a:xfrm>
            <a:off x="1409700" y="5937449"/>
            <a:ext cx="4572000" cy="504825"/>
          </a:xfrm>
          <a:prstGeom prst="rect">
            <a:avLst/>
          </a:prstGeom>
          <a:solidFill>
            <a:srgbClr val="F3F2F2"/>
          </a:solidFill>
          <a:ln/>
        </p:spPr>
      </p:sp>
      <p:sp>
        <p:nvSpPr>
          <p:cNvPr id="13" name="Text 11"/>
          <p:cNvSpPr/>
          <p:nvPr/>
        </p:nvSpPr>
        <p:spPr>
          <a:xfrm>
            <a:off x="1562100" y="6042224"/>
            <a:ext cx="1346577"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201E1D"/>
                </a:solidFill>
                <a:latin typeface="Arial" pitchFamily="34" charset="0"/>
                <a:ea typeface="Arial" pitchFamily="34" charset="-122"/>
                <a:cs typeface="Arial" pitchFamily="34" charset="-120"/>
              </a:rPr>
              <a:t>L = R = Reg</a:t>
            </a:r>
            <a:endParaRPr lang="en-US" sz="1800" dirty="0"/>
          </a:p>
        </p:txBody>
      </p:sp>
      <p:sp>
        <p:nvSpPr>
          <p:cNvPr id="14" name="Text 12"/>
          <p:cNvSpPr/>
          <p:nvPr/>
        </p:nvSpPr>
        <p:spPr>
          <a:xfrm>
            <a:off x="4044950" y="6042224"/>
            <a:ext cx="1962785"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verified compliant</a:t>
            </a:r>
            <a:endParaRPr lang="en-US" sz="1800" dirty="0"/>
          </a:p>
        </p:txBody>
      </p:sp>
      <p:sp>
        <p:nvSpPr>
          <p:cNvPr id="15" name="Shape 13"/>
          <p:cNvSpPr/>
          <p:nvPr/>
        </p:nvSpPr>
        <p:spPr>
          <a:xfrm>
            <a:off x="1409700" y="6518474"/>
            <a:ext cx="4572000" cy="504825"/>
          </a:xfrm>
          <a:prstGeom prst="rect">
            <a:avLst/>
          </a:prstGeom>
          <a:solidFill>
            <a:srgbClr val="F3F2F2"/>
          </a:solidFill>
          <a:ln/>
        </p:spPr>
      </p:sp>
      <p:sp>
        <p:nvSpPr>
          <p:cNvPr id="16" name="Text 14"/>
          <p:cNvSpPr/>
          <p:nvPr/>
        </p:nvSpPr>
        <p:spPr>
          <a:xfrm>
            <a:off x="1562100" y="6623249"/>
            <a:ext cx="612477"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201E1D"/>
                </a:solidFill>
                <a:latin typeface="Arial" pitchFamily="34" charset="0"/>
                <a:ea typeface="Arial" pitchFamily="34" charset="-122"/>
                <a:cs typeface="Arial" pitchFamily="34" charset="-120"/>
              </a:rPr>
              <a:t>L ≠ R</a:t>
            </a:r>
            <a:endParaRPr lang="en-US" sz="1800" dirty="0"/>
          </a:p>
        </p:txBody>
      </p:sp>
      <p:sp>
        <p:nvSpPr>
          <p:cNvPr id="17" name="Text 15"/>
          <p:cNvSpPr/>
          <p:nvPr/>
        </p:nvSpPr>
        <p:spPr>
          <a:xfrm>
            <a:off x="4086225" y="6623249"/>
            <a:ext cx="1917382"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translation defect</a:t>
            </a:r>
            <a:endParaRPr lang="en-US" sz="1800" dirty="0"/>
          </a:p>
        </p:txBody>
      </p:sp>
      <p:sp>
        <p:nvSpPr>
          <p:cNvPr id="18" name="Shape 16"/>
          <p:cNvSpPr/>
          <p:nvPr/>
        </p:nvSpPr>
        <p:spPr>
          <a:xfrm>
            <a:off x="1409700" y="7099499"/>
            <a:ext cx="4572000" cy="504825"/>
          </a:xfrm>
          <a:prstGeom prst="rect">
            <a:avLst/>
          </a:prstGeom>
          <a:solidFill>
            <a:srgbClr val="F3F2F2"/>
          </a:solidFill>
          <a:ln/>
        </p:spPr>
      </p:sp>
      <p:sp>
        <p:nvSpPr>
          <p:cNvPr id="19" name="Text 17"/>
          <p:cNvSpPr/>
          <p:nvPr/>
        </p:nvSpPr>
        <p:spPr>
          <a:xfrm>
            <a:off x="1562100" y="7204274"/>
            <a:ext cx="1337737"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AE1800"/>
                </a:solidFill>
                <a:latin typeface="Arial" pitchFamily="34" charset="0"/>
                <a:ea typeface="Arial" pitchFamily="34" charset="-122"/>
                <a:cs typeface="Arial" pitchFamily="34" charset="-120"/>
              </a:rPr>
              <a:t>L = R ≠ Reg</a:t>
            </a:r>
            <a:endParaRPr lang="en-US" sz="1800" dirty="0"/>
          </a:p>
        </p:txBody>
      </p:sp>
      <p:sp>
        <p:nvSpPr>
          <p:cNvPr id="20" name="Text 18"/>
          <p:cNvSpPr/>
          <p:nvPr/>
        </p:nvSpPr>
        <p:spPr>
          <a:xfrm>
            <a:off x="4196854" y="7204274"/>
            <a:ext cx="1795691"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AE1800"/>
                </a:solidFill>
                <a:latin typeface="Arial" pitchFamily="34" charset="0"/>
                <a:ea typeface="Arial" pitchFamily="34" charset="-122"/>
                <a:cs typeface="Arial" pitchFamily="34" charset="-120"/>
              </a:rPr>
              <a:t>inherited breach</a:t>
            </a:r>
            <a:endParaRPr lang="en-US" sz="1800" dirty="0"/>
          </a:p>
        </p:txBody>
      </p:sp>
      <p:sp>
        <p:nvSpPr>
          <p:cNvPr id="21" name="Shape 19"/>
          <p:cNvSpPr/>
          <p:nvPr/>
        </p:nvSpPr>
        <p:spPr>
          <a:xfrm>
            <a:off x="1409700" y="7680524"/>
            <a:ext cx="4572000" cy="504825"/>
          </a:xfrm>
          <a:prstGeom prst="rect">
            <a:avLst/>
          </a:prstGeom>
          <a:solidFill>
            <a:srgbClr val="F3F2F2"/>
          </a:solidFill>
          <a:ln/>
        </p:spPr>
      </p:sp>
      <p:sp>
        <p:nvSpPr>
          <p:cNvPr id="22" name="Text 20"/>
          <p:cNvSpPr/>
          <p:nvPr/>
        </p:nvSpPr>
        <p:spPr>
          <a:xfrm>
            <a:off x="1562100" y="7785299"/>
            <a:ext cx="1337737"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201E1D"/>
                </a:solidFill>
                <a:latin typeface="Arial" pitchFamily="34" charset="0"/>
                <a:ea typeface="Arial" pitchFamily="34" charset="-122"/>
                <a:cs typeface="Arial" pitchFamily="34" charset="-120"/>
              </a:rPr>
              <a:t>L ≠ R = Reg</a:t>
            </a:r>
            <a:endParaRPr lang="en-US" sz="1800" dirty="0"/>
          </a:p>
        </p:txBody>
      </p:sp>
      <p:sp>
        <p:nvSpPr>
          <p:cNvPr id="23" name="Text 21"/>
          <p:cNvSpPr/>
          <p:nvPr/>
        </p:nvSpPr>
        <p:spPr>
          <a:xfrm>
            <a:off x="4219476" y="7785299"/>
            <a:ext cx="1770807"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silent correction</a:t>
            </a:r>
            <a:endParaRPr lang="en-US" sz="1800" dirty="0"/>
          </a:p>
        </p:txBody>
      </p:sp>
      <p:sp>
        <p:nvSpPr>
          <p:cNvPr id="24" name="Text 22"/>
          <p:cNvSpPr/>
          <p:nvPr/>
        </p:nvSpPr>
        <p:spPr>
          <a:xfrm>
            <a:off x="1409700" y="8318699"/>
            <a:ext cx="4709160" cy="609600"/>
          </a:xfrm>
          <a:prstGeom prst="rect">
            <a:avLst/>
          </a:prstGeom>
          <a:noFill/>
          <a:ln/>
        </p:spPr>
        <p:txBody>
          <a:bodyPr wrap="square" lIns="25400" tIns="25400" rIns="25400" bIns="25400" rtlCol="0" anchor="t">
            <a:normAutofit/>
          </a:bodyPr>
          <a:lstStyle/>
          <a:p>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Only the third row needs a regulator. No other tool can see it.</a:t>
            </a:r>
            <a:endParaRPr lang="en-US" sz="1800" dirty="0"/>
          </a:p>
        </p:txBody>
      </p:sp>
      <p:sp>
        <p:nvSpPr>
          <p:cNvPr id="25" name="Shape 23"/>
          <p:cNvSpPr/>
          <p:nvPr/>
        </p:nvSpPr>
        <p:spPr>
          <a:xfrm>
            <a:off x="6591300" y="3647678"/>
            <a:ext cx="5105400" cy="5356821"/>
          </a:xfrm>
          <a:prstGeom prst="rect">
            <a:avLst/>
          </a:prstGeom>
          <a:solidFill>
            <a:srgbClr val="EAE9E9"/>
          </a:solidFill>
          <a:ln/>
        </p:spPr>
      </p:sp>
      <p:sp>
        <p:nvSpPr>
          <p:cNvPr id="26" name="Shape 24"/>
          <p:cNvSpPr/>
          <p:nvPr/>
        </p:nvSpPr>
        <p:spPr>
          <a:xfrm>
            <a:off x="6858000" y="3963888"/>
            <a:ext cx="438150" cy="438150"/>
          </a:xfrm>
          <a:prstGeom prst="rect">
            <a:avLst/>
          </a:prstGeom>
          <a:solidFill>
            <a:srgbClr val="EC3013"/>
          </a:solidFill>
          <a:ln/>
        </p:spPr>
      </p:sp>
      <p:sp>
        <p:nvSpPr>
          <p:cNvPr id="27" name="Text 25"/>
          <p:cNvSpPr/>
          <p:nvPr/>
        </p:nvSpPr>
        <p:spPr>
          <a:xfrm>
            <a:off x="6819900" y="3963888"/>
            <a:ext cx="514350" cy="476250"/>
          </a:xfrm>
          <a:prstGeom prst="rect">
            <a:avLst/>
          </a:prstGeom>
          <a:noFill/>
          <a:ln/>
        </p:spPr>
        <p:txBody>
          <a:bodyPr wrap="square" lIns="25400" tIns="25400" rIns="25400" bIns="25400" rtlCol="0" anchor="ctr">
            <a:normAutofit/>
          </a:bodyPr>
          <a:lstStyle/>
          <a:p>
            <a:pPr algn="ctr" indent="0" marL="0">
              <a:lnSpc>
                <a:spcPct val="109412"/>
              </a:lnSpc>
              <a:buNone/>
            </a:pPr>
            <a:r>
              <a:rPr lang="en-US" sz="1800" b="1" dirty="0">
                <a:solidFill>
                  <a:srgbClr val="F3F2F2"/>
                </a:solidFill>
                <a:latin typeface="Arial" pitchFamily="34" charset="0"/>
                <a:ea typeface="Arial" pitchFamily="34" charset="-122"/>
                <a:cs typeface="Arial" pitchFamily="34" charset="-120"/>
              </a:rPr>
              <a:t>02</a:t>
            </a:r>
            <a:endParaRPr lang="en-US" sz="1800" dirty="0"/>
          </a:p>
        </p:txBody>
      </p:sp>
      <p:sp>
        <p:nvSpPr>
          <p:cNvPr id="28" name="Text 26"/>
          <p:cNvSpPr/>
          <p:nvPr/>
        </p:nvSpPr>
        <p:spPr>
          <a:xfrm>
            <a:off x="7467600" y="3876278"/>
            <a:ext cx="4081272" cy="651470"/>
          </a:xfrm>
          <a:prstGeom prst="rect">
            <a:avLst/>
          </a:prstGeom>
          <a:noFill/>
          <a:ln/>
        </p:spPr>
        <p:txBody>
          <a:bodyPr wrap="square" lIns="25400" tIns="25400" rIns="25400" bIns="25400" rtlCol="0" anchor="t">
            <a:normAutofit/>
          </a:bodyPr>
          <a:lstStyle/>
          <a:p>
            <a:pPr algn="l" indent="0" marL="0">
              <a:lnSpc>
                <a:spcPct val="81864"/>
              </a:lnSpc>
              <a:buNone/>
            </a:pPr>
            <a:r>
              <a:rPr lang="en-US" sz="2100" b="1" spc="-31" kern="0" dirty="0">
                <a:solidFill>
                  <a:srgbClr val="201E1D"/>
                </a:solidFill>
                <a:latin typeface="Arial" pitchFamily="34" charset="0"/>
                <a:ea typeface="Arial" pitchFamily="34" charset="-122"/>
                <a:cs typeface="Arial" pitchFamily="34" charset="-120"/>
              </a:rPr>
              <a:t>A result for every rule, not every test case</a:t>
            </a:r>
            <a:endParaRPr lang="en-US" sz="2100" dirty="0"/>
          </a:p>
        </p:txBody>
      </p:sp>
      <p:sp>
        <p:nvSpPr>
          <p:cNvPr id="29" name="Text 27"/>
          <p:cNvSpPr/>
          <p:nvPr/>
        </p:nvSpPr>
        <p:spPr>
          <a:xfrm>
            <a:off x="6858000" y="4622999"/>
            <a:ext cx="4709160" cy="92392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Executing a line is not testing the rule it encodes. A rule counts as confirmed only when all three checks hold.</a:t>
            </a:r>
            <a:endParaRPr lang="en-US" sz="1800" dirty="0"/>
          </a:p>
        </p:txBody>
      </p:sp>
      <p:sp>
        <p:nvSpPr>
          <p:cNvPr id="30" name="Shape 28"/>
          <p:cNvSpPr/>
          <p:nvPr/>
        </p:nvSpPr>
        <p:spPr>
          <a:xfrm>
            <a:off x="6858000" y="5642174"/>
            <a:ext cx="4572000" cy="504825"/>
          </a:xfrm>
          <a:prstGeom prst="rect">
            <a:avLst/>
          </a:prstGeom>
          <a:solidFill>
            <a:srgbClr val="F3F2F2"/>
          </a:solidFill>
          <a:ln/>
        </p:spPr>
      </p:sp>
      <p:sp>
        <p:nvSpPr>
          <p:cNvPr id="31" name="Shape 29"/>
          <p:cNvSpPr/>
          <p:nvPr/>
        </p:nvSpPr>
        <p:spPr>
          <a:xfrm>
            <a:off x="7010400" y="5751711"/>
            <a:ext cx="285750" cy="285750"/>
          </a:xfrm>
          <a:prstGeom prst="rect">
            <a:avLst/>
          </a:prstGeom>
          <a:solidFill>
            <a:srgbClr val="444141"/>
          </a:solidFill>
          <a:ln/>
        </p:spPr>
      </p:sp>
      <p:sp>
        <p:nvSpPr>
          <p:cNvPr id="32" name="Text 30"/>
          <p:cNvSpPr/>
          <p:nvPr/>
        </p:nvSpPr>
        <p:spPr>
          <a:xfrm>
            <a:off x="6972300" y="5751711"/>
            <a:ext cx="361950" cy="323850"/>
          </a:xfrm>
          <a:prstGeom prst="rect">
            <a:avLst/>
          </a:prstGeom>
          <a:noFill/>
          <a:ln/>
        </p:spPr>
        <p:txBody>
          <a:bodyPr wrap="square" lIns="25400" tIns="25400" rIns="25400" bIns="25400" rtlCol="0" anchor="ctr">
            <a:normAutofit/>
          </a:bodyPr>
          <a:lstStyle/>
          <a:p>
            <a:pPr algn="ctr" indent="0" marL="0">
              <a:lnSpc>
                <a:spcPct val="110714"/>
              </a:lnSpc>
              <a:buNone/>
            </a:pPr>
            <a:r>
              <a:rPr lang="en-US" sz="1800" b="1" dirty="0">
                <a:solidFill>
                  <a:srgbClr val="F3F2F2"/>
                </a:solidFill>
                <a:latin typeface="Arial" pitchFamily="34" charset="0"/>
                <a:ea typeface="Arial" pitchFamily="34" charset="-122"/>
                <a:cs typeface="Arial" pitchFamily="34" charset="-120"/>
              </a:rPr>
              <a:t>1</a:t>
            </a:r>
            <a:endParaRPr lang="en-US" sz="1800" dirty="0"/>
          </a:p>
        </p:txBody>
      </p:sp>
      <p:sp>
        <p:nvSpPr>
          <p:cNvPr id="33" name="Text 31"/>
          <p:cNvSpPr/>
          <p:nvPr/>
        </p:nvSpPr>
        <p:spPr>
          <a:xfrm>
            <a:off x="7429500" y="5746949"/>
            <a:ext cx="3347780"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201E1D"/>
                </a:solidFill>
                <a:latin typeface="Arial" pitchFamily="34" charset="0"/>
                <a:ea typeface="Arial" pitchFamily="34" charset="-122"/>
                <a:cs typeface="Arial" pitchFamily="34" charset="-120"/>
              </a:rPr>
              <a:t>Reached </a:t>
            </a:r>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 the rule’s lines ran</a:t>
            </a:r>
            <a:endParaRPr lang="en-US" sz="1800" dirty="0"/>
          </a:p>
        </p:txBody>
      </p:sp>
      <p:sp>
        <p:nvSpPr>
          <p:cNvPr id="34" name="Shape 32"/>
          <p:cNvSpPr/>
          <p:nvPr/>
        </p:nvSpPr>
        <p:spPr>
          <a:xfrm>
            <a:off x="6858000" y="6223199"/>
            <a:ext cx="4572000" cy="800100"/>
          </a:xfrm>
          <a:prstGeom prst="rect">
            <a:avLst/>
          </a:prstGeom>
          <a:solidFill>
            <a:srgbClr val="F3F2F2"/>
          </a:solidFill>
          <a:ln/>
        </p:spPr>
      </p:sp>
      <p:sp>
        <p:nvSpPr>
          <p:cNvPr id="35" name="Shape 33"/>
          <p:cNvSpPr/>
          <p:nvPr/>
        </p:nvSpPr>
        <p:spPr>
          <a:xfrm>
            <a:off x="7010400" y="6480374"/>
            <a:ext cx="285750" cy="285750"/>
          </a:xfrm>
          <a:prstGeom prst="rect">
            <a:avLst/>
          </a:prstGeom>
          <a:solidFill>
            <a:srgbClr val="EC3013"/>
          </a:solidFill>
          <a:ln/>
        </p:spPr>
      </p:sp>
      <p:sp>
        <p:nvSpPr>
          <p:cNvPr id="36" name="Text 34"/>
          <p:cNvSpPr/>
          <p:nvPr/>
        </p:nvSpPr>
        <p:spPr>
          <a:xfrm>
            <a:off x="6972300" y="6480374"/>
            <a:ext cx="361950" cy="323850"/>
          </a:xfrm>
          <a:prstGeom prst="rect">
            <a:avLst/>
          </a:prstGeom>
          <a:noFill/>
          <a:ln/>
        </p:spPr>
        <p:txBody>
          <a:bodyPr wrap="square" lIns="25400" tIns="25400" rIns="25400" bIns="25400" rtlCol="0" anchor="ctr">
            <a:normAutofit/>
          </a:bodyPr>
          <a:lstStyle/>
          <a:p>
            <a:pPr algn="ctr" indent="0" marL="0">
              <a:lnSpc>
                <a:spcPct val="110714"/>
              </a:lnSpc>
              <a:buNone/>
            </a:pPr>
            <a:r>
              <a:rPr lang="en-US" sz="1800" b="1" dirty="0">
                <a:solidFill>
                  <a:srgbClr val="F3F2F2"/>
                </a:solidFill>
                <a:latin typeface="Arial" pitchFamily="34" charset="0"/>
                <a:ea typeface="Arial" pitchFamily="34" charset="-122"/>
                <a:cs typeface="Arial" pitchFamily="34" charset="-120"/>
              </a:rPr>
              <a:t>2</a:t>
            </a:r>
            <a:endParaRPr lang="en-US" sz="1800" dirty="0"/>
          </a:p>
        </p:txBody>
      </p:sp>
      <p:sp>
        <p:nvSpPr>
          <p:cNvPr id="37" name="Text 35"/>
          <p:cNvSpPr/>
          <p:nvPr/>
        </p:nvSpPr>
        <p:spPr>
          <a:xfrm>
            <a:off x="7429500" y="6327974"/>
            <a:ext cx="3963543" cy="628650"/>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AE1800"/>
                </a:solidFill>
                <a:latin typeface="Arial" pitchFamily="34" charset="0"/>
                <a:ea typeface="Arial" pitchFamily="34" charset="-122"/>
                <a:cs typeface="Arial" pitchFamily="34" charset="-120"/>
              </a:rPr>
              <a:t>Discriminating </a:t>
            </a:r>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 the boundary changed the output</a:t>
            </a:r>
            <a:endParaRPr lang="en-US" sz="1800" dirty="0"/>
          </a:p>
        </p:txBody>
      </p:sp>
      <p:sp>
        <p:nvSpPr>
          <p:cNvPr id="38" name="Shape 36"/>
          <p:cNvSpPr/>
          <p:nvPr/>
        </p:nvSpPr>
        <p:spPr>
          <a:xfrm>
            <a:off x="6858000" y="7099499"/>
            <a:ext cx="4572000" cy="800100"/>
          </a:xfrm>
          <a:prstGeom prst="rect">
            <a:avLst/>
          </a:prstGeom>
          <a:solidFill>
            <a:srgbClr val="F3F2F2"/>
          </a:solidFill>
          <a:ln/>
        </p:spPr>
      </p:sp>
      <p:sp>
        <p:nvSpPr>
          <p:cNvPr id="39" name="Shape 37"/>
          <p:cNvSpPr/>
          <p:nvPr/>
        </p:nvSpPr>
        <p:spPr>
          <a:xfrm>
            <a:off x="7010400" y="7356674"/>
            <a:ext cx="285750" cy="285750"/>
          </a:xfrm>
          <a:prstGeom prst="rect">
            <a:avLst/>
          </a:prstGeom>
          <a:solidFill>
            <a:srgbClr val="444141"/>
          </a:solidFill>
          <a:ln/>
        </p:spPr>
      </p:sp>
      <p:sp>
        <p:nvSpPr>
          <p:cNvPr id="40" name="Text 38"/>
          <p:cNvSpPr/>
          <p:nvPr/>
        </p:nvSpPr>
        <p:spPr>
          <a:xfrm>
            <a:off x="6972300" y="7356674"/>
            <a:ext cx="361950" cy="323850"/>
          </a:xfrm>
          <a:prstGeom prst="rect">
            <a:avLst/>
          </a:prstGeom>
          <a:noFill/>
          <a:ln/>
        </p:spPr>
        <p:txBody>
          <a:bodyPr wrap="square" lIns="25400" tIns="25400" rIns="25400" bIns="25400" rtlCol="0" anchor="ctr">
            <a:normAutofit/>
          </a:bodyPr>
          <a:lstStyle/>
          <a:p>
            <a:pPr algn="ctr" indent="0" marL="0">
              <a:lnSpc>
                <a:spcPct val="110714"/>
              </a:lnSpc>
              <a:buNone/>
            </a:pPr>
            <a:r>
              <a:rPr lang="en-US" sz="1800" b="1" dirty="0">
                <a:solidFill>
                  <a:srgbClr val="F3F2F2"/>
                </a:solidFill>
                <a:latin typeface="Arial" pitchFamily="34" charset="0"/>
                <a:ea typeface="Arial" pitchFamily="34" charset="-122"/>
                <a:cs typeface="Arial" pitchFamily="34" charset="-120"/>
              </a:rPr>
              <a:t>3</a:t>
            </a:r>
            <a:endParaRPr lang="en-US" sz="1800" dirty="0"/>
          </a:p>
        </p:txBody>
      </p:sp>
      <p:sp>
        <p:nvSpPr>
          <p:cNvPr id="41" name="Text 39"/>
          <p:cNvSpPr/>
          <p:nvPr/>
        </p:nvSpPr>
        <p:spPr>
          <a:xfrm>
            <a:off x="7429500" y="7204274"/>
            <a:ext cx="3963543" cy="628650"/>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201E1D"/>
                </a:solidFill>
                <a:latin typeface="Arial" pitchFamily="34" charset="0"/>
                <a:ea typeface="Arial" pitchFamily="34" charset="-122"/>
                <a:cs typeface="Arial" pitchFamily="34" charset="-120"/>
              </a:rPr>
              <a:t>Agreed </a:t>
            </a:r>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 the rewrite matched every time</a:t>
            </a:r>
            <a:endParaRPr lang="en-US" sz="1800" dirty="0"/>
          </a:p>
        </p:txBody>
      </p:sp>
      <p:sp>
        <p:nvSpPr>
          <p:cNvPr id="42" name="Text 40"/>
          <p:cNvSpPr/>
          <p:nvPr/>
        </p:nvSpPr>
        <p:spPr>
          <a:xfrm>
            <a:off x="6858000" y="8032949"/>
            <a:ext cx="4709160" cy="895350"/>
          </a:xfrm>
          <a:prstGeom prst="rect">
            <a:avLst/>
          </a:prstGeom>
          <a:noFill/>
          <a:ln/>
        </p:spPr>
        <p:txBody>
          <a:bodyPr wrap="square" lIns="25400" tIns="25400" rIns="25400" bIns="25400" rtlCol="0" anchor="t">
            <a:normAutofit/>
          </a:bodyPr>
          <a:lstStyle/>
          <a:p>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Check 2 is the one that catches our own extraction inventing a rule that is not in the program.</a:t>
            </a:r>
            <a:endParaRPr lang="en-US" sz="1800" dirty="0"/>
          </a:p>
        </p:txBody>
      </p:sp>
      <p:sp>
        <p:nvSpPr>
          <p:cNvPr id="43" name="Shape 41"/>
          <p:cNvSpPr/>
          <p:nvPr/>
        </p:nvSpPr>
        <p:spPr>
          <a:xfrm>
            <a:off x="12039600" y="3647678"/>
            <a:ext cx="5105400" cy="5356821"/>
          </a:xfrm>
          <a:prstGeom prst="rect">
            <a:avLst/>
          </a:prstGeom>
          <a:solidFill>
            <a:srgbClr val="EAE9E9"/>
          </a:solidFill>
          <a:ln/>
        </p:spPr>
      </p:sp>
      <p:sp>
        <p:nvSpPr>
          <p:cNvPr id="44" name="Shape 42"/>
          <p:cNvSpPr/>
          <p:nvPr/>
        </p:nvSpPr>
        <p:spPr>
          <a:xfrm>
            <a:off x="12306300" y="3876278"/>
            <a:ext cx="438150" cy="438150"/>
          </a:xfrm>
          <a:prstGeom prst="rect">
            <a:avLst/>
          </a:prstGeom>
          <a:solidFill>
            <a:srgbClr val="EC3013"/>
          </a:solidFill>
          <a:ln/>
        </p:spPr>
      </p:sp>
      <p:sp>
        <p:nvSpPr>
          <p:cNvPr id="45" name="Text 43"/>
          <p:cNvSpPr/>
          <p:nvPr/>
        </p:nvSpPr>
        <p:spPr>
          <a:xfrm>
            <a:off x="12268200" y="3876278"/>
            <a:ext cx="514350" cy="476250"/>
          </a:xfrm>
          <a:prstGeom prst="rect">
            <a:avLst/>
          </a:prstGeom>
          <a:noFill/>
          <a:ln/>
        </p:spPr>
        <p:txBody>
          <a:bodyPr wrap="square" lIns="25400" tIns="25400" rIns="25400" bIns="25400" rtlCol="0" anchor="ctr">
            <a:normAutofit/>
          </a:bodyPr>
          <a:lstStyle/>
          <a:p>
            <a:pPr algn="ctr" indent="0" marL="0">
              <a:lnSpc>
                <a:spcPct val="109412"/>
              </a:lnSpc>
              <a:buNone/>
            </a:pPr>
            <a:r>
              <a:rPr lang="en-US" sz="1800" b="1" dirty="0">
                <a:solidFill>
                  <a:srgbClr val="F3F2F2"/>
                </a:solidFill>
                <a:latin typeface="Arial" pitchFamily="34" charset="0"/>
                <a:ea typeface="Arial" pitchFamily="34" charset="-122"/>
                <a:cs typeface="Arial" pitchFamily="34" charset="-120"/>
              </a:rPr>
              <a:t>03</a:t>
            </a:r>
            <a:endParaRPr lang="en-US" sz="1800" dirty="0"/>
          </a:p>
        </p:txBody>
      </p:sp>
      <p:sp>
        <p:nvSpPr>
          <p:cNvPr id="46" name="Text 44"/>
          <p:cNvSpPr/>
          <p:nvPr/>
        </p:nvSpPr>
        <p:spPr>
          <a:xfrm>
            <a:off x="12915900" y="3941961"/>
            <a:ext cx="2723059" cy="344785"/>
          </a:xfrm>
          <a:prstGeom prst="rect">
            <a:avLst/>
          </a:prstGeom>
          <a:noFill/>
          <a:ln/>
        </p:spPr>
        <p:txBody>
          <a:bodyPr wrap="square" lIns="25400" tIns="25400" rIns="25400" bIns="25400" rtlCol="0" anchor="t">
            <a:normAutofit/>
          </a:bodyPr>
          <a:lstStyle/>
          <a:p>
            <a:pPr algn="l" indent="0" marL="0">
              <a:lnSpc>
                <a:spcPct val="81864"/>
              </a:lnSpc>
              <a:buNone/>
            </a:pPr>
            <a:r>
              <a:rPr lang="en-US" sz="2100" b="1" spc="-31" kern="0" dirty="0">
                <a:solidFill>
                  <a:srgbClr val="201E1D"/>
                </a:solidFill>
                <a:latin typeface="Arial" pitchFamily="34" charset="0"/>
                <a:ea typeface="Arial" pitchFamily="34" charset="-122"/>
                <a:cs typeface="Arial" pitchFamily="34" charset="-120"/>
              </a:rPr>
              <a:t>We test our own tests</a:t>
            </a:r>
            <a:endParaRPr lang="en-US" sz="2100" dirty="0"/>
          </a:p>
        </p:txBody>
      </p:sp>
      <p:sp>
        <p:nvSpPr>
          <p:cNvPr id="47" name="Text 45"/>
          <p:cNvSpPr/>
          <p:nvPr/>
        </p:nvSpPr>
        <p:spPr>
          <a:xfrm>
            <a:off x="12306300" y="4447778"/>
            <a:ext cx="4709160" cy="92392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“Everything passed” proves nothing unless the inputs could have caught a failure. So we break the legacy on purpose.</a:t>
            </a:r>
            <a:endParaRPr lang="en-US" sz="1800" dirty="0"/>
          </a:p>
        </p:txBody>
      </p:sp>
      <p:sp>
        <p:nvSpPr>
          <p:cNvPr id="48" name="Shape 46"/>
          <p:cNvSpPr/>
          <p:nvPr/>
        </p:nvSpPr>
        <p:spPr>
          <a:xfrm>
            <a:off x="12306300" y="5466954"/>
            <a:ext cx="4572000" cy="1095375"/>
          </a:xfrm>
          <a:prstGeom prst="rect">
            <a:avLst/>
          </a:prstGeom>
          <a:solidFill>
            <a:srgbClr val="F3F2F2"/>
          </a:solidFill>
          <a:ln/>
        </p:spPr>
      </p:sp>
      <p:sp>
        <p:nvSpPr>
          <p:cNvPr id="49" name="Text 47"/>
          <p:cNvSpPr/>
          <p:nvPr/>
        </p:nvSpPr>
        <p:spPr>
          <a:xfrm>
            <a:off x="12458700" y="5571729"/>
            <a:ext cx="4404360" cy="923925"/>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AE1800"/>
                </a:solidFill>
                <a:latin typeface="Arial" pitchFamily="34" charset="0"/>
                <a:ea typeface="Arial" pitchFamily="34" charset="-122"/>
                <a:cs typeface="Arial" pitchFamily="34" charset="-120"/>
              </a:rPr>
              <a:t>Inject a deliberate defect </a:t>
            </a:r>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100000 → 100001 · &gt; → &gt;= · delete ROUNDED · 360 → 365</a:t>
            </a:r>
            <a:endParaRPr lang="en-US" sz="1800" dirty="0"/>
          </a:p>
        </p:txBody>
      </p:sp>
      <p:sp>
        <p:nvSpPr>
          <p:cNvPr id="50" name="Shape 48"/>
          <p:cNvSpPr/>
          <p:nvPr/>
        </p:nvSpPr>
        <p:spPr>
          <a:xfrm>
            <a:off x="12306300" y="6638529"/>
            <a:ext cx="4572000" cy="504825"/>
          </a:xfrm>
          <a:prstGeom prst="rect">
            <a:avLst/>
          </a:prstGeom>
          <a:solidFill>
            <a:srgbClr val="F3F2F2"/>
          </a:solidFill>
          <a:ln/>
        </p:spPr>
      </p:sp>
      <p:sp>
        <p:nvSpPr>
          <p:cNvPr id="51" name="Text 49"/>
          <p:cNvSpPr/>
          <p:nvPr/>
        </p:nvSpPr>
        <p:spPr>
          <a:xfrm>
            <a:off x="12458700" y="6743304"/>
            <a:ext cx="4404360"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201E1D"/>
                </a:solidFill>
                <a:latin typeface="Arial" pitchFamily="34" charset="0"/>
                <a:ea typeface="Arial" pitchFamily="34" charset="-122"/>
                <a:cs typeface="Arial" pitchFamily="34" charset="-120"/>
              </a:rPr>
              <a:t>Re-run the same input corpus</a:t>
            </a:r>
            <a:endParaRPr lang="en-US" sz="1800" dirty="0"/>
          </a:p>
        </p:txBody>
      </p:sp>
      <p:sp>
        <p:nvSpPr>
          <p:cNvPr id="52" name="Shape 50"/>
          <p:cNvSpPr/>
          <p:nvPr/>
        </p:nvSpPr>
        <p:spPr>
          <a:xfrm>
            <a:off x="12306300" y="7219554"/>
            <a:ext cx="2247900" cy="800100"/>
          </a:xfrm>
          <a:prstGeom prst="rect">
            <a:avLst/>
          </a:prstGeom>
          <a:solidFill>
            <a:srgbClr val="F3F2F2"/>
          </a:solidFill>
          <a:ln/>
        </p:spPr>
      </p:sp>
      <p:sp>
        <p:nvSpPr>
          <p:cNvPr id="53" name="Text 51"/>
          <p:cNvSpPr/>
          <p:nvPr/>
        </p:nvSpPr>
        <p:spPr>
          <a:xfrm>
            <a:off x="12458700" y="7324329"/>
            <a:ext cx="2019300" cy="628650"/>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201E1D"/>
                </a:solidFill>
                <a:latin typeface="Arial" pitchFamily="34" charset="0"/>
                <a:ea typeface="Arial" pitchFamily="34" charset="-122"/>
                <a:cs typeface="Arial" pitchFamily="34" charset="-120"/>
              </a:rPr>
              <a:t>Caught </a:t>
            </a:r>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the claim stands</a:t>
            </a:r>
            <a:endParaRPr lang="en-US" sz="1800" dirty="0"/>
          </a:p>
        </p:txBody>
      </p:sp>
      <p:sp>
        <p:nvSpPr>
          <p:cNvPr id="54" name="Shape 52"/>
          <p:cNvSpPr/>
          <p:nvPr/>
        </p:nvSpPr>
        <p:spPr>
          <a:xfrm>
            <a:off x="14630400" y="7219554"/>
            <a:ext cx="2247900" cy="800100"/>
          </a:xfrm>
          <a:prstGeom prst="rect">
            <a:avLst/>
          </a:prstGeom>
          <a:solidFill>
            <a:srgbClr val="F3F2F2"/>
          </a:solidFill>
          <a:ln/>
        </p:spPr>
      </p:sp>
      <p:sp>
        <p:nvSpPr>
          <p:cNvPr id="55" name="Text 53"/>
          <p:cNvSpPr/>
          <p:nvPr/>
        </p:nvSpPr>
        <p:spPr>
          <a:xfrm>
            <a:off x="14782800" y="7324329"/>
            <a:ext cx="2019300" cy="628650"/>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201E1D"/>
                </a:solidFill>
                <a:latin typeface="Arial" pitchFamily="34" charset="0"/>
                <a:ea typeface="Arial" pitchFamily="34" charset="-122"/>
                <a:cs typeface="Arial" pitchFamily="34" charset="-120"/>
              </a:rPr>
              <a:t>Missed </a:t>
            </a:r>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we do not claim it</a:t>
            </a:r>
            <a:endParaRPr lang="en-US" sz="1800" dirty="0"/>
          </a:p>
        </p:txBody>
      </p:sp>
      <p:sp>
        <p:nvSpPr>
          <p:cNvPr id="56" name="Text 54"/>
          <p:cNvSpPr/>
          <p:nvPr/>
        </p:nvSpPr>
        <p:spPr>
          <a:xfrm>
            <a:off x="12306300" y="8153004"/>
            <a:ext cx="4709160" cy="609600"/>
          </a:xfrm>
          <a:prstGeom prst="rect">
            <a:avLst/>
          </a:prstGeom>
          <a:noFill/>
          <a:ln/>
        </p:spPr>
        <p:txBody>
          <a:bodyPr wrap="square" lIns="25400" tIns="25400" rIns="25400" bIns="25400" rtlCol="0" anchor="t">
            <a:normAutofit/>
          </a:bodyPr>
          <a:lstStyle/>
          <a:p>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The equivalence claim ships with its own strength score.</a:t>
            </a:r>
            <a:endParaRPr lang="en-US" sz="1800" dirty="0"/>
          </a:p>
        </p:txBody>
      </p:sp>
      <p:sp>
        <p:nvSpPr>
          <p:cNvPr id="57" name="Text 55"/>
          <p:cNvSpPr/>
          <p:nvPr/>
        </p:nvSpPr>
        <p:spPr>
          <a:xfrm>
            <a:off x="1143000" y="9029700"/>
            <a:ext cx="16482060" cy="685800"/>
          </a:xfrm>
          <a:prstGeom prst="rect">
            <a:avLst/>
          </a:prstGeom>
          <a:noFill/>
          <a:ln/>
        </p:spPr>
        <p:txBody>
          <a:bodyPr wrap="square" lIns="25400" tIns="25400" rIns="25400" bIns="25400" rtlCol="0" anchor="t">
            <a:normAutofit/>
          </a:bodyPr>
          <a:lstStyle/>
          <a:p>
            <a:pPr algn="l" indent="0" marL="0">
              <a:lnSpc>
                <a:spcPct val="121429"/>
              </a:lnSpc>
              <a:buNone/>
            </a:pPr>
            <a:r>
              <a:rPr lang="en-US" sz="1800" dirty="0">
                <a:solidFill>
                  <a:srgbClr val="201E1C">
                    <a:alpha val="60000"/>
                  </a:srgbClr>
                </a:solidFill>
                <a:latin typeface="Arial" pitchFamily="34" charset="0"/>
                <a:ea typeface="Arial" pitchFamily="34" charset="-122"/>
                <a:cs typeface="Arial" pitchFamily="34" charset="-120"/>
              </a:rPr>
              <a:t>Checked against Locksmith (arXiv 2607.28271), AgentModernize (arXiv 2605.17535) and the shipping vendor tools. None reports per-rule results, scores its own corpus, or consults a regulator.</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txBody>
          <a:bodyPr/>
          <a:p/>
        </p:txBody>
      </p:sp>
      <p:sp>
        <p:nvSpPr>
          <p:cNvPr id="3" name="Text 1"/>
          <p:cNvSpPr/>
          <p:nvPr/>
        </p:nvSpPr>
        <p:spPr>
          <a:xfrm>
            <a:off x="1143000" y="609600"/>
            <a:ext cx="2824014"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MARKET POTENTIAL</a:t>
            </a:r>
            <a:endParaRPr lang="en-US" sz="1800" dirty="0"/>
          </a:p>
        </p:txBody>
      </p:sp>
      <p:sp>
        <p:nvSpPr>
          <p:cNvPr id="4" name="Text 2"/>
          <p:cNvSpPr/>
          <p:nvPr/>
        </p:nvSpPr>
        <p:spPr>
          <a:xfrm>
            <a:off x="16848733" y="609600"/>
            <a:ext cx="372467"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201E1C">
                    <a:alpha val="60000"/>
                  </a:srgbClr>
                </a:solidFill>
                <a:latin typeface="Arial" pitchFamily="34" charset="0"/>
                <a:ea typeface="Arial" pitchFamily="34" charset="-122"/>
                <a:cs typeface="Arial" pitchFamily="34" charset="-120"/>
              </a:rPr>
              <a:t>10</a:t>
            </a:r>
            <a:endParaRPr lang="en-US" sz="1800" dirty="0"/>
          </a:p>
        </p:txBody>
      </p:sp>
      <p:sp>
        <p:nvSpPr>
          <p:cNvPr id="5" name="Text 3"/>
          <p:cNvSpPr/>
          <p:nvPr/>
        </p:nvSpPr>
        <p:spPr>
          <a:xfrm>
            <a:off x="1116509" y="1790700"/>
            <a:ext cx="17631341" cy="675878"/>
          </a:xfrm>
          <a:prstGeom prst="rect">
            <a:avLst/>
          </a:prstGeom>
          <a:noFill/>
          <a:ln/>
        </p:spPr>
        <p:txBody>
          <a:bodyPr wrap="square" lIns="25400" tIns="25400" rIns="25400" bIns="25400" rtlCol="0" anchor="t">
            <a:normAutofit/>
          </a:bodyPr>
          <a:lstStyle/>
          <a:p>
            <a:pPr algn="l" indent="0" marL="0">
              <a:lnSpc>
                <a:spcPct val="76672"/>
              </a:lnSpc>
              <a:buNone/>
            </a:pPr>
            <a:r>
              <a:rPr lang="en-US" sz="4650" b="1" spc="-70" kern="0" dirty="0">
                <a:solidFill>
                  <a:srgbClr val="201E1D"/>
                </a:solidFill>
                <a:latin typeface="Arial" pitchFamily="34" charset="0"/>
                <a:ea typeface="Arial" pitchFamily="34" charset="-122"/>
                <a:cs typeface="Arial" pitchFamily="34" charset="-120"/>
              </a:rPr>
              <a:t>The spend is already committed. Assurance is the gate.</a:t>
            </a:r>
            <a:endParaRPr lang="en-US" sz="4650" dirty="0"/>
          </a:p>
        </p:txBody>
      </p:sp>
      <p:sp>
        <p:nvSpPr>
          <p:cNvPr id="6" name="Shape 4"/>
          <p:cNvSpPr/>
          <p:nvPr/>
        </p:nvSpPr>
        <p:spPr>
          <a:xfrm>
            <a:off x="1143000" y="2733278"/>
            <a:ext cx="3657600" cy="19050"/>
          </a:xfrm>
          <a:prstGeom prst="rect">
            <a:avLst/>
          </a:prstGeom>
          <a:solidFill>
            <a:srgbClr val="201E1E">
              <a:alpha val="40000"/>
            </a:srgbClr>
          </a:solidFill>
          <a:ln/>
        </p:spPr>
        <p:txBody>
          <a:bodyPr/>
          <a:p/>
        </p:txBody>
      </p:sp>
      <p:sp>
        <p:nvSpPr>
          <p:cNvPr id="7" name="Text 5"/>
          <p:cNvSpPr/>
          <p:nvPr/>
        </p:nvSpPr>
        <p:spPr>
          <a:xfrm>
            <a:off x="1143000" y="2961878"/>
            <a:ext cx="4023360" cy="838200"/>
          </a:xfrm>
          <a:prstGeom prst="rect">
            <a:avLst/>
          </a:prstGeom>
          <a:noFill/>
          <a:ln/>
        </p:spPr>
        <p:txBody>
          <a:bodyPr wrap="square" lIns="25400" tIns="25400" rIns="25400" bIns="25400" rtlCol="0" anchor="t">
            <a:normAutofit/>
          </a:bodyPr>
          <a:lstStyle/>
          <a:p>
            <a:pPr algn="l" indent="0" marL="0">
              <a:lnSpc>
                <a:spcPct val="70787"/>
              </a:lnSpc>
              <a:buNone/>
            </a:pPr>
            <a:r>
              <a:rPr lang="en-US" sz="6300" b="1" spc="-126" kern="0" dirty="0">
                <a:solidFill>
                  <a:srgbClr val="201E1D"/>
                </a:solidFill>
                <a:latin typeface="Arial" pitchFamily="34" charset="0"/>
                <a:ea typeface="Arial" pitchFamily="34" charset="-122"/>
                <a:cs typeface="Arial" pitchFamily="34" charset="-120"/>
              </a:rPr>
              <a:t>~$1bn</a:t>
            </a:r>
            <a:endParaRPr lang="en-US" sz="6300" dirty="0"/>
          </a:p>
        </p:txBody>
      </p:sp>
      <p:sp>
        <p:nvSpPr>
          <p:cNvPr id="8" name="Text 6"/>
          <p:cNvSpPr/>
          <p:nvPr/>
        </p:nvSpPr>
        <p:spPr>
          <a:xfrm>
            <a:off x="1143000" y="3895328"/>
            <a:ext cx="3767328" cy="981075"/>
          </a:xfrm>
          <a:prstGeom prst="rect">
            <a:avLst/>
          </a:prstGeom>
          <a:noFill/>
          <a:ln/>
        </p:spPr>
        <p:txBody>
          <a:bodyPr wrap="square" lIns="25400" tIns="25400" rIns="25400" bIns="25400" rtlCol="0" anchor="t">
            <a:normAutofit/>
          </a:bodyPr>
          <a:lstStyle/>
          <a:p>
            <a:pPr algn="l" indent="0" marL="0">
              <a:lnSpc>
                <a:spcPct val="115116"/>
              </a:lnSpc>
              <a:buNone/>
            </a:pPr>
            <a:r>
              <a:rPr lang="en-US" sz="1875" dirty="0">
                <a:solidFill>
                  <a:srgbClr val="201E1C">
                    <a:alpha val="60000"/>
                  </a:srgbClr>
                </a:solidFill>
                <a:latin typeface="Arial" pitchFamily="34" charset="0"/>
                <a:ea typeface="Arial" pitchFamily="34" charset="-122"/>
                <a:cs typeface="Arial" pitchFamily="34" charset="-120"/>
              </a:rPr>
              <a:t>Indian lenders must invest over 5–10 years to upgrade legacy core banking</a:t>
            </a:r>
            <a:endParaRPr lang="en-US" sz="1875" dirty="0"/>
          </a:p>
        </p:txBody>
      </p:sp>
      <p:sp>
        <p:nvSpPr>
          <p:cNvPr id="9" name="Text 7"/>
          <p:cNvSpPr/>
          <p:nvPr/>
        </p:nvSpPr>
        <p:spPr>
          <a:xfrm>
            <a:off x="1143000" y="4952604"/>
            <a:ext cx="4023360" cy="323850"/>
          </a:xfrm>
          <a:prstGeom prst="rect">
            <a:avLst/>
          </a:prstGeom>
          <a:noFill/>
          <a:ln/>
        </p:spPr>
        <p:txBody>
          <a:bodyPr wrap="square" lIns="25400" tIns="25400" rIns="25400" bIns="25400" rtlCol="0" anchor="t">
            <a:normAutofit/>
          </a:bodyPr>
          <a:lstStyle/>
          <a:p>
            <a:pPr algn="l" indent="0" marL="0">
              <a:lnSpc>
                <a:spcPct val="107143"/>
              </a:lnSpc>
              <a:buNone/>
            </a:pPr>
            <a:r>
              <a:rPr lang="en-US" sz="1800" dirty="0">
                <a:solidFill>
                  <a:srgbClr val="AE1800"/>
                </a:solidFill>
                <a:latin typeface="Arial" pitchFamily="34" charset="0"/>
                <a:ea typeface="Arial" pitchFamily="34" charset="-122"/>
                <a:cs typeface="Arial" pitchFamily="34" charset="-120"/>
              </a:rPr>
              <a:t>Boston Consulting Group, 2024</a:t>
            </a:r>
            <a:endParaRPr lang="en-US" sz="1800" dirty="0"/>
          </a:p>
        </p:txBody>
      </p:sp>
      <p:sp>
        <p:nvSpPr>
          <p:cNvPr id="10" name="Shape 8"/>
          <p:cNvSpPr/>
          <p:nvPr/>
        </p:nvSpPr>
        <p:spPr>
          <a:xfrm>
            <a:off x="5257800" y="2733278"/>
            <a:ext cx="3657600" cy="19050"/>
          </a:xfrm>
          <a:prstGeom prst="rect">
            <a:avLst/>
          </a:prstGeom>
          <a:solidFill>
            <a:srgbClr val="201E1E">
              <a:alpha val="40000"/>
            </a:srgbClr>
          </a:solidFill>
          <a:ln/>
        </p:spPr>
        <p:txBody>
          <a:bodyPr/>
          <a:p/>
        </p:txBody>
      </p:sp>
      <p:sp>
        <p:nvSpPr>
          <p:cNvPr id="11" name="Text 9"/>
          <p:cNvSpPr/>
          <p:nvPr/>
        </p:nvSpPr>
        <p:spPr>
          <a:xfrm>
            <a:off x="5257800" y="2961878"/>
            <a:ext cx="4023360" cy="838200"/>
          </a:xfrm>
          <a:prstGeom prst="rect">
            <a:avLst/>
          </a:prstGeom>
          <a:noFill/>
          <a:ln/>
        </p:spPr>
        <p:txBody>
          <a:bodyPr wrap="square" lIns="25400" tIns="25400" rIns="25400" bIns="25400" rtlCol="0" anchor="t">
            <a:normAutofit/>
          </a:bodyPr>
          <a:lstStyle/>
          <a:p>
            <a:pPr algn="l" indent="0" marL="0">
              <a:lnSpc>
                <a:spcPct val="70787"/>
              </a:lnSpc>
              <a:buNone/>
            </a:pPr>
            <a:r>
              <a:rPr lang="en-US" sz="6300" b="1" spc="-126" kern="0" dirty="0">
                <a:solidFill>
                  <a:srgbClr val="201E1D"/>
                </a:solidFill>
                <a:latin typeface="Arial" pitchFamily="34" charset="0"/>
                <a:ea typeface="Arial" pitchFamily="34" charset="-122"/>
                <a:cs typeface="Arial" pitchFamily="34" charset="-120"/>
              </a:rPr>
              <a:t>92</a:t>
            </a:r>
            <a:pPr algn="l" indent="0" marL="0">
              <a:lnSpc>
                <a:spcPct val="70787"/>
              </a:lnSpc>
              <a:buNone/>
            </a:pPr>
            <a:r>
              <a:rPr lang="en-US" sz="3600" b="1" spc="-126" kern="0" dirty="0">
                <a:solidFill>
                  <a:srgbClr val="201E1D"/>
                </a:solidFill>
                <a:latin typeface="Arial" pitchFamily="34" charset="0"/>
                <a:ea typeface="Arial" pitchFamily="34" charset="-122"/>
                <a:cs typeface="Arial" pitchFamily="34" charset="-120"/>
              </a:rPr>
              <a:t>/100</a:t>
            </a:r>
            <a:endParaRPr lang="en-US" sz="6300" dirty="0"/>
          </a:p>
        </p:txBody>
      </p:sp>
      <p:sp>
        <p:nvSpPr>
          <p:cNvPr id="12" name="Text 10"/>
          <p:cNvSpPr/>
          <p:nvPr/>
        </p:nvSpPr>
        <p:spPr>
          <a:xfrm>
            <a:off x="5257800" y="3895328"/>
            <a:ext cx="3767328" cy="981075"/>
          </a:xfrm>
          <a:prstGeom prst="rect">
            <a:avLst/>
          </a:prstGeom>
          <a:noFill/>
          <a:ln/>
        </p:spPr>
        <p:txBody>
          <a:bodyPr wrap="square" lIns="25400" tIns="25400" rIns="25400" bIns="25400" rtlCol="0" anchor="t">
            <a:normAutofit/>
          </a:bodyPr>
          <a:lstStyle/>
          <a:p>
            <a:pPr algn="l" indent="0" marL="0">
              <a:lnSpc>
                <a:spcPct val="115116"/>
              </a:lnSpc>
              <a:buNone/>
            </a:pPr>
            <a:r>
              <a:rPr lang="en-US" sz="1875" dirty="0">
                <a:solidFill>
                  <a:srgbClr val="201E1C">
                    <a:alpha val="60000"/>
                  </a:srgbClr>
                </a:solidFill>
                <a:latin typeface="Arial" pitchFamily="34" charset="0"/>
                <a:ea typeface="Arial" pitchFamily="34" charset="-122"/>
                <a:cs typeface="Arial" pitchFamily="34" charset="-120"/>
              </a:rPr>
              <a:t>of the world’s largest banks run core operations on IBM mainframes</a:t>
            </a:r>
            <a:endParaRPr lang="en-US" sz="1875" dirty="0"/>
          </a:p>
        </p:txBody>
      </p:sp>
      <p:sp>
        <p:nvSpPr>
          <p:cNvPr id="13" name="Text 11"/>
          <p:cNvSpPr/>
          <p:nvPr/>
        </p:nvSpPr>
        <p:spPr>
          <a:xfrm>
            <a:off x="5257800" y="4952604"/>
            <a:ext cx="4023360" cy="323850"/>
          </a:xfrm>
          <a:prstGeom prst="rect">
            <a:avLst/>
          </a:prstGeom>
          <a:noFill/>
          <a:ln/>
        </p:spPr>
        <p:txBody>
          <a:bodyPr wrap="square" lIns="25400" tIns="25400" rIns="25400" bIns="25400" rtlCol="0" anchor="t">
            <a:normAutofit/>
          </a:bodyPr>
          <a:lstStyle/>
          <a:p>
            <a:pPr algn="l" indent="0" marL="0">
              <a:lnSpc>
                <a:spcPct val="107143"/>
              </a:lnSpc>
              <a:buNone/>
            </a:pPr>
            <a:r>
              <a:rPr lang="en-US" sz="1800" dirty="0">
                <a:solidFill>
                  <a:srgbClr val="AE1800"/>
                </a:solidFill>
                <a:latin typeface="Arial" pitchFamily="34" charset="0"/>
                <a:ea typeface="Arial" pitchFamily="34" charset="-122"/>
                <a:cs typeface="Arial" pitchFamily="34" charset="-120"/>
              </a:rPr>
              <a:t>widely reported industry figure</a:t>
            </a:r>
            <a:endParaRPr lang="en-US" sz="1800" dirty="0"/>
          </a:p>
        </p:txBody>
      </p:sp>
      <p:sp>
        <p:nvSpPr>
          <p:cNvPr id="14" name="Shape 12"/>
          <p:cNvSpPr/>
          <p:nvPr/>
        </p:nvSpPr>
        <p:spPr>
          <a:xfrm>
            <a:off x="9372600" y="2733278"/>
            <a:ext cx="3657600" cy="19050"/>
          </a:xfrm>
          <a:prstGeom prst="rect">
            <a:avLst/>
          </a:prstGeom>
          <a:solidFill>
            <a:srgbClr val="201E1E">
              <a:alpha val="40000"/>
            </a:srgbClr>
          </a:solidFill>
          <a:ln/>
        </p:spPr>
        <p:txBody>
          <a:bodyPr/>
          <a:p/>
        </p:txBody>
      </p:sp>
      <p:sp>
        <p:nvSpPr>
          <p:cNvPr id="15" name="Text 13"/>
          <p:cNvSpPr/>
          <p:nvPr/>
        </p:nvSpPr>
        <p:spPr>
          <a:xfrm>
            <a:off x="9372600" y="2961878"/>
            <a:ext cx="4023360" cy="838200"/>
          </a:xfrm>
          <a:prstGeom prst="rect">
            <a:avLst/>
          </a:prstGeom>
          <a:noFill/>
          <a:ln/>
        </p:spPr>
        <p:txBody>
          <a:bodyPr wrap="square" lIns="25400" tIns="25400" rIns="25400" bIns="25400" rtlCol="0" anchor="t">
            <a:normAutofit/>
          </a:bodyPr>
          <a:lstStyle/>
          <a:p>
            <a:pPr algn="l" indent="0" marL="0">
              <a:lnSpc>
                <a:spcPct val="70787"/>
              </a:lnSpc>
              <a:buNone/>
            </a:pPr>
            <a:r>
              <a:rPr lang="en-US" sz="6300" b="1" spc="-126" kern="0" dirty="0">
                <a:solidFill>
                  <a:srgbClr val="201E1D"/>
                </a:solidFill>
                <a:latin typeface="Arial" pitchFamily="34" charset="0"/>
                <a:ea typeface="Arial" pitchFamily="34" charset="-122"/>
                <a:cs typeface="Arial" pitchFamily="34" charset="-120"/>
              </a:rPr>
              <a:t>&gt;40%</a:t>
            </a:r>
            <a:endParaRPr lang="en-US" sz="6300" dirty="0"/>
          </a:p>
        </p:txBody>
      </p:sp>
      <p:sp>
        <p:nvSpPr>
          <p:cNvPr id="16" name="Text 14"/>
          <p:cNvSpPr/>
          <p:nvPr/>
        </p:nvSpPr>
        <p:spPr>
          <a:xfrm>
            <a:off x="9372600" y="3895328"/>
            <a:ext cx="3767328" cy="666750"/>
          </a:xfrm>
          <a:prstGeom prst="rect">
            <a:avLst/>
          </a:prstGeom>
          <a:noFill/>
          <a:ln/>
        </p:spPr>
        <p:txBody>
          <a:bodyPr wrap="square" lIns="25400" tIns="25400" rIns="25400" bIns="25400" rtlCol="0" anchor="t">
            <a:normAutofit/>
          </a:bodyPr>
          <a:lstStyle/>
          <a:p>
            <a:pPr algn="l" indent="0" marL="0">
              <a:lnSpc>
                <a:spcPct val="115116"/>
              </a:lnSpc>
              <a:buNone/>
            </a:pPr>
            <a:r>
              <a:rPr lang="en-US" sz="1875" dirty="0">
                <a:solidFill>
                  <a:srgbClr val="201E1C">
                    <a:alpha val="60000"/>
                  </a:srgbClr>
                </a:solidFill>
                <a:latin typeface="Arial" pitchFamily="34" charset="0"/>
                <a:ea typeface="Arial" pitchFamily="34" charset="-122"/>
                <a:cs typeface="Arial" pitchFamily="34" charset="-120"/>
              </a:rPr>
              <a:t>of banking systems still run COBOL in production today</a:t>
            </a:r>
            <a:endParaRPr lang="en-US" sz="1875" dirty="0"/>
          </a:p>
        </p:txBody>
      </p:sp>
      <p:sp>
        <p:nvSpPr>
          <p:cNvPr id="17" name="Text 15"/>
          <p:cNvSpPr/>
          <p:nvPr/>
        </p:nvSpPr>
        <p:spPr>
          <a:xfrm>
            <a:off x="9372600" y="4638278"/>
            <a:ext cx="4023360" cy="323850"/>
          </a:xfrm>
          <a:prstGeom prst="rect">
            <a:avLst/>
          </a:prstGeom>
          <a:noFill/>
          <a:ln/>
        </p:spPr>
        <p:txBody>
          <a:bodyPr wrap="square" lIns="25400" tIns="25400" rIns="25400" bIns="25400" rtlCol="0" anchor="t">
            <a:normAutofit/>
          </a:bodyPr>
          <a:lstStyle/>
          <a:p>
            <a:pPr algn="l" indent="0" marL="0">
              <a:lnSpc>
                <a:spcPct val="107143"/>
              </a:lnSpc>
              <a:buNone/>
            </a:pPr>
            <a:r>
              <a:rPr lang="en-US" sz="1800" dirty="0">
                <a:solidFill>
                  <a:srgbClr val="AE1800"/>
                </a:solidFill>
                <a:latin typeface="Arial" pitchFamily="34" charset="0"/>
                <a:ea typeface="Arial" pitchFamily="34" charset="-122"/>
                <a:cs typeface="Arial" pitchFamily="34" charset="-120"/>
              </a:rPr>
              <a:t>Pragmatic Coders, 2025</a:t>
            </a:r>
            <a:endParaRPr lang="en-US" sz="1800" dirty="0"/>
          </a:p>
        </p:txBody>
      </p:sp>
      <p:sp>
        <p:nvSpPr>
          <p:cNvPr id="18" name="Shape 16"/>
          <p:cNvSpPr/>
          <p:nvPr/>
        </p:nvSpPr>
        <p:spPr>
          <a:xfrm>
            <a:off x="13487400" y="2733278"/>
            <a:ext cx="3657600" cy="19050"/>
          </a:xfrm>
          <a:prstGeom prst="rect">
            <a:avLst/>
          </a:prstGeom>
          <a:solidFill>
            <a:srgbClr val="201E1E">
              <a:alpha val="40000"/>
            </a:srgbClr>
          </a:solidFill>
          <a:ln/>
        </p:spPr>
        <p:txBody>
          <a:bodyPr/>
          <a:p/>
        </p:txBody>
      </p:sp>
      <p:sp>
        <p:nvSpPr>
          <p:cNvPr id="19" name="Text 17"/>
          <p:cNvSpPr/>
          <p:nvPr/>
        </p:nvSpPr>
        <p:spPr>
          <a:xfrm>
            <a:off x="13487400" y="2961878"/>
            <a:ext cx="4023360" cy="920750"/>
          </a:xfrm>
          <a:prstGeom prst="rect">
            <a:avLst/>
          </a:prstGeom>
          <a:noFill/>
          <a:ln/>
        </p:spPr>
        <p:txBody>
          <a:bodyPr wrap="square" lIns="25400" tIns="25400" rIns="25400" bIns="25400" rtlCol="0" anchor="t">
            <a:normAutofit/>
          </a:bodyPr>
          <a:lstStyle/>
          <a:p>
            <a:pPr algn="l" indent="0" marL="0">
              <a:lnSpc>
                <a:spcPct val="92647"/>
              </a:lnSpc>
              <a:buNone/>
            </a:pPr>
            <a:r>
              <a:rPr lang="en-US" sz="4800" b="1" spc="-96" kern="0" dirty="0">
                <a:solidFill>
                  <a:srgbClr val="EC3013"/>
                </a:solidFill>
                <a:latin typeface="Arial" pitchFamily="34" charset="0"/>
                <a:ea typeface="Arial" pitchFamily="34" charset="-122"/>
                <a:cs typeface="Arial" pitchFamily="34" charset="-120"/>
              </a:rPr>
              <a:t>40,000+</a:t>
            </a:r>
            <a:pPr algn="l" indent="0" marL="0">
              <a:lnSpc>
                <a:spcPct val="92647"/>
              </a:lnSpc>
              <a:buNone/>
            </a:pPr>
            <a:pPr algn="l" indent="0" marL="0">
              <a:lnSpc>
                <a:spcPct val="92647"/>
              </a:lnSpc>
              <a:buNone/>
            </a:pPr>
            <a:endParaRPr lang="en-US" sz="4800" dirty="0"/>
          </a:p>
        </p:txBody>
      </p:sp>
      <p:sp>
        <p:nvSpPr>
          <p:cNvPr id="20" name="Text 18"/>
          <p:cNvSpPr/>
          <p:nvPr/>
        </p:nvSpPr>
        <p:spPr>
          <a:xfrm>
            <a:off x="13487400" y="3977878"/>
            <a:ext cx="3767328" cy="666750"/>
          </a:xfrm>
          <a:prstGeom prst="rect">
            <a:avLst/>
          </a:prstGeom>
          <a:noFill/>
          <a:ln/>
        </p:spPr>
        <p:txBody>
          <a:bodyPr wrap="square" lIns="25400" tIns="25400" rIns="25400" bIns="25400" rtlCol="0" anchor="t">
            <a:normAutofit/>
          </a:bodyPr>
          <a:lstStyle/>
          <a:p>
            <a:pPr algn="l" indent="0" marL="0">
              <a:lnSpc>
                <a:spcPct val="115116"/>
              </a:lnSpc>
              <a:buNone/>
            </a:pPr>
            <a:r>
              <a:rPr lang="en-US" sz="1875" dirty="0">
                <a:solidFill>
                  <a:srgbClr val="201E1C">
                    <a:alpha val="60000"/>
                  </a:srgbClr>
                </a:solidFill>
                <a:latin typeface="Arial" pitchFamily="34" charset="0"/>
                <a:ea typeface="Arial" pitchFamily="34" charset="-122"/>
                <a:cs typeface="Arial" pitchFamily="34" charset="-120"/>
              </a:rPr>
              <a:t>mobile &amp; internet banking complaints, FY22–23</a:t>
            </a:r>
            <a:endParaRPr lang="en-US" sz="1875" dirty="0"/>
          </a:p>
        </p:txBody>
      </p:sp>
      <p:sp>
        <p:nvSpPr>
          <p:cNvPr id="21" name="Text 19"/>
          <p:cNvSpPr/>
          <p:nvPr/>
        </p:nvSpPr>
        <p:spPr>
          <a:xfrm>
            <a:off x="13487400" y="4720828"/>
            <a:ext cx="4023360" cy="323850"/>
          </a:xfrm>
          <a:prstGeom prst="rect">
            <a:avLst/>
          </a:prstGeom>
          <a:noFill/>
          <a:ln/>
        </p:spPr>
        <p:txBody>
          <a:bodyPr wrap="square" lIns="25400" tIns="25400" rIns="25400" bIns="25400" rtlCol="0" anchor="t">
            <a:normAutofit/>
          </a:bodyPr>
          <a:lstStyle/>
          <a:p>
            <a:pPr algn="l" indent="0" marL="0">
              <a:lnSpc>
                <a:spcPct val="107143"/>
              </a:lnSpc>
              <a:buNone/>
            </a:pPr>
            <a:r>
              <a:rPr lang="en-US" sz="1800" dirty="0">
                <a:solidFill>
                  <a:srgbClr val="AE1800"/>
                </a:solidFill>
                <a:latin typeface="Arial" pitchFamily="34" charset="0"/>
                <a:ea typeface="Arial" pitchFamily="34" charset="-122"/>
                <a:cs typeface="Arial" pitchFamily="34" charset="-120"/>
              </a:rPr>
              <a:t>RBI ombudsman data</a:t>
            </a:r>
            <a:endParaRPr lang="en-US" sz="1800" dirty="0"/>
          </a:p>
        </p:txBody>
      </p:sp>
      <p:sp>
        <p:nvSpPr>
          <p:cNvPr id="22" name="Shape 20"/>
          <p:cNvSpPr/>
          <p:nvPr/>
        </p:nvSpPr>
        <p:spPr>
          <a:xfrm>
            <a:off x="1143000" y="5619354"/>
            <a:ext cx="7772400" cy="19050"/>
          </a:xfrm>
          <a:prstGeom prst="rect">
            <a:avLst/>
          </a:prstGeom>
          <a:solidFill>
            <a:srgbClr val="201E1E">
              <a:alpha val="40000"/>
            </a:srgbClr>
          </a:solidFill>
          <a:ln/>
        </p:spPr>
        <p:txBody>
          <a:bodyPr/>
          <a:p/>
        </p:txBody>
      </p:sp>
      <p:sp>
        <p:nvSpPr>
          <p:cNvPr id="23" name="Text 21"/>
          <p:cNvSpPr/>
          <p:nvPr/>
        </p:nvSpPr>
        <p:spPr>
          <a:xfrm>
            <a:off x="1143000" y="5809854"/>
            <a:ext cx="8549640" cy="388541"/>
          </a:xfrm>
          <a:prstGeom prst="rect">
            <a:avLst/>
          </a:prstGeom>
          <a:noFill/>
          <a:ln/>
        </p:spPr>
        <p:txBody>
          <a:bodyPr wrap="square" lIns="25400" tIns="25400" rIns="25400" bIns="25400" rtlCol="0" anchor="t">
            <a:normAutofit/>
          </a:bodyPr>
          <a:lstStyle/>
          <a:p>
            <a:pPr algn="l" indent="0" marL="0">
              <a:lnSpc>
                <a:spcPct val="81176"/>
              </a:lnSpc>
              <a:buNone/>
            </a:pPr>
            <a:r>
              <a:rPr lang="en-US" sz="2400" b="1" spc="-36" kern="0" dirty="0">
                <a:solidFill>
                  <a:srgbClr val="201E1D"/>
                </a:solidFill>
                <a:latin typeface="Arial" pitchFamily="34" charset="0"/>
                <a:ea typeface="Arial" pitchFamily="34" charset="-122"/>
                <a:cs typeface="Arial" pitchFamily="34" charset="-120"/>
              </a:rPr>
              <a:t>Every rupee of it is gated by one step</a:t>
            </a:r>
            <a:endParaRPr lang="en-US" sz="2400" dirty="0"/>
          </a:p>
        </p:txBody>
      </p:sp>
      <p:sp>
        <p:nvSpPr>
          <p:cNvPr id="24" name="Text 22"/>
          <p:cNvSpPr/>
          <p:nvPr/>
        </p:nvSpPr>
        <p:spPr>
          <a:xfrm>
            <a:off x="1143000" y="6293644"/>
            <a:ext cx="8005572" cy="1333500"/>
          </a:xfrm>
          <a:prstGeom prst="rect">
            <a:avLst/>
          </a:prstGeom>
          <a:noFill/>
          <a:ln/>
        </p:spPr>
        <p:txBody>
          <a:bodyPr wrap="square" lIns="25400" tIns="25400" rIns="25400" bIns="25400" rtlCol="0" anchor="t">
            <a:normAutofit/>
          </a:bodyPr>
          <a:lstStyle/>
          <a:p>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Modernisation budgets are approved. What stalls them is the assurance step between “the new code exists” and “we are willing to run it on real money”. That step has no product category yet — it is absorbed as consulting hours and schedule risk.</a:t>
            </a:r>
            <a:endParaRPr lang="en-US" sz="1875" dirty="0"/>
          </a:p>
        </p:txBody>
      </p:sp>
      <p:sp>
        <p:nvSpPr>
          <p:cNvPr id="25" name="Shape 23"/>
          <p:cNvSpPr/>
          <p:nvPr/>
        </p:nvSpPr>
        <p:spPr>
          <a:xfrm>
            <a:off x="9372600" y="5619354"/>
            <a:ext cx="7772400" cy="19050"/>
          </a:xfrm>
          <a:prstGeom prst="rect">
            <a:avLst/>
          </a:prstGeom>
          <a:solidFill>
            <a:srgbClr val="201E1E">
              <a:alpha val="40000"/>
            </a:srgbClr>
          </a:solidFill>
          <a:ln/>
        </p:spPr>
        <p:txBody>
          <a:bodyPr/>
          <a:p/>
        </p:txBody>
      </p:sp>
      <p:sp>
        <p:nvSpPr>
          <p:cNvPr id="26" name="Text 24"/>
          <p:cNvSpPr/>
          <p:nvPr/>
        </p:nvSpPr>
        <p:spPr>
          <a:xfrm>
            <a:off x="9372600" y="5809854"/>
            <a:ext cx="8549640" cy="388541"/>
          </a:xfrm>
          <a:prstGeom prst="rect">
            <a:avLst/>
          </a:prstGeom>
          <a:noFill/>
          <a:ln/>
        </p:spPr>
        <p:txBody>
          <a:bodyPr wrap="square" lIns="25400" tIns="25400" rIns="25400" bIns="25400" rtlCol="0" anchor="t">
            <a:normAutofit/>
          </a:bodyPr>
          <a:lstStyle/>
          <a:p>
            <a:pPr algn="l" indent="0" marL="0">
              <a:lnSpc>
                <a:spcPct val="81176"/>
              </a:lnSpc>
              <a:buNone/>
            </a:pPr>
            <a:r>
              <a:rPr lang="en-US" sz="2400" b="1" spc="-36" kern="0" dirty="0">
                <a:solidFill>
                  <a:srgbClr val="201E1D"/>
                </a:solidFill>
                <a:latin typeface="Arial" pitchFamily="34" charset="0"/>
                <a:ea typeface="Arial" pitchFamily="34" charset="-122"/>
                <a:cs typeface="Arial" pitchFamily="34" charset="-120"/>
              </a:rPr>
              <a:t>The category is forming around generation</a:t>
            </a:r>
            <a:endParaRPr lang="en-US" sz="2400" dirty="0"/>
          </a:p>
        </p:txBody>
      </p:sp>
      <p:sp>
        <p:nvSpPr>
          <p:cNvPr id="27" name="Text 25"/>
          <p:cNvSpPr/>
          <p:nvPr/>
        </p:nvSpPr>
        <p:spPr>
          <a:xfrm>
            <a:off x="9372600" y="6293644"/>
            <a:ext cx="8005572" cy="1562100"/>
          </a:xfrm>
          <a:prstGeom prst="rect">
            <a:avLst/>
          </a:prstGeom>
          <a:noFill/>
          <a:ln/>
        </p:spPr>
        <p:txBody>
          <a:bodyPr wrap="square" lIns="25400" tIns="25400" rIns="25400" bIns="25400" rtlCol="0" anchor="t">
            <a:normAutofit/>
          </a:bodyPr>
          <a:lstStyle/>
          <a:p>
            <a:pPr algn="l" indent="0" marL="0">
              <a:lnSpc>
                <a:spcPct val="114286"/>
              </a:lnSpc>
              <a:buNone/>
            </a:pPr>
            <a:r>
              <a:rPr lang="en-US" sz="1800" b="1" dirty="0">
                <a:solidFill>
                  <a:srgbClr val="201E1D"/>
                </a:solidFill>
                <a:latin typeface="Arial" pitchFamily="34" charset="0"/>
                <a:ea typeface="Arial" pitchFamily="34" charset="-122"/>
                <a:cs typeface="Arial" pitchFamily="34" charset="-120"/>
              </a:rPr>
              <a:t>AWS Transform for mainframe </a:t>
            </a:r>
            <a:pPr algn="l" indent="0" marL="0">
              <a:lnSpc>
                <a:spcPct val="114286"/>
              </a:lnSpc>
              <a:buNone/>
            </a:pPr>
            <a:r>
              <a:rPr lang="en-US" sz="1800" dirty="0">
                <a:solidFill>
                  <a:srgbClr val="201E1C">
                    <a:alpha val="60000"/>
                  </a:srgbClr>
                </a:solidFill>
                <a:latin typeface="Arial" pitchFamily="34" charset="0"/>
                <a:ea typeface="Arial" pitchFamily="34" charset="-122"/>
                <a:cs typeface="Arial" pitchFamily="34" charset="-120"/>
              </a:rPr>
              <a:t>— GA May 2025; ADP cut rule-extraction time 80%, manual effort over 90%. </a:t>
            </a:r>
            <a:pPr algn="l" indent="0" marL="0">
              <a:lnSpc>
                <a:spcPct val="114286"/>
              </a:lnSpc>
              <a:buNone/>
            </a:pPr>
            <a:r>
              <a:rPr lang="en-US" sz="1800" b="1" dirty="0">
                <a:solidFill>
                  <a:srgbClr val="201E1D"/>
                </a:solidFill>
                <a:latin typeface="Arial" pitchFamily="34" charset="0"/>
                <a:ea typeface="Arial" pitchFamily="34" charset="-122"/>
                <a:cs typeface="Arial" pitchFamily="34" charset="-120"/>
              </a:rPr>
              <a:t>IBM watsonx Code Assistant for Z </a:t>
            </a:r>
            <a:pPr algn="l" indent="0" marL="0">
              <a:lnSpc>
                <a:spcPct val="114286"/>
              </a:lnSpc>
              <a:buNone/>
            </a:pPr>
            <a:r>
              <a:rPr lang="en-US" sz="1800" dirty="0">
                <a:solidFill>
                  <a:srgbClr val="201E1C">
                    <a:alpha val="60000"/>
                  </a:srgbClr>
                </a:solidFill>
                <a:latin typeface="Arial" pitchFamily="34" charset="0"/>
                <a:ea typeface="Arial" pitchFamily="34" charset="-122"/>
                <a:cs typeface="Arial" pitchFamily="34" charset="-120"/>
              </a:rPr>
              <a:t>— ships a validation assistant; IBM’s own papers say the output cannot be trusted without checking. </a:t>
            </a:r>
            <a:pPr algn="l" indent="0" marL="0">
              <a:lnSpc>
                <a:spcPct val="114286"/>
              </a:lnSpc>
              <a:buNone/>
            </a:pPr>
            <a:r>
              <a:rPr lang="en-US" sz="1800" b="1" dirty="0">
                <a:solidFill>
                  <a:srgbClr val="201E1D"/>
                </a:solidFill>
                <a:latin typeface="Arial" pitchFamily="34" charset="0"/>
                <a:ea typeface="Arial" pitchFamily="34" charset="-122"/>
                <a:cs typeface="Arial" pitchFamily="34" charset="-120"/>
              </a:rPr>
              <a:t>Mechanical Orchard, Imogen </a:t>
            </a:r>
            <a:pPr algn="l" indent="0" marL="0">
              <a:lnSpc>
                <a:spcPct val="114286"/>
              </a:lnSpc>
              <a:buNone/>
            </a:pPr>
            <a:r>
              <a:rPr lang="en-US" sz="1800" dirty="0">
                <a:solidFill>
                  <a:srgbClr val="201E1C">
                    <a:alpha val="60000"/>
                  </a:srgbClr>
                </a:solidFill>
                <a:latin typeface="Arial" pitchFamily="34" charset="0"/>
                <a:ea typeface="Arial" pitchFamily="34" charset="-122"/>
                <a:cs typeface="Arial" pitchFamily="34" charset="-120"/>
              </a:rPr>
              <a:t>— a generate-then-validate loop.</a:t>
            </a:r>
            <a:endParaRPr lang="en-US" sz="1800" dirty="0"/>
          </a:p>
        </p:txBody>
      </p:sp>
      <p:sp>
        <p:nvSpPr>
          <p:cNvPr id="28" name="Text 26"/>
          <p:cNvSpPr/>
          <p:nvPr/>
        </p:nvSpPr>
        <p:spPr>
          <a:xfrm>
            <a:off x="9372600" y="7970044"/>
            <a:ext cx="8549640" cy="361950"/>
          </a:xfrm>
          <a:prstGeom prst="rect">
            <a:avLst/>
          </a:prstGeom>
          <a:noFill/>
          <a:ln/>
        </p:spPr>
        <p:txBody>
          <a:bodyPr wrap="square" lIns="25400" tIns="25400" rIns="25400" bIns="25400" rtlCol="0" anchor="t">
            <a:normAutofit/>
          </a:bodyPr>
          <a:lstStyle/>
          <a:p>
            <a:pPr algn="l" indent="0" marL="0">
              <a:lnSpc>
                <a:spcPct val="92727"/>
              </a:lnSpc>
              <a:buNone/>
            </a:pPr>
            <a:r>
              <a:rPr lang="en-US" sz="1950" b="1" dirty="0">
                <a:solidFill>
                  <a:srgbClr val="AE1800"/>
                </a:solidFill>
                <a:latin typeface="Arial" pitchFamily="34" charset="0"/>
                <a:ea typeface="Arial" pitchFamily="34" charset="-122"/>
                <a:cs typeface="Arial" pitchFamily="34" charset="-120"/>
              </a:rPr>
              <a:t>All of them generate. None of them sells the proof as the product.</a:t>
            </a:r>
            <a:endParaRPr lang="en-US" sz="1950" dirty="0"/>
          </a:p>
        </p:txBody>
      </p:sp>
      <p:sp>
        <p:nvSpPr>
          <p:cNvPr id="29" name="Text 27"/>
          <p:cNvSpPr/>
          <p:nvPr/>
        </p:nvSpPr>
        <p:spPr>
          <a:xfrm>
            <a:off x="1143000" y="9353550"/>
            <a:ext cx="17602200" cy="361950"/>
          </a:xfrm>
          <a:prstGeom prst="rect">
            <a:avLst/>
          </a:prstGeom>
          <a:noFill/>
          <a:ln/>
        </p:spPr>
        <p:txBody>
          <a:bodyPr wrap="square" lIns="25400" tIns="25400" rIns="25400" bIns="25400" rtlCol="0" anchor="t">
            <a:normAutofit/>
          </a:bodyPr>
          <a:lstStyle/>
          <a:p>
            <a:pPr algn="l" indent="0" marL="0">
              <a:lnSpc>
                <a:spcPct val="121429"/>
              </a:lnSpc>
              <a:buNone/>
            </a:pPr>
            <a:r>
              <a:rPr lang="en-US" sz="1800" dirty="0">
                <a:solidFill>
                  <a:srgbClr val="201E1C">
                    <a:alpha val="60000"/>
                  </a:srgbClr>
                </a:solidFill>
                <a:latin typeface="Arial" pitchFamily="34" charset="0"/>
                <a:ea typeface="Arial" pitchFamily="34" charset="-122"/>
                <a:cs typeface="Arial" pitchFamily="34" charset="-120"/>
              </a:rPr>
              <a:t>Indian banks spend up to 5% of revenue on IT against 7–9% for global peers — the gap compounds: less budget → fewer attempts → more undocumented logic.</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txBody>
          <a:bodyPr/>
          <a:p/>
        </p:txBody>
      </p:sp>
      <p:sp>
        <p:nvSpPr>
          <p:cNvPr id="3" name="Text 1"/>
          <p:cNvSpPr/>
          <p:nvPr/>
        </p:nvSpPr>
        <p:spPr>
          <a:xfrm>
            <a:off x="1143000" y="609600"/>
            <a:ext cx="3026470"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FEASIBILITY &amp; SCOPE</a:t>
            </a:r>
            <a:endParaRPr lang="en-US" sz="1800" dirty="0"/>
          </a:p>
        </p:txBody>
      </p:sp>
      <p:sp>
        <p:nvSpPr>
          <p:cNvPr id="4" name="Text 2"/>
          <p:cNvSpPr/>
          <p:nvPr/>
        </p:nvSpPr>
        <p:spPr>
          <a:xfrm>
            <a:off x="16848733" y="609600"/>
            <a:ext cx="372467"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201E1C">
                    <a:alpha val="60000"/>
                  </a:srgbClr>
                </a:solidFill>
                <a:latin typeface="Arial" pitchFamily="34" charset="0"/>
                <a:ea typeface="Arial" pitchFamily="34" charset="-122"/>
                <a:cs typeface="Arial" pitchFamily="34" charset="-120"/>
              </a:rPr>
              <a:t>11</a:t>
            </a:r>
            <a:endParaRPr lang="en-US" sz="1800" dirty="0"/>
          </a:p>
        </p:txBody>
      </p:sp>
      <p:sp>
        <p:nvSpPr>
          <p:cNvPr id="5" name="Text 3"/>
          <p:cNvSpPr/>
          <p:nvPr/>
        </p:nvSpPr>
        <p:spPr>
          <a:xfrm>
            <a:off x="1116509" y="1790700"/>
            <a:ext cx="17631341" cy="675878"/>
          </a:xfrm>
          <a:prstGeom prst="rect">
            <a:avLst/>
          </a:prstGeom>
          <a:noFill/>
          <a:ln/>
        </p:spPr>
        <p:txBody>
          <a:bodyPr wrap="square" lIns="25400" tIns="25400" rIns="25400" bIns="25400" rtlCol="0" anchor="t">
            <a:normAutofit/>
          </a:bodyPr>
          <a:lstStyle/>
          <a:p>
            <a:pPr algn="l" indent="0" marL="0">
              <a:lnSpc>
                <a:spcPct val="76672"/>
              </a:lnSpc>
              <a:buNone/>
            </a:pPr>
            <a:r>
              <a:rPr lang="en-US" sz="4650" b="1" spc="-70" kern="0" dirty="0">
                <a:solidFill>
                  <a:srgbClr val="201E1D"/>
                </a:solidFill>
                <a:latin typeface="Arial" pitchFamily="34" charset="0"/>
                <a:ea typeface="Arial" pitchFamily="34" charset="-122"/>
                <a:cs typeface="Arial" pitchFamily="34" charset="-120"/>
              </a:rPr>
              <a:t>Narrow by design, and buildable now</a:t>
            </a:r>
            <a:endParaRPr lang="en-US" sz="4650" dirty="0"/>
          </a:p>
        </p:txBody>
      </p:sp>
      <p:sp>
        <p:nvSpPr>
          <p:cNvPr id="6" name="Shape 4"/>
          <p:cNvSpPr/>
          <p:nvPr/>
        </p:nvSpPr>
        <p:spPr>
          <a:xfrm>
            <a:off x="1143000" y="2771378"/>
            <a:ext cx="7772400" cy="19050"/>
          </a:xfrm>
          <a:prstGeom prst="rect">
            <a:avLst/>
          </a:prstGeom>
          <a:solidFill>
            <a:srgbClr val="201E1E">
              <a:alpha val="40000"/>
            </a:srgbClr>
          </a:solidFill>
          <a:ln/>
        </p:spPr>
        <p:txBody>
          <a:bodyPr/>
          <a:p/>
        </p:txBody>
      </p:sp>
      <p:sp>
        <p:nvSpPr>
          <p:cNvPr id="7" name="Text 5"/>
          <p:cNvSpPr/>
          <p:nvPr/>
        </p:nvSpPr>
        <p:spPr>
          <a:xfrm>
            <a:off x="1143000" y="2961878"/>
            <a:ext cx="8549640" cy="355699"/>
          </a:xfrm>
          <a:prstGeom prst="rect">
            <a:avLst/>
          </a:prstGeom>
          <a:noFill/>
          <a:ln/>
        </p:spPr>
        <p:txBody>
          <a:bodyPr wrap="square" lIns="25400" tIns="25400" rIns="25400" bIns="25400" rtlCol="0" anchor="t">
            <a:normAutofit/>
          </a:bodyPr>
          <a:lstStyle/>
          <a:p>
            <a:pPr algn="l" indent="0" marL="0">
              <a:lnSpc>
                <a:spcPct val="82008"/>
              </a:lnSpc>
              <a:buNone/>
            </a:pPr>
            <a:r>
              <a:rPr lang="en-US" sz="2175" b="1" spc="-33" kern="0" dirty="0">
                <a:solidFill>
                  <a:srgbClr val="201E1D"/>
                </a:solidFill>
                <a:latin typeface="Arial" pitchFamily="34" charset="0"/>
                <a:ea typeface="Arial" pitchFamily="34" charset="-122"/>
                <a:cs typeface="Arial" pitchFamily="34" charset="-120"/>
              </a:rPr>
              <a:t>In scope</a:t>
            </a:r>
            <a:endParaRPr lang="en-US" sz="2175" dirty="0"/>
          </a:p>
        </p:txBody>
      </p:sp>
      <p:sp>
        <p:nvSpPr>
          <p:cNvPr id="8" name="Text 6"/>
          <p:cNvSpPr/>
          <p:nvPr/>
        </p:nvSpPr>
        <p:spPr>
          <a:xfrm>
            <a:off x="1143000" y="3412827"/>
            <a:ext cx="8005572" cy="1371600"/>
          </a:xfrm>
          <a:prstGeom prst="rect">
            <a:avLst/>
          </a:prstGeom>
          <a:noFill/>
          <a:ln/>
        </p:spPr>
        <p:txBody>
          <a:bodyPr wrap="square" lIns="25400" tIns="25400" rIns="25400" bIns="25400" rtlCol="0" anchor="t">
            <a:normAutofit/>
          </a:bodyPr>
          <a:lstStyle/>
          <a:p>
            <a:pPr algn="l" indent="0" marL="0">
              <a:lnSpc>
                <a:spcPct val="125000"/>
              </a:lnSpc>
              <a:buNone/>
            </a:pPr>
            <a:r>
              <a:rPr lang="en-US" sz="1800" dirty="0">
                <a:solidFill>
                  <a:srgbClr val="201E1D"/>
                </a:solidFill>
                <a:latin typeface="Arial" pitchFamily="34" charset="0"/>
                <a:ea typeface="Arial" pitchFamily="34" charset="-122"/>
                <a:cs typeface="Arial" pitchFamily="34" charset="-120"/>
              </a:rPr>
              <a:t>COBOL compiled and executed via GnuCOBOL — free, open source, runs on a laptop Retail banking interest accrual — pure computation: input in, output out Third-party COBOL, including AWS’s own CardDemo sample</a:t>
            </a:r>
            <a:endParaRPr lang="en-US" sz="1800" dirty="0"/>
          </a:p>
        </p:txBody>
      </p:sp>
      <p:sp>
        <p:nvSpPr>
          <p:cNvPr id="9" name="Shape 7"/>
          <p:cNvSpPr/>
          <p:nvPr/>
        </p:nvSpPr>
        <p:spPr>
          <a:xfrm>
            <a:off x="9372600" y="2771378"/>
            <a:ext cx="7772400" cy="19050"/>
          </a:xfrm>
          <a:prstGeom prst="rect">
            <a:avLst/>
          </a:prstGeom>
          <a:solidFill>
            <a:srgbClr val="201E1E">
              <a:alpha val="40000"/>
            </a:srgbClr>
          </a:solidFill>
          <a:ln/>
        </p:spPr>
        <p:txBody>
          <a:bodyPr/>
          <a:p/>
        </p:txBody>
      </p:sp>
      <p:sp>
        <p:nvSpPr>
          <p:cNvPr id="10" name="Text 8"/>
          <p:cNvSpPr/>
          <p:nvPr/>
        </p:nvSpPr>
        <p:spPr>
          <a:xfrm>
            <a:off x="9372600" y="2961878"/>
            <a:ext cx="8549640" cy="355699"/>
          </a:xfrm>
          <a:prstGeom prst="rect">
            <a:avLst/>
          </a:prstGeom>
          <a:noFill/>
          <a:ln/>
        </p:spPr>
        <p:txBody>
          <a:bodyPr wrap="square" lIns="25400" tIns="25400" rIns="25400" bIns="25400" rtlCol="0" anchor="t">
            <a:normAutofit/>
          </a:bodyPr>
          <a:lstStyle/>
          <a:p>
            <a:pPr algn="l" indent="0" marL="0">
              <a:lnSpc>
                <a:spcPct val="82008"/>
              </a:lnSpc>
              <a:buNone/>
            </a:pPr>
            <a:r>
              <a:rPr lang="en-US" sz="2175" b="1" spc="-33" kern="0" dirty="0">
                <a:solidFill>
                  <a:srgbClr val="201E1D"/>
                </a:solidFill>
                <a:latin typeface="Arial" pitchFamily="34" charset="0"/>
                <a:ea typeface="Arial" pitchFamily="34" charset="-122"/>
                <a:cs typeface="Arial" pitchFamily="34" charset="-120"/>
              </a:rPr>
              <a:t>Out of scope — detected, not ignored</a:t>
            </a:r>
            <a:endParaRPr lang="en-US" sz="2175" dirty="0"/>
          </a:p>
        </p:txBody>
      </p:sp>
      <p:sp>
        <p:nvSpPr>
          <p:cNvPr id="11" name="Text 9"/>
          <p:cNvSpPr/>
          <p:nvPr/>
        </p:nvSpPr>
        <p:spPr>
          <a:xfrm>
            <a:off x="9372600" y="3412827"/>
            <a:ext cx="8005572" cy="1038225"/>
          </a:xfrm>
          <a:prstGeom prst="rect">
            <a:avLst/>
          </a:prstGeom>
          <a:noFill/>
          <a:ln/>
        </p:spPr>
        <p:txBody>
          <a:bodyPr wrap="square" lIns="25400" tIns="25400" rIns="25400" bIns="25400" rtlCol="0" anchor="t">
            <a:normAutofit/>
          </a:bodyPr>
          <a:lstStyle/>
          <a:p>
            <a:pPr algn="l" indent="0" marL="0">
              <a:lnSpc>
                <a:spcPct val="125000"/>
              </a:lnSpc>
              <a:buNone/>
            </a:pPr>
            <a:r>
              <a:rPr lang="en-US" sz="1800" dirty="0">
                <a:solidFill>
                  <a:srgbClr val="201E1D"/>
                </a:solidFill>
                <a:latin typeface="Arial" pitchFamily="34" charset="0"/>
                <a:ea typeface="Arial" pitchFamily="34" charset="-122"/>
                <a:cs typeface="Arial" pitchFamily="34" charset="-120"/>
              </a:rPr>
              <a:t>CICS screens and JCL orchestration · database-coupled programs · anything non-deterministic — system clocks, randomness, external state</a:t>
            </a:r>
            <a:endParaRPr lang="en-US" sz="1800" dirty="0"/>
          </a:p>
        </p:txBody>
      </p:sp>
      <p:sp>
        <p:nvSpPr>
          <p:cNvPr id="12" name="Text 10"/>
          <p:cNvSpPr/>
          <p:nvPr/>
        </p:nvSpPr>
        <p:spPr>
          <a:xfrm>
            <a:off x="9372600" y="4546302"/>
            <a:ext cx="8005572" cy="628650"/>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Differential testing compares outputs for equality, so non-determinism makes the verdict meaningless. The tool refuses these at intake, with a reason.</a:t>
            </a:r>
            <a:endParaRPr lang="en-US" sz="1800" dirty="0"/>
          </a:p>
        </p:txBody>
      </p:sp>
      <p:sp>
        <p:nvSpPr>
          <p:cNvPr id="13" name="Text 11"/>
          <p:cNvSpPr/>
          <p:nvPr/>
        </p:nvSpPr>
        <p:spPr>
          <a:xfrm>
            <a:off x="1143000" y="5517853"/>
            <a:ext cx="17602200" cy="379413"/>
          </a:xfrm>
          <a:prstGeom prst="rect">
            <a:avLst/>
          </a:prstGeom>
          <a:noFill/>
          <a:ln/>
        </p:spPr>
        <p:txBody>
          <a:bodyPr wrap="square" lIns="25400" tIns="25400" rIns="25400" bIns="25400" rtlCol="0" anchor="t">
            <a:normAutofit/>
          </a:bodyPr>
          <a:lstStyle/>
          <a:p>
            <a:pPr algn="l" indent="0" marL="0">
              <a:lnSpc>
                <a:spcPct val="79059"/>
              </a:lnSpc>
              <a:buNone/>
            </a:pPr>
            <a:r>
              <a:rPr lang="en-US" sz="2400" b="1" spc="-36" kern="0" dirty="0">
                <a:solidFill>
                  <a:srgbClr val="201E1D"/>
                </a:solidFill>
                <a:latin typeface="Arial" pitchFamily="34" charset="0"/>
                <a:ea typeface="Arial" pitchFamily="34" charset="-122"/>
                <a:cs typeface="Arial" pitchFamily="34" charset="-120"/>
              </a:rPr>
              <a:t>Build stages — the spine first, the novelty protected</a:t>
            </a:r>
            <a:endParaRPr lang="en-US" sz="2400" dirty="0"/>
          </a:p>
        </p:txBody>
      </p:sp>
      <p:sp>
        <p:nvSpPr>
          <p:cNvPr id="14" name="Shape 12"/>
          <p:cNvSpPr/>
          <p:nvPr/>
        </p:nvSpPr>
        <p:spPr>
          <a:xfrm>
            <a:off x="1143000" y="6087765"/>
            <a:ext cx="3657600" cy="19050"/>
          </a:xfrm>
          <a:prstGeom prst="rect">
            <a:avLst/>
          </a:prstGeom>
          <a:solidFill>
            <a:srgbClr val="EC3013"/>
          </a:solidFill>
          <a:ln/>
        </p:spPr>
        <p:txBody>
          <a:bodyPr/>
          <a:p/>
        </p:txBody>
      </p:sp>
      <p:sp>
        <p:nvSpPr>
          <p:cNvPr id="15" name="Text 13"/>
          <p:cNvSpPr/>
          <p:nvPr/>
        </p:nvSpPr>
        <p:spPr>
          <a:xfrm>
            <a:off x="1143000" y="6278265"/>
            <a:ext cx="4023360" cy="333772"/>
          </a:xfrm>
          <a:prstGeom prst="rect">
            <a:avLst/>
          </a:prstGeom>
          <a:noFill/>
          <a:ln/>
        </p:spPr>
        <p:txBody>
          <a:bodyPr wrap="square" lIns="25400" tIns="25400" rIns="25400" bIns="25400" rtlCol="0" anchor="t">
            <a:normAutofit/>
          </a:bodyPr>
          <a:lstStyle/>
          <a:p>
            <a:pPr algn="l" indent="0" marL="0">
              <a:lnSpc>
                <a:spcPct val="80302"/>
              </a:lnSpc>
              <a:buNone/>
            </a:pPr>
            <a:r>
              <a:rPr lang="en-US" sz="2025" b="1" spc="-30" kern="0" dirty="0">
                <a:solidFill>
                  <a:srgbClr val="AE1800"/>
                </a:solidFill>
                <a:latin typeface="Arial" pitchFamily="34" charset="0"/>
                <a:ea typeface="Arial" pitchFamily="34" charset="-122"/>
                <a:cs typeface="Arial" pitchFamily="34" charset="-120"/>
              </a:rPr>
              <a:t>01 </a:t>
            </a:r>
            <a:pPr algn="l" indent="0" marL="0">
              <a:lnSpc>
                <a:spcPct val="80302"/>
              </a:lnSpc>
              <a:buNone/>
            </a:pPr>
            <a:r>
              <a:rPr lang="en-US" sz="2025" b="1" spc="-30" kern="0" dirty="0">
                <a:solidFill>
                  <a:srgbClr val="201E1D"/>
                </a:solidFill>
                <a:latin typeface="Arial" pitchFamily="34" charset="0"/>
                <a:ea typeface="Arial" pitchFamily="34" charset="-122"/>
                <a:cs typeface="Arial" pitchFamily="34" charset="-120"/>
              </a:rPr>
              <a:t>· Differential harness</a:t>
            </a:r>
            <a:endParaRPr lang="en-US" sz="2025" dirty="0"/>
          </a:p>
        </p:txBody>
      </p:sp>
      <p:sp>
        <p:nvSpPr>
          <p:cNvPr id="16" name="Text 14"/>
          <p:cNvSpPr/>
          <p:nvPr/>
        </p:nvSpPr>
        <p:spPr>
          <a:xfrm>
            <a:off x="1143000" y="6707287"/>
            <a:ext cx="3767328" cy="92392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GnuCOBOL compiles and runs; diff two implementations across an input list.</a:t>
            </a:r>
            <a:endParaRPr lang="en-US" sz="1800" dirty="0"/>
          </a:p>
        </p:txBody>
      </p:sp>
      <p:sp>
        <p:nvSpPr>
          <p:cNvPr id="17" name="Shape 15"/>
          <p:cNvSpPr/>
          <p:nvPr/>
        </p:nvSpPr>
        <p:spPr>
          <a:xfrm>
            <a:off x="5257800" y="6087765"/>
            <a:ext cx="3657600" cy="19050"/>
          </a:xfrm>
          <a:prstGeom prst="rect">
            <a:avLst/>
          </a:prstGeom>
          <a:solidFill>
            <a:srgbClr val="EC3013"/>
          </a:solidFill>
          <a:ln/>
        </p:spPr>
        <p:txBody>
          <a:bodyPr/>
          <a:p/>
        </p:txBody>
      </p:sp>
      <p:sp>
        <p:nvSpPr>
          <p:cNvPr id="18" name="Text 16"/>
          <p:cNvSpPr/>
          <p:nvPr/>
        </p:nvSpPr>
        <p:spPr>
          <a:xfrm>
            <a:off x="5257800" y="6278265"/>
            <a:ext cx="4023360" cy="333772"/>
          </a:xfrm>
          <a:prstGeom prst="rect">
            <a:avLst/>
          </a:prstGeom>
          <a:noFill/>
          <a:ln/>
        </p:spPr>
        <p:txBody>
          <a:bodyPr wrap="square" lIns="25400" tIns="25400" rIns="25400" bIns="25400" rtlCol="0" anchor="t">
            <a:normAutofit/>
          </a:bodyPr>
          <a:lstStyle/>
          <a:p>
            <a:pPr algn="l" indent="0" marL="0">
              <a:lnSpc>
                <a:spcPct val="80302"/>
              </a:lnSpc>
              <a:buNone/>
            </a:pPr>
            <a:r>
              <a:rPr lang="en-US" sz="2025" b="1" spc="-30" kern="0" dirty="0">
                <a:solidFill>
                  <a:srgbClr val="AE1800"/>
                </a:solidFill>
                <a:latin typeface="Arial" pitchFamily="34" charset="0"/>
                <a:ea typeface="Arial" pitchFamily="34" charset="-122"/>
                <a:cs typeface="Arial" pitchFamily="34" charset="-120"/>
              </a:rPr>
              <a:t>02 </a:t>
            </a:r>
            <a:pPr algn="l" indent="0" marL="0">
              <a:lnSpc>
                <a:spcPct val="80302"/>
              </a:lnSpc>
              <a:buNone/>
            </a:pPr>
            <a:r>
              <a:rPr lang="en-US" sz="2025" b="1" spc="-30" kern="0" dirty="0">
                <a:solidFill>
                  <a:srgbClr val="201E1D"/>
                </a:solidFill>
                <a:latin typeface="Arial" pitchFamily="34" charset="0"/>
                <a:ea typeface="Arial" pitchFamily="34" charset="-122"/>
                <a:cs typeface="Arial" pitchFamily="34" charset="-120"/>
              </a:rPr>
              <a:t>· Rules and boundaries</a:t>
            </a:r>
            <a:endParaRPr lang="en-US" sz="2025" dirty="0"/>
          </a:p>
        </p:txBody>
      </p:sp>
      <p:sp>
        <p:nvSpPr>
          <p:cNvPr id="19" name="Text 17"/>
          <p:cNvSpPr/>
          <p:nvPr/>
        </p:nvSpPr>
        <p:spPr>
          <a:xfrm>
            <a:off x="5257800" y="6707287"/>
            <a:ext cx="3767328" cy="92392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Slice, extract with line citations, derive boundary inputs from the rules.</a:t>
            </a:r>
            <a:endParaRPr lang="en-US" sz="1800" dirty="0"/>
          </a:p>
        </p:txBody>
      </p:sp>
      <p:sp>
        <p:nvSpPr>
          <p:cNvPr id="20" name="Shape 18"/>
          <p:cNvSpPr/>
          <p:nvPr/>
        </p:nvSpPr>
        <p:spPr>
          <a:xfrm>
            <a:off x="9372600" y="6087765"/>
            <a:ext cx="3657600" cy="19050"/>
          </a:xfrm>
          <a:prstGeom prst="rect">
            <a:avLst/>
          </a:prstGeom>
          <a:solidFill>
            <a:srgbClr val="EC3013"/>
          </a:solidFill>
          <a:ln/>
        </p:spPr>
        <p:txBody>
          <a:bodyPr/>
          <a:p/>
        </p:txBody>
      </p:sp>
      <p:sp>
        <p:nvSpPr>
          <p:cNvPr id="21" name="Text 19"/>
          <p:cNvSpPr/>
          <p:nvPr/>
        </p:nvSpPr>
        <p:spPr>
          <a:xfrm>
            <a:off x="9372600" y="6278265"/>
            <a:ext cx="4023360" cy="333772"/>
          </a:xfrm>
          <a:prstGeom prst="rect">
            <a:avLst/>
          </a:prstGeom>
          <a:noFill/>
          <a:ln/>
        </p:spPr>
        <p:txBody>
          <a:bodyPr wrap="square" lIns="25400" tIns="25400" rIns="25400" bIns="25400" rtlCol="0" anchor="t">
            <a:normAutofit/>
          </a:bodyPr>
          <a:lstStyle/>
          <a:p>
            <a:pPr algn="l" indent="0" marL="0">
              <a:lnSpc>
                <a:spcPct val="80302"/>
              </a:lnSpc>
              <a:buNone/>
            </a:pPr>
            <a:r>
              <a:rPr lang="en-US" sz="2025" b="1" spc="-30" kern="0" dirty="0">
                <a:solidFill>
                  <a:srgbClr val="AE1800"/>
                </a:solidFill>
                <a:latin typeface="Arial" pitchFamily="34" charset="0"/>
                <a:ea typeface="Arial" pitchFamily="34" charset="-122"/>
                <a:cs typeface="Arial" pitchFamily="34" charset="-120"/>
              </a:rPr>
              <a:t>03 </a:t>
            </a:r>
            <a:pPr algn="l" indent="0" marL="0">
              <a:lnSpc>
                <a:spcPct val="80302"/>
              </a:lnSpc>
              <a:buNone/>
            </a:pPr>
            <a:r>
              <a:rPr lang="en-US" sz="2025" b="1" spc="-30" kern="0" dirty="0">
                <a:solidFill>
                  <a:srgbClr val="201E1D"/>
                </a:solidFill>
                <a:latin typeface="Arial" pitchFamily="34" charset="0"/>
                <a:ea typeface="Arial" pitchFamily="34" charset="-122"/>
                <a:cs typeface="Arial" pitchFamily="34" charset="-120"/>
              </a:rPr>
              <a:t>· Per-rule results</a:t>
            </a:r>
            <a:endParaRPr lang="en-US" sz="2025" dirty="0"/>
          </a:p>
        </p:txBody>
      </p:sp>
      <p:sp>
        <p:nvSpPr>
          <p:cNvPr id="22" name="Text 20"/>
          <p:cNvSpPr/>
          <p:nvPr/>
        </p:nvSpPr>
        <p:spPr>
          <a:xfrm>
            <a:off x="9372600" y="6707287"/>
            <a:ext cx="3767328" cy="92392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Coverage mapped back to rules, including the ones we could not confirm.</a:t>
            </a:r>
            <a:endParaRPr lang="en-US" sz="1800" dirty="0"/>
          </a:p>
        </p:txBody>
      </p:sp>
      <p:sp>
        <p:nvSpPr>
          <p:cNvPr id="23" name="Shape 21"/>
          <p:cNvSpPr/>
          <p:nvPr/>
        </p:nvSpPr>
        <p:spPr>
          <a:xfrm>
            <a:off x="13487400" y="6087765"/>
            <a:ext cx="3657600" cy="19050"/>
          </a:xfrm>
          <a:prstGeom prst="rect">
            <a:avLst/>
          </a:prstGeom>
          <a:solidFill>
            <a:srgbClr val="EC3013"/>
          </a:solidFill>
          <a:ln/>
        </p:spPr>
        <p:txBody>
          <a:bodyPr/>
          <a:p/>
        </p:txBody>
      </p:sp>
      <p:sp>
        <p:nvSpPr>
          <p:cNvPr id="24" name="Text 22"/>
          <p:cNvSpPr/>
          <p:nvPr/>
        </p:nvSpPr>
        <p:spPr>
          <a:xfrm>
            <a:off x="13487400" y="6278265"/>
            <a:ext cx="4023360" cy="333772"/>
          </a:xfrm>
          <a:prstGeom prst="rect">
            <a:avLst/>
          </a:prstGeom>
          <a:noFill/>
          <a:ln/>
        </p:spPr>
        <p:txBody>
          <a:bodyPr wrap="square" lIns="25400" tIns="25400" rIns="25400" bIns="25400" rtlCol="0" anchor="t">
            <a:normAutofit/>
          </a:bodyPr>
          <a:lstStyle/>
          <a:p>
            <a:pPr algn="l" indent="0" marL="0">
              <a:lnSpc>
                <a:spcPct val="80302"/>
              </a:lnSpc>
              <a:buNone/>
            </a:pPr>
            <a:r>
              <a:rPr lang="en-US" sz="2025" b="1" spc="-30" kern="0" dirty="0">
                <a:solidFill>
                  <a:srgbClr val="AE1800"/>
                </a:solidFill>
                <a:latin typeface="Arial" pitchFamily="34" charset="0"/>
                <a:ea typeface="Arial" pitchFamily="34" charset="-122"/>
                <a:cs typeface="Arial" pitchFamily="34" charset="-120"/>
              </a:rPr>
              <a:t>04 </a:t>
            </a:r>
            <a:pPr algn="l" indent="0" marL="0">
              <a:lnSpc>
                <a:spcPct val="80302"/>
              </a:lnSpc>
              <a:buNone/>
            </a:pPr>
            <a:r>
              <a:rPr lang="en-US" sz="2025" b="1" spc="-30" kern="0" dirty="0">
                <a:solidFill>
                  <a:srgbClr val="201E1D"/>
                </a:solidFill>
                <a:latin typeface="Arial" pitchFamily="34" charset="0"/>
                <a:ea typeface="Arial" pitchFamily="34" charset="-122"/>
                <a:cs typeface="Arial" pitchFamily="34" charset="-120"/>
              </a:rPr>
              <a:t>· Regulation and mutation</a:t>
            </a:r>
            <a:endParaRPr lang="en-US" sz="2025" dirty="0"/>
          </a:p>
        </p:txBody>
      </p:sp>
      <p:sp>
        <p:nvSpPr>
          <p:cNvPr id="25" name="Text 23"/>
          <p:cNvSpPr/>
          <p:nvPr/>
        </p:nvSpPr>
        <p:spPr>
          <a:xfrm>
            <a:off x="13487400" y="6707287"/>
            <a:ext cx="3767328" cy="628650"/>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The RBI reference model, then fault injection to score the corpus.</a:t>
            </a:r>
            <a:endParaRPr lang="en-US" sz="1800" dirty="0"/>
          </a:p>
        </p:txBody>
      </p:sp>
      <p:sp>
        <p:nvSpPr>
          <p:cNvPr id="26" name="Text 24"/>
          <p:cNvSpPr/>
          <p:nvPr/>
        </p:nvSpPr>
        <p:spPr>
          <a:xfrm>
            <a:off x="1143000" y="9029700"/>
            <a:ext cx="16482060" cy="685800"/>
          </a:xfrm>
          <a:prstGeom prst="rect">
            <a:avLst/>
          </a:prstGeom>
          <a:noFill/>
          <a:ln/>
        </p:spPr>
        <p:txBody>
          <a:bodyPr wrap="square" lIns="25400" tIns="25400" rIns="25400" bIns="25400" rtlCol="0" anchor="t">
            <a:normAutofit/>
          </a:bodyPr>
          <a:lstStyle/>
          <a:p>
            <a:pPr algn="l" indent="0" marL="0">
              <a:lnSpc>
                <a:spcPct val="121429"/>
              </a:lnSpc>
              <a:buNone/>
            </a:pPr>
            <a:r>
              <a:rPr lang="en-US" sz="1800" dirty="0">
                <a:solidFill>
                  <a:srgbClr val="201E1C">
                    <a:alpha val="60000"/>
                  </a:srgbClr>
                </a:solidFill>
                <a:latin typeface="Arial" pitchFamily="34" charset="0"/>
                <a:ea typeface="Arial" pitchFamily="34" charset="-122"/>
                <a:cs typeface="Arial" pitchFamily="34" charset="-120"/>
              </a:rPr>
              <a:t>Known limitation, stated up front: input-generation quality caps everything — stage 04 scores the corpus instead of trusting it. GnuCOBOL passes 9,700 of 9,748 NIST COBOL-85 conformance tests; the method is compiler-agnostic — a bank points it at its own compiler.</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sp>
      <p:sp>
        <p:nvSpPr>
          <p:cNvPr id="3" name="Text 1"/>
          <p:cNvSpPr/>
          <p:nvPr/>
        </p:nvSpPr>
        <p:spPr>
          <a:xfrm>
            <a:off x="1143000" y="609600"/>
            <a:ext cx="2973536"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BUSINESS PLAN (1/2)</a:t>
            </a:r>
            <a:endParaRPr lang="en-US" sz="1800" dirty="0"/>
          </a:p>
        </p:txBody>
      </p:sp>
      <p:sp>
        <p:nvSpPr>
          <p:cNvPr id="4" name="Text 2"/>
          <p:cNvSpPr/>
          <p:nvPr/>
        </p:nvSpPr>
        <p:spPr>
          <a:xfrm>
            <a:off x="16848733" y="609600"/>
            <a:ext cx="372467"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201E1C">
                    <a:alpha val="60000"/>
                  </a:srgbClr>
                </a:solidFill>
                <a:latin typeface="Arial" pitchFamily="34" charset="0"/>
                <a:ea typeface="Arial" pitchFamily="34" charset="-122"/>
                <a:cs typeface="Arial" pitchFamily="34" charset="-120"/>
              </a:rPr>
              <a:t>12</a:t>
            </a:r>
            <a:endParaRPr lang="en-US" sz="1800" dirty="0"/>
          </a:p>
        </p:txBody>
      </p:sp>
      <p:sp>
        <p:nvSpPr>
          <p:cNvPr id="5" name="Text 3"/>
          <p:cNvSpPr/>
          <p:nvPr/>
        </p:nvSpPr>
        <p:spPr>
          <a:xfrm>
            <a:off x="1116509" y="1790700"/>
            <a:ext cx="17631341" cy="675878"/>
          </a:xfrm>
          <a:prstGeom prst="rect">
            <a:avLst/>
          </a:prstGeom>
          <a:noFill/>
          <a:ln/>
        </p:spPr>
        <p:txBody>
          <a:bodyPr wrap="square" lIns="25400" tIns="25400" rIns="25400" bIns="25400" rtlCol="0" anchor="t">
            <a:normAutofit/>
          </a:bodyPr>
          <a:lstStyle/>
          <a:p>
            <a:pPr algn="l" indent="0" marL="0">
              <a:lnSpc>
                <a:spcPct val="76672"/>
              </a:lnSpc>
              <a:buNone/>
            </a:pPr>
            <a:r>
              <a:rPr lang="en-US" sz="4650" b="1" spc="-70" kern="0" dirty="0">
                <a:solidFill>
                  <a:srgbClr val="201E1D"/>
                </a:solidFill>
                <a:latin typeface="Arial" pitchFamily="34" charset="0"/>
                <a:ea typeface="Arial" pitchFamily="34" charset="-122"/>
                <a:cs typeface="Arial" pitchFamily="34" charset="-120"/>
              </a:rPr>
              <a:t>The plan on a page: why, how, what</a:t>
            </a:r>
            <a:endParaRPr lang="en-US" sz="4650" dirty="0"/>
          </a:p>
        </p:txBody>
      </p:sp>
      <p:sp>
        <p:nvSpPr>
          <p:cNvPr id="6" name="Shape 4"/>
          <p:cNvSpPr/>
          <p:nvPr/>
        </p:nvSpPr>
        <p:spPr>
          <a:xfrm>
            <a:off x="1143000" y="2771378"/>
            <a:ext cx="5029200" cy="19050"/>
          </a:xfrm>
          <a:prstGeom prst="rect">
            <a:avLst/>
          </a:prstGeom>
          <a:solidFill>
            <a:srgbClr val="201E1E">
              <a:alpha val="40000"/>
            </a:srgbClr>
          </a:solidFill>
          <a:ln/>
        </p:spPr>
      </p:sp>
      <p:sp>
        <p:nvSpPr>
          <p:cNvPr id="7" name="Text 5"/>
          <p:cNvSpPr/>
          <p:nvPr/>
        </p:nvSpPr>
        <p:spPr>
          <a:xfrm>
            <a:off x="1143000" y="2968228"/>
            <a:ext cx="860524" cy="374650"/>
          </a:xfrm>
          <a:prstGeom prst="rect">
            <a:avLst/>
          </a:prstGeom>
          <a:noFill/>
          <a:ln/>
        </p:spPr>
        <p:txBody>
          <a:bodyPr wrap="square" lIns="0" tIns="0" rIns="0" bIns="0" rtlCol="0" anchor="t">
            <a:normAutofit/>
          </a:bodyPr>
          <a:lstStyle/>
          <a:p>
            <a:pPr algn="l" indent="0" marL="0">
              <a:lnSpc>
                <a:spcPct val="81176"/>
              </a:lnSpc>
              <a:buNone/>
            </a:pPr>
            <a:r>
              <a:rPr lang="en-US" sz="2400" b="1" spc="192" kern="0" dirty="0">
                <a:solidFill>
                  <a:srgbClr val="EC3013"/>
                </a:solidFill>
                <a:latin typeface="Arial" pitchFamily="34" charset="0"/>
                <a:ea typeface="Arial" pitchFamily="34" charset="-122"/>
                <a:cs typeface="Arial" pitchFamily="34" charset="-120"/>
              </a:rPr>
              <a:t>WHY</a:t>
            </a:r>
            <a:endParaRPr lang="en-US" sz="2400" dirty="0"/>
          </a:p>
        </p:txBody>
      </p:sp>
      <p:sp>
        <p:nvSpPr>
          <p:cNvPr id="8" name="Text 6"/>
          <p:cNvSpPr/>
          <p:nvPr/>
        </p:nvSpPr>
        <p:spPr>
          <a:xfrm>
            <a:off x="1143000" y="3350419"/>
            <a:ext cx="5532120" cy="330200"/>
          </a:xfrm>
          <a:prstGeom prst="rect">
            <a:avLst/>
          </a:prstGeom>
          <a:noFill/>
          <a:ln/>
        </p:spPr>
        <p:txBody>
          <a:bodyPr wrap="square" lIns="25400" tIns="25400" rIns="25400" bIns="25400" rtlCol="0" anchor="t">
            <a:normAutofit/>
          </a:bodyPr>
          <a:lstStyle/>
          <a:p>
            <a:pPr algn="l" indent="0" marL="0">
              <a:lnSpc>
                <a:spcPct val="102222"/>
              </a:lnSpc>
              <a:buNone/>
            </a:pPr>
            <a:r>
              <a:rPr lang="en-US" sz="2000" dirty="0">
                <a:solidFill>
                  <a:srgbClr val="201E1C">
                    <a:alpha val="60000"/>
                  </a:srgbClr>
                </a:solidFill>
                <a:latin typeface="Arial" pitchFamily="34" charset="0"/>
                <a:ea typeface="Arial" pitchFamily="34" charset="-122"/>
                <a:cs typeface="Arial" pitchFamily="34" charset="-120"/>
              </a:rPr>
              <a:t>explain the problem</a:t>
            </a:r>
            <a:endParaRPr lang="en-US" sz="2000" dirty="0"/>
          </a:p>
        </p:txBody>
      </p:sp>
      <p:sp>
        <p:nvSpPr>
          <p:cNvPr id="9" name="Text 7"/>
          <p:cNvSpPr/>
          <p:nvPr/>
        </p:nvSpPr>
        <p:spPr>
          <a:xfrm>
            <a:off x="1143000" y="3775869"/>
            <a:ext cx="5180076" cy="19812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Problem &amp; business scenario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92 of the top 100 banks run on mainframes; over 40% of banking systems still run COBOL. Indian lenders face ~$1bn of core upgrades over 5–10 years (BCG). The rules were never documented anywhere except the code.</a:t>
            </a:r>
            <a:endParaRPr lang="en-US" sz="1875" dirty="0"/>
          </a:p>
        </p:txBody>
      </p:sp>
      <p:sp>
        <p:nvSpPr>
          <p:cNvPr id="10" name="Text 8"/>
          <p:cNvSpPr/>
          <p:nvPr/>
        </p:nvSpPr>
        <p:spPr>
          <a:xfrm>
            <a:off x="1143000" y="5852319"/>
            <a:ext cx="5180076" cy="165735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Problem scope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COBOL, pure-computation programs, retail interest accrual. CICS/JCL, database-coupled and non-deterministic programs are excluded — detected and refused at intake, not silently mishandled.</a:t>
            </a:r>
            <a:endParaRPr lang="en-US" sz="1875" dirty="0"/>
          </a:p>
        </p:txBody>
      </p:sp>
      <p:sp>
        <p:nvSpPr>
          <p:cNvPr id="11" name="Text 9"/>
          <p:cNvSpPr/>
          <p:nvPr/>
        </p:nvSpPr>
        <p:spPr>
          <a:xfrm>
            <a:off x="1143000" y="7604919"/>
            <a:ext cx="5180076" cy="165735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Target users &amp; stakeholders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CIO and core-banking head, risk and internal audit, modernisation SIs, the supervisor. All can generate the new code. None can prove it is safe.</a:t>
            </a:r>
            <a:endParaRPr lang="en-US" sz="1875" dirty="0"/>
          </a:p>
        </p:txBody>
      </p:sp>
      <p:sp>
        <p:nvSpPr>
          <p:cNvPr id="12" name="Shape 10"/>
          <p:cNvSpPr/>
          <p:nvPr/>
        </p:nvSpPr>
        <p:spPr>
          <a:xfrm>
            <a:off x="6629400" y="2771378"/>
            <a:ext cx="5029200" cy="19050"/>
          </a:xfrm>
          <a:prstGeom prst="rect">
            <a:avLst/>
          </a:prstGeom>
          <a:solidFill>
            <a:srgbClr val="201E1E">
              <a:alpha val="40000"/>
            </a:srgbClr>
          </a:solidFill>
          <a:ln/>
        </p:spPr>
      </p:sp>
      <p:sp>
        <p:nvSpPr>
          <p:cNvPr id="13" name="Text 11"/>
          <p:cNvSpPr/>
          <p:nvPr/>
        </p:nvSpPr>
        <p:spPr>
          <a:xfrm>
            <a:off x="6629400" y="2968228"/>
            <a:ext cx="894259" cy="374650"/>
          </a:xfrm>
          <a:prstGeom prst="rect">
            <a:avLst/>
          </a:prstGeom>
          <a:noFill/>
          <a:ln/>
        </p:spPr>
        <p:txBody>
          <a:bodyPr wrap="square" lIns="0" tIns="0" rIns="0" bIns="0" rtlCol="0" anchor="t">
            <a:normAutofit/>
          </a:bodyPr>
          <a:lstStyle/>
          <a:p>
            <a:pPr algn="l" indent="0" marL="0">
              <a:lnSpc>
                <a:spcPct val="81176"/>
              </a:lnSpc>
              <a:buNone/>
            </a:pPr>
            <a:r>
              <a:rPr lang="en-US" sz="2400" b="1" spc="192" kern="0" dirty="0">
                <a:solidFill>
                  <a:srgbClr val="EC3013"/>
                </a:solidFill>
                <a:latin typeface="Arial" pitchFamily="34" charset="0"/>
                <a:ea typeface="Arial" pitchFamily="34" charset="-122"/>
                <a:cs typeface="Arial" pitchFamily="34" charset="-120"/>
              </a:rPr>
              <a:t>HOW</a:t>
            </a:r>
            <a:endParaRPr lang="en-US" sz="2400" dirty="0"/>
          </a:p>
        </p:txBody>
      </p:sp>
      <p:sp>
        <p:nvSpPr>
          <p:cNvPr id="14" name="Text 12"/>
          <p:cNvSpPr/>
          <p:nvPr/>
        </p:nvSpPr>
        <p:spPr>
          <a:xfrm>
            <a:off x="6629400" y="3350419"/>
            <a:ext cx="5532120" cy="330200"/>
          </a:xfrm>
          <a:prstGeom prst="rect">
            <a:avLst/>
          </a:prstGeom>
          <a:noFill/>
          <a:ln/>
        </p:spPr>
        <p:txBody>
          <a:bodyPr wrap="square" lIns="25400" tIns="25400" rIns="25400" bIns="25400" rtlCol="0" anchor="t">
            <a:normAutofit/>
          </a:bodyPr>
          <a:lstStyle/>
          <a:p>
            <a:pPr algn="l" indent="0" marL="0">
              <a:lnSpc>
                <a:spcPct val="102222"/>
              </a:lnSpc>
              <a:buNone/>
            </a:pPr>
            <a:r>
              <a:rPr lang="en-US" sz="2000" dirty="0">
                <a:solidFill>
                  <a:srgbClr val="201E1C">
                    <a:alpha val="60000"/>
                  </a:srgbClr>
                </a:solidFill>
                <a:latin typeface="Arial" pitchFamily="34" charset="0"/>
                <a:ea typeface="Arial" pitchFamily="34" charset="-122"/>
                <a:cs typeface="Arial" pitchFamily="34" charset="-120"/>
              </a:rPr>
              <a:t>explain the solve</a:t>
            </a:r>
            <a:endParaRPr lang="en-US" sz="2000" dirty="0"/>
          </a:p>
        </p:txBody>
      </p:sp>
      <p:sp>
        <p:nvSpPr>
          <p:cNvPr id="15" name="Text 13"/>
          <p:cNvSpPr/>
          <p:nvPr/>
        </p:nvSpPr>
        <p:spPr>
          <a:xfrm>
            <a:off x="6629400" y="3775869"/>
            <a:ext cx="5180076" cy="165735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Solution overview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intake gate → parse and slice → bounded LLM rule extraction with line citations → rule-directed inputs → execute three ways → diff. Outputs: rule verdicts, mutation score, compliance findings, evidence bundle.</a:t>
            </a:r>
            <a:endParaRPr lang="en-US" sz="1875" dirty="0"/>
          </a:p>
        </p:txBody>
      </p:sp>
      <p:sp>
        <p:nvSpPr>
          <p:cNvPr id="16" name="Text 14"/>
          <p:cNvSpPr/>
          <p:nvPr/>
        </p:nvSpPr>
        <p:spPr>
          <a:xfrm>
            <a:off x="6629400" y="5528469"/>
            <a:ext cx="5180076" cy="13335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Technical details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GnuCOBOL (19 dialects, 9,700/9,748 NIST), ProLeap ANTLR4 parser, program slicing, gcov coverage, delta debugging.</a:t>
            </a:r>
            <a:endParaRPr lang="en-US" sz="1875" dirty="0"/>
          </a:p>
        </p:txBody>
      </p:sp>
      <p:sp>
        <p:nvSpPr>
          <p:cNvPr id="17" name="Text 15"/>
          <p:cNvSpPr/>
          <p:nvPr/>
        </p:nvSpPr>
        <p:spPr>
          <a:xfrm>
            <a:off x="6629400" y="6957219"/>
            <a:ext cx="5180076" cy="13335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Innovation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the legacy binary is its own oracle; the reciprocal loop lets execution judge the extracted rules; the RBI Direction checks the legacy against the regulator too.</a:t>
            </a:r>
            <a:endParaRPr lang="en-US" sz="1875" dirty="0"/>
          </a:p>
        </p:txBody>
      </p:sp>
      <p:sp>
        <p:nvSpPr>
          <p:cNvPr id="18" name="Text 16"/>
          <p:cNvSpPr/>
          <p:nvPr/>
        </p:nvSpPr>
        <p:spPr>
          <a:xfrm>
            <a:off x="6629400" y="8385969"/>
            <a:ext cx="5180076" cy="13335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Why these technologies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free, NIST-validated, runs on a laptop with no mainframe. Deterministic orchestration at up to 3.5× lower token cost.</a:t>
            </a:r>
            <a:endParaRPr lang="en-US" sz="1875" dirty="0"/>
          </a:p>
        </p:txBody>
      </p:sp>
      <p:sp>
        <p:nvSpPr>
          <p:cNvPr id="19" name="Shape 17"/>
          <p:cNvSpPr/>
          <p:nvPr/>
        </p:nvSpPr>
        <p:spPr>
          <a:xfrm>
            <a:off x="12115800" y="2771378"/>
            <a:ext cx="5029200" cy="19050"/>
          </a:xfrm>
          <a:prstGeom prst="rect">
            <a:avLst/>
          </a:prstGeom>
          <a:solidFill>
            <a:srgbClr val="201E1E">
              <a:alpha val="40000"/>
            </a:srgbClr>
          </a:solidFill>
          <a:ln/>
        </p:spPr>
      </p:sp>
      <p:sp>
        <p:nvSpPr>
          <p:cNvPr id="20" name="Text 18"/>
          <p:cNvSpPr/>
          <p:nvPr/>
        </p:nvSpPr>
        <p:spPr>
          <a:xfrm>
            <a:off x="12115800" y="2968228"/>
            <a:ext cx="1048445" cy="374650"/>
          </a:xfrm>
          <a:prstGeom prst="rect">
            <a:avLst/>
          </a:prstGeom>
          <a:noFill/>
          <a:ln/>
        </p:spPr>
        <p:txBody>
          <a:bodyPr wrap="square" lIns="0" tIns="0" rIns="0" bIns="0" rtlCol="0" anchor="t">
            <a:normAutofit/>
          </a:bodyPr>
          <a:lstStyle/>
          <a:p>
            <a:pPr algn="l" indent="0" marL="0">
              <a:lnSpc>
                <a:spcPct val="81176"/>
              </a:lnSpc>
              <a:buNone/>
            </a:pPr>
            <a:r>
              <a:rPr lang="en-US" sz="2400" b="1" spc="192" kern="0" dirty="0">
                <a:solidFill>
                  <a:srgbClr val="EC3013"/>
                </a:solidFill>
                <a:latin typeface="Arial" pitchFamily="34" charset="0"/>
                <a:ea typeface="Arial" pitchFamily="34" charset="-122"/>
                <a:cs typeface="Arial" pitchFamily="34" charset="-120"/>
              </a:rPr>
              <a:t>WHAT</a:t>
            </a:r>
            <a:endParaRPr lang="en-US" sz="2400" dirty="0"/>
          </a:p>
        </p:txBody>
      </p:sp>
      <p:sp>
        <p:nvSpPr>
          <p:cNvPr id="21" name="Text 19"/>
          <p:cNvSpPr/>
          <p:nvPr/>
        </p:nvSpPr>
        <p:spPr>
          <a:xfrm>
            <a:off x="12115800" y="3350419"/>
            <a:ext cx="5532120" cy="330200"/>
          </a:xfrm>
          <a:prstGeom prst="rect">
            <a:avLst/>
          </a:prstGeom>
          <a:noFill/>
          <a:ln/>
        </p:spPr>
        <p:txBody>
          <a:bodyPr wrap="square" lIns="25400" tIns="25400" rIns="25400" bIns="25400" rtlCol="0" anchor="t">
            <a:normAutofit/>
          </a:bodyPr>
          <a:lstStyle/>
          <a:p>
            <a:pPr algn="l" indent="0" marL="0">
              <a:lnSpc>
                <a:spcPct val="102222"/>
              </a:lnSpc>
              <a:buNone/>
            </a:pPr>
            <a:r>
              <a:rPr lang="en-US" sz="2000" dirty="0">
                <a:solidFill>
                  <a:srgbClr val="201E1C">
                    <a:alpha val="60000"/>
                  </a:srgbClr>
                </a:solidFill>
                <a:latin typeface="Arial" pitchFamily="34" charset="0"/>
                <a:ea typeface="Arial" pitchFamily="34" charset="-122"/>
                <a:cs typeface="Arial" pitchFamily="34" charset="-120"/>
              </a:rPr>
              <a:t>value proposition</a:t>
            </a:r>
            <a:endParaRPr lang="en-US" sz="2000" dirty="0"/>
          </a:p>
        </p:txBody>
      </p:sp>
      <p:sp>
        <p:nvSpPr>
          <p:cNvPr id="22" name="Text 20"/>
          <p:cNvSpPr/>
          <p:nvPr/>
        </p:nvSpPr>
        <p:spPr>
          <a:xfrm>
            <a:off x="12115800" y="3775869"/>
            <a:ext cx="5180076" cy="100965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A specification that never existed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plain-language rules, each traced to the exact lines that produce it.</a:t>
            </a:r>
            <a:endParaRPr lang="en-US" sz="1875" dirty="0"/>
          </a:p>
        </p:txBody>
      </p:sp>
      <p:sp>
        <p:nvSpPr>
          <p:cNvPr id="23" name="Text 21"/>
          <p:cNvSpPr/>
          <p:nvPr/>
        </p:nvSpPr>
        <p:spPr>
          <a:xfrm>
            <a:off x="12115800" y="4880769"/>
            <a:ext cx="5180076" cy="100965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A permanent regression suite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thousands of input–output pairs, reusable on every future change.</a:t>
            </a:r>
            <a:endParaRPr lang="en-US" sz="1875" dirty="0"/>
          </a:p>
        </p:txBody>
      </p:sp>
      <p:sp>
        <p:nvSpPr>
          <p:cNvPr id="24" name="Text 22"/>
          <p:cNvSpPr/>
          <p:nvPr/>
        </p:nvSpPr>
        <p:spPr>
          <a:xfrm>
            <a:off x="12115800" y="5985669"/>
            <a:ext cx="5180076" cy="100965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An equivalence claim someone can sign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evidence-backed, coverage stated honestly, per rule.</a:t>
            </a:r>
            <a:endParaRPr lang="en-US" sz="1875" dirty="0"/>
          </a:p>
        </p:txBody>
      </p:sp>
      <p:sp>
        <p:nvSpPr>
          <p:cNvPr id="25" name="Text 23"/>
          <p:cNvSpPr/>
          <p:nvPr/>
        </p:nvSpPr>
        <p:spPr>
          <a:xfrm>
            <a:off x="12115800" y="7090569"/>
            <a:ext cx="5180076" cy="100965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Compliance findings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the legacy checked against RBI’s written arithmetic, not only against itself.</a:t>
            </a:r>
            <a:endParaRPr lang="en-US" sz="1875" dirty="0"/>
          </a:p>
        </p:txBody>
      </p:sp>
      <p:sp>
        <p:nvSpPr>
          <p:cNvPr id="26" name="Text 24"/>
          <p:cNvSpPr/>
          <p:nvPr/>
        </p:nvSpPr>
        <p:spPr>
          <a:xfrm>
            <a:off x="12115800" y="8195469"/>
            <a:ext cx="5180076" cy="100965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AE1800"/>
                </a:solidFill>
                <a:latin typeface="Arial" pitchFamily="34" charset="0"/>
                <a:ea typeface="Arial" pitchFamily="34" charset="-122"/>
                <a:cs typeface="Arial" pitchFamily="34" charset="-120"/>
              </a:rPr>
              <a:t>Value even if the migration is cancelled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the spec and the suite are retained. The bank gets documentation for a system it could not touch.</a:t>
            </a:r>
            <a:endParaRPr lang="en-US" sz="18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sp>
      <p:sp>
        <p:nvSpPr>
          <p:cNvPr id="3" name="Text 1"/>
          <p:cNvSpPr/>
          <p:nvPr/>
        </p:nvSpPr>
        <p:spPr>
          <a:xfrm>
            <a:off x="1143000" y="609600"/>
            <a:ext cx="2973536"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BUSINESS PLAN (2/2)</a:t>
            </a:r>
            <a:endParaRPr lang="en-US" sz="1800" dirty="0"/>
          </a:p>
        </p:txBody>
      </p:sp>
      <p:sp>
        <p:nvSpPr>
          <p:cNvPr id="4" name="Text 2"/>
          <p:cNvSpPr/>
          <p:nvPr/>
        </p:nvSpPr>
        <p:spPr>
          <a:xfrm>
            <a:off x="16848733" y="609600"/>
            <a:ext cx="372467"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201E1C">
                    <a:alpha val="60000"/>
                  </a:srgbClr>
                </a:solidFill>
                <a:latin typeface="Arial" pitchFamily="34" charset="0"/>
                <a:ea typeface="Arial" pitchFamily="34" charset="-122"/>
                <a:cs typeface="Arial" pitchFamily="34" charset="-120"/>
              </a:rPr>
              <a:t>13</a:t>
            </a:r>
            <a:endParaRPr lang="en-US" sz="1800" dirty="0"/>
          </a:p>
        </p:txBody>
      </p:sp>
      <p:sp>
        <p:nvSpPr>
          <p:cNvPr id="5" name="Text 3"/>
          <p:cNvSpPr/>
          <p:nvPr/>
        </p:nvSpPr>
        <p:spPr>
          <a:xfrm>
            <a:off x="1116509" y="1790700"/>
            <a:ext cx="17631341" cy="675878"/>
          </a:xfrm>
          <a:prstGeom prst="rect">
            <a:avLst/>
          </a:prstGeom>
          <a:noFill/>
          <a:ln/>
        </p:spPr>
        <p:txBody>
          <a:bodyPr wrap="square" lIns="25400" tIns="25400" rIns="25400" bIns="25400" rtlCol="0" anchor="t">
            <a:normAutofit/>
          </a:bodyPr>
          <a:lstStyle/>
          <a:p>
            <a:pPr algn="l" indent="0" marL="0">
              <a:lnSpc>
                <a:spcPct val="76672"/>
              </a:lnSpc>
              <a:buNone/>
            </a:pPr>
            <a:r>
              <a:rPr lang="en-US" sz="4650" b="1" spc="-70" kern="0" dirty="0">
                <a:solidFill>
                  <a:srgbClr val="201E1D"/>
                </a:solidFill>
                <a:latin typeface="Arial" pitchFamily="34" charset="0"/>
                <a:ea typeface="Arial" pitchFamily="34" charset="-122"/>
                <a:cs typeface="Arial" pitchFamily="34" charset="-120"/>
              </a:rPr>
              <a:t>Financials &amp; timelines</a:t>
            </a:r>
            <a:endParaRPr lang="en-US" sz="4650" dirty="0"/>
          </a:p>
        </p:txBody>
      </p:sp>
      <p:sp>
        <p:nvSpPr>
          <p:cNvPr id="6" name="Shape 4"/>
          <p:cNvSpPr/>
          <p:nvPr/>
        </p:nvSpPr>
        <p:spPr>
          <a:xfrm>
            <a:off x="1143000" y="2771378"/>
            <a:ext cx="5029200" cy="19050"/>
          </a:xfrm>
          <a:prstGeom prst="rect">
            <a:avLst/>
          </a:prstGeom>
          <a:solidFill>
            <a:srgbClr val="201E1E">
              <a:alpha val="40000"/>
            </a:srgbClr>
          </a:solidFill>
          <a:ln/>
        </p:spPr>
      </p:sp>
      <p:sp>
        <p:nvSpPr>
          <p:cNvPr id="7" name="Text 5"/>
          <p:cNvSpPr/>
          <p:nvPr/>
        </p:nvSpPr>
        <p:spPr>
          <a:xfrm>
            <a:off x="1143000" y="2968228"/>
            <a:ext cx="2512120" cy="374650"/>
          </a:xfrm>
          <a:prstGeom prst="rect">
            <a:avLst/>
          </a:prstGeom>
          <a:noFill/>
          <a:ln/>
        </p:spPr>
        <p:txBody>
          <a:bodyPr wrap="square" lIns="0" tIns="0" rIns="0" bIns="0" rtlCol="0" anchor="t">
            <a:normAutofit/>
          </a:bodyPr>
          <a:lstStyle/>
          <a:p>
            <a:pPr algn="l" indent="0" marL="0">
              <a:lnSpc>
                <a:spcPct val="81176"/>
              </a:lnSpc>
              <a:buNone/>
            </a:pPr>
            <a:r>
              <a:rPr lang="en-US" sz="2400" b="1" spc="192" kern="0" dirty="0">
                <a:solidFill>
                  <a:srgbClr val="EC3013"/>
                </a:solidFill>
                <a:latin typeface="Arial" pitchFamily="34" charset="0"/>
                <a:ea typeface="Arial" pitchFamily="34" charset="-122"/>
                <a:cs typeface="Arial" pitchFamily="34" charset="-120"/>
              </a:rPr>
              <a:t>INVESTMENTS</a:t>
            </a:r>
            <a:endParaRPr lang="en-US" sz="2400" dirty="0"/>
          </a:p>
        </p:txBody>
      </p:sp>
      <p:sp>
        <p:nvSpPr>
          <p:cNvPr id="8" name="Text 6"/>
          <p:cNvSpPr/>
          <p:nvPr/>
        </p:nvSpPr>
        <p:spPr>
          <a:xfrm>
            <a:off x="1143000" y="3350419"/>
            <a:ext cx="5532120" cy="330200"/>
          </a:xfrm>
          <a:prstGeom prst="rect">
            <a:avLst/>
          </a:prstGeom>
          <a:noFill/>
          <a:ln/>
        </p:spPr>
        <p:txBody>
          <a:bodyPr wrap="square" lIns="25400" tIns="25400" rIns="25400" bIns="25400" rtlCol="0" anchor="t">
            <a:normAutofit/>
          </a:bodyPr>
          <a:lstStyle/>
          <a:p>
            <a:pPr algn="l" indent="0" marL="0">
              <a:lnSpc>
                <a:spcPct val="102222"/>
              </a:lnSpc>
              <a:buNone/>
            </a:pPr>
            <a:r>
              <a:rPr lang="en-US" sz="2000" dirty="0">
                <a:solidFill>
                  <a:srgbClr val="201E1C">
                    <a:alpha val="60000"/>
                  </a:srgbClr>
                </a:solidFill>
                <a:latin typeface="Arial" pitchFamily="34" charset="0"/>
                <a:ea typeface="Arial" pitchFamily="34" charset="-122"/>
                <a:cs typeface="Arial" pitchFamily="34" charset="-120"/>
              </a:rPr>
              <a:t>what it takes, and what it costs</a:t>
            </a:r>
            <a:endParaRPr lang="en-US" sz="2000" dirty="0"/>
          </a:p>
        </p:txBody>
      </p:sp>
      <p:sp>
        <p:nvSpPr>
          <p:cNvPr id="9" name="Text 7"/>
          <p:cNvSpPr/>
          <p:nvPr/>
        </p:nvSpPr>
        <p:spPr>
          <a:xfrm>
            <a:off x="1143000" y="3775869"/>
            <a:ext cx="5180076" cy="13335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Licence cost: nil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GnuCOBOL (GPL/LGPL), ProLeap (MIT), gcov, NIST CCVS85 and AWS CardDemo are all open. No mainframe, no vendor contract.</a:t>
            </a:r>
            <a:endParaRPr lang="en-US" sz="1875" dirty="0"/>
          </a:p>
        </p:txBody>
      </p:sp>
      <p:sp>
        <p:nvSpPr>
          <p:cNvPr id="10" name="Text 8"/>
          <p:cNvSpPr/>
          <p:nvPr/>
        </p:nvSpPr>
        <p:spPr>
          <a:xfrm>
            <a:off x="1143000" y="5204619"/>
            <a:ext cx="5180076" cy="6858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Prototype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4 engineers × 12 weeks, on commodity laptops.</a:t>
            </a:r>
            <a:endParaRPr lang="en-US" sz="1875" dirty="0"/>
          </a:p>
        </p:txBody>
      </p:sp>
      <p:sp>
        <p:nvSpPr>
          <p:cNvPr id="11" name="Text 9"/>
          <p:cNvSpPr/>
          <p:nvPr/>
        </p:nvSpPr>
        <p:spPr>
          <a:xfrm>
            <a:off x="1143000" y="5985669"/>
            <a:ext cx="5180076" cy="13335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Only variable cost is inference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one bounded LLM call per slice; deterministic orchestration measured at up to 3.5× lower token cost than an agentic loop.</a:t>
            </a:r>
            <a:endParaRPr lang="en-US" sz="1875" dirty="0"/>
          </a:p>
        </p:txBody>
      </p:sp>
      <p:sp>
        <p:nvSpPr>
          <p:cNvPr id="12" name="Text 10"/>
          <p:cNvSpPr/>
          <p:nvPr/>
        </p:nvSpPr>
        <p:spPr>
          <a:xfrm>
            <a:off x="1143000" y="7414419"/>
            <a:ext cx="5180076" cy="6858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Bank pilot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2 engineers plus SME time from the bank, one program family, about 6 months.</a:t>
            </a:r>
            <a:endParaRPr lang="en-US" sz="1875" dirty="0"/>
          </a:p>
        </p:txBody>
      </p:sp>
      <p:sp>
        <p:nvSpPr>
          <p:cNvPr id="13" name="Shape 11"/>
          <p:cNvSpPr/>
          <p:nvPr/>
        </p:nvSpPr>
        <p:spPr>
          <a:xfrm>
            <a:off x="6629400" y="2771378"/>
            <a:ext cx="5029200" cy="19050"/>
          </a:xfrm>
          <a:prstGeom prst="rect">
            <a:avLst/>
          </a:prstGeom>
          <a:solidFill>
            <a:srgbClr val="201E1E">
              <a:alpha val="40000"/>
            </a:srgbClr>
          </a:solidFill>
          <a:ln/>
        </p:spPr>
      </p:sp>
      <p:sp>
        <p:nvSpPr>
          <p:cNvPr id="14" name="Text 12"/>
          <p:cNvSpPr/>
          <p:nvPr/>
        </p:nvSpPr>
        <p:spPr>
          <a:xfrm>
            <a:off x="6629400" y="2968228"/>
            <a:ext cx="1720155" cy="374650"/>
          </a:xfrm>
          <a:prstGeom prst="rect">
            <a:avLst/>
          </a:prstGeom>
          <a:noFill/>
          <a:ln/>
        </p:spPr>
        <p:txBody>
          <a:bodyPr wrap="square" lIns="0" tIns="0" rIns="0" bIns="0" rtlCol="0" anchor="t">
            <a:normAutofit/>
          </a:bodyPr>
          <a:lstStyle/>
          <a:p>
            <a:pPr algn="l" indent="0" marL="0">
              <a:lnSpc>
                <a:spcPct val="81176"/>
              </a:lnSpc>
              <a:buNone/>
            </a:pPr>
            <a:r>
              <a:rPr lang="en-US" sz="2400" b="1" spc="192" kern="0" dirty="0">
                <a:solidFill>
                  <a:srgbClr val="EC3013"/>
                </a:solidFill>
                <a:latin typeface="Arial" pitchFamily="34" charset="0"/>
                <a:ea typeface="Arial" pitchFamily="34" charset="-122"/>
                <a:cs typeface="Arial" pitchFamily="34" charset="-120"/>
              </a:rPr>
              <a:t>RETURNS</a:t>
            </a:r>
            <a:endParaRPr lang="en-US" sz="2400" dirty="0"/>
          </a:p>
        </p:txBody>
      </p:sp>
      <p:sp>
        <p:nvSpPr>
          <p:cNvPr id="15" name="Text 13"/>
          <p:cNvSpPr/>
          <p:nvPr/>
        </p:nvSpPr>
        <p:spPr>
          <a:xfrm>
            <a:off x="6629400" y="3350419"/>
            <a:ext cx="5532120" cy="330200"/>
          </a:xfrm>
          <a:prstGeom prst="rect">
            <a:avLst/>
          </a:prstGeom>
          <a:noFill/>
          <a:ln/>
        </p:spPr>
        <p:txBody>
          <a:bodyPr wrap="square" lIns="25400" tIns="25400" rIns="25400" bIns="25400" rtlCol="0" anchor="t">
            <a:normAutofit/>
          </a:bodyPr>
          <a:lstStyle/>
          <a:p>
            <a:pPr algn="l" indent="0" marL="0">
              <a:lnSpc>
                <a:spcPct val="102222"/>
              </a:lnSpc>
              <a:buNone/>
            </a:pPr>
            <a:r>
              <a:rPr lang="en-US" sz="2000" dirty="0">
                <a:solidFill>
                  <a:srgbClr val="201E1C">
                    <a:alpha val="60000"/>
                  </a:srgbClr>
                </a:solidFill>
                <a:latin typeface="Arial" pitchFamily="34" charset="0"/>
                <a:ea typeface="Arial" pitchFamily="34" charset="-122"/>
                <a:cs typeface="Arial" pitchFamily="34" charset="-120"/>
              </a:rPr>
              <a:t>quantified — and the cost of not solving</a:t>
            </a:r>
            <a:endParaRPr lang="en-US" sz="2000" dirty="0"/>
          </a:p>
        </p:txBody>
      </p:sp>
      <p:sp>
        <p:nvSpPr>
          <p:cNvPr id="16" name="Text 14"/>
          <p:cNvSpPr/>
          <p:nvPr/>
        </p:nvSpPr>
        <p:spPr>
          <a:xfrm>
            <a:off x="6629400" y="3775869"/>
            <a:ext cx="5180076" cy="165735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What it unlocks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the ~$1bn of Indian core-banking upgrade spend is gated on assurance. Comparable automation (ADP via AWS Transform) cut rule-extraction time 80% and manual effort over 90%.</a:t>
            </a:r>
            <a:endParaRPr lang="en-US" sz="1875" dirty="0"/>
          </a:p>
        </p:txBody>
      </p:sp>
      <p:sp>
        <p:nvSpPr>
          <p:cNvPr id="17" name="Text 15"/>
          <p:cNvSpPr/>
          <p:nvPr/>
        </p:nvSpPr>
        <p:spPr>
          <a:xfrm>
            <a:off x="6629400" y="5528469"/>
            <a:ext cx="5180076" cy="19812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AE1800"/>
                </a:solidFill>
                <a:latin typeface="Arial" pitchFamily="34" charset="0"/>
                <a:ea typeface="Arial" pitchFamily="34" charset="-122"/>
                <a:cs typeface="Arial" pitchFamily="34" charset="-120"/>
              </a:rPr>
              <a:t>What if I don’t solve — TSB, 2018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1.9m of 5.2m customers hit. £48.65m FCA/PRA fine, £32.7m redress, ~£400m total. The CEO resigned; the CIO was personally fined £81,620. The finding was about assurance — not programming.</a:t>
            </a:r>
            <a:endParaRPr lang="en-US" sz="1875" dirty="0"/>
          </a:p>
        </p:txBody>
      </p:sp>
      <p:sp>
        <p:nvSpPr>
          <p:cNvPr id="18" name="Text 16"/>
          <p:cNvSpPr/>
          <p:nvPr/>
        </p:nvSpPr>
        <p:spPr>
          <a:xfrm>
            <a:off x="6629400" y="7604919"/>
            <a:ext cx="5180076" cy="13335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And in India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RBI halted HDFC’s Digital 2.0 launches and new card issuance in Dec 2020; restrictions ran into 2022. An IT failure here freezes the product roadmap.</a:t>
            </a:r>
            <a:endParaRPr lang="en-US" sz="1875" dirty="0"/>
          </a:p>
        </p:txBody>
      </p:sp>
      <p:sp>
        <p:nvSpPr>
          <p:cNvPr id="19" name="Shape 17"/>
          <p:cNvSpPr/>
          <p:nvPr/>
        </p:nvSpPr>
        <p:spPr>
          <a:xfrm>
            <a:off x="12115800" y="2771378"/>
            <a:ext cx="5029200" cy="19050"/>
          </a:xfrm>
          <a:prstGeom prst="rect">
            <a:avLst/>
          </a:prstGeom>
          <a:solidFill>
            <a:srgbClr val="201E1E">
              <a:alpha val="40000"/>
            </a:srgbClr>
          </a:solidFill>
          <a:ln/>
        </p:spPr>
      </p:sp>
      <p:sp>
        <p:nvSpPr>
          <p:cNvPr id="20" name="Text 18"/>
          <p:cNvSpPr/>
          <p:nvPr/>
        </p:nvSpPr>
        <p:spPr>
          <a:xfrm>
            <a:off x="12115800" y="2968228"/>
            <a:ext cx="1904702" cy="374650"/>
          </a:xfrm>
          <a:prstGeom prst="rect">
            <a:avLst/>
          </a:prstGeom>
          <a:noFill/>
          <a:ln/>
        </p:spPr>
        <p:txBody>
          <a:bodyPr wrap="square" lIns="0" tIns="0" rIns="0" bIns="0" rtlCol="0" anchor="t">
            <a:normAutofit/>
          </a:bodyPr>
          <a:lstStyle/>
          <a:p>
            <a:pPr algn="l" indent="0" marL="0">
              <a:lnSpc>
                <a:spcPct val="81176"/>
              </a:lnSpc>
              <a:buNone/>
            </a:pPr>
            <a:r>
              <a:rPr lang="en-US" sz="2400" b="1" spc="192" kern="0" dirty="0">
                <a:solidFill>
                  <a:srgbClr val="EC3013"/>
                </a:solidFill>
                <a:latin typeface="Arial" pitchFamily="34" charset="0"/>
                <a:ea typeface="Arial" pitchFamily="34" charset="-122"/>
                <a:cs typeface="Arial" pitchFamily="34" charset="-120"/>
              </a:rPr>
              <a:t>TIMELINES</a:t>
            </a:r>
            <a:endParaRPr lang="en-US" sz="2400" dirty="0"/>
          </a:p>
        </p:txBody>
      </p:sp>
      <p:sp>
        <p:nvSpPr>
          <p:cNvPr id="21" name="Text 19"/>
          <p:cNvSpPr/>
          <p:nvPr/>
        </p:nvSpPr>
        <p:spPr>
          <a:xfrm>
            <a:off x="12115800" y="3350419"/>
            <a:ext cx="5532120" cy="330200"/>
          </a:xfrm>
          <a:prstGeom prst="rect">
            <a:avLst/>
          </a:prstGeom>
          <a:noFill/>
          <a:ln/>
        </p:spPr>
        <p:txBody>
          <a:bodyPr wrap="square" lIns="25400" tIns="25400" rIns="25400" bIns="25400" rtlCol="0" anchor="t">
            <a:normAutofit/>
          </a:bodyPr>
          <a:lstStyle/>
          <a:p>
            <a:pPr algn="l" indent="0" marL="0">
              <a:lnSpc>
                <a:spcPct val="102222"/>
              </a:lnSpc>
              <a:buNone/>
            </a:pPr>
            <a:r>
              <a:rPr lang="en-US" sz="2000" dirty="0">
                <a:solidFill>
                  <a:srgbClr val="201E1C">
                    <a:alpha val="60000"/>
                  </a:srgbClr>
                </a:solidFill>
                <a:latin typeface="Arial" pitchFamily="34" charset="0"/>
                <a:ea typeface="Arial" pitchFamily="34" charset="-122"/>
                <a:cs typeface="Arial" pitchFamily="34" charset="-120"/>
              </a:rPr>
              <a:t>time to realise the benefit</a:t>
            </a:r>
            <a:endParaRPr lang="en-US" sz="2000" dirty="0"/>
          </a:p>
        </p:txBody>
      </p:sp>
      <p:sp>
        <p:nvSpPr>
          <p:cNvPr id="22" name="Text 20"/>
          <p:cNvSpPr/>
          <p:nvPr/>
        </p:nvSpPr>
        <p:spPr>
          <a:xfrm>
            <a:off x="12115800" y="3775869"/>
            <a:ext cx="5180076" cy="6858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Weeks 1–2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harness runs two programs on an input list and diffs. Already a working demo.</a:t>
            </a:r>
            <a:endParaRPr lang="en-US" sz="1875" dirty="0"/>
          </a:p>
        </p:txBody>
      </p:sp>
      <p:sp>
        <p:nvSpPr>
          <p:cNvPr id="23" name="Text 21"/>
          <p:cNvSpPr/>
          <p:nvPr/>
        </p:nvSpPr>
        <p:spPr>
          <a:xfrm>
            <a:off x="12115800" y="4556919"/>
            <a:ext cx="5180076" cy="6858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Weeks 3–4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input generation from PIC clauses plus hand-written boundaries.</a:t>
            </a:r>
            <a:endParaRPr lang="en-US" sz="1875" dirty="0"/>
          </a:p>
        </p:txBody>
      </p:sp>
      <p:sp>
        <p:nvSpPr>
          <p:cNvPr id="24" name="Text 22"/>
          <p:cNvSpPr/>
          <p:nvPr/>
        </p:nvSpPr>
        <p:spPr>
          <a:xfrm>
            <a:off x="12115800" y="5337969"/>
            <a:ext cx="5180076" cy="6858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Weeks 5–7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parse, slice, extract rules with line citations.</a:t>
            </a:r>
            <a:endParaRPr lang="en-US" sz="1875" dirty="0"/>
          </a:p>
        </p:txBody>
      </p:sp>
      <p:sp>
        <p:nvSpPr>
          <p:cNvPr id="25" name="Text 23"/>
          <p:cNvSpPr/>
          <p:nvPr/>
        </p:nvSpPr>
        <p:spPr>
          <a:xfrm>
            <a:off x="12115800" y="6119019"/>
            <a:ext cx="5180076" cy="6858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AE1800"/>
                </a:solidFill>
                <a:latin typeface="Arial" pitchFamily="34" charset="0"/>
                <a:ea typeface="Arial" pitchFamily="34" charset="-122"/>
                <a:cs typeface="Arial" pitchFamily="34" charset="-120"/>
              </a:rPr>
              <a:t>Weeks 8–10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the reciprocal loop and per-rule coverage verdicts. This is the contribution.</a:t>
            </a:r>
            <a:endParaRPr lang="en-US" sz="1875" dirty="0"/>
          </a:p>
        </p:txBody>
      </p:sp>
      <p:sp>
        <p:nvSpPr>
          <p:cNvPr id="26" name="Text 24"/>
          <p:cNvSpPr/>
          <p:nvPr/>
        </p:nvSpPr>
        <p:spPr>
          <a:xfrm>
            <a:off x="12115800" y="6900069"/>
            <a:ext cx="5180076" cy="6858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Weeks 11–12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delta debugging to minimal counterexamples; evidence bundle generated.</a:t>
            </a:r>
            <a:endParaRPr lang="en-US" sz="1875" dirty="0"/>
          </a:p>
        </p:txBody>
      </p:sp>
      <p:sp>
        <p:nvSpPr>
          <p:cNvPr id="27" name="Text 25"/>
          <p:cNvSpPr/>
          <p:nvPr/>
        </p:nvSpPr>
        <p:spPr>
          <a:xfrm>
            <a:off x="12115800" y="7681119"/>
            <a:ext cx="5180076" cy="6858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Months 4–9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bank pilot on one program family, inside the bank’s own compiler environment.</a:t>
            </a:r>
            <a:endParaRPr lang="en-US" sz="1875" dirty="0"/>
          </a:p>
        </p:txBody>
      </p:sp>
      <p:sp>
        <p:nvSpPr>
          <p:cNvPr id="28" name="Text 26"/>
          <p:cNvSpPr/>
          <p:nvPr/>
        </p:nvSpPr>
        <p:spPr>
          <a:xfrm>
            <a:off x="1143000" y="9505950"/>
            <a:ext cx="17602200" cy="323850"/>
          </a:xfrm>
          <a:prstGeom prst="rect">
            <a:avLst/>
          </a:prstGeom>
          <a:noFill/>
          <a:ln/>
        </p:spPr>
        <p:txBody>
          <a:bodyPr wrap="square" lIns="25400" tIns="25400" rIns="25400" bIns="25400" rtlCol="0" anchor="t">
            <a:normAutofit/>
          </a:bodyPr>
          <a:lstStyle/>
          <a:p>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Indicative and effort-based. No licence or infrastructure spend is assumed because none is required.</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sp>
      <p:sp>
        <p:nvSpPr>
          <p:cNvPr id="3" name="Text 1"/>
          <p:cNvSpPr/>
          <p:nvPr/>
        </p:nvSpPr>
        <p:spPr>
          <a:xfrm>
            <a:off x="1143000" y="609600"/>
            <a:ext cx="1939102"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REFERENCES</a:t>
            </a:r>
            <a:endParaRPr lang="en-US" sz="1800" dirty="0"/>
          </a:p>
        </p:txBody>
      </p:sp>
      <p:sp>
        <p:nvSpPr>
          <p:cNvPr id="4" name="Text 2"/>
          <p:cNvSpPr/>
          <p:nvPr/>
        </p:nvSpPr>
        <p:spPr>
          <a:xfrm>
            <a:off x="16848733" y="609600"/>
            <a:ext cx="372467"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201E1C">
                    <a:alpha val="60000"/>
                  </a:srgbClr>
                </a:solidFill>
                <a:latin typeface="Arial" pitchFamily="34" charset="0"/>
                <a:ea typeface="Arial" pitchFamily="34" charset="-122"/>
                <a:cs typeface="Arial" pitchFamily="34" charset="-120"/>
              </a:rPr>
              <a:t>14</a:t>
            </a:r>
            <a:endParaRPr lang="en-US" sz="1800" dirty="0"/>
          </a:p>
        </p:txBody>
      </p:sp>
      <p:sp>
        <p:nvSpPr>
          <p:cNvPr id="5" name="Text 3"/>
          <p:cNvSpPr/>
          <p:nvPr/>
        </p:nvSpPr>
        <p:spPr>
          <a:xfrm>
            <a:off x="1116509" y="1790700"/>
            <a:ext cx="17631341" cy="675878"/>
          </a:xfrm>
          <a:prstGeom prst="rect">
            <a:avLst/>
          </a:prstGeom>
          <a:noFill/>
          <a:ln/>
        </p:spPr>
        <p:txBody>
          <a:bodyPr wrap="square" lIns="25400" tIns="25400" rIns="25400" bIns="25400" rtlCol="0" anchor="t">
            <a:normAutofit/>
          </a:bodyPr>
          <a:lstStyle/>
          <a:p>
            <a:pPr algn="l" indent="0" marL="0">
              <a:lnSpc>
                <a:spcPct val="76672"/>
              </a:lnSpc>
              <a:buNone/>
            </a:pPr>
            <a:r>
              <a:rPr lang="en-US" sz="4650" b="1" spc="-70" kern="0" dirty="0">
                <a:solidFill>
                  <a:srgbClr val="201E1D"/>
                </a:solidFill>
                <a:latin typeface="Arial" pitchFamily="34" charset="0"/>
                <a:ea typeface="Arial" pitchFamily="34" charset="-122"/>
                <a:cs typeface="Arial" pitchFamily="34" charset="-120"/>
              </a:rPr>
              <a:t>Sources</a:t>
            </a:r>
            <a:endParaRPr lang="en-US" sz="4650" dirty="0"/>
          </a:p>
        </p:txBody>
      </p:sp>
      <p:sp>
        <p:nvSpPr>
          <p:cNvPr id="6" name="Shape 4"/>
          <p:cNvSpPr/>
          <p:nvPr/>
        </p:nvSpPr>
        <p:spPr>
          <a:xfrm>
            <a:off x="1143000" y="2733278"/>
            <a:ext cx="7543800" cy="19050"/>
          </a:xfrm>
          <a:prstGeom prst="rect">
            <a:avLst/>
          </a:prstGeom>
          <a:solidFill>
            <a:srgbClr val="201E1E">
              <a:alpha val="40000"/>
            </a:srgbClr>
          </a:solidFill>
          <a:ln/>
        </p:spPr>
      </p:sp>
      <p:sp>
        <p:nvSpPr>
          <p:cNvPr id="7" name="Text 5"/>
          <p:cNvSpPr/>
          <p:nvPr/>
        </p:nvSpPr>
        <p:spPr>
          <a:xfrm>
            <a:off x="1143000" y="2923778"/>
            <a:ext cx="8298180" cy="300930"/>
          </a:xfrm>
          <a:prstGeom prst="rect">
            <a:avLst/>
          </a:prstGeom>
          <a:noFill/>
          <a:ln/>
        </p:spPr>
        <p:txBody>
          <a:bodyPr wrap="square" lIns="25400" tIns="25400" rIns="25400" bIns="25400" rtlCol="0" anchor="t">
            <a:normAutofit/>
          </a:bodyPr>
          <a:lstStyle/>
          <a:p>
            <a:pPr algn="l" indent="0" marL="0">
              <a:lnSpc>
                <a:spcPct val="98571"/>
              </a:lnSpc>
              <a:buNone/>
            </a:pPr>
            <a:r>
              <a:rPr lang="en-US" sz="1800" b="1" spc="144" kern="0" dirty="0">
                <a:solidFill>
                  <a:srgbClr val="EC3013"/>
                </a:solidFill>
                <a:latin typeface="Arial" pitchFamily="34" charset="0"/>
                <a:ea typeface="Arial" pitchFamily="34" charset="-122"/>
                <a:cs typeface="Arial" pitchFamily="34" charset="-120"/>
              </a:rPr>
              <a:t>PEER-REVIEWED AND PREPRINTS</a:t>
            </a:r>
            <a:endParaRPr lang="en-US" sz="1800" dirty="0"/>
          </a:p>
        </p:txBody>
      </p:sp>
      <p:sp>
        <p:nvSpPr>
          <p:cNvPr id="8" name="Text 6"/>
          <p:cNvSpPr/>
          <p:nvPr/>
        </p:nvSpPr>
        <p:spPr>
          <a:xfrm>
            <a:off x="1143000" y="3339009"/>
            <a:ext cx="7770114" cy="61595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Hans, S. et al. (2025).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Automated Testing of COBOL to Java Transformation. arXiv:2504.10548.</a:t>
            </a:r>
            <a:endParaRPr lang="en-US" sz="1800" dirty="0"/>
          </a:p>
        </p:txBody>
      </p:sp>
      <p:sp>
        <p:nvSpPr>
          <p:cNvPr id="9" name="Text 7"/>
          <p:cNvSpPr/>
          <p:nvPr/>
        </p:nvSpPr>
        <p:spPr>
          <a:xfrm>
            <a:off x="1143000" y="4031159"/>
            <a:ext cx="7770114" cy="61595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Pan, R. et al. (2024).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Lost in Translation: A Study of Bugs Introduced by LLMs while Translating Code. ICSE 2024, arXiv:2308.03109.</a:t>
            </a:r>
            <a:endParaRPr lang="en-US" sz="1800" dirty="0"/>
          </a:p>
        </p:txBody>
      </p:sp>
      <p:sp>
        <p:nvSpPr>
          <p:cNvPr id="10" name="Text 8"/>
          <p:cNvSpPr/>
          <p:nvPr/>
        </p:nvSpPr>
        <p:spPr>
          <a:xfrm>
            <a:off x="1143000" y="4723309"/>
            <a:ext cx="7770114" cy="61595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Ahmed, S. N. &amp; Galib, M. (2026).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AgentModernize: Preserving Business Logic in Legacy Modernization. arXiv:2605.17535.</a:t>
            </a:r>
            <a:endParaRPr lang="en-US" sz="1800" dirty="0"/>
          </a:p>
        </p:txBody>
      </p:sp>
      <p:sp>
        <p:nvSpPr>
          <p:cNvPr id="11" name="Text 9"/>
          <p:cNvSpPr/>
          <p:nvPr/>
        </p:nvSpPr>
        <p:spPr>
          <a:xfrm>
            <a:off x="1143000" y="5415459"/>
            <a:ext cx="7770114" cy="61595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Ferenczi, A. et al. (2026).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Agentic Method for Deterministic Validation of Legacy Code Migration. arXiv:2607.28271.</a:t>
            </a:r>
            <a:endParaRPr lang="en-US" sz="1800" dirty="0"/>
          </a:p>
        </p:txBody>
      </p:sp>
      <p:sp>
        <p:nvSpPr>
          <p:cNvPr id="12" name="Text 10"/>
          <p:cNvSpPr/>
          <p:nvPr/>
        </p:nvSpPr>
        <p:spPr>
          <a:xfrm>
            <a:off x="1143000" y="6107609"/>
            <a:ext cx="7770114" cy="61595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Shah, S. et al. (2025).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A-COBREX: Identifying Business Rules in COBOL Programs. ICSE 2025, Demonstrations.</a:t>
            </a:r>
            <a:endParaRPr lang="en-US" sz="1800" dirty="0"/>
          </a:p>
        </p:txBody>
      </p:sp>
      <p:sp>
        <p:nvSpPr>
          <p:cNvPr id="13" name="Text 11"/>
          <p:cNvSpPr/>
          <p:nvPr/>
        </p:nvSpPr>
        <p:spPr>
          <a:xfrm>
            <a:off x="1143000" y="6799759"/>
            <a:ext cx="7770114" cy="61595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B S, C. &amp; Chimalakonda, S. (2025).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LLM vs Rule-Based: the COBRAIN Tool. EASE 2025, doi:10.1145/3756681.3756982.</a:t>
            </a:r>
            <a:endParaRPr lang="en-US" sz="1800" dirty="0"/>
          </a:p>
        </p:txBody>
      </p:sp>
      <p:sp>
        <p:nvSpPr>
          <p:cNvPr id="14" name="Text 12"/>
          <p:cNvSpPr/>
          <p:nvPr/>
        </p:nvSpPr>
        <p:spPr>
          <a:xfrm>
            <a:off x="1143000" y="7491909"/>
            <a:ext cx="7770114" cy="61595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Lwin, N. O. &amp; Kumar, R. (2026).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Deterministic vs LLM-Controlled Orchestration for COBOL-to-Python Modernization. arXiv:2605.09894.</a:t>
            </a:r>
            <a:endParaRPr lang="en-US" sz="1800" dirty="0"/>
          </a:p>
        </p:txBody>
      </p:sp>
      <p:sp>
        <p:nvSpPr>
          <p:cNvPr id="15" name="Text 13"/>
          <p:cNvSpPr/>
          <p:nvPr/>
        </p:nvSpPr>
        <p:spPr>
          <a:xfrm>
            <a:off x="1143000" y="8184059"/>
            <a:ext cx="7770114" cy="61595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Barr, E. T. et al. (2015).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The Oracle Problem in Software Testing: A Survey. IEEE TSE 41(5), 507–525.</a:t>
            </a:r>
            <a:endParaRPr lang="en-US" sz="1800" dirty="0"/>
          </a:p>
        </p:txBody>
      </p:sp>
      <p:sp>
        <p:nvSpPr>
          <p:cNvPr id="16" name="Shape 14"/>
          <p:cNvSpPr/>
          <p:nvPr/>
        </p:nvSpPr>
        <p:spPr>
          <a:xfrm>
            <a:off x="9601200" y="2733278"/>
            <a:ext cx="7543800" cy="19050"/>
          </a:xfrm>
          <a:prstGeom prst="rect">
            <a:avLst/>
          </a:prstGeom>
          <a:solidFill>
            <a:srgbClr val="201E1E">
              <a:alpha val="40000"/>
            </a:srgbClr>
          </a:solidFill>
          <a:ln/>
        </p:spPr>
      </p:sp>
      <p:sp>
        <p:nvSpPr>
          <p:cNvPr id="17" name="Text 15"/>
          <p:cNvSpPr/>
          <p:nvPr/>
        </p:nvSpPr>
        <p:spPr>
          <a:xfrm>
            <a:off x="9601200" y="2923778"/>
            <a:ext cx="8298180" cy="300930"/>
          </a:xfrm>
          <a:prstGeom prst="rect">
            <a:avLst/>
          </a:prstGeom>
          <a:noFill/>
          <a:ln/>
        </p:spPr>
        <p:txBody>
          <a:bodyPr wrap="square" lIns="25400" tIns="25400" rIns="25400" bIns="25400" rtlCol="0" anchor="t">
            <a:normAutofit/>
          </a:bodyPr>
          <a:lstStyle/>
          <a:p>
            <a:pPr algn="l" indent="0" marL="0">
              <a:lnSpc>
                <a:spcPct val="98571"/>
              </a:lnSpc>
              <a:buNone/>
            </a:pPr>
            <a:r>
              <a:rPr lang="en-US" sz="1800" b="1" spc="144" kern="0" dirty="0">
                <a:solidFill>
                  <a:srgbClr val="EC3013"/>
                </a:solidFill>
                <a:latin typeface="Arial" pitchFamily="34" charset="0"/>
                <a:ea typeface="Arial" pitchFamily="34" charset="-122"/>
                <a:cs typeface="Arial" pitchFamily="34" charset="-120"/>
              </a:rPr>
              <a:t>REGULATORY AND SUPERVISORY</a:t>
            </a:r>
            <a:endParaRPr lang="en-US" sz="1800" dirty="0"/>
          </a:p>
        </p:txBody>
      </p:sp>
      <p:sp>
        <p:nvSpPr>
          <p:cNvPr id="18" name="Text 16"/>
          <p:cNvSpPr/>
          <p:nvPr/>
        </p:nvSpPr>
        <p:spPr>
          <a:xfrm>
            <a:off x="9601200" y="3319959"/>
            <a:ext cx="7770114" cy="61595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Reserve Bank of India (2016, upd. 2024).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Master Direction — Interest Rate on Deposits. Clauses 4(f), 6(a), 6(a)(1)–(2).</a:t>
            </a:r>
            <a:endParaRPr lang="en-US" sz="1800" dirty="0"/>
          </a:p>
        </p:txBody>
      </p:sp>
      <p:sp>
        <p:nvSpPr>
          <p:cNvPr id="19" name="Text 17"/>
          <p:cNvSpPr/>
          <p:nvPr/>
        </p:nvSpPr>
        <p:spPr>
          <a:xfrm>
            <a:off x="9601200" y="3974009"/>
            <a:ext cx="7770114" cy="61595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Reserve Bank of India (2023).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Master Direction on IT Governance, Risk, Controls and Assurance Practices.</a:t>
            </a:r>
            <a:endParaRPr lang="en-US" sz="1800" dirty="0"/>
          </a:p>
        </p:txBody>
      </p:sp>
      <p:sp>
        <p:nvSpPr>
          <p:cNvPr id="20" name="Text 18"/>
          <p:cNvSpPr/>
          <p:nvPr/>
        </p:nvSpPr>
        <p:spPr>
          <a:xfrm>
            <a:off x="9601200" y="4628059"/>
            <a:ext cx="7770114" cy="61595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Financial Conduct Authority (2022).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TSB fined £48.65m for operational resilience failings.</a:t>
            </a:r>
            <a:endParaRPr lang="en-US" sz="1800" dirty="0"/>
          </a:p>
        </p:txBody>
      </p:sp>
      <p:sp>
        <p:nvSpPr>
          <p:cNvPr id="21" name="Shape 19"/>
          <p:cNvSpPr/>
          <p:nvPr/>
        </p:nvSpPr>
        <p:spPr>
          <a:xfrm>
            <a:off x="9601200" y="5358309"/>
            <a:ext cx="7543800" cy="19050"/>
          </a:xfrm>
          <a:prstGeom prst="rect">
            <a:avLst/>
          </a:prstGeom>
          <a:solidFill>
            <a:srgbClr val="201E1E">
              <a:alpha val="40000"/>
            </a:srgbClr>
          </a:solidFill>
          <a:ln/>
        </p:spPr>
      </p:sp>
      <p:sp>
        <p:nvSpPr>
          <p:cNvPr id="22" name="Text 20"/>
          <p:cNvSpPr/>
          <p:nvPr/>
        </p:nvSpPr>
        <p:spPr>
          <a:xfrm>
            <a:off x="9601200" y="5491659"/>
            <a:ext cx="7770114" cy="300930"/>
          </a:xfrm>
          <a:prstGeom prst="rect">
            <a:avLst/>
          </a:prstGeom>
          <a:noFill/>
          <a:ln/>
        </p:spPr>
        <p:txBody>
          <a:bodyPr wrap="square" lIns="25400" tIns="25400" rIns="25400" bIns="25400" rtlCol="0" anchor="t">
            <a:normAutofit/>
          </a:bodyPr>
          <a:lstStyle/>
          <a:p>
            <a:pPr algn="l" indent="0" marL="0">
              <a:lnSpc>
                <a:spcPct val="98571"/>
              </a:lnSpc>
              <a:buNone/>
            </a:pPr>
            <a:r>
              <a:rPr lang="en-US" sz="1800" b="1" spc="144" kern="0" dirty="0">
                <a:solidFill>
                  <a:srgbClr val="EC3013"/>
                </a:solidFill>
                <a:latin typeface="Arial" pitchFamily="34" charset="0"/>
                <a:ea typeface="Arial" pitchFamily="34" charset="-122"/>
                <a:cs typeface="Arial" pitchFamily="34" charset="-120"/>
              </a:rPr>
              <a:t>INDUSTRY AND MARKET</a:t>
            </a:r>
            <a:endParaRPr lang="en-US" sz="1800" dirty="0"/>
          </a:p>
        </p:txBody>
      </p:sp>
      <p:sp>
        <p:nvSpPr>
          <p:cNvPr id="23" name="Text 21"/>
          <p:cNvSpPr/>
          <p:nvPr/>
        </p:nvSpPr>
        <p:spPr>
          <a:xfrm>
            <a:off x="9601200" y="5887839"/>
            <a:ext cx="7770114" cy="61595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Boston Consulting Group (2024).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Cloud-based Core Transformations, via Business Standard.</a:t>
            </a:r>
            <a:endParaRPr lang="en-US" sz="1800" dirty="0"/>
          </a:p>
        </p:txBody>
      </p:sp>
      <p:sp>
        <p:nvSpPr>
          <p:cNvPr id="24" name="Text 22"/>
          <p:cNvSpPr/>
          <p:nvPr/>
        </p:nvSpPr>
        <p:spPr>
          <a:xfrm>
            <a:off x="9601200" y="6541889"/>
            <a:ext cx="8298180" cy="33020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IBM.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watsonx Code Assistant for Z — Validation Assistant documentation.</a:t>
            </a:r>
            <a:endParaRPr lang="en-US" sz="1800" dirty="0"/>
          </a:p>
        </p:txBody>
      </p:sp>
      <p:sp>
        <p:nvSpPr>
          <p:cNvPr id="25" name="Text 23"/>
          <p:cNvSpPr/>
          <p:nvPr/>
        </p:nvSpPr>
        <p:spPr>
          <a:xfrm>
            <a:off x="9601200" y="6910189"/>
            <a:ext cx="7770114" cy="90805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Amazon Web Services (2025).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AWS Transform for mainframe, generally available. </a:t>
            </a:r>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Mechanical Orchard.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Imogen platform — generate-validate loop.</a:t>
            </a:r>
            <a:endParaRPr lang="en-US" sz="1800" dirty="0"/>
          </a:p>
        </p:txBody>
      </p:sp>
      <p:sp>
        <p:nvSpPr>
          <p:cNvPr id="26" name="Shape 24"/>
          <p:cNvSpPr/>
          <p:nvPr/>
        </p:nvSpPr>
        <p:spPr>
          <a:xfrm>
            <a:off x="9601200" y="7932539"/>
            <a:ext cx="7543800" cy="19050"/>
          </a:xfrm>
          <a:prstGeom prst="rect">
            <a:avLst/>
          </a:prstGeom>
          <a:solidFill>
            <a:srgbClr val="201E1E">
              <a:alpha val="40000"/>
            </a:srgbClr>
          </a:solidFill>
          <a:ln/>
        </p:spPr>
      </p:sp>
      <p:sp>
        <p:nvSpPr>
          <p:cNvPr id="27" name="Text 25"/>
          <p:cNvSpPr/>
          <p:nvPr/>
        </p:nvSpPr>
        <p:spPr>
          <a:xfrm>
            <a:off x="9601200" y="8065889"/>
            <a:ext cx="7770114" cy="300930"/>
          </a:xfrm>
          <a:prstGeom prst="rect">
            <a:avLst/>
          </a:prstGeom>
          <a:noFill/>
          <a:ln/>
        </p:spPr>
        <p:txBody>
          <a:bodyPr wrap="square" lIns="25400" tIns="25400" rIns="25400" bIns="25400" rtlCol="0" anchor="t">
            <a:normAutofit/>
          </a:bodyPr>
          <a:lstStyle/>
          <a:p>
            <a:pPr algn="l" indent="0" marL="0">
              <a:lnSpc>
                <a:spcPct val="98571"/>
              </a:lnSpc>
              <a:buNone/>
            </a:pPr>
            <a:r>
              <a:rPr lang="en-US" sz="1800" b="1" spc="144" kern="0" dirty="0">
                <a:solidFill>
                  <a:srgbClr val="EC3013"/>
                </a:solidFill>
                <a:latin typeface="Arial" pitchFamily="34" charset="0"/>
                <a:ea typeface="Arial" pitchFamily="34" charset="-122"/>
                <a:cs typeface="Arial" pitchFamily="34" charset="-120"/>
              </a:rPr>
              <a:t>TOOLS AND STANDARDS</a:t>
            </a:r>
            <a:endParaRPr lang="en-US" sz="1800" dirty="0"/>
          </a:p>
        </p:txBody>
      </p:sp>
      <p:sp>
        <p:nvSpPr>
          <p:cNvPr id="28" name="Text 26"/>
          <p:cNvSpPr/>
          <p:nvPr/>
        </p:nvSpPr>
        <p:spPr>
          <a:xfrm>
            <a:off x="9601200" y="8423970"/>
            <a:ext cx="7770114" cy="90805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GnuCOBOL Project.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GnuCOBOL compiler, GPL/LGPL. NIST COBOL-85: 9,700 of 9,748. </a:t>
            </a:r>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Wolf, U.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ProLeap COBOL Parser, MIT licence. </a:t>
            </a:r>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NIST (1992).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CCVS85 validation system.</a:t>
            </a:r>
            <a:endParaRPr lang="en-US" sz="1800" dirty="0"/>
          </a:p>
        </p:txBody>
      </p:sp>
      <p:sp>
        <p:nvSpPr>
          <p:cNvPr id="29" name="Text 27"/>
          <p:cNvSpPr/>
          <p:nvPr/>
        </p:nvSpPr>
        <p:spPr>
          <a:xfrm>
            <a:off x="1143000" y="9353550"/>
            <a:ext cx="17602200" cy="361950"/>
          </a:xfrm>
          <a:prstGeom prst="rect">
            <a:avLst/>
          </a:prstGeom>
          <a:noFill/>
          <a:ln/>
        </p:spPr>
        <p:txBody>
          <a:bodyPr wrap="square" lIns="25400" tIns="25400" rIns="25400" bIns="25400" rtlCol="0" anchor="t">
            <a:normAutofit/>
          </a:bodyPr>
          <a:lstStyle/>
          <a:p>
            <a:pPr algn="l" indent="0" marL="0">
              <a:lnSpc>
                <a:spcPct val="121429"/>
              </a:lnSpc>
              <a:buNone/>
            </a:pPr>
            <a:r>
              <a:rPr lang="en-US" sz="1800" dirty="0">
                <a:solidFill>
                  <a:srgbClr val="201E1C">
                    <a:alpha val="60000"/>
                  </a:srgbClr>
                </a:solidFill>
                <a:latin typeface="Arial" pitchFamily="34" charset="0"/>
                <a:ea typeface="Arial" pitchFamily="34" charset="-122"/>
                <a:cs typeface="Arial" pitchFamily="34" charset="-120"/>
              </a:rPr>
              <a:t>Full annotated bibliography, with per-source confidence ratings, is in the research dossier.</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2026-08-12T23:56:31Z</dcterms:created>
  <dcterms:modified xsi:type="dcterms:W3CDTF">2026-08-12T23:56:31Z</dcterms:modified>
</cp:coreProperties>
</file>