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6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20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everyone proves the rewrite matches the legacy; we also ask whether the legacy matches the regulator, and we report the answer per business rule. Scope: COBOL interest-accrual programs executed via GnuCOBOL. Whole-system migration is out of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1.9 million customer figure often quoted for TSB is press reporting, not the FCA — the regulator says 'a significant proportion of its 5.2 million customers'. That is why the slide does not use it. HDFC is the example that matters for an Indian panel: an IT failure froze the bank's product roadmap for over a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quote in the footer is verbatim from the paper's abstract — verified word for word. Do not paraphrase it as 'IBM says its product does not work'; the paper's point is that validation is necessary, which is our point too. Be generous to the incumbents. The 91.2% / under-20% pair is the sharpest argument in the deck and it comes from someone else's paper: AgentModernize captured 91.2% of gold-standard rules but its Behavioural Equivalence Rate was 9.4%, 8.1% and 19.4% across three models, with baselines at 0.0%.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buyer is whoever signs the cutover memo. Risk and audit own the board-approved Change Management Policy required by RBI's IT Governance Direction (2023) — that is why the output is shaped like an audit artefact, not a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reciprocal loop: extracted rules feed the input generator, and the differential run then catches the extraction layer stating rules that are wrong. Neither half works alone. The intake gate matters: the tool refuses programs it cannot verify soundly, with a reason, rather than producing a confident wrong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dashed red arrows are the reciprocal loop: extracted rules feed the input generator, and those inputs drive both implementations — the differential run then catches the extraction layer stating rules that are wrong. Neither half works alone. LLM calls are confined to two bounded points; everything else is deterministic.</a:t>
            </a:r>
          </a:p>
          <a:p>
            <a:r>
              <a:t>If asked why the outputs read 11, 12, 14: the numbers are the architecture stage numbers from the research dossier; stage 13 is the compliance-findings path, which this diagram folds into the regulation model arrow. Slide 5's footer lists all four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piece is open: GnuCOBOL GPL/LGPL, ProLeap MIT, gcov, NIST CCVS85 and AWS CardDemo. The methodology is compiler-agnostic — inside the bank, swap GnuCOBOL for IBM Enterprise COBOL and the harness is unchanged. No mainframe access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regulator claim is the strongest in the deck, and it survived a deliberate falsification pass: Locksmith (arXiv 2607.28271) has no regulatory checks; AgentModernize has none; EvolveWare is static documentation with no execution. Say 'warrants a compliance review', never 'this is a breach'. On verdicts: rule-level reporting exists (AgentModernize's BRPS); what we could not find anywhere is requiring the boundary to be behaviourally live, issuing a refutation verdict on self-extracted rules, and injecting faults into the oracle to score corpus adequacy. REFUTED means 'contradicted by the evidence we have', never 'false' — always show the counterexample.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claim is not that banks will spend more — the spend is committed. The assurance step has no product category yet; it is absorbed as consulting hours and schedule risk. The ADP figures (80% rule-extraction time, 90%+ manual effort) are AWS's published case study for Transform.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COBOL interest-accrual programs executed via GnuCOBOL. Whole-system migration is out of scope. The intake gate matters: the tool refuses programs it cannot verify soundly, with a reason, rather than producing a confident wrong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page, three questions. WHY and HOW compress slides 2 to 8; WHAT is the value proposition — including the value if the migration is cancelled: the specification and the regression suite are retained regardless.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indicative and effort-based — no licence or infrastructure spend is assumed because none is required. The TSB numbers are the cost of not solving: £48.65m fine, £32.7m redress, ~£400m total cost, CEO resigned, CIO personally fined £81,620 — and the regulator's finding was about assurance, not programming.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annotated bibliography, with a confidence rating per source and a record of which claims were independently re-verified, is in the research dossier accompanying this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moment that convinces the room. Say plainly that the numbers are illustrative - this is the finding format the demo is built to produce (research 04 §5). If asked how a one-rupee gap arises: daily-product accrual truncated per day in the COBOL versus a single HALF_UP at the end in the Java - the divergence is the accumulation mechanism, and it is silent. The report-card figures at the bottom are likewise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609600"/>
            <a:ext cx="10666204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 EASTERN REGION HACKATHON · BANKING AND FINANCE TECHNOLOGY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3490" y="2121991"/>
            <a:ext cx="16533056" cy="2058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327"/>
              </a:lnSpc>
              <a:buNone/>
            </a:pPr>
            <a:r>
              <a:rPr lang="en-US" sz="7800" b="1" spc="-15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Banking Modernisation Platform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143000" y="4561781"/>
            <a:ext cx="674581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Proving the rewrite behaves exactly like the original.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5933381"/>
            <a:ext cx="975893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migration fails on verification, not translation. We make behavioural equivalence something a bank can prove, then check that answer against the regulator.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7495481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143000" y="8513763"/>
            <a:ext cx="199487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70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StudyEdge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3147020" y="8520113"/>
            <a:ext cx="7138016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Odisha University of Technology and Research, Bhubaneswar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143000" y="9079706"/>
            <a:ext cx="9151114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Tamanna Panda · Adyasha Das · Soumyajit Sarkar · Swayam Subhankar Sahoo</a:t>
            </a:r>
            <a:endParaRPr lang="en-US" sz="1875" dirty="0"/>
          </a:p>
        </p:txBody>
      </p:sp>
      <p:sp>
        <p:nvSpPr>
          <p:cNvPr id="20" name="Rectangle 19"/>
          <p:cNvSpPr/>
          <p:nvPr/>
        </p:nvSpPr>
        <p:spPr>
          <a:xfrm>
            <a:off x="13304520" y="4590288"/>
            <a:ext cx="2468880" cy="493776"/>
          </a:xfrm>
          <a:prstGeom prst="rect">
            <a:avLst/>
          </a:prstGeom>
          <a:solidFill>
            <a:srgbClr val="EA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304520" y="4590288"/>
            <a:ext cx="24688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spc="60">
                <a:solidFill>
                  <a:srgbClr val="201E1D"/>
                </a:solidFill>
                <a:latin typeface="Arial"/>
              </a:rPr>
              <a:t>COBOL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932920" y="5742432"/>
            <a:ext cx="2103120" cy="493776"/>
          </a:xfrm>
          <a:prstGeom prst="rect">
            <a:avLst/>
          </a:prstGeom>
          <a:noFill/>
          <a:ln w="15875">
            <a:solidFill>
              <a:srgbClr val="C9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932920" y="5742432"/>
            <a:ext cx="21031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spc="60">
                <a:solidFill>
                  <a:srgbClr val="6F6C6B"/>
                </a:solidFill>
                <a:latin typeface="Arial"/>
              </a:rPr>
              <a:t>LEGACY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041880" y="5742432"/>
            <a:ext cx="2103120" cy="493776"/>
          </a:xfrm>
          <a:prstGeom prst="rect">
            <a:avLst/>
          </a:prstGeom>
          <a:noFill/>
          <a:ln w="15875">
            <a:solidFill>
              <a:srgbClr val="C9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041880" y="5742432"/>
            <a:ext cx="21031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spc="60">
                <a:solidFill>
                  <a:srgbClr val="6F6C6B"/>
                </a:solidFill>
                <a:latin typeface="Arial"/>
              </a:rPr>
              <a:t>REWRITE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61720" y="6876288"/>
            <a:ext cx="1554480" cy="493776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61720" y="6876288"/>
            <a:ext cx="15544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spc="80">
                <a:solidFill>
                  <a:srgbClr val="F3F2F2"/>
                </a:solidFill>
                <a:latin typeface="Arial"/>
              </a:rPr>
              <a:t>DIFF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13213080" y="5120640"/>
            <a:ext cx="777240" cy="585216"/>
          </a:xfrm>
          <a:prstGeom prst="line">
            <a:avLst/>
          </a:prstGeom>
          <a:ln w="19050">
            <a:solidFill>
              <a:srgbClr val="8C88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087600" y="5120640"/>
            <a:ext cx="777240" cy="585216"/>
          </a:xfrm>
          <a:prstGeom prst="line">
            <a:avLst/>
          </a:prstGeom>
          <a:ln w="19050">
            <a:solidFill>
              <a:srgbClr val="8C88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984480" y="6272784"/>
            <a:ext cx="1051560" cy="566928"/>
          </a:xfrm>
          <a:prstGeom prst="line">
            <a:avLst/>
          </a:prstGeom>
          <a:ln w="19050">
            <a:solidFill>
              <a:srgbClr val="8C88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5041880" y="6272784"/>
            <a:ext cx="1051560" cy="566928"/>
          </a:xfrm>
          <a:prstGeom prst="line">
            <a:avLst/>
          </a:prstGeom>
          <a:ln w="19050">
            <a:solidFill>
              <a:srgbClr val="8C88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932920" y="7589520"/>
            <a:ext cx="5212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>
                <a:solidFill>
                  <a:srgbClr val="8C8886"/>
                </a:solidFill>
                <a:latin typeface="Arial"/>
              </a:rPr>
              <a:t>every rule · proven / unproven / refuted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609600"/>
            <a:ext cx="1378992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India’s banks run on code nobody can safely change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6300" b="1" spc="-12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11430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top 100 banks worldwide run on IBM mainframes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52578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578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6300" b="1" spc="-12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40%+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52578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banking systems still run COBOL written decades ago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3726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3726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6300" b="1" spc="-12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$1bn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93726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5–10 years to upgrade Indian core banking systems (BCG)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34874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4874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6300" b="1" spc="-126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300" dirty="0"/>
          </a:p>
        </p:txBody>
      </p:sp>
      <p:sp>
        <p:nvSpPr>
          <p:cNvPr id="17" name="Text 15"/>
          <p:cNvSpPr/>
          <p:nvPr/>
        </p:nvSpPr>
        <p:spPr>
          <a:xfrm>
            <a:off x="134874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 state what those programs should do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143000" y="4828778"/>
            <a:ext cx="17602200" cy="37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9"/>
              </a:lnSpc>
              <a:buNone/>
            </a:pPr>
            <a:r>
              <a:rPr lang="en-US" sz="2400" b="1" spc="-3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bank guesses wrong, it is a supervisory event, not a bug report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143000" y="5398691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43000" y="5589191"/>
            <a:ext cx="55321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176"/>
              </a:lnSpc>
              <a:buNone/>
            </a:pPr>
            <a:r>
              <a:rPr lang="en-US" sz="2400" b="1" spc="-3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TSB, United Kingdom — 2018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43000" y="6072982"/>
            <a:ext cx="5180076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at cutover. £48.65m FCA/PRA fine, £32.7m customer redress; normal service took eight months to return.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6629400" y="5398691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629400" y="5589191"/>
            <a:ext cx="55321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176"/>
              </a:lnSpc>
              <a:buNone/>
            </a:pPr>
            <a:r>
              <a:rPr lang="en-US" sz="2400" b="1" spc="-3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Bank, India — 2020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629400" y="6072982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repeated outages, RBI froze every Digital 2.0 launch and all new cards. Restrictions ran into 2022.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2115800" y="5398691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2115800" y="5589191"/>
            <a:ext cx="55321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176"/>
              </a:lnSpc>
              <a:buNone/>
            </a:pPr>
            <a:r>
              <a:rPr lang="en-US" sz="2400" b="1" spc="-3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backlog is decades long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115800" y="6072982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paisa across millions of accounts is a reportable event. Not touching the system is the rational choice.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143000" y="7958932"/>
            <a:ext cx="36576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8079582"/>
            <a:ext cx="3767328" cy="77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19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1987 </a:t>
            </a:r>
            <a:pPr algn="l" indent="0" marL="0">
              <a:lnSpc>
                <a:spcPct val="134135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interest engine written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5257800" y="7958932"/>
            <a:ext cx="36576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257800" y="8079582"/>
            <a:ext cx="3767328" cy="77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19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</a:t>
            </a:r>
            <a:pPr algn="l" indent="0" marL="0">
              <a:lnSpc>
                <a:spcPct val="134135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TSB — £400m failed cutover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9372600" y="7958932"/>
            <a:ext cx="36576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372600" y="8079582"/>
            <a:ext cx="3767328" cy="77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19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</a:t>
            </a:r>
            <a:pPr algn="l" indent="0" marL="0">
              <a:lnSpc>
                <a:spcPct val="134135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— RBI freezes the roadmap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13487400" y="7958932"/>
            <a:ext cx="36576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3487400" y="8079582"/>
            <a:ext cx="3767328" cy="77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19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</a:t>
            </a:r>
            <a:pPr algn="l" indent="0" marL="0">
              <a:lnSpc>
                <a:spcPct val="134135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still deferred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143000" y="93535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FCA press release, Dec 2022 · BCG, Cloud-based Core Transformations, Aug 2024 · RBI supervisory action, Dec 2020.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609600"/>
            <a:ext cx="2831763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IT’S UNSOLVED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is solved. Proof is not.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71378"/>
            <a:ext cx="272792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2961878"/>
            <a:ext cx="300071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59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COBOL source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3000" y="3404791"/>
            <a:ext cx="280975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lines · 1987 ~200 undocumented edits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66170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4461470" y="2771378"/>
            <a:ext cx="272792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461470" y="2961878"/>
            <a:ext cx="300071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59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461470" y="3404791"/>
            <a:ext cx="280975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transpilers · LLMs AWS · IBM · TCS ship this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84641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7779941" y="2771378"/>
            <a:ext cx="272802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9941" y="2961878"/>
            <a:ext cx="300082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59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Java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7779941" y="3404791"/>
            <a:ext cx="280986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compiles · passes the tests you wrote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603211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1098511" y="2771378"/>
            <a:ext cx="3409950" cy="19050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098511" y="2961878"/>
            <a:ext cx="3750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59"/>
              </a:lnSpc>
              <a:buNone/>
            </a:pPr>
            <a:r>
              <a:rPr lang="en-US" sz="2250" b="1" spc="-3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098511" y="3404791"/>
            <a:ext cx="3512249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anyone prove the new program behaves identically to the old one?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03711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5099011" y="2771378"/>
            <a:ext cx="204599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5099011" y="2961878"/>
            <a:ext cx="225058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59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5099011" y="3404791"/>
            <a:ext cx="22505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reached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4595416"/>
            <a:ext cx="927555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1875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specification was ever written — the rules live only in the code. AI explanations look excellent; a meaningful share is wrong: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143000" y="5490766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143000" y="5719366"/>
            <a:ext cx="5532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6300" b="1" spc="-12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6300" dirty="0"/>
          </a:p>
        </p:txBody>
      </p:sp>
      <p:sp>
        <p:nvSpPr>
          <p:cNvPr id="28" name="Text 26"/>
          <p:cNvSpPr/>
          <p:nvPr/>
        </p:nvSpPr>
        <p:spPr>
          <a:xfrm>
            <a:off x="1143000" y="6652816"/>
            <a:ext cx="51800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of the best published COBOL rule extractor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143000" y="7395766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A-COBREX, ICSE 2025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629400" y="5490766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29400" y="5719366"/>
            <a:ext cx="5532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6300" b="1" spc="-12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91.2%</a:t>
            </a:r>
            <a:endParaRPr lang="en-US" sz="6300" dirty="0"/>
          </a:p>
        </p:txBody>
      </p:sp>
      <p:sp>
        <p:nvSpPr>
          <p:cNvPr id="32" name="Text 30"/>
          <p:cNvSpPr/>
          <p:nvPr/>
        </p:nvSpPr>
        <p:spPr>
          <a:xfrm>
            <a:off x="6629400" y="6652816"/>
            <a:ext cx="51800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business rules successfully extracted by a 2026 system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6629400" y="7395766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AgentModernize, arXiv 2605.17535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2115800" y="5490766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2115800" y="5719366"/>
            <a:ext cx="5532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6300" b="1" spc="-126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&lt;20%</a:t>
            </a:r>
            <a:endParaRPr lang="en-US" sz="6300" dirty="0"/>
          </a:p>
        </p:txBody>
      </p:sp>
      <p:sp>
        <p:nvSpPr>
          <p:cNvPr id="36" name="Text 34"/>
          <p:cNvSpPr/>
          <p:nvPr/>
        </p:nvSpPr>
        <p:spPr>
          <a:xfrm>
            <a:off x="12115800" y="6652816"/>
            <a:ext cx="51800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equivalence reached by that same system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12115800" y="7395766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 scored 0.0%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143000" y="7910116"/>
            <a:ext cx="11811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143000" y="8100616"/>
            <a:ext cx="12992100" cy="336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729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works. Behavioural equivalence does not follow from it. </a:t>
            </a:r>
            <a:pPr algn="l" indent="0" marL="0">
              <a:lnSpc>
                <a:spcPct val="79729"/>
              </a:lnSpc>
              <a:buNone/>
            </a:pPr>
            <a:r>
              <a:rPr lang="en-US" sz="2100" b="1" spc="-31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has to be the product.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Research, on IBM’s own product: “the resulting code cannot be trusted to correctly translate the original code” (arXiv:2504.10548). If the vendor needs validation, so does the bank.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609600"/>
            <a:ext cx="4786908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 &amp; STAKEHOLDERS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stuck, and what they are stuck on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8475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3038078"/>
            <a:ext cx="402336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CIO / core banking head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3478113"/>
            <a:ext cx="376732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migration decision and the cutover date.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5102352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</a:t>
            </a:r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cannot sign off a replacement nobody can prove behaves identically.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57800" y="28475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257800" y="3038078"/>
            <a:ext cx="3767328" cy="6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Risk, compliance and internal audit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257800" y="3784799"/>
            <a:ext cx="3767328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RBI-mandated, board-approved Change Management Policy (2023).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5099249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</a:t>
            </a:r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auditable artefact showing old and new agree, case by case.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72600" y="28475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372600" y="3038078"/>
            <a:ext cx="402336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Modernisation vendors and SIs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372600" y="3478113"/>
            <a:ext cx="376732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Cognizant, TCS, Infosys and in-house delivery teams.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72600" y="5102352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</a:t>
            </a:r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translation is already commoditised; assurance is what stretches the programme.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487400" y="28475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3487400" y="3038078"/>
            <a:ext cx="402336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supervisor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487400" y="3478113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RBI, and the bank’s own board.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487400" y="5102352"/>
            <a:ext cx="376732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</a:t>
            </a:r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 IT failure is a supervisory event, not an engineering incident.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6480374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143000" y="6728024"/>
            <a:ext cx="9035497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263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on this list is short of a translator. Everybody on this list is short of proof.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143000" y="7703344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buyer is the person who has to sign the cutover memo — and today has nothing to attach to it.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609600"/>
            <a:ext cx="213872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 pipeline, with the AI on a short leash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2914253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019300" y="2958703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gate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6838950" y="2990453"/>
            <a:ext cx="761314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/ DB / CICS detected → refused, with a reason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876066" y="2955528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5028466" y="3022203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spc="108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3761978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143000" y="3942953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019300" y="3987403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&amp; slice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6838950" y="4019153"/>
            <a:ext cx="81305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ProLeap AST → rule slices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876066" y="3984228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5028466" y="4050903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spc="108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4537274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43000" y="4718249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019300" y="4762699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rules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6838950" y="4794449"/>
            <a:ext cx="81305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line citations from the slice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4353680" y="4759523"/>
            <a:ext cx="2791321" cy="361950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4506080" y="4826198"/>
            <a:ext cx="276565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spc="108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LLM CALL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43000" y="5312569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143000" y="5455444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2019300" y="5499894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Rule-directed input generation</a:t>
            </a:r>
            <a:endParaRPr lang="en-US" sz="2175" dirty="0"/>
          </a:p>
        </p:txBody>
      </p:sp>
      <p:sp>
        <p:nvSpPr>
          <p:cNvPr id="27" name="Text 25"/>
          <p:cNvSpPr/>
          <p:nvPr/>
        </p:nvSpPr>
        <p:spPr>
          <a:xfrm>
            <a:off x="6838950" y="5531644"/>
            <a:ext cx="761314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say where the boundaries are — ₹99,999 / ₹1,00,000 / ₹1,00,001 · ₹0.50 midpoints · 29 Feb · month-ends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4876066" y="5496719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5028466" y="5563394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spc="108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43000" y="7808119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143000" y="6560344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143000" y="6703219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2019300" y="6747669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and compare — three ways</a:t>
            </a:r>
            <a:endParaRPr lang="en-US" sz="2175" dirty="0"/>
          </a:p>
        </p:txBody>
      </p:sp>
      <p:sp>
        <p:nvSpPr>
          <p:cNvPr id="34" name="Text 32"/>
          <p:cNvSpPr/>
          <p:nvPr/>
        </p:nvSpPr>
        <p:spPr>
          <a:xfrm>
            <a:off x="6838950" y="6779419"/>
            <a:ext cx="761314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input, three outputs — legacy (the oracle) · generated Java (untrusted) · RBI Direction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4876066" y="6744494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5028466" y="6811169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spc="108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43000" y="8131969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143000" y="8322469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verdicts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1143000" y="8751491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· unproven · refuted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257800" y="8131969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257800" y="8322469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score</a:t>
            </a:r>
            <a:endParaRPr lang="en-US" sz="2025" dirty="0"/>
          </a:p>
        </p:txBody>
      </p:sp>
      <p:sp>
        <p:nvSpPr>
          <p:cNvPr id="42" name="Text 40"/>
          <p:cNvSpPr/>
          <p:nvPr/>
        </p:nvSpPr>
        <p:spPr>
          <a:xfrm>
            <a:off x="5257800" y="8751491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strong is this claim?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372600" y="8131969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9372600" y="8322469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findings</a:t>
            </a:r>
            <a:endParaRPr lang="en-US" sz="2025" dirty="0"/>
          </a:p>
        </p:txBody>
      </p:sp>
      <p:sp>
        <p:nvSpPr>
          <p:cNvPr id="45" name="Text 43"/>
          <p:cNvSpPr/>
          <p:nvPr/>
        </p:nvSpPr>
        <p:spPr>
          <a:xfrm>
            <a:off x="9372600" y="8751491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vs the regulator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3487400" y="8131969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3487400" y="8322469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bundle</a:t>
            </a:r>
            <a:endParaRPr lang="en-US" sz="2025" dirty="0"/>
          </a:p>
        </p:txBody>
      </p:sp>
      <p:sp>
        <p:nvSpPr>
          <p:cNvPr id="48" name="Text 46"/>
          <p:cNvSpPr/>
          <p:nvPr/>
        </p:nvSpPr>
        <p:spPr>
          <a:xfrm>
            <a:off x="13487400" y="8751491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· tests · signed claim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orchestration matches agentic accuracy at up to 3.5× lower token cost (arXiv 2605.09894) — a defended choice.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124313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pipeline, end to end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657078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2723753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spc="108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02434" y="2657078"/>
            <a:ext cx="2791321" cy="3619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9" name="Text 7"/>
          <p:cNvSpPr/>
          <p:nvPr/>
        </p:nvSpPr>
        <p:spPr>
          <a:xfrm>
            <a:off x="3754834" y="2723753"/>
            <a:ext cx="276565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spc="108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LLM CALL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4256" y="2666603"/>
            <a:ext cx="8296652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— the reciprocal loop: rules pick the inputs, the run checks the rules</a:t>
            </a:r>
            <a:endParaRPr lang="en-US" sz="1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3287613"/>
            <a:ext cx="16002000" cy="6324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612648"/>
            <a:ext cx="73152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 spc="150">
                <a:solidFill>
                  <a:srgbClr val="EC3013"/>
                </a:solidFill>
                <a:latin typeface="Arial"/>
              </a:rPr>
              <a:t>THE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52392" y="612648"/>
            <a:ext cx="3749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>
                <a:solidFill>
                  <a:srgbClr val="8C8886"/>
                </a:solidFill>
                <a:latin typeface="Arial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207008"/>
            <a:ext cx="160020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92224"/>
            <a:ext cx="1762963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50" b="1">
                <a:solidFill>
                  <a:srgbClr val="201E1D"/>
                </a:solidFill>
                <a:latin typeface="Arial"/>
              </a:rPr>
              <a:t>What one finding looks like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843784"/>
            <a:ext cx="36576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3580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175" b="1">
                <a:solidFill>
                  <a:srgbClr val="201E1D"/>
                </a:solidFill>
                <a:latin typeface="Arial"/>
              </a:rPr>
              <a:t>The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8444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8C8886"/>
                </a:solidFill>
                <a:latin typeface="Consolas"/>
              </a:rPr>
              <a:t>input:  </a:t>
            </a:r>
            <a:r>
              <a:rPr sz="1500" b="0">
                <a:solidFill>
                  <a:srgbClr val="201E1C"/>
                </a:solidFill>
                <a:latin typeface="Consolas"/>
              </a:rPr>
              <a:t>₹1,00,000.00 · 12 days · 3.5%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16052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201E1D"/>
                </a:solidFill>
                <a:latin typeface="Arial"/>
              </a:rPr>
              <a:t>₹115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07492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legacy COBOL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315968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>
                <a:solidFill>
                  <a:srgbClr val="8C8886"/>
                </a:solidFill>
                <a:latin typeface="Arial"/>
              </a:rP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416052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EC3013"/>
                </a:solidFill>
                <a:latin typeface="Arial"/>
              </a:rPr>
              <a:t>₹116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507492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generated Java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62356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AE1800"/>
                </a:solidFill>
                <a:latin typeface="Arial"/>
              </a:rPr>
              <a:t>Δ = ₹1 per account, per accrual — across millions of accounts.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2843784"/>
            <a:ext cx="36576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3035808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175" b="1">
                <a:solidFill>
                  <a:srgbClr val="201E1D"/>
                </a:solidFill>
                <a:latin typeface="Arial"/>
              </a:rPr>
              <a:t>Traced to one word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584448"/>
            <a:ext cx="48920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F6C6B"/>
                </a:solidFill>
                <a:latin typeface="Arial"/>
              </a:rPr>
              <a:t>Delta debugging shrinks 73 failing inputs to this one. Coverage maps it to rule R-07 — line 214: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60" y="4846320"/>
            <a:ext cx="4892040" cy="566928"/>
          </a:xfrm>
          <a:prstGeom prst="rect">
            <a:avLst/>
          </a:prstGeom>
          <a:solidFill>
            <a:srgbClr val="20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498348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F3F2F2"/>
                </a:solidFill>
                <a:latin typeface="Consolas"/>
              </a:rPr>
              <a:t>COMPUTE WS-INT ROUNDED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562356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F6C6B"/>
                </a:solidFill>
                <a:latin typeface="Arial"/>
              </a:rPr>
              <a:t>The Java rounds </a:t>
            </a:r>
            <a:r>
              <a:rPr sz="1500" b="1">
                <a:solidFill>
                  <a:srgbClr val="AE1800"/>
                </a:solidFill>
                <a:latin typeface="Consolas"/>
              </a:rPr>
              <a:t>HALF_UP</a:t>
            </a:r>
            <a:r>
              <a:rPr sz="1500" b="0">
                <a:solidFill>
                  <a:srgbClr val="6F6C6B"/>
                </a:solidFill>
                <a:latin typeface="Arial"/>
              </a:rPr>
              <a:t>; the COBOL truncates at the PIC boundary. No crash, no exception — just a different number.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47320" y="2843784"/>
            <a:ext cx="36576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47320" y="3035808"/>
            <a:ext cx="4297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175" b="1">
                <a:solidFill>
                  <a:srgbClr val="201E1D"/>
                </a:solidFill>
                <a:latin typeface="Arial"/>
              </a:rPr>
              <a:t>The regulator has ruled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47320" y="3584448"/>
            <a:ext cx="4297680" cy="2331720"/>
          </a:xfrm>
          <a:prstGeom prst="rect">
            <a:avLst/>
          </a:prstGeom>
          <a:solidFill>
            <a:srgbClr val="EA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121640" y="3803904"/>
            <a:ext cx="374903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201E1D"/>
                </a:solidFill>
                <a:latin typeface="Arial"/>
              </a:rPr>
              <a:t>“Rounded off to the nearest rupee… fifty paise and above rounds to the next higher rupee.”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21640" y="525780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F6C6B"/>
                </a:solidFill>
                <a:latin typeface="Arial"/>
              </a:rPr>
              <a:t>RBI Master Direction — Interest Rate on Deposits, clause 4(f)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47320" y="6053328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8C8886"/>
                </a:solidFill>
                <a:latin typeface="Arial"/>
              </a:rPr>
              <a:t>Daily product basis · clause 6(a). Uniform rate to ₹1 lakh · 6(a)(1)–(2).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178040"/>
            <a:ext cx="160020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406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175" b="1">
                <a:solidFill>
                  <a:srgbClr val="201E1D"/>
                </a:solidFill>
                <a:latin typeface="Arial"/>
              </a:rPr>
              <a:t>And the report it ships inside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7973568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01E1D"/>
                </a:solidFill>
                <a:latin typeface="Arial"/>
              </a:rPr>
              <a:t>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873252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6F6C6B"/>
                </a:solidFill>
                <a:latin typeface="Arial"/>
              </a:rPr>
              <a:t>rules proven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7973568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B8860B"/>
                </a:solidFill>
                <a:latin typeface="Arial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873252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6F6C6B"/>
                </a:solidFill>
                <a:latin typeface="Arial"/>
              </a:rPr>
              <a:t>unproven — named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7973568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AE1800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873252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6F6C6B"/>
                </a:solidFill>
                <a:latin typeface="Arial"/>
              </a:rPr>
              <a:t>refuted — our AI caught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87400" y="7973568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01E1D"/>
                </a:solidFill>
                <a:latin typeface="Arial"/>
              </a:rPr>
              <a:t>94%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87400" y="873252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6F6C6B"/>
                </a:solidFill>
                <a:latin typeface="Arial"/>
              </a:rPr>
              <a:t>mutation kill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9354312"/>
            <a:ext cx="17602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8C8886"/>
                </a:solidFill>
                <a:latin typeface="Arial"/>
              </a:rPr>
              <a:t>Illustrative output — the shape the demo is built to produce, not a completed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854791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stack, and why each piece is there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1878"/>
            <a:ext cx="553212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execution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340191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cobc / libcob, GPL and LGPL. 19 COBOL dialects, -std=ibm-strict against Enterprise COBOL 6.3.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39886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passes 9,700 of 9,748 NIST CCVS85 tests. The project does not claim standard conformance; we state that ourselves.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5395814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compiles COBOL to C to a native binary, so the legacy side is a real executable we can run, time and instrument.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294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961878"/>
            <a:ext cx="553212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and extraction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29400" y="340191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ProLeap COBOL parser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ANTLR4, MIT licence. AST plus an abstract semantic graph with data and control flow.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439886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slicing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 business-concept variables. A slice is a set of source lines — exactly the traceability we promise.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5395814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LLM call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call per slice, never over the whole file. The model cannot invent a line reference the slice does not contain.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1158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115800" y="2961878"/>
            <a:ext cx="553212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and coverage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115800" y="340191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gcov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statement execution counts via -fprofile-arcs. Fallback: paragraph-level DISPLAY trace with -fgen-c-line-directives.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115800" y="439886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runner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same input, three outputs: legacy COBOL, generated Java, and the RBI Direction as a third reference.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115800" y="5395814"/>
            <a:ext cx="5180076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debugging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shrinks 73 failing inputs to one minimal counterexample.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3000" y="6602313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792813"/>
            <a:ext cx="854964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43000" y="7232849"/>
            <a:ext cx="800557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mainframe-modernisation CardDemo corpus (Apache 2.0) · NIST CCVS85, 512 programs and 8,800+ cases, public domain · RBI Master Direction clauses encoded as the third reference.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372600" y="6602313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372600" y="6792813"/>
            <a:ext cx="854964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and interoperability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372600" y="7232849"/>
            <a:ext cx="800557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plus a JSON evidence bundle. The methodology is compiler-agnostic — swap GnuCOBOL for IBM Enterprise COBOL inside the bank and the harness is unchanged. No mainframe access required.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3869908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DIFFERENT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nobody else does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143000" y="2695178"/>
            <a:ext cx="109619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differential mechanism itself is prior art. IBM, AWS, Mechanical Orchard and a paper published five days ago all ship a version of it, and we say so. These three are ours.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143000" y="3647678"/>
            <a:ext cx="5105400" cy="535682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8" name="Shape 6"/>
          <p:cNvSpPr/>
          <p:nvPr/>
        </p:nvSpPr>
        <p:spPr>
          <a:xfrm>
            <a:off x="1409700" y="3963888"/>
            <a:ext cx="438150" cy="4381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963888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9412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19300" y="3876278"/>
            <a:ext cx="4081272" cy="6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check the legacy against the regulator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09700" y="4622999"/>
            <a:ext cx="4709160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treats the legacy as correct by definition. A program written in 1987 can breach a Direction issued decades later, so we add a third reference.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09700" y="5937449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562100" y="6042224"/>
            <a:ext cx="13465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R = Reg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44950" y="6042224"/>
            <a:ext cx="19627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compliant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09700" y="6518474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1562100" y="6623249"/>
            <a:ext cx="6124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≠ 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86225" y="6623249"/>
            <a:ext cx="191738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defect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09700" y="7099499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1562100" y="7204274"/>
            <a:ext cx="13377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R ≠ Reg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96854" y="7204274"/>
            <a:ext cx="17956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inherited breach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09700" y="7680524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1562100" y="7785299"/>
            <a:ext cx="13377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≠ R = Reg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19476" y="7785299"/>
            <a:ext cx="17708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correction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09700" y="8318699"/>
            <a:ext cx="47091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third row needs a regulator. No other tool can see it.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91300" y="3647678"/>
            <a:ext cx="5105400" cy="535682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0" y="3963888"/>
            <a:ext cx="438150" cy="4381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7" name="Text 25"/>
          <p:cNvSpPr/>
          <p:nvPr/>
        </p:nvSpPr>
        <p:spPr>
          <a:xfrm>
            <a:off x="6819900" y="3963888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9412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67600" y="3876278"/>
            <a:ext cx="4081272" cy="6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result for every rule, not every test case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858000" y="4622999"/>
            <a:ext cx="47091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Executing a line is not testing the rule it encodes. A rule counts as confirmed only when all three checks hold.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858000" y="5642174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1" name="Shape 29"/>
          <p:cNvSpPr/>
          <p:nvPr/>
        </p:nvSpPr>
        <p:spPr>
          <a:xfrm>
            <a:off x="7010400" y="5751711"/>
            <a:ext cx="285750" cy="285750"/>
          </a:xfrm>
          <a:prstGeom prst="rect">
            <a:avLst/>
          </a:prstGeom>
          <a:solidFill>
            <a:srgbClr val="444141"/>
          </a:solidFill>
          <a:ln/>
        </p:spPr>
      </p:sp>
      <p:sp>
        <p:nvSpPr>
          <p:cNvPr id="32" name="Text 30"/>
          <p:cNvSpPr/>
          <p:nvPr/>
        </p:nvSpPr>
        <p:spPr>
          <a:xfrm>
            <a:off x="6972300" y="575171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429500" y="5746949"/>
            <a:ext cx="33477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</a:t>
            </a:r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rule’s lines ran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858000" y="6223199"/>
            <a:ext cx="45720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5" name="Shape 33"/>
          <p:cNvSpPr/>
          <p:nvPr/>
        </p:nvSpPr>
        <p:spPr>
          <a:xfrm>
            <a:off x="7010400" y="6480374"/>
            <a:ext cx="285750" cy="2857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6" name="Text 34"/>
          <p:cNvSpPr/>
          <p:nvPr/>
        </p:nvSpPr>
        <p:spPr>
          <a:xfrm>
            <a:off x="6972300" y="6480374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29500" y="6327974"/>
            <a:ext cx="396354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Discriminating </a:t>
            </a:r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boundary changed the output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858000" y="7099499"/>
            <a:ext cx="45720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9" name="Shape 37"/>
          <p:cNvSpPr/>
          <p:nvPr/>
        </p:nvSpPr>
        <p:spPr>
          <a:xfrm>
            <a:off x="7010400" y="7356674"/>
            <a:ext cx="285750" cy="285750"/>
          </a:xfrm>
          <a:prstGeom prst="rect">
            <a:avLst/>
          </a:prstGeom>
          <a:solidFill>
            <a:srgbClr val="444141"/>
          </a:solidFill>
          <a:ln/>
        </p:spPr>
      </p:sp>
      <p:sp>
        <p:nvSpPr>
          <p:cNvPr id="40" name="Text 38"/>
          <p:cNvSpPr/>
          <p:nvPr/>
        </p:nvSpPr>
        <p:spPr>
          <a:xfrm>
            <a:off x="6972300" y="7356674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429500" y="7204274"/>
            <a:ext cx="396354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Agreed </a:t>
            </a:r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rewrite matched every time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858000" y="8032949"/>
            <a:ext cx="470916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2 is the one that catches our own extraction inventing a rule that is not in the program.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2039600" y="3647678"/>
            <a:ext cx="5105400" cy="535682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44" name="Shape 42"/>
          <p:cNvSpPr/>
          <p:nvPr/>
        </p:nvSpPr>
        <p:spPr>
          <a:xfrm>
            <a:off x="12306300" y="3876278"/>
            <a:ext cx="438150" cy="4381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45" name="Text 43"/>
          <p:cNvSpPr/>
          <p:nvPr/>
        </p:nvSpPr>
        <p:spPr>
          <a:xfrm>
            <a:off x="12268200" y="3876278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9412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915900" y="3941961"/>
            <a:ext cx="2723059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 our own tests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12306300" y="4447778"/>
            <a:ext cx="47091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“Everything passed” proves nothing unless the inputs could have caught a failure. So we break the legacy on purpose.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2306300" y="5466954"/>
            <a:ext cx="4572000" cy="109537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49" name="Text 47"/>
          <p:cNvSpPr/>
          <p:nvPr/>
        </p:nvSpPr>
        <p:spPr>
          <a:xfrm>
            <a:off x="12458700" y="5571729"/>
            <a:ext cx="44043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a deliberate defect </a:t>
            </a:r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100000 → 100001 · &gt; → &gt;= · delete ROUNDED · 360 → 365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2306300" y="6638529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1" name="Text 49"/>
          <p:cNvSpPr/>
          <p:nvPr/>
        </p:nvSpPr>
        <p:spPr>
          <a:xfrm>
            <a:off x="12458700" y="6743304"/>
            <a:ext cx="4404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the same input corpus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2306300" y="7219554"/>
            <a:ext cx="22479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3" name="Text 51"/>
          <p:cNvSpPr/>
          <p:nvPr/>
        </p:nvSpPr>
        <p:spPr>
          <a:xfrm>
            <a:off x="12458700" y="7324329"/>
            <a:ext cx="20193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</a:t>
            </a:r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claim stands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4630400" y="7219554"/>
            <a:ext cx="22479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5" name="Text 53"/>
          <p:cNvSpPr/>
          <p:nvPr/>
        </p:nvSpPr>
        <p:spPr>
          <a:xfrm>
            <a:off x="14782800" y="7324329"/>
            <a:ext cx="20193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</a:t>
            </a:r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claim it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2306300" y="8153004"/>
            <a:ext cx="47091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equivalence claim ships with its own strength score.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against Locksmith (arXiv 2607.28271), AgentModernize (arXiv 2605.17535) and the shipping vendor tools. None reports per-rule results, scores its own corpus, or consults a regulator.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609600"/>
            <a:ext cx="2824014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POTENTIAL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spend is already committed. Assurance is the gate.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6300" b="1" spc="-12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~$1bn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1143000" y="3895328"/>
            <a:ext cx="3767328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lenders must invest over 5–10 years to upgrade legacy core banking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143000" y="4952604"/>
            <a:ext cx="402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Consulting Group, 2024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578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2578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6300" b="1" spc="-12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pPr algn="l" indent="0" marL="0">
              <a:lnSpc>
                <a:spcPct val="70787"/>
              </a:lnSpc>
              <a:buNone/>
            </a:pPr>
            <a:r>
              <a:rPr lang="en-US" sz="3600" b="1" spc="-12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5257800" y="3895328"/>
            <a:ext cx="3767328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world’s largest banks run core operations on IBM mainframes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5257800" y="4952604"/>
            <a:ext cx="402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widely reported industry figure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726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3726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6300" b="1" spc="-12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&gt;40%</a:t>
            </a:r>
            <a:endParaRPr lang="en-US" sz="6300" dirty="0"/>
          </a:p>
        </p:txBody>
      </p:sp>
      <p:sp>
        <p:nvSpPr>
          <p:cNvPr id="16" name="Text 14"/>
          <p:cNvSpPr/>
          <p:nvPr/>
        </p:nvSpPr>
        <p:spPr>
          <a:xfrm>
            <a:off x="93726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banking systems still run COBOL in production today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9372600" y="4638278"/>
            <a:ext cx="402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Pragmatic Coders, 2025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4874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3487400" y="2961878"/>
            <a:ext cx="4023360" cy="920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47"/>
              </a:lnSpc>
              <a:buNone/>
            </a:pPr>
            <a:r>
              <a:rPr lang="en-US" sz="4800" b="1" spc="-96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40,000+</a:t>
            </a:r>
            <a:pPr algn="l" indent="0" marL="0">
              <a:lnSpc>
                <a:spcPct val="92647"/>
              </a:lnSpc>
              <a:buNone/>
            </a:pPr>
            <a:pPr algn="l" indent="0" marL="0">
              <a:lnSpc>
                <a:spcPct val="92647"/>
              </a:lnSpc>
              <a:buNone/>
            </a:pP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3487400" y="397787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&amp; internet banking complaints, FY22–23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3487400" y="4720828"/>
            <a:ext cx="402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 ombudsman data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5619354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143000" y="5809854"/>
            <a:ext cx="854964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176"/>
              </a:lnSpc>
              <a:buNone/>
            </a:pPr>
            <a:r>
              <a:rPr lang="en-US" sz="2400" b="1" spc="-3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of it is gated by one step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43000" y="6293644"/>
            <a:ext cx="8005572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 are approved. What stalls them is the step between “the code exists” and “we run it on real money” — no product category; absorbed as consulting hours and schedule risk.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372600" y="5619354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372600" y="5809854"/>
            <a:ext cx="854964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176"/>
              </a:lnSpc>
              <a:buNone/>
            </a:pPr>
            <a:r>
              <a:rPr lang="en-US" sz="2400" b="1" spc="-3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category is forming around generation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372600" y="6293644"/>
            <a:ext cx="8005572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Transform for mainframe</a:t>
            </a:r>
            <a:pPr algn="l" indent="0" marL="0">
              <a:lnSpc>
                <a:spcPct val="114286"/>
              </a:lnSpc>
              <a:buNone/>
            </a:pPr>
            <a:pPr algn="l" indent="0" marL="0">
              <a:lnSpc>
                <a:spcPct val="114286"/>
              </a:lnSpc>
              <a:buNone/>
            </a:pPr>
            <a:pPr algn="l" indent="0" marL="0">
              <a:lnSpc>
                <a:spcPct val="114286"/>
              </a:lnSpc>
              <a:buNone/>
            </a:pPr>
            <a:pPr algn="l" indent="0" marL="0">
              <a:lnSpc>
                <a:spcPct val="114286"/>
              </a:lnSpc>
              <a:buNone/>
            </a:pPr>
            <a:pPr algn="l" indent="0" marL="0">
              <a:lnSpc>
                <a:spcPct val="114286"/>
              </a:lnSpc>
              <a:buNone/>
            </a:pPr>
            <a:r>
              <a:rPr b="0" sz="1800">
                <a:solidFill>
                  <a:srgbClr val="201E1D"/>
                </a:solidFill>
                <a:latin typeface="Arial"/>
              </a:rPr>
              <a:t> — GA May 2025; ADP cut extraction time 80%. </a:t>
            </a:r>
            <a:r>
              <a:rPr b="1" sz="1800">
                <a:solidFill>
                  <a:srgbClr val="201E1D"/>
                </a:solidFill>
                <a:latin typeface="Arial"/>
              </a:rPr>
              <a:t>IBM watsonx Code Assistant for Z</a:t>
            </a:r>
            <a:r>
              <a:rPr b="0" sz="1800">
                <a:solidFill>
                  <a:srgbClr val="201E1D"/>
                </a:solidFill>
                <a:latin typeface="Arial"/>
              </a:rPr>
              <a:t> — ships a validation assistant; IBM’s own papers say the output cannot be trusted unchecked. </a:t>
            </a:r>
            <a:r>
              <a:rPr b="1" sz="1800">
                <a:solidFill>
                  <a:srgbClr val="201E1D"/>
                </a:solidFill>
                <a:latin typeface="Arial"/>
              </a:rPr>
              <a:t>Mechanical Orchard, Imogen</a:t>
            </a:r>
            <a:r>
              <a:rPr b="0" sz="1800">
                <a:solidFill>
                  <a:srgbClr val="201E1D"/>
                </a:solidFill>
                <a:latin typeface="Arial"/>
              </a:rPr>
              <a:t> — a generate-then-validate loop.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72600" y="7970044"/>
            <a:ext cx="85496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727"/>
              </a:lnSpc>
              <a:buNone/>
            </a:pPr>
            <a:r>
              <a:rPr lang="en-US" sz="195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them generate. None of them sells the proof as the product.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143000" y="93535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banks spend up to 5% of revenue on IT against 7–9% for global peers — the gap compounds: less budget → fewer attempts → more undocumented logic.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609600"/>
            <a:ext cx="302647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SCOPE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by design, and buildable now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71378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2961878"/>
            <a:ext cx="854964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8"/>
              </a:lnSpc>
              <a:buNone/>
            </a:pPr>
            <a:r>
              <a:rPr lang="en-US" sz="2175" b="1" spc="-33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1143000" y="3412827"/>
            <a:ext cx="8005572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 b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COBOL via GnuCOBOL — free, open source, runs on a laptop · retail interest accrual — pure computation, input in / output out · third-party COBOL, including AWS’s own CardDemo sample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372600" y="2771378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72600" y="2961878"/>
            <a:ext cx="854964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8"/>
              </a:lnSpc>
              <a:buNone/>
            </a:pPr>
            <a:r>
              <a:rPr lang="en-US" sz="2175" b="1" spc="-33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— detected, not ignored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372600" y="3412827"/>
            <a:ext cx="800557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CICS screens and JCL orchestration · database-coupled programs · anything non-deterministic — system clocks, randomness, external state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72600" y="4546302"/>
            <a:ext cx="800557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testing compares outputs for equality, so non-determinism makes the verdict meaningless. The tool refuses these at intake, with a reason.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5517853"/>
            <a:ext cx="17602200" cy="37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9"/>
              </a:lnSpc>
              <a:buNone/>
            </a:pPr>
            <a:r>
              <a:rPr lang="en-US" sz="2400" b="1" spc="-3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stages — the spine first, the novelty protected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143000" y="6087765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43000" y="6278265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Differential harness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143000" y="6707287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compiles and runs; diff two implementations across an input list.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57800" y="6087765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57800" y="6278265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Rules and boundaries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5257800" y="6707287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Slice, extract with line citations, derive boundary inputs from the rules.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72600" y="6087765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372600" y="6278265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Per-rule results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372600" y="6707287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mapped back to rules, including the ones we could not confirm.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487400" y="6087765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3487400" y="6278265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Regulation and mutation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3487400" y="6707287"/>
            <a:ext cx="376732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RBI reference model, then fault injection to score the corpus.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limitation, stated up front: input quality caps everything — stage 04 scores the corpus instead of trusting it. The method is compiler-agnostic — a bank points it at its own compiler.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612648"/>
            <a:ext cx="10058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spc="150">
                <a:solidFill>
                  <a:srgbClr val="EC3013"/>
                </a:solidFill>
                <a:latin typeface="Arial"/>
              </a:rPr>
              <a:t>BUSINESS PLAN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852392" y="612648"/>
            <a:ext cx="37490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8C8886"/>
                </a:solidFill>
                <a:latin typeface="Arial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207008"/>
            <a:ext cx="160020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792224"/>
            <a:ext cx="1762963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650" b="1">
                <a:solidFill>
                  <a:srgbClr val="201E1D"/>
                </a:solidFill>
                <a:latin typeface="Arial"/>
              </a:rPr>
              <a:t>The plan on a page: why, how, what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843784"/>
            <a:ext cx="36576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17520"/>
            <a:ext cx="5029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EC3013"/>
                </a:solidFill>
                <a:latin typeface="Arial"/>
              </a:rPr>
              <a:t>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29584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8C8886"/>
                </a:solidFill>
                <a:latin typeface="Arial"/>
              </a:rPr>
              <a:t>explain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0416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01E1D"/>
                </a:solidFill>
                <a:latin typeface="Arial"/>
              </a:rPr>
              <a:t>Problem &amp; 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52544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92/100 top banks on mainframes; &gt;40% still COBOL; the rules live only in the 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901183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EC3013"/>
                </a:solidFill>
                <a:latin typeface="Arial"/>
              </a:rPr>
              <a:t>→ slides 2–3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50468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01E1D"/>
                </a:solidFill>
                <a:latin typeface="Arial"/>
              </a:rPr>
              <a:t>Problem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815583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Pure-computation interest accrual; everything else refused at intake.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364223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EC3013"/>
                </a:solidFill>
                <a:latin typeface="Arial"/>
              </a:rPr>
              <a:t>→ slide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69677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01E1D"/>
                </a:solidFill>
                <a:latin typeface="Arial"/>
              </a:rPr>
              <a:t>Target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7278624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CIO, risk &amp; audit, SIs, the supervisor — all can generate, none can prove.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7827264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EC3013"/>
                </a:solidFill>
                <a:latin typeface="Arial"/>
              </a:rPr>
              <a:t>→ slide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9400" y="2843784"/>
            <a:ext cx="36576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017520"/>
            <a:ext cx="5029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EC3013"/>
                </a:solidFill>
                <a:latin typeface="Arial"/>
              </a:rPr>
              <a:t>HOW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529584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8C8886"/>
                </a:solidFill>
                <a:latin typeface="Arial"/>
              </a:rPr>
              <a:t>explain the solve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0416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01E1D"/>
                </a:solidFill>
                <a:latin typeface="Arial"/>
              </a:rPr>
              <a:t>Solution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352544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Gate → slice → bounded extraction → rule-directed inputs → three-way diff.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901183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EC3013"/>
                </a:solidFill>
                <a:latin typeface="Arial"/>
              </a:rPr>
              <a:t>→ slides 5–6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50468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01E1D"/>
                </a:solidFill>
                <a:latin typeface="Arial"/>
              </a:rPr>
              <a:t>Innovation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815583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The legacy is its own oracle; the loop judges the rules; the RBI is the third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6364223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EC3013"/>
                </a:solidFill>
                <a:latin typeface="Arial"/>
              </a:rPr>
              <a:t>→ slides 7, 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69677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01E1D"/>
                </a:solidFill>
                <a:latin typeface="Arial"/>
              </a:rPr>
              <a:t>Technologies, and why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7278624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GnuCOBOL · ProLeap · gcov · delta debugging — free, NIST-validated, laptop-scale.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7827264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EC3013"/>
                </a:solidFill>
                <a:latin typeface="Arial"/>
              </a:rPr>
              <a:t>→ slide 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115800" y="2843784"/>
            <a:ext cx="36576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5800" y="3017520"/>
            <a:ext cx="5029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EC3013"/>
                </a:solidFill>
                <a:latin typeface="Arial"/>
              </a:rPr>
              <a:t>WHAT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15800" y="3529584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8C8886"/>
                </a:solidFill>
                <a:latin typeface="Arial"/>
              </a:rPr>
              <a:t>value proposition — what the bank keeps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15800" y="40416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01E1D"/>
                </a:solidFill>
                <a:latin typeface="Arial"/>
              </a:rPr>
              <a:t>A specification that never existed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15800" y="4352544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Plain-language rules, each traced to the lines that produce 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15800" y="51389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01E1D"/>
                </a:solidFill>
                <a:latin typeface="Arial"/>
              </a:rPr>
              <a:t>A permanent regression suite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15800" y="5449824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Thousands of input–output pairs, reusable on every future change.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15800" y="62362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01E1D"/>
                </a:solidFill>
                <a:latin typeface="Arial"/>
              </a:rPr>
              <a:t>An equivalence claim someone can 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15800" y="6547104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Evidence-backed; coverage stated honestly, per rule.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15800" y="733348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01E1D"/>
                </a:solidFill>
                <a:latin typeface="Arial"/>
              </a:rPr>
              <a:t>Compliance findings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15800" y="7644383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The legacy checked against RBI’s written arithmetic — not only against itself.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15800" y="85039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AE1800"/>
                </a:solidFill>
                <a:latin typeface="Arial"/>
              </a:rPr>
              <a:t>Value survives even if the migration is cancelled.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612648"/>
            <a:ext cx="10058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spc="150">
                <a:solidFill>
                  <a:srgbClr val="EC3013"/>
                </a:solidFill>
                <a:latin typeface="Arial"/>
              </a:rPr>
              <a:t>BUSINESS PLAN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852392" y="612648"/>
            <a:ext cx="37490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8C8886"/>
                </a:solidFill>
                <a:latin typeface="Arial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207008"/>
            <a:ext cx="160020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792224"/>
            <a:ext cx="1762963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650" b="1">
                <a:solidFill>
                  <a:srgbClr val="201E1D"/>
                </a:solidFill>
                <a:latin typeface="Arial"/>
              </a:rPr>
              <a:t>Financials &amp; timelines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843784"/>
            <a:ext cx="36576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17520"/>
            <a:ext cx="5029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EC3013"/>
                </a:solidFill>
                <a:latin typeface="Arial"/>
              </a:rPr>
              <a:t>INVESTMENTS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29584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8C8886"/>
                </a:solidFill>
                <a:latin typeface="Arial"/>
              </a:rPr>
              <a:t>what it takes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0416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01E1D"/>
                </a:solidFill>
                <a:latin typeface="Arial"/>
              </a:rPr>
              <a:t>Licence cost: nil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52544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GnuCOBOL, ProLeap, gcov, corpora — all open. No mainframe.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17550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01E1D"/>
                </a:solidFill>
                <a:latin typeface="Arial"/>
              </a:rPr>
              <a:t>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486400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4 engineers × 12 weeks, commodity laptops.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6309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01E1D"/>
                </a:solidFill>
                <a:latin typeface="Arial"/>
              </a:rPr>
              <a:t>Variable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620256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Bounded LLM inference only — one call per slice.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744321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01E1D"/>
                </a:solidFill>
                <a:latin typeface="Arial"/>
              </a:rPr>
              <a:t>Bank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7754112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2 engineers + bank SME time, ~6 months.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2843784"/>
            <a:ext cx="36576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017520"/>
            <a:ext cx="5029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EC3013"/>
                </a:solidFill>
                <a:latin typeface="Arial"/>
              </a:rPr>
              <a:t>RETURNS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529584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8C8886"/>
                </a:solidFill>
                <a:latin typeface="Arial"/>
              </a:rPr>
              <a:t>and the cost of not solving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0416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01E1D"/>
                </a:solidFill>
                <a:latin typeface="Arial"/>
              </a:rPr>
              <a:t>What it unlocks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352544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The ~$1bn assurance-gated upgrade spend; ADP-comparable automation: −80% time, −90% effort.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394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AE1800"/>
                </a:solidFill>
                <a:latin typeface="Arial"/>
              </a:rPr>
              <a:t>What if we don’t — TSB, 2018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705856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~£400m total. The CEO resigned; the CIO was personally fined. HDFC 2020: roadmap frozen into 2022.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67482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01E1D"/>
                </a:solidFill>
                <a:latin typeface="Arial"/>
              </a:rPr>
              <a:t>No ROI multiple claimed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7059168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Nothing in our research supports one — the counterfactual prices the downside.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15800" y="2843784"/>
            <a:ext cx="36576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115800" y="3017520"/>
            <a:ext cx="5029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EC3013"/>
                </a:solidFill>
                <a:latin typeface="Arial"/>
              </a:rPr>
              <a:t>TIMELINES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15800" y="3529584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8C8886"/>
                </a:solidFill>
                <a:latin typeface="Arial"/>
              </a:rPr>
              <a:t>time to realise benefit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15800" y="40416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>
                <a:solidFill>
                  <a:srgbClr val="201E1D"/>
                </a:solidFill>
                <a:latin typeface="Arial"/>
              </a:rPr>
              <a:t>Weeks 1–2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0" y="4041648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F6C6B"/>
                </a:solidFill>
                <a:latin typeface="Arial"/>
              </a:rPr>
              <a:t>harness runs &amp; diffs — already a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15800" y="482803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>
                <a:solidFill>
                  <a:srgbClr val="201E1D"/>
                </a:solidFill>
                <a:latin typeface="Arial"/>
              </a:rPr>
              <a:t>Weeks 3–4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98880" y="4828032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F6C6B"/>
                </a:solidFill>
                <a:latin typeface="Arial"/>
              </a:rPr>
              <a:t>inputs from PIC clauses + boundaries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15800" y="561441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>
                <a:solidFill>
                  <a:srgbClr val="201E1D"/>
                </a:solidFill>
                <a:latin typeface="Arial"/>
              </a:rPr>
              <a:t>Weeks 5–7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80" y="5614416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F6C6B"/>
                </a:solidFill>
                <a:latin typeface="Arial"/>
              </a:rPr>
              <a:t>slice &amp; extract, line-cited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15800" y="64008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>
                <a:solidFill>
                  <a:srgbClr val="EC3013"/>
                </a:solidFill>
                <a:latin typeface="Arial"/>
              </a:rPr>
              <a:t>Weeks 8–10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98880" y="6400800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01E1C"/>
                </a:solidFill>
                <a:latin typeface="Arial"/>
              </a:rPr>
              <a:t>reciprocal loop + verdicts — the contribution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15800" y="718718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>
                <a:solidFill>
                  <a:srgbClr val="201E1D"/>
                </a:solidFill>
                <a:latin typeface="Arial"/>
              </a:rPr>
              <a:t>Weeks 11–12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898880" y="7187184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F6C6B"/>
                </a:solidFill>
                <a:latin typeface="Arial"/>
              </a:rPr>
              <a:t>delta debug · evidence bundle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15800" y="79735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>
                <a:solidFill>
                  <a:srgbClr val="201E1D"/>
                </a:solidFill>
                <a:latin typeface="Arial"/>
              </a:rPr>
              <a:t>Months 4–9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0" y="7973568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F6C6B"/>
                </a:solidFill>
                <a:latin typeface="Arial"/>
              </a:rPr>
              <a:t>bank pilot, the bank’s own compiler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9354312"/>
            <a:ext cx="17602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8C8886"/>
                </a:solidFill>
                <a:latin typeface="Arial"/>
              </a:rPr>
              <a:t>Indicative and effort-based — no licence or infrastructure spend is assumed, because none is required.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939102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23778"/>
            <a:ext cx="8298180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571"/>
              </a:lnSpc>
              <a:buNone/>
            </a:pPr>
            <a:r>
              <a:rPr lang="en-US" sz="1800" b="1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PEER-REVIEWED AND PREPRINTS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3390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Hans, S. et al. (2025).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 of COBOL to Java Transformation. arXiv:2504.10548.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0311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Pan, R. et al. (2024).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in Translation: A Study of Bugs Introduced by LLMs while Translating Code. ICSE 2024, arXiv:2308.03109.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47233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Ahmed, S. N. &amp; Galib, M. (2026).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AgentModernize: Preserving Business Logic in Legacy Modernization. arXiv:2605.17535.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54154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Ferenczi, A. et al. (2026).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Method for Deterministic Validation of Legacy Code Migration. arXiv:2607.28271.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61076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Shah, S. et al. (2025).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A-COBREX: Identifying Business Rules in COBOL Programs. ICSE 2025, Demonstrations.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67997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S, C. &amp; Chimalakonda, S. (2025).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vs Rule-Based: the COBRAIN Tool. EASE 2025, doi:10.1145/3756681.3756982.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74919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Lwin, N. O. &amp; Kumar, R. (2026).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vs LLM-Controlled Orchestration for COBOL-to-Python Modernization. arXiv:2605.09894.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81840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Barr, E. T. et al. (2015).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Oracle Problem in Software Testing: A Survey. IEEE TSE 41(5), 507–525.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1200" y="2733278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2923778"/>
            <a:ext cx="8298180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571"/>
              </a:lnSpc>
              <a:buNone/>
            </a:pPr>
            <a:r>
              <a:rPr lang="en-US" sz="1800" b="1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AND SUPERVISORY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0" y="33199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Bank of India (2016, upd. 2024).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Direction — Interest Rate on Deposits. Clauses 4(f), 6(a), 6(a)(1)–(2).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0" y="39740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Bank of India (2023).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Direction on IT Governance, Risk, Controls and Assurance Practices.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0" y="46280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Conduct Authority (2022).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TSB fined £48.65m for operational resilience failings.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601200" y="5358309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5491659"/>
            <a:ext cx="7770114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571"/>
              </a:lnSpc>
              <a:buNone/>
            </a:pPr>
            <a:r>
              <a:rPr lang="en-US" sz="1800" b="1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AND MARKET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0" y="588783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Consulting Group (2024).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Cloud-based Core Transformations, via Business Standard.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0" y="6541889"/>
            <a:ext cx="829818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watsonx Code Assistant for Z — Validation Assistant documentation.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0" y="6910189"/>
            <a:ext cx="7770114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Web Services (2025).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Transform for mainframe, generally available. </a:t>
            </a:r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Orchard.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Imogen platform — generate-validate loop.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601200" y="7932539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0" y="8065889"/>
            <a:ext cx="7770114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571"/>
              </a:lnSpc>
              <a:buNone/>
            </a:pPr>
            <a:r>
              <a:rPr lang="en-US" sz="1800" b="1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STANDARDS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0" y="8423970"/>
            <a:ext cx="7770114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Project.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compiler, GPL/LGPL. NIST COBOL-85: 9,700 of 9,748. </a:t>
            </a:r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Wolf, U.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ProLeap COBOL Parser, MIT licence. </a:t>
            </a:r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(1992).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CCVS85 validation system.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43000" y="93535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annotated bibliography, with per-source confidence ratings, is in the research dossier.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2026-08-12T23:56:31Z</dcterms:created>
  <dcterms:modified xsi:type="dcterms:W3CDTF">2026-08-12T23:56:31Z</dcterms:modified>
</cp:coreProperties>
</file>