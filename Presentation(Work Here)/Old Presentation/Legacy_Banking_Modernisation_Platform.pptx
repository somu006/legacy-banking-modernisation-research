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line: every bank in this country wants off COBOL. Almost none of them have managed it. The reason is not what most people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scene concretely, then land the stakes. This is not hypothetical - it is the default state of core banking in India, and the tolerance for error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obvious objection: isn't this solved? Yes - the solved half is the half nobody was stuck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crux of the whole pitch. If the audience takes one thing away, it is this line: the code is the only specification that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layers quickly. Signal that step 3 is where the real work is, then spend the next slide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This is the slide that separates us from every other submission. Say plainly: our system assumes the AI is wrong and proves it anyway. The example figures are illustrative, not from a completed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the question: how do you know the model did not hallucinate? This slide is the answer, and we raise it before the jury does. Juries reward teams that name their boundary - state the non-determinism limit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last line and stop. Do not add a thank-you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40">
                <a:solidFill>
                  <a:srgbClr val="E8942E"/>
                </a:solidFill>
                <a:latin typeface="Consolas"/>
              </a:rPr>
              <a:t>BANKING AND FINANCE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Digital Nurture</a:t>
            </a:r>
          </a:p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224528"/>
            <a:ext cx="1371600" cy="18288"/>
          </a:xfrm>
          <a:prstGeom prst="rect">
            <a:avLst/>
          </a:prstGeom>
          <a:solidFill>
            <a:srgbClr val="2E4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590288"/>
            <a:ext cx="3566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StudyEdge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9377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alibri"/>
              </a:rPr>
              <a:t>OUTR, Bhubaneswar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44068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496AF"/>
                </a:solidFill>
                <a:latin typeface="Calibri"/>
              </a:rPr>
              <a:t>Tamanna Panda · Swayam Subhankar Sahoo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8496AF"/>
                </a:solidFill>
                <a:latin typeface="Calibri"/>
              </a:rPr>
              <a:t>Adyasha Das · Soumyajit Sarkar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700000"/>
            <a:ext cx="612648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Legacy Banking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Modernisation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315000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E8942E"/>
                </a:solidFill>
                <a:latin typeface="Calibri"/>
              </a:rPr>
              <a:t>Proving the rewrite behaves exactly like the original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822191"/>
            <a:ext cx="5806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C6CFDE"/>
                </a:solidFill>
                <a:latin typeface="Calibri"/>
              </a:rPr>
              <a:t>Legacy migration fails on verification, not translation. We make behavioural equivalence something a bank can actually prove.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5230368"/>
            <a:ext cx="4937760" cy="10972"/>
          </a:xfrm>
          <a:prstGeom prst="rect">
            <a:avLst/>
          </a:prstGeom>
          <a:solidFill>
            <a:srgbClr val="2E4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55046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 spc="60">
                <a:solidFill>
                  <a:srgbClr val="8496AF"/>
                </a:solidFill>
                <a:latin typeface="Consolas"/>
              </a:rPr>
              <a:t>COBOL  ·  GnuCOBOL  ·  differential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C2721A"/>
                </a:solidFill>
                <a:latin typeface="Consolas"/>
              </a:rPr>
              <a:t>THE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13203A"/>
                </a:solidFill>
                <a:latin typeface="Cambria"/>
              </a:rPr>
              <a:t>Forty years of undocumented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7451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3203A"/>
                </a:solidFill>
                <a:latin typeface="Cambria"/>
              </a:rPr>
              <a:t>1987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97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Core interest engine written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Original authors have retired.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75887" y="1920240"/>
            <a:ext cx="10972" cy="132588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87451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3203A"/>
                </a:solidFill>
                <a:latin typeface="Cambria"/>
              </a:rPr>
              <a:t>~200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697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Undocumented modifications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8496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Each one a fix for a real incident.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86016" y="1920240"/>
            <a:ext cx="10972" cy="1325880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78624" y="1874519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3203A"/>
                </a:solidFill>
                <a:latin typeface="Cambr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8624" y="26974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Written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30175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Nothing states what it should 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40480"/>
            <a:ext cx="4937760" cy="2103120"/>
          </a:xfrm>
          <a:prstGeom prst="roundRect">
            <a:avLst>
              <a:gd name="adj" fmla="val 6000"/>
            </a:avLst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133087"/>
            <a:ext cx="4114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E8942E"/>
                </a:solidFill>
                <a:latin typeface="Cambria"/>
              </a:rPr>
              <a:t>1 paisa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956048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C6CFDE"/>
                </a:solidFill>
                <a:latin typeface="Calibri"/>
              </a:rPr>
              <a:t>of divergence, across millions of accounts, is a reportable regulatory event — not a bug.</a:t>
            </a:r>
          </a:p>
        </p:txBody>
      </p:sp>
      <p:sp>
        <p:nvSpPr>
          <p:cNvPr id="19" name="Oval 18"/>
          <p:cNvSpPr/>
          <p:nvPr/>
        </p:nvSpPr>
        <p:spPr>
          <a:xfrm>
            <a:off x="6021324" y="4128515"/>
            <a:ext cx="118872" cy="118872"/>
          </a:xfrm>
          <a:prstGeom prst="ellipse">
            <a:avLst/>
          </a:prstGeom>
          <a:solidFill>
            <a:srgbClr val="C2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0507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Rounding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29768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Silent, compounding, found at audit</a:t>
            </a:r>
          </a:p>
        </p:txBody>
      </p:sp>
      <p:sp>
        <p:nvSpPr>
          <p:cNvPr id="22" name="Oval 21"/>
          <p:cNvSpPr/>
          <p:nvPr/>
        </p:nvSpPr>
        <p:spPr>
          <a:xfrm>
            <a:off x="6021324" y="4841748"/>
            <a:ext cx="118872" cy="118872"/>
          </a:xfrm>
          <a:prstGeom prst="ellipse">
            <a:avLst/>
          </a:prstGeom>
          <a:solidFill>
            <a:srgbClr val="C2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71830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Date boundaries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010912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Loans mature on the wrong day</a:t>
            </a:r>
          </a:p>
        </p:txBody>
      </p:sp>
      <p:sp>
        <p:nvSpPr>
          <p:cNvPr id="25" name="Oval 24"/>
          <p:cNvSpPr/>
          <p:nvPr/>
        </p:nvSpPr>
        <p:spPr>
          <a:xfrm>
            <a:off x="6021324" y="5554979"/>
            <a:ext cx="118872" cy="118872"/>
          </a:xfrm>
          <a:prstGeom prst="ellipse">
            <a:avLst/>
          </a:prstGeom>
          <a:solidFill>
            <a:srgbClr val="C2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43153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3203A"/>
                </a:solidFill>
                <a:latin typeface="Calibri"/>
              </a:rPr>
              <a:t>Threshold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724144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C7A94"/>
                </a:solidFill>
                <a:latin typeface="Calibri"/>
              </a:rPr>
              <a:t>Wrong rate applied to a whole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236208"/>
            <a:ext cx="1087523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6C7A94"/>
                </a:solidFill>
                <a:latin typeface="Calibri"/>
              </a:rPr>
              <a:t>The migration has been on the roadmap for eleven years. Nobody in the organisation is being irrational.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C2721A"/>
                </a:solidFill>
                <a:latin typeface="Consolas"/>
              </a:rPr>
              <a:t>THE MISDIAGNOSIS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13203A"/>
                </a:solidFill>
                <a:latin typeface="Cambria"/>
              </a:rPr>
              <a:t>Everyone thinks this is a translation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019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6B52"/>
                </a:solidFill>
                <a:latin typeface="Calibri"/>
              </a:rPr>
              <a:t>What the market already builds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2404872"/>
            <a:ext cx="201168" cy="201168"/>
          </a:xfrm>
          <a:prstGeom prst="ellipse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5546F"/>
                </a:solidFill>
                <a:latin typeface="Calibri"/>
              </a:rPr>
              <a:t>Transpilers that convert COBOL to Java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880360"/>
            <a:ext cx="201168" cy="201168"/>
          </a:xfrm>
          <a:prstGeom prst="ellipse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87121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5546F"/>
                </a:solidFill>
                <a:latin typeface="Calibri"/>
              </a:rPr>
              <a:t>Language models that rewrite code on request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355848"/>
            <a:ext cx="201168" cy="201168"/>
          </a:xfrm>
          <a:prstGeom prst="ellipse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34670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5546F"/>
                </a:solidFill>
                <a:latin typeface="Calibri"/>
              </a:rPr>
              <a:t>Refactoring and code-generation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B6B52"/>
                </a:solidFill>
                <a:latin typeface="Calibri"/>
              </a:rPr>
              <a:t>This half is solved.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10512"/>
            <a:ext cx="5266944" cy="2542032"/>
          </a:xfrm>
          <a:prstGeom prst="roundRect">
            <a:avLst>
              <a:gd name="adj" fmla="val 5000"/>
            </a:avLst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214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What still blocks the migration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526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C6CFDE"/>
                </a:solidFill>
                <a:latin typeface="Calibri"/>
              </a:rPr>
              <a:t>The output compiles. It passes the tests you wrote. Nobody can tell you whether it behaves the same as the system it replaces.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22191"/>
            <a:ext cx="4526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E8942E"/>
                </a:solidFill>
                <a:latin typeface="Calibri"/>
              </a:rPr>
              <a:t>So it does not 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846320"/>
            <a:ext cx="10875233" cy="10972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93792"/>
            <a:ext cx="1087523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C2721A"/>
                </a:solidFill>
                <a:latin typeface="Cambria"/>
              </a:rPr>
              <a:t>Generating the new code was never the hard part.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61888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C7A94"/>
                </a:solidFill>
                <a:latin typeface="Calibri"/>
              </a:rPr>
              <a:t>The bottleneck is proof, not production. That is the half nobody has built.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E8942E"/>
                </a:solidFill>
                <a:latin typeface="Consolas"/>
              </a:rPr>
              <a:t>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The specification was never written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5074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C6CFDE"/>
                </a:solidFill>
                <a:latin typeface="Calibri"/>
              </a:rPr>
              <a:t>Interest accrual conventions. Rounding on the third decimal. Leap years. Accounts opened on the 31st. Two hundred edge cases patched in over four decades — each a response to a real incident, none of them documented.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39312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8496AF"/>
                </a:solidFill>
                <a:latin typeface="Calibri"/>
              </a:rPr>
              <a:t>So where do those rules live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11480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E8942E"/>
                </a:solidFill>
                <a:latin typeface="Cambria"/>
              </a:rPr>
              <a:t>Nowhere.</a:t>
            </a:r>
          </a:p>
          <a:p>
            <a:pPr algn="l">
              <a:lnSpc>
                <a:spcPct val="118000"/>
              </a:lnSpc>
            </a:pPr>
            <a:r>
              <a:rPr sz="2800" b="1" i="0">
                <a:solidFill>
                  <a:srgbClr val="E8942E"/>
                </a:solidFill>
                <a:latin typeface="Cambria"/>
              </a:rPr>
              <a:t>The code is the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5175504" cy="3931920"/>
          </a:xfrm>
          <a:prstGeom prst="roundRect">
            <a:avLst>
              <a:gd name="adj" fmla="val 4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55080" y="1874519"/>
            <a:ext cx="5175504" cy="420624"/>
          </a:xfrm>
          <a:prstGeom prst="roundRect">
            <a:avLst>
              <a:gd name="adj" fmla="val 10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121408"/>
            <a:ext cx="5175504" cy="173736"/>
          </a:xfrm>
          <a:prstGeom prst="rect">
            <a:avLst/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99339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90">
                <a:solidFill>
                  <a:srgbClr val="8496AF"/>
                </a:solidFill>
                <a:latin typeface="Consolas"/>
              </a:rPr>
              <a:t>ACCRUAL.CBL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2505456"/>
            <a:ext cx="4992624" cy="310896"/>
          </a:xfrm>
          <a:prstGeom prst="rect">
            <a:avLst/>
          </a:prstGeom>
          <a:solidFill>
            <a:srgbClr val="224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2542032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FFFFF"/>
                </a:solidFill>
                <a:latin typeface="Consolas"/>
              </a:rPr>
              <a:t>       COMPUTE WS-INT ROUNDED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852927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onsolas"/>
              </a:rPr>
              <a:t>           WS-PRIN * WS-RATE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3163824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onsolas"/>
              </a:rPr>
              <a:t>           * WS-DAYS / 36500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474720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onsola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85615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onsolas"/>
              </a:rPr>
              <a:t>       IF WS-DOM &gt; 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4096512"/>
            <a:ext cx="46634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496AF"/>
                </a:solidFill>
                <a:latin typeface="Consolas"/>
              </a:rPr>
              <a:t>           PERFORM MONTH-END-FIX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56832" y="4498848"/>
            <a:ext cx="4572000" cy="10972"/>
          </a:xfrm>
          <a:prstGeom prst="rect">
            <a:avLst/>
          </a:prstGeom>
          <a:solidFill>
            <a:srgbClr val="2E4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56832" y="4754880"/>
            <a:ext cx="4617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One word. </a:t>
            </a:r>
            <a:r>
              <a:rPr sz="1250" b="1" i="0">
                <a:solidFill>
                  <a:srgbClr val="E8942E"/>
                </a:solidFill>
                <a:latin typeface="Consolas"/>
              </a:rPr>
              <a:t>ROUNDED</a:t>
            </a:r>
            <a:r>
              <a:rPr sz="1250" b="0" i="0">
                <a:solidFill>
                  <a:srgbClr val="C6CFDE"/>
                </a:solidFill>
                <a:latin typeface="Calibri"/>
              </a:rPr>
              <a:t> decides how a few hundred crore of interest is settled — and it is documented nowhere but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C2721A"/>
                </a:solidFill>
                <a:latin typeface="Consolas"/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13203A"/>
                </a:solidFill>
                <a:latin typeface="Cambria"/>
              </a:rPr>
              <a:t>Treat modernisation as a verification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157984"/>
            <a:ext cx="512064" cy="512064"/>
          </a:xfrm>
          <a:prstGeom prst="ellipse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267712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0779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3203A"/>
                </a:solidFill>
                <a:latin typeface="Cambria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19856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45546F"/>
                </a:solidFill>
                <a:latin typeface="Calibri"/>
              </a:rPr>
              <a:t>Decompose the legacy source and state each unit's business rules in plain language — every rule traced to the lines that produce 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05072" y="2414016"/>
            <a:ext cx="274320" cy="0"/>
          </a:xfrm>
          <a:prstGeom prst="line">
            <a:avLst/>
          </a:prstGeom>
          <a:ln w="25400">
            <a:solidFill>
              <a:srgbClr val="AEBA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370831" y="2157984"/>
            <a:ext cx="512064" cy="512064"/>
          </a:xfrm>
          <a:prstGeom prst="ellipse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2267712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1" y="290779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3203A"/>
                </a:solidFill>
                <a:latin typeface="Cambria"/>
              </a:rPr>
              <a:t>Reimplement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1" y="3419856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45546F"/>
                </a:solidFill>
                <a:latin typeface="Calibri"/>
              </a:rPr>
              <a:t>Generate the modern equivalent. This is the commodity step, and the least interesting part of what we build.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17536" y="2414016"/>
            <a:ext cx="274319" cy="0"/>
          </a:xfrm>
          <a:prstGeom prst="line">
            <a:avLst/>
          </a:prstGeom>
          <a:ln w="25400">
            <a:solidFill>
              <a:srgbClr val="AEBA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83296" y="2157984"/>
            <a:ext cx="512064" cy="512064"/>
          </a:xfrm>
          <a:prstGeom prst="ellipse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2267712"/>
            <a:ext cx="5120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90779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B6B52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3419856"/>
            <a:ext cx="3246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45546F"/>
                </a:solidFill>
                <a:latin typeface="Calibri"/>
              </a:rPr>
              <a:t>Generate boundary-targeting inputs, run both programs on every one, and diff the outputs. Divergences come back as reproducible cases.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83480"/>
            <a:ext cx="10875233" cy="1143000"/>
          </a:xfrm>
          <a:prstGeom prst="roundRect">
            <a:avLst>
              <a:gd name="adj" fmla="val 6000"/>
            </a:avLst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1288" y="4983480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1" i="0">
                <a:solidFill>
                  <a:srgbClr val="13203A"/>
                </a:solidFill>
                <a:latin typeface="Calibri"/>
              </a:rPr>
              <a:t>Extraction alone is not the deliverable. </a:t>
            </a:r>
            <a:r>
              <a:rPr sz="1400" b="0" i="0">
                <a:solidFill>
                  <a:srgbClr val="45546F"/>
                </a:solidFill>
                <a:latin typeface="Calibri"/>
              </a:rPr>
              <a:t>A confidently stated wrong rule is more dangerous than no rule at all — which is why step 3 exists.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E8942E"/>
                </a:solidFill>
                <a:latin typeface="Consolas"/>
              </a:rPr>
              <a:t>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The legacy system is its own correctness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37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C6CFDE"/>
                </a:solidFill>
                <a:latin typeface="Calibri"/>
              </a:rPr>
              <a:t>Testing normally requires knowing the right answer in advance. Here the program being replaced already defines it — by running.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310128"/>
            <a:ext cx="2395728" cy="932688"/>
          </a:xfrm>
          <a:prstGeom prst="roundRect">
            <a:avLst>
              <a:gd name="adj" fmla="val 7000"/>
            </a:avLst>
          </a:prstGeom>
          <a:solidFill>
            <a:srgbClr val="1C2A44"/>
          </a:solidFill>
          <a:ln w="15875">
            <a:solidFill>
              <a:srgbClr val="2E4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52958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Input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6AF"/>
                </a:solidFill>
                <a:latin typeface="Consolas"/>
              </a:rPr>
              <a:t>boundary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2249424"/>
            <a:ext cx="2880360" cy="932688"/>
          </a:xfrm>
          <a:prstGeom prst="roundRect">
            <a:avLst>
              <a:gd name="adj" fmla="val 7000"/>
            </a:avLst>
          </a:prstGeom>
          <a:solidFill>
            <a:srgbClr val="1C2A44"/>
          </a:solidFill>
          <a:ln w="15875">
            <a:solidFill>
              <a:srgbClr val="E894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9664" y="24688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E8942E"/>
                </a:solidFill>
                <a:latin typeface="Calibri"/>
              </a:rPr>
              <a:t>Legacy program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9664" y="2798064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6AF"/>
                </a:solidFill>
                <a:latin typeface="Consolas"/>
              </a:rPr>
              <a:t>ground truth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3632" y="4370832"/>
            <a:ext cx="2880360" cy="932688"/>
          </a:xfrm>
          <a:prstGeom prst="roundRect">
            <a:avLst>
              <a:gd name="adj" fmla="val 7000"/>
            </a:avLst>
          </a:prstGeom>
          <a:solidFill>
            <a:srgbClr val="1C2A44"/>
          </a:solidFill>
          <a:ln w="15875">
            <a:solidFill>
              <a:srgbClr val="2E4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9664" y="4590288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9664" y="4919472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6AF"/>
                </a:solidFill>
                <a:latin typeface="Consolas"/>
              </a:rPr>
              <a:t>under 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3527" y="3310128"/>
            <a:ext cx="1783080" cy="932688"/>
          </a:xfrm>
          <a:prstGeom prst="roundRect">
            <a:avLst>
              <a:gd name="adj" fmla="val 7000"/>
            </a:avLst>
          </a:prstGeom>
          <a:solidFill>
            <a:srgbClr val="1C2A44"/>
          </a:solidFill>
          <a:ln w="15875">
            <a:solidFill>
              <a:srgbClr val="2E40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59" y="3529584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Diff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59" y="3858768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6AF"/>
                </a:solidFill>
                <a:latin typeface="Consolas"/>
              </a:rPr>
              <a:t>exact compare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30384" y="3310128"/>
            <a:ext cx="1600200" cy="932688"/>
          </a:xfrm>
          <a:prstGeom prst="roundRect">
            <a:avLst>
              <a:gd name="adj" fmla="val 7000"/>
            </a:avLst>
          </a:prstGeom>
          <a:solidFill>
            <a:srgbClr val="16233A"/>
          </a:solidFill>
          <a:ln w="15875">
            <a:solidFill>
              <a:srgbClr val="34A0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6415" y="352958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34A07C"/>
                </a:solidFill>
                <a:latin typeface="Calibri"/>
              </a:rPr>
              <a:t>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6415" y="3858768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496AF"/>
                </a:solidFill>
                <a:latin typeface="Consolas"/>
              </a:rPr>
              <a:t>pass / fail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3054096" y="2926080"/>
            <a:ext cx="859536" cy="658368"/>
          </a:xfrm>
          <a:prstGeom prst="line">
            <a:avLst/>
          </a:prstGeom>
          <a:ln w="19050">
            <a:solidFill>
              <a:srgbClr val="4459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54096" y="3968496"/>
            <a:ext cx="859536" cy="658368"/>
          </a:xfrm>
          <a:prstGeom prst="line">
            <a:avLst/>
          </a:prstGeom>
          <a:ln w="19050">
            <a:solidFill>
              <a:srgbClr val="4459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93992" y="2926080"/>
            <a:ext cx="859535" cy="658368"/>
          </a:xfrm>
          <a:prstGeom prst="line">
            <a:avLst/>
          </a:prstGeom>
          <a:ln w="19050">
            <a:solidFill>
              <a:srgbClr val="4459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793992" y="3968496"/>
            <a:ext cx="859535" cy="658368"/>
          </a:xfrm>
          <a:prstGeom prst="line">
            <a:avLst/>
          </a:prstGeom>
          <a:ln w="19050">
            <a:solidFill>
              <a:srgbClr val="4459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436608" y="3776472"/>
            <a:ext cx="493776" cy="0"/>
          </a:xfrm>
          <a:prstGeom prst="line">
            <a:avLst/>
          </a:prstGeom>
          <a:ln w="19050">
            <a:solidFill>
              <a:srgbClr val="4459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58368" y="5596128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Every mismatch is a reproducible finding, not a confidence score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943600"/>
            <a:ext cx="10875233" cy="530352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6089904"/>
            <a:ext cx="1060704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8496AF"/>
                </a:solidFill>
                <a:latin typeface="Consolas"/>
              </a:rPr>
              <a:t>balance 9,999.995 · leap-year accrual  →  </a:t>
            </a:r>
            <a:r>
              <a:rPr sz="1250" b="1" i="0">
                <a:solidFill>
                  <a:srgbClr val="E8942E"/>
                </a:solidFill>
                <a:latin typeface="Consolas"/>
              </a:rPr>
              <a:t>legacy 1042.50</a:t>
            </a:r>
            <a:r>
              <a:rPr sz="1250" b="0" i="0">
                <a:solidFill>
                  <a:srgbClr val="8496AF"/>
                </a:solidFill>
                <a:latin typeface="Consolas"/>
              </a:rPr>
              <a:t>   vs   </a:t>
            </a:r>
            <a:r>
              <a:rPr sz="1250" b="1" i="0">
                <a:solidFill>
                  <a:srgbClr val="D9584A"/>
                </a:solidFill>
                <a:latin typeface="Consolas"/>
              </a:rPr>
              <a:t>rewrite 1042.51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C2721A"/>
                </a:solidFill>
                <a:latin typeface="Consolas"/>
              </a:rPr>
              <a:t>HONESTY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13203A"/>
                </a:solidFill>
                <a:latin typeface="Cambria"/>
              </a:rPr>
              <a:t>We report coverage instead of assuming it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1883663"/>
            <a:ext cx="292608" cy="292608"/>
          </a:xfrm>
          <a:prstGeom prst="ellipse">
            <a:avLst/>
          </a:prstGeom>
          <a:solidFill>
            <a:srgbClr val="1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874519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B6B52"/>
                </a:solidFill>
                <a:latin typeface="Cambria"/>
              </a:rPr>
              <a:t>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" y="2295144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45546F"/>
                </a:solidFill>
                <a:latin typeface="Calibri"/>
              </a:rPr>
              <a:t>Confirmed by execution. The corpus exercised this rule and both programs agreed on every case.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474720"/>
            <a:ext cx="292608" cy="292608"/>
          </a:xfrm>
          <a:prstGeom prst="ellipse">
            <a:avLst/>
          </a:prstGeom>
          <a:solidFill>
            <a:srgbClr val="C2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465576"/>
            <a:ext cx="4754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721A"/>
                </a:solidFill>
                <a:latin typeface="Cambria"/>
              </a:rPr>
              <a:t>Unproven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886200"/>
            <a:ext cx="4709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45546F"/>
                </a:solidFill>
                <a:latin typeface="Calibri"/>
              </a:rPr>
              <a:t>Extracted but never exercised. Flagged explicitly rather than silently trusted, so the gap stays visible.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38928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6C7A94"/>
                </a:solidFill>
                <a:latin typeface="Calibri"/>
              </a:rPr>
              <a:t>Every rule carries a pointer to the lines that produce it — an engineer confirms a claim by reading three lines instead of four thousand.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10512"/>
            <a:ext cx="5266944" cy="4224528"/>
          </a:xfrm>
          <a:prstGeom prst="roundRect">
            <a:avLst>
              <a:gd name="adj" fmla="val 5000"/>
            </a:avLst>
          </a:prstGeom>
          <a:solidFill>
            <a:srgbClr val="EF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3203A"/>
                </a:solidFill>
                <a:latin typeface="Calibri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42032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2721A"/>
                </a:solidFill>
                <a:latin typeface="Consolas"/>
              </a:rPr>
              <a:t>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5546F"/>
                </a:solidFill>
                <a:latin typeface="Calibri"/>
              </a:rPr>
              <a:t>COBOL, compiled and run via GnuCOBOL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4553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2721A"/>
                </a:solidFill>
                <a:latin typeface="Consolas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1455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5546F"/>
                </a:solidFill>
                <a:latin typeface="Calibri"/>
              </a:rPr>
              <a:t>Retail banking interest accrual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749039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C2721A"/>
                </a:solidFill>
                <a:latin typeface="Consolas"/>
              </a:rPr>
              <a:t>Program 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749039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5546F"/>
                </a:solidFill>
                <a:latin typeface="Calibri"/>
              </a:rPr>
              <a:t>Pure computation — input in, output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4443984"/>
            <a:ext cx="4572000" cy="10972"/>
          </a:xfrm>
          <a:prstGeom prst="rect">
            <a:avLst/>
          </a:prstGeom>
          <a:solidFill>
            <a:srgbClr val="E4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46817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C7A94"/>
                </a:solidFill>
                <a:latin typeface="Consolas"/>
              </a:rPr>
              <a:t>Explicitly out of scope</a:t>
            </a:r>
          </a:p>
        </p:txBody>
      </p:sp>
      <p:sp>
        <p:nvSpPr>
          <p:cNvPr id="22" name="Oval 21"/>
          <p:cNvSpPr/>
          <p:nvPr/>
        </p:nvSpPr>
        <p:spPr>
          <a:xfrm>
            <a:off x="6675120" y="5102351"/>
            <a:ext cx="73152" cy="73152"/>
          </a:xfrm>
          <a:prstGeom prst="ellipse">
            <a:avLst/>
          </a:prstGeom>
          <a:solidFill>
            <a:srgbClr val="6C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5047488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5546F"/>
                </a:solidFill>
                <a:latin typeface="Calibri"/>
              </a:rPr>
              <a:t>Whole-system migration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5349239"/>
            <a:ext cx="73152" cy="73152"/>
          </a:xfrm>
          <a:prstGeom prst="ellipse">
            <a:avLst/>
          </a:prstGeom>
          <a:solidFill>
            <a:srgbClr val="6C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5294375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5546F"/>
                </a:solidFill>
                <a:latin typeface="Calibri"/>
              </a:rPr>
              <a:t>CICS screens and JCL orchestration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675120" y="5596127"/>
            <a:ext cx="73152" cy="73152"/>
          </a:xfrm>
          <a:prstGeom prst="ellipse">
            <a:avLst/>
          </a:prstGeom>
          <a:solidFill>
            <a:srgbClr val="6C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5541264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5546F"/>
                </a:solidFill>
                <a:latin typeface="Calibri"/>
              </a:rPr>
              <a:t>Database-coupled programs</a:t>
            </a:r>
          </a:p>
        </p:txBody>
      </p:sp>
      <p:sp>
        <p:nvSpPr>
          <p:cNvPr id="28" name="Oval 27"/>
          <p:cNvSpPr/>
          <p:nvPr/>
        </p:nvSpPr>
        <p:spPr>
          <a:xfrm>
            <a:off x="6675120" y="5843016"/>
            <a:ext cx="73152" cy="73152"/>
          </a:xfrm>
          <a:prstGeom prst="ellipse">
            <a:avLst/>
          </a:prstGeom>
          <a:solidFill>
            <a:srgbClr val="6C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578815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5546F"/>
                </a:solidFill>
                <a:latin typeface="Calibri"/>
              </a:rPr>
              <a:t>Non-deterministic logic — clocks, randomness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236208"/>
            <a:ext cx="1087523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6C7A94"/>
                </a:solidFill>
                <a:latin typeface="Calibri"/>
              </a:rPr>
              <a:t>GnuCOBOL is free and runs on a laptop, so both sides execute for real. Narrow scope is a design decision, not a limitation we hope nobody notices.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754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 spc="170">
                <a:solidFill>
                  <a:srgbClr val="E8942E"/>
                </a:solidFill>
                <a:latin typeface="Consola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523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Three artifacts the institution keeps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401568" cy="1664208"/>
          </a:xfrm>
          <a:prstGeom prst="roundRect">
            <a:avLst>
              <a:gd name="adj" fmla="val 6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311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8942E"/>
                </a:solidFill>
                <a:latin typeface="Cambria"/>
              </a:rPr>
              <a:t>A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6148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C6CFDE"/>
                </a:solidFill>
                <a:latin typeface="Calibri"/>
              </a:rPr>
              <a:t>Readable, traceable documentation for a system that never had any.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1" y="1920240"/>
            <a:ext cx="3401568" cy="1664208"/>
          </a:xfrm>
          <a:prstGeom prst="roundRect">
            <a:avLst>
              <a:gd name="adj" fmla="val 6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3" y="22311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8942E"/>
                </a:solidFill>
                <a:latin typeface="Cambria"/>
              </a:rPr>
              <a:t>A regression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18303" y="276148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C6CFDE"/>
                </a:solidFill>
                <a:latin typeface="Calibri"/>
              </a:rPr>
              <a:t>Thousands of input–output pairs, retained permanently.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920240"/>
            <a:ext cx="3401568" cy="1664208"/>
          </a:xfrm>
          <a:prstGeom prst="roundRect">
            <a:avLst>
              <a:gd name="adj" fmla="val 6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231136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8942E"/>
                </a:solidFill>
                <a:latin typeface="Cambria"/>
              </a:rPr>
              <a:t>An equivalence 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761488"/>
            <a:ext cx="27249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C6CFDE"/>
                </a:solidFill>
                <a:latin typeface="Calibri"/>
              </a:rPr>
              <a:t>Evidence-backed, and the thing someone can actually 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24528"/>
            <a:ext cx="1087523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8496AF"/>
                </a:solidFill>
                <a:latin typeface="Calibri"/>
              </a:rPr>
              <a:t>The first two hold their value even if the migration is never approved — the bank ends up with documentation and tests for a system it previously could not touch.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956048"/>
            <a:ext cx="10875233" cy="10972"/>
          </a:xfrm>
          <a:prstGeom prst="rect">
            <a:avLst/>
          </a:prstGeom>
          <a:solidFill>
            <a:srgbClr val="2E40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358384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E8942E"/>
                </a:solidFill>
                <a:latin typeface="Cambria"/>
              </a:rPr>
              <a:t>Everyone else will tell you their AI works.</a:t>
            </a:r>
          </a:p>
          <a:p>
            <a:pPr algn="l">
              <a:lnSpc>
                <a:spcPct val="120000"/>
              </a:lnSpc>
            </a:pPr>
            <a:r>
              <a:rPr sz="2500" b="1" i="0">
                <a:solidFill>
                  <a:srgbClr val="E8942E"/>
                </a:solidFill>
                <a:latin typeface="Cambria"/>
              </a:rPr>
              <a:t>We built the mechanism that catches ours being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Legacy Banking Modernisation Platform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