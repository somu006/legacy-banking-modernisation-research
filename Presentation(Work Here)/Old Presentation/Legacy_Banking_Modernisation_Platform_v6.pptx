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everyone proves the rewrite matches the legacy; we also ask whether the legacy matches the regulator.
Scope: COBOL interest-accrual programs executed via GnuCOBOL. Whole-system migration is out of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1.9 million customer figure often quoted for TSB is press reporting, not the FCA. The regulator says 'a significant proportion of its 5.2 million customers', which is why the slide does not use it.
HDFC is the example that lands with an Indian panel: an IT failure froze the bank's product roadmap for over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quote is verbatim from the paper's abstract, checked word for word. Do not paraphrase it as 'IBM says its product does not work'.
Be generous to the incumbents here. Claiming to have invented differential verification would lose a Cognizant mainframe judge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91.2% against sub-20% pair is the sharpest argument in the deck and it comes from someone else's paper. AgentModernize captured 91.2% of gold-standard rules but its Behavioural Equivalence Rate was 9.4%, 8.1% and 19.4% across three models, with baselines at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from Extract rules back into input generation is the reciprocal loop: extracted rules feed the generator, and the differential run then catches the extraction layer stating rules that are wrong.
The intake gate matters: the tool refuses programs it cannot verify soundly, with a reason, rather than producing a confident wrong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claim in the deck, and it survived a deliberate falsification pass. Verified: Locksmith (arXiv 2607.28271) has no regulatory checks; AgentModernize has none; EvolveWare markets rule extraction for auditors but is static documentation with no execution.
Likely reason nobody built it: a migration product that tells you your current system is non-compliant is selling a problem its customer did not ask about.
Wording discipline: say 'warrants a compliance review', never 'this is a breach'.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the novelty, because our own verification pass narrowed it. Rule-level reporting already exists (AgentModernize's Business Rule Preservation Score, measured against human gold-standard rules). What we could not find anywhere: requiring the boundary to be behaviourally live, flagging rules the evidence contradicts, and injecting faults into the oracle to score corpus adequacy.
If a rule fails check 2, say 'contradicted by the evidence we have', never 'false'. Always show the counterexample.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coverage numbers, not a promise: 'these sixteen we could not confirm, and we are telling you which ones.'
Of the 16 not confirmed, some were never exercised and some were contradicted by the evidence. If asked, that second group is the interesting one: it is where our own extraction layer invented a rule that is not in the program.
If asked about Locksmith: arXiv 2607.28271, 30 July 2026. Same spine, legacy as oracle, both targets off-mainframe, parity gate, 91.90% branch coverage. Verified: no business-rule reporting, no regulatory checks, and its mutations are parity-preserving for path exploration, not fault injection for adequacy.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033"/>
        </a:solidFill>
      </p:bgPr>
    </p:bg>
    <p:spTree>
      <p:nvGrpSpPr>
        <p:cNvPr id="1" name=""/>
        <p:cNvGrpSpPr/>
        <p:nvPr/>
      </p:nvGrpSpPr>
      <p:grpSpPr>
        <a:xfrm>
          <a:off x="0" y="0"/>
          <a:ext cx="0" cy="0"/>
          <a:chOff x="0" y="0"/>
          <a:chExt cx="0" cy="0"/>
        </a:xfrm>
      </p:grpSpPr>
      <p:sp>
        <p:nvSpPr>
          <p:cNvPr id="2" name="Text 0"/>
          <p:cNvSpPr/>
          <p:nvPr/>
        </p:nvSpPr>
        <p:spPr>
          <a:xfrm>
            <a:off x="566928" y="566928"/>
            <a:ext cx="11057839" cy="274320"/>
          </a:xfrm>
          <a:prstGeom prst="rect">
            <a:avLst/>
          </a:prstGeom>
          <a:noFill/>
          <a:ln/>
        </p:spPr>
        <p:txBody>
          <a:bodyPr wrap="square" lIns="0" tIns="0" rIns="0" bIns="0" rtlCol="0" anchor="ctr"/>
          <a:lstStyle/>
          <a:p>
            <a:pPr indent="0" marL="0">
              <a:buNone/>
            </a:pPr>
            <a:r>
              <a:rPr lang="en-US" sz="1100" b="1" spc="240" kern="0" dirty="0">
                <a:solidFill>
                  <a:srgbClr val="6B7785"/>
                </a:solidFill>
                <a:latin typeface="Calibri" pitchFamily="34" charset="0"/>
                <a:ea typeface="Calibri" pitchFamily="34" charset="-122"/>
                <a:cs typeface="Calibri" pitchFamily="34" charset="-120"/>
              </a:rPr>
              <a:t>DIGITAL NURTURE HACKATHON 2026   ·   BANKING AND FINANCE TECHNOLOGY</a:t>
            </a:r>
            <a:endParaRPr lang="en-US" sz="1100" dirty="0"/>
          </a:p>
        </p:txBody>
      </p:sp>
      <p:sp>
        <p:nvSpPr>
          <p:cNvPr id="3" name="Text 1"/>
          <p:cNvSpPr/>
          <p:nvPr/>
        </p:nvSpPr>
        <p:spPr>
          <a:xfrm>
            <a:off x="566928" y="1572768"/>
            <a:ext cx="8595360" cy="841248"/>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Legacy Banking</a:t>
            </a:r>
            <a:endParaRPr lang="en-US" sz="4800" dirty="0"/>
          </a:p>
        </p:txBody>
      </p:sp>
      <p:sp>
        <p:nvSpPr>
          <p:cNvPr id="4" name="Text 2"/>
          <p:cNvSpPr/>
          <p:nvPr/>
        </p:nvSpPr>
        <p:spPr>
          <a:xfrm>
            <a:off x="566928" y="2368296"/>
            <a:ext cx="8595360" cy="841248"/>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Modernisation Platform</a:t>
            </a:r>
            <a:endParaRPr lang="en-US" sz="4800" dirty="0"/>
          </a:p>
        </p:txBody>
      </p:sp>
      <p:sp>
        <p:nvSpPr>
          <p:cNvPr id="5" name="Text 3"/>
          <p:cNvSpPr/>
          <p:nvPr/>
        </p:nvSpPr>
        <p:spPr>
          <a:xfrm>
            <a:off x="566928" y="3328416"/>
            <a:ext cx="8595360" cy="384048"/>
          </a:xfrm>
          <a:prstGeom prst="rect">
            <a:avLst/>
          </a:prstGeom>
          <a:noFill/>
          <a:ln/>
        </p:spPr>
        <p:txBody>
          <a:bodyPr wrap="square" lIns="0" tIns="0" rIns="0" bIns="0" rtlCol="0" anchor="ctr"/>
          <a:lstStyle/>
          <a:p>
            <a:pPr indent="0" marL="0">
              <a:buNone/>
            </a:pPr>
            <a:r>
              <a:rPr lang="en-US" sz="1900" i="1" dirty="0">
                <a:solidFill>
                  <a:srgbClr val="B07A16"/>
                </a:solidFill>
                <a:latin typeface="Calibri" pitchFamily="34" charset="0"/>
                <a:ea typeface="Calibri" pitchFamily="34" charset="-122"/>
                <a:cs typeface="Calibri" pitchFamily="34" charset="-120"/>
              </a:rPr>
              <a:t>Proving the rewrite behaves exactly like the original</a:t>
            </a:r>
            <a:endParaRPr lang="en-US" sz="1900" dirty="0"/>
          </a:p>
        </p:txBody>
      </p:sp>
      <p:sp>
        <p:nvSpPr>
          <p:cNvPr id="6" name="Text 4"/>
          <p:cNvSpPr/>
          <p:nvPr/>
        </p:nvSpPr>
        <p:spPr>
          <a:xfrm>
            <a:off x="566928" y="3877056"/>
            <a:ext cx="8229600" cy="658368"/>
          </a:xfrm>
          <a:prstGeom prst="rect">
            <a:avLst/>
          </a:prstGeom>
          <a:noFill/>
          <a:ln/>
        </p:spPr>
        <p:txBody>
          <a:bodyPr wrap="square" lIns="0" tIns="0" rIns="0" bIns="0" rtlCol="0" anchor="ctr"/>
          <a:lstStyle/>
          <a:p>
            <a:pPr indent="0" marL="0">
              <a:lnSpc>
                <a:spcPts val="2100"/>
              </a:lnSpc>
              <a:buNone/>
            </a:pPr>
            <a:r>
              <a:rPr lang="en-US" sz="1350" dirty="0">
                <a:solidFill>
                  <a:srgbClr val="C3D2DF"/>
                </a:solidFill>
                <a:latin typeface="Calibri" pitchFamily="34" charset="0"/>
                <a:ea typeface="Calibri" pitchFamily="34" charset="-122"/>
                <a:cs typeface="Calibri" pitchFamily="34" charset="-120"/>
              </a:rPr>
              <a:t>Legacy migration fails on verification, not translation. We make behavioural equivalence something a bank can prove, then check that answer against the regulator.</a:t>
            </a:r>
            <a:endParaRPr lang="en-US" sz="1350" dirty="0"/>
          </a:p>
        </p:txBody>
      </p:sp>
      <p:sp>
        <p:nvSpPr>
          <p:cNvPr id="7" name="Shape 5"/>
          <p:cNvSpPr/>
          <p:nvPr/>
        </p:nvSpPr>
        <p:spPr>
          <a:xfrm>
            <a:off x="566928" y="4956048"/>
            <a:ext cx="3840480" cy="0"/>
          </a:xfrm>
          <a:prstGeom prst="line">
            <a:avLst/>
          </a:prstGeom>
          <a:noFill/>
          <a:ln w="19050">
            <a:solidFill>
              <a:srgbClr val="D5DCE3"/>
            </a:solidFill>
            <a:prstDash val="solid"/>
          </a:ln>
        </p:spPr>
      </p:sp>
      <p:sp>
        <p:nvSpPr>
          <p:cNvPr id="8" name="Text 6"/>
          <p:cNvSpPr/>
          <p:nvPr/>
        </p:nvSpPr>
        <p:spPr>
          <a:xfrm>
            <a:off x="566928" y="5102352"/>
            <a:ext cx="566928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Team StudyEdge</a:t>
            </a:r>
            <a:endParaRPr lang="en-US" sz="1600" dirty="0"/>
          </a:p>
        </p:txBody>
      </p:sp>
      <p:sp>
        <p:nvSpPr>
          <p:cNvPr id="9" name="Text 7"/>
          <p:cNvSpPr/>
          <p:nvPr/>
        </p:nvSpPr>
        <p:spPr>
          <a:xfrm>
            <a:off x="566928" y="5413248"/>
            <a:ext cx="6035040" cy="256032"/>
          </a:xfrm>
          <a:prstGeom prst="rect">
            <a:avLst/>
          </a:prstGeom>
          <a:noFill/>
          <a:ln/>
        </p:spPr>
        <p:txBody>
          <a:bodyPr wrap="square" lIns="0" tIns="0" rIns="0" bIns="0" rtlCol="0" anchor="ctr"/>
          <a:lstStyle/>
          <a:p>
            <a:pPr indent="0" marL="0">
              <a:buNone/>
            </a:pPr>
            <a:r>
              <a:rPr lang="en-US" sz="1150" dirty="0">
                <a:solidFill>
                  <a:srgbClr val="C3D2DF"/>
                </a:solidFill>
                <a:latin typeface="Calibri" pitchFamily="34" charset="0"/>
                <a:ea typeface="Calibri" pitchFamily="34" charset="-122"/>
                <a:cs typeface="Calibri" pitchFamily="34" charset="-120"/>
              </a:rPr>
              <a:t>Odisha University of Technology and Research, Bhubaneswar</a:t>
            </a:r>
            <a:endParaRPr lang="en-US" sz="1150" dirty="0"/>
          </a:p>
        </p:txBody>
      </p:sp>
      <p:sp>
        <p:nvSpPr>
          <p:cNvPr id="10" name="Text 8"/>
          <p:cNvSpPr/>
          <p:nvPr/>
        </p:nvSpPr>
        <p:spPr>
          <a:xfrm>
            <a:off x="566928" y="5705856"/>
            <a:ext cx="7863840" cy="256032"/>
          </a:xfrm>
          <a:prstGeom prst="rect">
            <a:avLst/>
          </a:prstGeom>
          <a:noFill/>
          <a:ln/>
        </p:spPr>
        <p:txBody>
          <a:bodyPr wrap="square" lIns="0" tIns="0" rIns="0" bIns="0" rtlCol="0" anchor="ctr"/>
          <a:lstStyle/>
          <a:p>
            <a:pPr indent="0" marL="0">
              <a:buNone/>
            </a:pPr>
            <a:r>
              <a:rPr lang="en-US" sz="1100" dirty="0">
                <a:solidFill>
                  <a:srgbClr val="C3D2DF"/>
                </a:solidFill>
                <a:latin typeface="Calibri" pitchFamily="34" charset="0"/>
                <a:ea typeface="Calibri" pitchFamily="34" charset="-122"/>
                <a:cs typeface="Calibri" pitchFamily="34" charset="-120"/>
              </a:rPr>
              <a:t>Tamanna Panda  ·  Swayam Subhankar Sahoo  ·  Adyasha Das  ·  Soumyajit Sarkar</a:t>
            </a:r>
            <a:endParaRPr lang="en-US" sz="1100" dirty="0"/>
          </a:p>
        </p:txBody>
      </p:sp>
      <p:sp>
        <p:nvSpPr>
          <p:cNvPr id="11" name="Text 9"/>
          <p:cNvSpPr/>
          <p:nvPr/>
        </p:nvSpPr>
        <p:spPr>
          <a:xfrm>
            <a:off x="9400032" y="1700784"/>
            <a:ext cx="2231136" cy="237744"/>
          </a:xfrm>
          <a:prstGeom prst="rect">
            <a:avLst/>
          </a:prstGeom>
          <a:noFill/>
          <a:ln/>
        </p:spPr>
        <p:txBody>
          <a:bodyPr wrap="square" lIns="0" tIns="0" rIns="0" bIns="0" rtlCol="0" anchor="ctr"/>
          <a:lstStyle/>
          <a:p>
            <a:pPr indent="0" marL="0">
              <a:buNone/>
            </a:pPr>
            <a:r>
              <a:rPr lang="en-US" sz="900" b="1" spc="140" kern="0" dirty="0">
                <a:solidFill>
                  <a:srgbClr val="B07A16"/>
                </a:solidFill>
                <a:latin typeface="Calibri" pitchFamily="34" charset="0"/>
                <a:ea typeface="Calibri" pitchFamily="34" charset="-122"/>
                <a:cs typeface="Calibri" pitchFamily="34" charset="-120"/>
              </a:rPr>
              <a:t>THREE REFERENCES, NOT TWO</a:t>
            </a:r>
            <a:endParaRPr lang="en-US" sz="900" dirty="0"/>
          </a:p>
        </p:txBody>
      </p:sp>
      <p:sp>
        <p:nvSpPr>
          <p:cNvPr id="12" name="Shape 10"/>
          <p:cNvSpPr/>
          <p:nvPr/>
        </p:nvSpPr>
        <p:spPr>
          <a:xfrm>
            <a:off x="9400032" y="2011680"/>
            <a:ext cx="2231136" cy="0"/>
          </a:xfrm>
          <a:prstGeom prst="line">
            <a:avLst/>
          </a:prstGeom>
          <a:noFill/>
          <a:ln w="19050">
            <a:solidFill>
              <a:srgbClr val="D5DCE3"/>
            </a:solidFill>
            <a:prstDash val="solid"/>
          </a:ln>
        </p:spPr>
      </p:sp>
      <p:sp>
        <p:nvSpPr>
          <p:cNvPr id="13" name="Text 11"/>
          <p:cNvSpPr/>
          <p:nvPr/>
        </p:nvSpPr>
        <p:spPr>
          <a:xfrm>
            <a:off x="9400032" y="2157984"/>
            <a:ext cx="2231136"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Legacy COBOL</a:t>
            </a:r>
            <a:endParaRPr lang="en-US" sz="1250" dirty="0"/>
          </a:p>
        </p:txBody>
      </p:sp>
      <p:sp>
        <p:nvSpPr>
          <p:cNvPr id="14" name="Text 12"/>
          <p:cNvSpPr/>
          <p:nvPr/>
        </p:nvSpPr>
        <p:spPr>
          <a:xfrm>
            <a:off x="9400032" y="2560320"/>
            <a:ext cx="2231136"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Reimplementation</a:t>
            </a:r>
            <a:endParaRPr lang="en-US" sz="1250" dirty="0"/>
          </a:p>
        </p:txBody>
      </p:sp>
      <p:sp>
        <p:nvSpPr>
          <p:cNvPr id="15" name="Text 13"/>
          <p:cNvSpPr/>
          <p:nvPr/>
        </p:nvSpPr>
        <p:spPr>
          <a:xfrm>
            <a:off x="9400032" y="2962656"/>
            <a:ext cx="2231136" cy="274320"/>
          </a:xfrm>
          <a:prstGeom prst="rect">
            <a:avLst/>
          </a:prstGeom>
          <a:noFill/>
          <a:ln/>
        </p:spPr>
        <p:txBody>
          <a:bodyPr wrap="square" lIns="0" tIns="0" rIns="0" bIns="0" rtlCol="0" anchor="ctr"/>
          <a:lstStyle/>
          <a:p>
            <a:pPr indent="0" marL="0">
              <a:buNone/>
            </a:pPr>
            <a:r>
              <a:rPr lang="en-US" sz="1250" dirty="0">
                <a:solidFill>
                  <a:srgbClr val="B07A16"/>
                </a:solidFill>
                <a:latin typeface="Calibri" pitchFamily="34" charset="0"/>
                <a:ea typeface="Calibri" pitchFamily="34" charset="-122"/>
                <a:cs typeface="Calibri" pitchFamily="34" charset="-120"/>
              </a:rPr>
              <a:t>RBI Master Direction</a:t>
            </a:r>
            <a:endParaRPr lang="en-US" sz="1250" dirty="0"/>
          </a:p>
        </p:txBody>
      </p:sp>
      <p:sp>
        <p:nvSpPr>
          <p:cNvPr id="16" name="Text 14"/>
          <p:cNvSpPr/>
          <p:nvPr/>
        </p:nvSpPr>
        <p:spPr>
          <a:xfrm>
            <a:off x="9400032" y="3474720"/>
            <a:ext cx="2231136" cy="548640"/>
          </a:xfrm>
          <a:prstGeom prst="rect">
            <a:avLst/>
          </a:prstGeom>
          <a:noFill/>
          <a:ln/>
        </p:spPr>
        <p:txBody>
          <a:bodyPr wrap="square" lIns="0" tIns="0" rIns="0" bIns="0" rtlCol="0" anchor="ctr"/>
          <a:lstStyle/>
          <a:p>
            <a:pPr indent="0" marL="0">
              <a:lnSpc>
                <a:spcPts val="1400"/>
              </a:lnSpc>
              <a:buNone/>
            </a:pPr>
            <a:r>
              <a:rPr lang="en-US" sz="1000" i="1" dirty="0">
                <a:solidFill>
                  <a:srgbClr val="C3D2DF"/>
                </a:solidFill>
                <a:latin typeface="Calibri" pitchFamily="34" charset="0"/>
                <a:ea typeface="Calibri" pitchFamily="34" charset="-122"/>
                <a:cs typeface="Calibri" pitchFamily="34" charset="-120"/>
              </a:rPr>
              <a:t>Same input. Three outputs. Every difference explained.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THE SITUATION</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100" b="1" dirty="0">
                <a:solidFill>
                  <a:srgbClr val="16212E"/>
                </a:solidFill>
                <a:latin typeface="Cambria" pitchFamily="34" charset="0"/>
                <a:ea typeface="Cambria" pitchFamily="34" charset="-122"/>
                <a:cs typeface="Cambria" pitchFamily="34" charset="-120"/>
              </a:rPr>
              <a:t>India's banks run on code nobody can safely change</a:t>
            </a:r>
            <a:endParaRPr lang="en-US" sz="3100" dirty="0"/>
          </a:p>
        </p:txBody>
      </p:sp>
      <p:sp>
        <p:nvSpPr>
          <p:cNvPr id="4" name="Shape 2"/>
          <p:cNvSpPr/>
          <p:nvPr/>
        </p:nvSpPr>
        <p:spPr>
          <a:xfrm>
            <a:off x="566928" y="1481328"/>
            <a:ext cx="2670048" cy="1645920"/>
          </a:xfrm>
          <a:prstGeom prst="roundRect">
            <a:avLst>
              <a:gd name="adj" fmla="val 3333"/>
            </a:avLst>
          </a:prstGeom>
          <a:solidFill>
            <a:srgbClr val="EDF1F5"/>
          </a:solidFill>
          <a:ln w="12700">
            <a:solidFill>
              <a:srgbClr val="EDF1F5"/>
            </a:solidFill>
            <a:prstDash val="solid"/>
          </a:ln>
        </p:spPr>
      </p:sp>
      <p:sp>
        <p:nvSpPr>
          <p:cNvPr id="5" name="Text 3"/>
          <p:cNvSpPr/>
          <p:nvPr/>
        </p:nvSpPr>
        <p:spPr>
          <a:xfrm>
            <a:off x="768096" y="1572768"/>
            <a:ext cx="2267712" cy="640080"/>
          </a:xfrm>
          <a:prstGeom prst="rect">
            <a:avLst/>
          </a:prstGeom>
          <a:noFill/>
          <a:ln/>
        </p:spPr>
        <p:txBody>
          <a:bodyPr wrap="square" lIns="0" tIns="0" rIns="0" bIns="0" rtlCol="0" anchor="ctr"/>
          <a:lstStyle/>
          <a:p>
            <a:pPr indent="0" marL="0">
              <a:buNone/>
            </a:pPr>
            <a:r>
              <a:rPr lang="en-US" sz="4000" b="1" dirty="0">
                <a:solidFill>
                  <a:srgbClr val="0E2033"/>
                </a:solidFill>
                <a:latin typeface="Cambria" pitchFamily="34" charset="0"/>
                <a:ea typeface="Cambria" pitchFamily="34" charset="-122"/>
                <a:cs typeface="Cambria" pitchFamily="34" charset="-120"/>
              </a:rPr>
              <a:t>92</a:t>
            </a:r>
            <a:endParaRPr lang="en-US" sz="4000" dirty="0"/>
          </a:p>
        </p:txBody>
      </p:sp>
      <p:sp>
        <p:nvSpPr>
          <p:cNvPr id="6" name="Text 4"/>
          <p:cNvSpPr/>
          <p:nvPr/>
        </p:nvSpPr>
        <p:spPr>
          <a:xfrm>
            <a:off x="768096" y="2212848"/>
            <a:ext cx="2267712" cy="237744"/>
          </a:xfrm>
          <a:prstGeom prst="rect">
            <a:avLst/>
          </a:prstGeom>
          <a:noFill/>
          <a:ln/>
        </p:spPr>
        <p:txBody>
          <a:bodyPr wrap="square" lIns="0" tIns="0" rIns="0" bIns="0" rtlCol="0" anchor="ctr"/>
          <a:lstStyle/>
          <a:p>
            <a:pPr indent="0" marL="0">
              <a:buNone/>
            </a:pPr>
            <a:r>
              <a:rPr lang="en-US" sz="1150" b="1" dirty="0">
                <a:solidFill>
                  <a:srgbClr val="B07A16"/>
                </a:solidFill>
                <a:latin typeface="Calibri" pitchFamily="34" charset="0"/>
                <a:ea typeface="Calibri" pitchFamily="34" charset="-122"/>
                <a:cs typeface="Calibri" pitchFamily="34" charset="-120"/>
              </a:rPr>
              <a:t>of the top 100</a:t>
            </a:r>
            <a:endParaRPr lang="en-US" sz="1150" dirty="0"/>
          </a:p>
        </p:txBody>
      </p:sp>
      <p:sp>
        <p:nvSpPr>
          <p:cNvPr id="7" name="Text 5"/>
          <p:cNvSpPr/>
          <p:nvPr/>
        </p:nvSpPr>
        <p:spPr>
          <a:xfrm>
            <a:off x="768096" y="2468880"/>
            <a:ext cx="2267712" cy="566928"/>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banks worldwide run on</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IBM mainframes</a:t>
            </a:r>
            <a:endParaRPr lang="en-US" sz="1100" dirty="0"/>
          </a:p>
        </p:txBody>
      </p:sp>
      <p:sp>
        <p:nvSpPr>
          <p:cNvPr id="8" name="Shape 6"/>
          <p:cNvSpPr/>
          <p:nvPr/>
        </p:nvSpPr>
        <p:spPr>
          <a:xfrm>
            <a:off x="3374136" y="1481328"/>
            <a:ext cx="2670048" cy="1645920"/>
          </a:xfrm>
          <a:prstGeom prst="roundRect">
            <a:avLst>
              <a:gd name="adj" fmla="val 3333"/>
            </a:avLst>
          </a:prstGeom>
          <a:solidFill>
            <a:srgbClr val="EDF1F5"/>
          </a:solidFill>
          <a:ln w="12700">
            <a:solidFill>
              <a:srgbClr val="EDF1F5"/>
            </a:solidFill>
            <a:prstDash val="solid"/>
          </a:ln>
        </p:spPr>
      </p:sp>
      <p:sp>
        <p:nvSpPr>
          <p:cNvPr id="9" name="Text 7"/>
          <p:cNvSpPr/>
          <p:nvPr/>
        </p:nvSpPr>
        <p:spPr>
          <a:xfrm>
            <a:off x="3575304" y="1572768"/>
            <a:ext cx="2267712" cy="640080"/>
          </a:xfrm>
          <a:prstGeom prst="rect">
            <a:avLst/>
          </a:prstGeom>
          <a:noFill/>
          <a:ln/>
        </p:spPr>
        <p:txBody>
          <a:bodyPr wrap="square" lIns="0" tIns="0" rIns="0" bIns="0" rtlCol="0" anchor="ctr"/>
          <a:lstStyle/>
          <a:p>
            <a:pPr indent="0" marL="0">
              <a:buNone/>
            </a:pPr>
            <a:r>
              <a:rPr lang="en-US" sz="4000" b="1" dirty="0">
                <a:solidFill>
                  <a:srgbClr val="0E2033"/>
                </a:solidFill>
                <a:latin typeface="Cambria" pitchFamily="34" charset="0"/>
                <a:ea typeface="Cambria" pitchFamily="34" charset="-122"/>
                <a:cs typeface="Cambria" pitchFamily="34" charset="-120"/>
              </a:rPr>
              <a:t>40%+</a:t>
            </a:r>
            <a:endParaRPr lang="en-US" sz="4000" dirty="0"/>
          </a:p>
        </p:txBody>
      </p:sp>
      <p:sp>
        <p:nvSpPr>
          <p:cNvPr id="10" name="Text 8"/>
          <p:cNvSpPr/>
          <p:nvPr/>
        </p:nvSpPr>
        <p:spPr>
          <a:xfrm>
            <a:off x="3575304" y="2212848"/>
            <a:ext cx="2267712" cy="237744"/>
          </a:xfrm>
          <a:prstGeom prst="rect">
            <a:avLst/>
          </a:prstGeom>
          <a:noFill/>
          <a:ln/>
        </p:spPr>
        <p:txBody>
          <a:bodyPr wrap="square" lIns="0" tIns="0" rIns="0" bIns="0" rtlCol="0" anchor="ctr"/>
          <a:lstStyle/>
          <a:p>
            <a:pPr indent="0" marL="0">
              <a:buNone/>
            </a:pPr>
            <a:r>
              <a:rPr lang="en-US" sz="1150" b="1" dirty="0">
                <a:solidFill>
                  <a:srgbClr val="B07A16"/>
                </a:solidFill>
                <a:latin typeface="Calibri" pitchFamily="34" charset="0"/>
                <a:ea typeface="Calibri" pitchFamily="34" charset="-122"/>
                <a:cs typeface="Calibri" pitchFamily="34" charset="-120"/>
              </a:rPr>
              <a:t>of banking systems</a:t>
            </a:r>
            <a:endParaRPr lang="en-US" sz="1150" dirty="0"/>
          </a:p>
        </p:txBody>
      </p:sp>
      <p:sp>
        <p:nvSpPr>
          <p:cNvPr id="11" name="Text 9"/>
          <p:cNvSpPr/>
          <p:nvPr/>
        </p:nvSpPr>
        <p:spPr>
          <a:xfrm>
            <a:off x="3575304" y="2468880"/>
            <a:ext cx="2267712" cy="566928"/>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still run COBOL written</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decades ago</a:t>
            </a:r>
            <a:endParaRPr lang="en-US" sz="1100" dirty="0"/>
          </a:p>
        </p:txBody>
      </p:sp>
      <p:sp>
        <p:nvSpPr>
          <p:cNvPr id="12" name="Shape 10"/>
          <p:cNvSpPr/>
          <p:nvPr/>
        </p:nvSpPr>
        <p:spPr>
          <a:xfrm>
            <a:off x="6181344" y="1481328"/>
            <a:ext cx="2670048" cy="1645920"/>
          </a:xfrm>
          <a:prstGeom prst="roundRect">
            <a:avLst>
              <a:gd name="adj" fmla="val 3333"/>
            </a:avLst>
          </a:prstGeom>
          <a:solidFill>
            <a:srgbClr val="EDF1F5"/>
          </a:solidFill>
          <a:ln w="12700">
            <a:solidFill>
              <a:srgbClr val="EDF1F5"/>
            </a:solidFill>
            <a:prstDash val="solid"/>
          </a:ln>
        </p:spPr>
      </p:sp>
      <p:sp>
        <p:nvSpPr>
          <p:cNvPr id="13" name="Text 11"/>
          <p:cNvSpPr/>
          <p:nvPr/>
        </p:nvSpPr>
        <p:spPr>
          <a:xfrm>
            <a:off x="6382512" y="1572768"/>
            <a:ext cx="2267712" cy="640080"/>
          </a:xfrm>
          <a:prstGeom prst="rect">
            <a:avLst/>
          </a:prstGeom>
          <a:noFill/>
          <a:ln/>
        </p:spPr>
        <p:txBody>
          <a:bodyPr wrap="square" lIns="0" tIns="0" rIns="0" bIns="0" rtlCol="0" anchor="ctr"/>
          <a:lstStyle/>
          <a:p>
            <a:pPr indent="0" marL="0">
              <a:buNone/>
            </a:pPr>
            <a:r>
              <a:rPr lang="en-US" sz="4000" b="1" dirty="0">
                <a:solidFill>
                  <a:srgbClr val="0E2033"/>
                </a:solidFill>
                <a:latin typeface="Cambria" pitchFamily="34" charset="0"/>
                <a:ea typeface="Cambria" pitchFamily="34" charset="-122"/>
                <a:cs typeface="Cambria" pitchFamily="34" charset="-120"/>
              </a:rPr>
              <a:t>$1bn</a:t>
            </a:r>
            <a:endParaRPr lang="en-US" sz="4000" dirty="0"/>
          </a:p>
        </p:txBody>
      </p:sp>
      <p:sp>
        <p:nvSpPr>
          <p:cNvPr id="14" name="Text 12"/>
          <p:cNvSpPr/>
          <p:nvPr/>
        </p:nvSpPr>
        <p:spPr>
          <a:xfrm>
            <a:off x="6382512" y="2212848"/>
            <a:ext cx="2267712" cy="237744"/>
          </a:xfrm>
          <a:prstGeom prst="rect">
            <a:avLst/>
          </a:prstGeom>
          <a:noFill/>
          <a:ln/>
        </p:spPr>
        <p:txBody>
          <a:bodyPr wrap="square" lIns="0" tIns="0" rIns="0" bIns="0" rtlCol="0" anchor="ctr"/>
          <a:lstStyle/>
          <a:p>
            <a:pPr indent="0" marL="0">
              <a:buNone/>
            </a:pPr>
            <a:r>
              <a:rPr lang="en-US" sz="1150" b="1" dirty="0">
                <a:solidFill>
                  <a:srgbClr val="B07A16"/>
                </a:solidFill>
                <a:latin typeface="Calibri" pitchFamily="34" charset="0"/>
                <a:ea typeface="Calibri" pitchFamily="34" charset="-122"/>
                <a:cs typeface="Calibri" pitchFamily="34" charset="-120"/>
              </a:rPr>
              <a:t>over 5–10 years</a:t>
            </a:r>
            <a:endParaRPr lang="en-US" sz="1150" dirty="0"/>
          </a:p>
        </p:txBody>
      </p:sp>
      <p:sp>
        <p:nvSpPr>
          <p:cNvPr id="15" name="Text 13"/>
          <p:cNvSpPr/>
          <p:nvPr/>
        </p:nvSpPr>
        <p:spPr>
          <a:xfrm>
            <a:off x="6382512" y="2468880"/>
            <a:ext cx="2267712" cy="566928"/>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to upgrade Indian core</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banking systems (BCG)</a:t>
            </a:r>
            <a:endParaRPr lang="en-US" sz="1100" dirty="0"/>
          </a:p>
        </p:txBody>
      </p:sp>
      <p:sp>
        <p:nvSpPr>
          <p:cNvPr id="16" name="Shape 14"/>
          <p:cNvSpPr/>
          <p:nvPr/>
        </p:nvSpPr>
        <p:spPr>
          <a:xfrm>
            <a:off x="8988552" y="1481328"/>
            <a:ext cx="2670048" cy="1645920"/>
          </a:xfrm>
          <a:prstGeom prst="roundRect">
            <a:avLst>
              <a:gd name="adj" fmla="val 3333"/>
            </a:avLst>
          </a:prstGeom>
          <a:solidFill>
            <a:srgbClr val="EDF1F5"/>
          </a:solidFill>
          <a:ln w="12700">
            <a:solidFill>
              <a:srgbClr val="EDF1F5"/>
            </a:solidFill>
            <a:prstDash val="solid"/>
          </a:ln>
        </p:spPr>
      </p:sp>
      <p:sp>
        <p:nvSpPr>
          <p:cNvPr id="17" name="Text 15"/>
          <p:cNvSpPr/>
          <p:nvPr/>
        </p:nvSpPr>
        <p:spPr>
          <a:xfrm>
            <a:off x="9189720" y="1572768"/>
            <a:ext cx="2267712" cy="640080"/>
          </a:xfrm>
          <a:prstGeom prst="rect">
            <a:avLst/>
          </a:prstGeom>
          <a:noFill/>
          <a:ln/>
        </p:spPr>
        <p:txBody>
          <a:bodyPr wrap="square" lIns="0" tIns="0" rIns="0" bIns="0" rtlCol="0" anchor="ctr"/>
          <a:lstStyle/>
          <a:p>
            <a:pPr indent="0" marL="0">
              <a:buNone/>
            </a:pPr>
            <a:r>
              <a:rPr lang="en-US" sz="4000" b="1" dirty="0">
                <a:solidFill>
                  <a:srgbClr val="0E2033"/>
                </a:solidFill>
                <a:latin typeface="Cambria" pitchFamily="34" charset="0"/>
                <a:ea typeface="Cambria" pitchFamily="34" charset="-122"/>
                <a:cs typeface="Cambria" pitchFamily="34" charset="-120"/>
              </a:rPr>
              <a:t>0</a:t>
            </a:r>
            <a:endParaRPr lang="en-US" sz="4000" dirty="0"/>
          </a:p>
        </p:txBody>
      </p:sp>
      <p:sp>
        <p:nvSpPr>
          <p:cNvPr id="18" name="Text 16"/>
          <p:cNvSpPr/>
          <p:nvPr/>
        </p:nvSpPr>
        <p:spPr>
          <a:xfrm>
            <a:off x="9189720" y="2212848"/>
            <a:ext cx="2267712" cy="237744"/>
          </a:xfrm>
          <a:prstGeom prst="rect">
            <a:avLst/>
          </a:prstGeom>
          <a:noFill/>
          <a:ln/>
        </p:spPr>
        <p:txBody>
          <a:bodyPr wrap="square" lIns="0" tIns="0" rIns="0" bIns="0" rtlCol="0" anchor="ctr"/>
          <a:lstStyle/>
          <a:p>
            <a:pPr indent="0" marL="0">
              <a:buNone/>
            </a:pPr>
            <a:r>
              <a:rPr lang="en-US" sz="1150" b="1" dirty="0">
                <a:solidFill>
                  <a:srgbClr val="B07A16"/>
                </a:solidFill>
                <a:latin typeface="Calibri" pitchFamily="34" charset="0"/>
                <a:ea typeface="Calibri" pitchFamily="34" charset="-122"/>
                <a:cs typeface="Calibri" pitchFamily="34" charset="-120"/>
              </a:rPr>
              <a:t>specifications</a:t>
            </a:r>
            <a:endParaRPr lang="en-US" sz="1150" dirty="0"/>
          </a:p>
        </p:txBody>
      </p:sp>
      <p:sp>
        <p:nvSpPr>
          <p:cNvPr id="19" name="Text 17"/>
          <p:cNvSpPr/>
          <p:nvPr/>
        </p:nvSpPr>
        <p:spPr>
          <a:xfrm>
            <a:off x="9189720" y="2468880"/>
            <a:ext cx="2267712" cy="566928"/>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state what those</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programs should do</a:t>
            </a:r>
            <a:endParaRPr lang="en-US" sz="1100" dirty="0"/>
          </a:p>
        </p:txBody>
      </p:sp>
      <p:sp>
        <p:nvSpPr>
          <p:cNvPr id="20" name="Text 18"/>
          <p:cNvSpPr/>
          <p:nvPr/>
        </p:nvSpPr>
        <p:spPr>
          <a:xfrm>
            <a:off x="566928" y="3310128"/>
            <a:ext cx="11057839" cy="310896"/>
          </a:xfrm>
          <a:prstGeom prst="rect">
            <a:avLst/>
          </a:prstGeom>
          <a:noFill/>
          <a:ln/>
        </p:spPr>
        <p:txBody>
          <a:bodyPr wrap="square" lIns="0" tIns="0" rIns="0" bIns="0" rtlCol="0" anchor="ctr"/>
          <a:lstStyle/>
          <a:p>
            <a:pPr indent="0" marL="0">
              <a:buNone/>
            </a:pPr>
            <a:r>
              <a:rPr lang="en-US" sz="1800" b="1" dirty="0">
                <a:solidFill>
                  <a:srgbClr val="16212E"/>
                </a:solidFill>
                <a:latin typeface="Cambria" pitchFamily="34" charset="0"/>
                <a:ea typeface="Cambria" pitchFamily="34" charset="-122"/>
                <a:cs typeface="Cambria" pitchFamily="34" charset="-120"/>
              </a:rPr>
              <a:t>When a bank guesses wrong, it is a supervisory event, not a bug report</a:t>
            </a:r>
            <a:endParaRPr lang="en-US" sz="1800" dirty="0"/>
          </a:p>
        </p:txBody>
      </p:sp>
      <p:sp>
        <p:nvSpPr>
          <p:cNvPr id="21" name="Shape 19"/>
          <p:cNvSpPr/>
          <p:nvPr/>
        </p:nvSpPr>
        <p:spPr>
          <a:xfrm>
            <a:off x="566928" y="3694176"/>
            <a:ext cx="5614416" cy="1481328"/>
          </a:xfrm>
          <a:prstGeom prst="roundRect">
            <a:avLst>
              <a:gd name="adj" fmla="val 3704"/>
            </a:avLst>
          </a:prstGeom>
          <a:solidFill>
            <a:srgbClr val="EDF1F5"/>
          </a:solidFill>
          <a:ln w="12700">
            <a:solidFill>
              <a:srgbClr val="EDF1F5"/>
            </a:solidFill>
            <a:prstDash val="solid"/>
          </a:ln>
        </p:spPr>
      </p:sp>
      <p:sp>
        <p:nvSpPr>
          <p:cNvPr id="22" name="Text 20"/>
          <p:cNvSpPr/>
          <p:nvPr/>
        </p:nvSpPr>
        <p:spPr>
          <a:xfrm>
            <a:off x="804672" y="3840480"/>
            <a:ext cx="5138928" cy="274320"/>
          </a:xfrm>
          <a:prstGeom prst="rect">
            <a:avLst/>
          </a:prstGeom>
          <a:noFill/>
          <a:ln/>
        </p:spPr>
        <p:txBody>
          <a:bodyPr wrap="square" lIns="0" tIns="0" rIns="0" bIns="0" rtlCol="0" anchor="ctr"/>
          <a:lstStyle/>
          <a:p>
            <a:pPr indent="0" marL="0">
              <a:buNone/>
            </a:pPr>
            <a:r>
              <a:rPr lang="en-US" sz="1350" b="1" dirty="0">
                <a:solidFill>
                  <a:srgbClr val="0E2033"/>
                </a:solidFill>
                <a:latin typeface="Calibri" pitchFamily="34" charset="0"/>
                <a:ea typeface="Calibri" pitchFamily="34" charset="-122"/>
                <a:cs typeface="Calibri" pitchFamily="34" charset="-120"/>
              </a:rPr>
              <a:t>TSB, United Kingdom — 2018</a:t>
            </a:r>
            <a:endParaRPr lang="en-US" sz="1350" dirty="0"/>
          </a:p>
        </p:txBody>
      </p:sp>
      <p:sp>
        <p:nvSpPr>
          <p:cNvPr id="23" name="Text 21"/>
          <p:cNvSpPr/>
          <p:nvPr/>
        </p:nvSpPr>
        <p:spPr>
          <a:xfrm>
            <a:off x="804672" y="4133088"/>
            <a:ext cx="5138928" cy="950976"/>
          </a:xfrm>
          <a:prstGeom prst="rect">
            <a:avLst/>
          </a:prstGeom>
          <a:noFill/>
          <a:ln/>
        </p:spPr>
        <p:txBody>
          <a:bodyPr wrap="square" lIns="0" tIns="0" rIns="0" bIns="0" rtlCol="0" anchor="ctr"/>
          <a:lstStyle/>
          <a:p>
            <a:pPr indent="0" marL="0">
              <a:lnSpc>
                <a:spcPts val="1600"/>
              </a:lnSpc>
              <a:buNone/>
            </a:pPr>
            <a:r>
              <a:rPr lang="en-US" sz="1150" dirty="0">
                <a:solidFill>
                  <a:srgbClr val="16212E"/>
                </a:solidFill>
                <a:latin typeface="Calibri" pitchFamily="34" charset="0"/>
                <a:ea typeface="Calibri" pitchFamily="34" charset="-122"/>
                <a:cs typeface="Calibri" pitchFamily="34" charset="-120"/>
              </a:rPr>
              <a:t>A core migration failed at cutover. The FCA and PRA fined TSB £48.65m for operational risk and governance failings, and £32.7m went in customer redress. Business as usual took eight months to return.</a:t>
            </a:r>
            <a:endParaRPr lang="en-US" sz="1150" dirty="0"/>
          </a:p>
        </p:txBody>
      </p:sp>
      <p:sp>
        <p:nvSpPr>
          <p:cNvPr id="24" name="Shape 22"/>
          <p:cNvSpPr/>
          <p:nvPr/>
        </p:nvSpPr>
        <p:spPr>
          <a:xfrm>
            <a:off x="6345936" y="3694176"/>
            <a:ext cx="5614416" cy="1481328"/>
          </a:xfrm>
          <a:prstGeom prst="roundRect">
            <a:avLst>
              <a:gd name="adj" fmla="val 3704"/>
            </a:avLst>
          </a:prstGeom>
          <a:solidFill>
            <a:srgbClr val="EDF1F5"/>
          </a:solidFill>
          <a:ln w="12700">
            <a:solidFill>
              <a:srgbClr val="EDF1F5"/>
            </a:solidFill>
            <a:prstDash val="solid"/>
          </a:ln>
        </p:spPr>
      </p:sp>
      <p:sp>
        <p:nvSpPr>
          <p:cNvPr id="25" name="Text 23"/>
          <p:cNvSpPr/>
          <p:nvPr/>
        </p:nvSpPr>
        <p:spPr>
          <a:xfrm>
            <a:off x="6583680" y="3840480"/>
            <a:ext cx="5138928" cy="274320"/>
          </a:xfrm>
          <a:prstGeom prst="rect">
            <a:avLst/>
          </a:prstGeom>
          <a:noFill/>
          <a:ln/>
        </p:spPr>
        <p:txBody>
          <a:bodyPr wrap="square" lIns="0" tIns="0" rIns="0" bIns="0" rtlCol="0" anchor="ctr"/>
          <a:lstStyle/>
          <a:p>
            <a:pPr indent="0" marL="0">
              <a:buNone/>
            </a:pPr>
            <a:r>
              <a:rPr lang="en-US" sz="1350" b="1" dirty="0">
                <a:solidFill>
                  <a:srgbClr val="0E2033"/>
                </a:solidFill>
                <a:latin typeface="Calibri" pitchFamily="34" charset="0"/>
                <a:ea typeface="Calibri" pitchFamily="34" charset="-122"/>
                <a:cs typeface="Calibri" pitchFamily="34" charset="-120"/>
              </a:rPr>
              <a:t>HDFC Bank, India — 2020</a:t>
            </a:r>
            <a:endParaRPr lang="en-US" sz="1350" dirty="0"/>
          </a:p>
        </p:txBody>
      </p:sp>
      <p:sp>
        <p:nvSpPr>
          <p:cNvPr id="26" name="Text 24"/>
          <p:cNvSpPr/>
          <p:nvPr/>
        </p:nvSpPr>
        <p:spPr>
          <a:xfrm>
            <a:off x="6583680" y="4133088"/>
            <a:ext cx="5138928" cy="950976"/>
          </a:xfrm>
          <a:prstGeom prst="rect">
            <a:avLst/>
          </a:prstGeom>
          <a:noFill/>
          <a:ln/>
        </p:spPr>
        <p:txBody>
          <a:bodyPr wrap="square" lIns="0" tIns="0" rIns="0" bIns="0" rtlCol="0" anchor="ctr"/>
          <a:lstStyle/>
          <a:p>
            <a:pPr indent="0" marL="0">
              <a:lnSpc>
                <a:spcPts val="1600"/>
              </a:lnSpc>
              <a:buNone/>
            </a:pPr>
            <a:r>
              <a:rPr lang="en-US" sz="1150" dirty="0">
                <a:solidFill>
                  <a:srgbClr val="16212E"/>
                </a:solidFill>
                <a:latin typeface="Calibri" pitchFamily="34" charset="0"/>
                <a:ea typeface="Calibri" pitchFamily="34" charset="-122"/>
                <a:cs typeface="Calibri" pitchFamily="34" charset="-120"/>
              </a:rPr>
              <a:t>After repeated outages the RBI halted every Digital 2.0 launch and froze new credit-card issuance. The card freeze lifted only in August 2021; the digital freeze ran into 2022.</a:t>
            </a:r>
            <a:endParaRPr lang="en-US" sz="1150" dirty="0"/>
          </a:p>
        </p:txBody>
      </p:sp>
      <p:sp>
        <p:nvSpPr>
          <p:cNvPr id="27" name="Text 25"/>
          <p:cNvSpPr/>
          <p:nvPr/>
        </p:nvSpPr>
        <p:spPr>
          <a:xfrm>
            <a:off x="566928" y="5358384"/>
            <a:ext cx="11057839" cy="548640"/>
          </a:xfrm>
          <a:prstGeom prst="rect">
            <a:avLst/>
          </a:prstGeom>
          <a:noFill/>
          <a:ln/>
        </p:spPr>
        <p:txBody>
          <a:bodyPr wrap="square" lIns="0" tIns="0" rIns="0" bIns="0" rtlCol="0" anchor="ctr"/>
          <a:lstStyle/>
          <a:p>
            <a:pPr indent="0" marL="0">
              <a:lnSpc>
                <a:spcPts val="1800"/>
              </a:lnSpc>
              <a:buNone/>
            </a:pPr>
            <a:r>
              <a:rPr lang="en-US" sz="1300" i="1" dirty="0">
                <a:solidFill>
                  <a:srgbClr val="0E2033"/>
                </a:solidFill>
                <a:latin typeface="Calibri" pitchFamily="34" charset="0"/>
                <a:ea typeface="Calibri" pitchFamily="34" charset="-122"/>
                <a:cs typeface="Calibri" pitchFamily="34" charset="-120"/>
              </a:rPr>
              <a:t>A one-paisa divergence across millions of accounts is a reportable regulatory event. Refusing to touch the system is the correct decision under the bank's own risk framework, and that is why the backlog is measured in decades.</a:t>
            </a:r>
            <a:endParaRPr lang="en-US" sz="1300" dirty="0"/>
          </a:p>
        </p:txBody>
      </p:sp>
      <p:sp>
        <p:nvSpPr>
          <p:cNvPr id="28" name="Text 26"/>
          <p:cNvSpPr/>
          <p:nvPr/>
        </p:nvSpPr>
        <p:spPr>
          <a:xfrm>
            <a:off x="566928" y="6327648"/>
            <a:ext cx="11057839" cy="292608"/>
          </a:xfrm>
          <a:prstGeom prst="rect">
            <a:avLst/>
          </a:prstGeom>
          <a:noFill/>
          <a:ln/>
        </p:spPr>
        <p:txBody>
          <a:bodyPr wrap="square" lIns="0" tIns="0" rIns="0" bIns="0" rtlCol="0" anchor="ctr"/>
          <a:lstStyle/>
          <a:p>
            <a:pPr indent="0" marL="0">
              <a:lnSpc>
                <a:spcPts val="1200"/>
              </a:lnSpc>
              <a:buNone/>
            </a:pPr>
            <a:r>
              <a:rPr lang="en-US" sz="950" i="1" dirty="0">
                <a:solidFill>
                  <a:srgbClr val="6B7785"/>
                </a:solidFill>
                <a:latin typeface="Calibri" pitchFamily="34" charset="0"/>
                <a:ea typeface="Calibri" pitchFamily="34" charset="-122"/>
                <a:cs typeface="Calibri" pitchFamily="34" charset="-120"/>
              </a:rPr>
              <a:t>Sources: FCA press release, Dec 2022 · BCG, Cloud-based Core Transformations, Aug 2024 · RBI supervisory action, Dec 2020.</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THE MISDIAGNOSIS</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100" b="1" dirty="0">
                <a:solidFill>
                  <a:srgbClr val="16212E"/>
                </a:solidFill>
                <a:latin typeface="Cambria" pitchFamily="34" charset="0"/>
                <a:ea typeface="Cambria" pitchFamily="34" charset="-122"/>
                <a:cs typeface="Cambria" pitchFamily="34" charset="-120"/>
              </a:rPr>
              <a:t>Translation is solved. Proof is not.</a:t>
            </a:r>
            <a:endParaRPr lang="en-US" sz="3100" dirty="0"/>
          </a:p>
        </p:txBody>
      </p:sp>
      <p:sp>
        <p:nvSpPr>
          <p:cNvPr id="4" name="Shape 2"/>
          <p:cNvSpPr/>
          <p:nvPr/>
        </p:nvSpPr>
        <p:spPr>
          <a:xfrm>
            <a:off x="566928" y="1700784"/>
            <a:ext cx="2286000" cy="1097280"/>
          </a:xfrm>
          <a:prstGeom prst="roundRect">
            <a:avLst>
              <a:gd name="adj" fmla="val 5000"/>
            </a:avLst>
          </a:prstGeom>
          <a:solidFill>
            <a:srgbClr val="EDF1F5"/>
          </a:solidFill>
          <a:ln w="12700">
            <a:solidFill>
              <a:srgbClr val="EDF1F5"/>
            </a:solidFill>
            <a:prstDash val="solid"/>
          </a:ln>
        </p:spPr>
      </p:sp>
      <p:sp>
        <p:nvSpPr>
          <p:cNvPr id="5" name="Text 3"/>
          <p:cNvSpPr/>
          <p:nvPr/>
        </p:nvSpPr>
        <p:spPr>
          <a:xfrm>
            <a:off x="566928" y="1847088"/>
            <a:ext cx="2286000" cy="310896"/>
          </a:xfrm>
          <a:prstGeom prst="rect">
            <a:avLst/>
          </a:prstGeom>
          <a:noFill/>
          <a:ln/>
        </p:spPr>
        <p:txBody>
          <a:bodyPr wrap="square" lIns="0" tIns="0" rIns="0" bIns="0" rtlCol="0" anchor="ctr"/>
          <a:lstStyle/>
          <a:p>
            <a:pPr algn="ctr" indent="0" marL="0">
              <a:buNone/>
            </a:pPr>
            <a:r>
              <a:rPr lang="en-US" sz="1600" b="1" dirty="0">
                <a:solidFill>
                  <a:srgbClr val="16212E"/>
                </a:solidFill>
                <a:latin typeface="Cambria" pitchFamily="34" charset="0"/>
                <a:ea typeface="Cambria" pitchFamily="34" charset="-122"/>
                <a:cs typeface="Cambria" pitchFamily="34" charset="-120"/>
              </a:rPr>
              <a:t>COBOL source</a:t>
            </a:r>
            <a:endParaRPr lang="en-US" sz="1600" dirty="0"/>
          </a:p>
        </p:txBody>
      </p:sp>
      <p:sp>
        <p:nvSpPr>
          <p:cNvPr id="6" name="Text 4"/>
          <p:cNvSpPr/>
          <p:nvPr/>
        </p:nvSpPr>
        <p:spPr>
          <a:xfrm>
            <a:off x="676656" y="2212848"/>
            <a:ext cx="2066544" cy="512064"/>
          </a:xfrm>
          <a:prstGeom prst="rect">
            <a:avLst/>
          </a:prstGeom>
          <a:noFill/>
          <a:ln/>
        </p:spPr>
        <p:txBody>
          <a:bodyPr wrap="square" lIns="0" tIns="0" rIns="0" bIns="0" rtlCol="0" anchor="ctr"/>
          <a:lstStyle/>
          <a:p>
            <a:pPr algn="ctr" indent="0" marL="0">
              <a:lnSpc>
                <a:spcPts val="1400"/>
              </a:lnSpc>
              <a:buNone/>
            </a:pPr>
            <a:r>
              <a:rPr lang="en-US" sz="1050" dirty="0">
                <a:solidFill>
                  <a:srgbClr val="6B7785"/>
                </a:solidFill>
                <a:latin typeface="Calibri" pitchFamily="34" charset="0"/>
                <a:ea typeface="Calibri" pitchFamily="34" charset="-122"/>
                <a:cs typeface="Calibri" pitchFamily="34" charset="-120"/>
              </a:rPr>
              <a:t>4,000 lines · 1987</a:t>
            </a:r>
            <a:endParaRPr lang="en-US" sz="1050" dirty="0"/>
          </a:p>
          <a:p>
            <a:pPr algn="ctr" indent="0" marL="0">
              <a:lnSpc>
                <a:spcPts val="1400"/>
              </a:lnSpc>
              <a:buNone/>
            </a:pPr>
            <a:r>
              <a:rPr lang="en-US" sz="1050" dirty="0">
                <a:solidFill>
                  <a:srgbClr val="6B7785"/>
                </a:solidFill>
                <a:latin typeface="Calibri" pitchFamily="34" charset="0"/>
                <a:ea typeface="Calibri" pitchFamily="34" charset="-122"/>
                <a:cs typeface="Calibri" pitchFamily="34" charset="-120"/>
              </a:rPr>
              <a:t>~200 undocumented edits</a:t>
            </a:r>
            <a:endParaRPr lang="en-US" sz="1050" dirty="0"/>
          </a:p>
        </p:txBody>
      </p:sp>
      <p:sp>
        <p:nvSpPr>
          <p:cNvPr id="7" name="Shape 5"/>
          <p:cNvSpPr/>
          <p:nvPr/>
        </p:nvSpPr>
        <p:spPr>
          <a:xfrm>
            <a:off x="2980944" y="2130552"/>
            <a:ext cx="310896" cy="237744"/>
          </a:xfrm>
          <a:prstGeom prst="rightArrow">
            <a:avLst/>
          </a:prstGeom>
          <a:solidFill>
            <a:srgbClr val="D5DCE3"/>
          </a:solidFill>
          <a:ln w="12700">
            <a:solidFill>
              <a:srgbClr val="D5DCE3"/>
            </a:solidFill>
            <a:prstDash val="solid"/>
          </a:ln>
        </p:spPr>
      </p:sp>
      <p:sp>
        <p:nvSpPr>
          <p:cNvPr id="8" name="Shape 6"/>
          <p:cNvSpPr/>
          <p:nvPr/>
        </p:nvSpPr>
        <p:spPr>
          <a:xfrm>
            <a:off x="3401568" y="1700784"/>
            <a:ext cx="2468880" cy="1097280"/>
          </a:xfrm>
          <a:prstGeom prst="roundRect">
            <a:avLst>
              <a:gd name="adj" fmla="val 5000"/>
            </a:avLst>
          </a:prstGeom>
          <a:solidFill>
            <a:srgbClr val="EDF1F5"/>
          </a:solidFill>
          <a:ln w="12700">
            <a:solidFill>
              <a:srgbClr val="EDF1F5"/>
            </a:solidFill>
            <a:prstDash val="solid"/>
          </a:ln>
        </p:spPr>
      </p:sp>
      <p:sp>
        <p:nvSpPr>
          <p:cNvPr id="9" name="Text 7"/>
          <p:cNvSpPr/>
          <p:nvPr/>
        </p:nvSpPr>
        <p:spPr>
          <a:xfrm>
            <a:off x="3401568" y="1847088"/>
            <a:ext cx="2468880" cy="310896"/>
          </a:xfrm>
          <a:prstGeom prst="rect">
            <a:avLst/>
          </a:prstGeom>
          <a:noFill/>
          <a:ln/>
        </p:spPr>
        <p:txBody>
          <a:bodyPr wrap="square" lIns="0" tIns="0" rIns="0" bIns="0" rtlCol="0" anchor="ctr"/>
          <a:lstStyle/>
          <a:p>
            <a:pPr algn="ctr" indent="0" marL="0">
              <a:buNone/>
            </a:pPr>
            <a:r>
              <a:rPr lang="en-US" sz="1600" b="1" dirty="0">
                <a:solidFill>
                  <a:srgbClr val="B07A16"/>
                </a:solidFill>
                <a:latin typeface="Cambria" pitchFamily="34" charset="0"/>
                <a:ea typeface="Cambria" pitchFamily="34" charset="-122"/>
                <a:cs typeface="Cambria" pitchFamily="34" charset="-120"/>
              </a:rPr>
              <a:t>Translate</a:t>
            </a:r>
            <a:endParaRPr lang="en-US" sz="1600" dirty="0"/>
          </a:p>
        </p:txBody>
      </p:sp>
      <p:sp>
        <p:nvSpPr>
          <p:cNvPr id="10" name="Text 8"/>
          <p:cNvSpPr/>
          <p:nvPr/>
        </p:nvSpPr>
        <p:spPr>
          <a:xfrm>
            <a:off x="3511296" y="2212848"/>
            <a:ext cx="2249424" cy="512064"/>
          </a:xfrm>
          <a:prstGeom prst="rect">
            <a:avLst/>
          </a:prstGeom>
          <a:noFill/>
          <a:ln/>
        </p:spPr>
        <p:txBody>
          <a:bodyPr wrap="square" lIns="0" tIns="0" rIns="0" bIns="0" rtlCol="0" anchor="ctr"/>
          <a:lstStyle/>
          <a:p>
            <a:pPr algn="ctr" indent="0" marL="0">
              <a:lnSpc>
                <a:spcPts val="1400"/>
              </a:lnSpc>
              <a:buNone/>
            </a:pPr>
            <a:r>
              <a:rPr lang="en-US" sz="1050" dirty="0">
                <a:solidFill>
                  <a:srgbClr val="6B7785"/>
                </a:solidFill>
                <a:latin typeface="Calibri" pitchFamily="34" charset="0"/>
                <a:ea typeface="Calibri" pitchFamily="34" charset="-122"/>
                <a:cs typeface="Calibri" pitchFamily="34" charset="-120"/>
              </a:rPr>
              <a:t>transpilers · LLMs</a:t>
            </a:r>
            <a:endParaRPr lang="en-US" sz="1050" dirty="0"/>
          </a:p>
          <a:p>
            <a:pPr algn="ctr" indent="0" marL="0">
              <a:lnSpc>
                <a:spcPts val="1400"/>
              </a:lnSpc>
              <a:buNone/>
            </a:pPr>
            <a:r>
              <a:rPr lang="en-US" sz="1050" dirty="0">
                <a:solidFill>
                  <a:srgbClr val="6B7785"/>
                </a:solidFill>
                <a:latin typeface="Calibri" pitchFamily="34" charset="0"/>
                <a:ea typeface="Calibri" pitchFamily="34" charset="-122"/>
                <a:cs typeface="Calibri" pitchFamily="34" charset="-120"/>
              </a:rPr>
              <a:t>AWS · IBM · TCS ship this</a:t>
            </a:r>
            <a:endParaRPr lang="en-US" sz="1050" dirty="0"/>
          </a:p>
        </p:txBody>
      </p:sp>
      <p:sp>
        <p:nvSpPr>
          <p:cNvPr id="11" name="Shape 9"/>
          <p:cNvSpPr/>
          <p:nvPr/>
        </p:nvSpPr>
        <p:spPr>
          <a:xfrm>
            <a:off x="6035040" y="2130552"/>
            <a:ext cx="310896" cy="237744"/>
          </a:xfrm>
          <a:prstGeom prst="rightArrow">
            <a:avLst/>
          </a:prstGeom>
          <a:solidFill>
            <a:srgbClr val="D5DCE3"/>
          </a:solidFill>
          <a:ln w="12700">
            <a:solidFill>
              <a:srgbClr val="D5DCE3"/>
            </a:solidFill>
            <a:prstDash val="solid"/>
          </a:ln>
        </p:spPr>
      </p:sp>
      <p:sp>
        <p:nvSpPr>
          <p:cNvPr id="12" name="Shape 10"/>
          <p:cNvSpPr/>
          <p:nvPr/>
        </p:nvSpPr>
        <p:spPr>
          <a:xfrm>
            <a:off x="6455664" y="1700784"/>
            <a:ext cx="2286000" cy="1097280"/>
          </a:xfrm>
          <a:prstGeom prst="roundRect">
            <a:avLst>
              <a:gd name="adj" fmla="val 5000"/>
            </a:avLst>
          </a:prstGeom>
          <a:solidFill>
            <a:srgbClr val="EDF1F5"/>
          </a:solidFill>
          <a:ln w="12700">
            <a:solidFill>
              <a:srgbClr val="EDF1F5"/>
            </a:solidFill>
            <a:prstDash val="solid"/>
          </a:ln>
        </p:spPr>
      </p:sp>
      <p:sp>
        <p:nvSpPr>
          <p:cNvPr id="13" name="Text 11"/>
          <p:cNvSpPr/>
          <p:nvPr/>
        </p:nvSpPr>
        <p:spPr>
          <a:xfrm>
            <a:off x="6455664" y="1847088"/>
            <a:ext cx="2286000" cy="310896"/>
          </a:xfrm>
          <a:prstGeom prst="rect">
            <a:avLst/>
          </a:prstGeom>
          <a:noFill/>
          <a:ln/>
        </p:spPr>
        <p:txBody>
          <a:bodyPr wrap="square" lIns="0" tIns="0" rIns="0" bIns="0" rtlCol="0" anchor="ctr"/>
          <a:lstStyle/>
          <a:p>
            <a:pPr algn="ctr" indent="0" marL="0">
              <a:buNone/>
            </a:pPr>
            <a:r>
              <a:rPr lang="en-US" sz="1600" b="1" dirty="0">
                <a:solidFill>
                  <a:srgbClr val="16212E"/>
                </a:solidFill>
                <a:latin typeface="Cambria" pitchFamily="34" charset="0"/>
                <a:ea typeface="Cambria" pitchFamily="34" charset="-122"/>
                <a:cs typeface="Cambria" pitchFamily="34" charset="-120"/>
              </a:rPr>
              <a:t>Modern Java</a:t>
            </a:r>
            <a:endParaRPr lang="en-US" sz="1600" dirty="0"/>
          </a:p>
        </p:txBody>
      </p:sp>
      <p:sp>
        <p:nvSpPr>
          <p:cNvPr id="14" name="Text 12"/>
          <p:cNvSpPr/>
          <p:nvPr/>
        </p:nvSpPr>
        <p:spPr>
          <a:xfrm>
            <a:off x="6565392" y="2212848"/>
            <a:ext cx="2066544" cy="512064"/>
          </a:xfrm>
          <a:prstGeom prst="rect">
            <a:avLst/>
          </a:prstGeom>
          <a:noFill/>
          <a:ln/>
        </p:spPr>
        <p:txBody>
          <a:bodyPr wrap="square" lIns="0" tIns="0" rIns="0" bIns="0" rtlCol="0" anchor="ctr"/>
          <a:lstStyle/>
          <a:p>
            <a:pPr algn="ctr" indent="0" marL="0">
              <a:lnSpc>
                <a:spcPts val="1400"/>
              </a:lnSpc>
              <a:buNone/>
            </a:pPr>
            <a:r>
              <a:rPr lang="en-US" sz="1050" dirty="0">
                <a:solidFill>
                  <a:srgbClr val="6B7785"/>
                </a:solidFill>
                <a:latin typeface="Calibri" pitchFamily="34" charset="0"/>
                <a:ea typeface="Calibri" pitchFamily="34" charset="-122"/>
                <a:cs typeface="Calibri" pitchFamily="34" charset="-120"/>
              </a:rPr>
              <a:t>compiles · passes the</a:t>
            </a:r>
            <a:endParaRPr lang="en-US" sz="1050" dirty="0"/>
          </a:p>
          <a:p>
            <a:pPr algn="ctr" indent="0" marL="0">
              <a:lnSpc>
                <a:spcPts val="1400"/>
              </a:lnSpc>
              <a:buNone/>
            </a:pPr>
            <a:r>
              <a:rPr lang="en-US" sz="1050" dirty="0">
                <a:solidFill>
                  <a:srgbClr val="6B7785"/>
                </a:solidFill>
                <a:latin typeface="Calibri" pitchFamily="34" charset="0"/>
                <a:ea typeface="Calibri" pitchFamily="34" charset="-122"/>
                <a:cs typeface="Calibri" pitchFamily="34" charset="-120"/>
              </a:rPr>
              <a:t>tests you wrote</a:t>
            </a:r>
            <a:endParaRPr lang="en-US" sz="1050" dirty="0"/>
          </a:p>
        </p:txBody>
      </p:sp>
      <p:sp>
        <p:nvSpPr>
          <p:cNvPr id="15" name="Shape 13"/>
          <p:cNvSpPr/>
          <p:nvPr/>
        </p:nvSpPr>
        <p:spPr>
          <a:xfrm>
            <a:off x="9015984" y="1499616"/>
            <a:ext cx="310896" cy="1499616"/>
          </a:xfrm>
          <a:prstGeom prst="rect">
            <a:avLst/>
          </a:prstGeom>
          <a:solidFill>
            <a:srgbClr val="0E2033"/>
          </a:solidFill>
          <a:ln w="12700">
            <a:solidFill>
              <a:srgbClr val="0E2033"/>
            </a:solidFill>
            <a:prstDash val="solid"/>
          </a:ln>
        </p:spPr>
      </p:sp>
      <p:sp>
        <p:nvSpPr>
          <p:cNvPr id="16" name="Text 14"/>
          <p:cNvSpPr/>
          <p:nvPr/>
        </p:nvSpPr>
        <p:spPr>
          <a:xfrm>
            <a:off x="7973568" y="3054096"/>
            <a:ext cx="2395728" cy="237744"/>
          </a:xfrm>
          <a:prstGeom prst="rect">
            <a:avLst/>
          </a:prstGeom>
          <a:noFill/>
          <a:ln/>
        </p:spPr>
        <p:txBody>
          <a:bodyPr wrap="square" lIns="0" tIns="0" rIns="0" bIns="0" rtlCol="0" anchor="ctr"/>
          <a:lstStyle/>
          <a:p>
            <a:pPr algn="ctr" indent="0" marL="0">
              <a:buNone/>
            </a:pPr>
            <a:r>
              <a:rPr lang="en-US" sz="1000" b="1" spc="140" kern="0" dirty="0">
                <a:solidFill>
                  <a:srgbClr val="0E2033"/>
                </a:solidFill>
                <a:latin typeface="Calibri" pitchFamily="34" charset="0"/>
                <a:ea typeface="Calibri" pitchFamily="34" charset="-122"/>
                <a:cs typeface="Calibri" pitchFamily="34" charset="-120"/>
              </a:rPr>
              <a:t>VERIFICATION</a:t>
            </a:r>
            <a:endParaRPr lang="en-US" sz="1000" dirty="0"/>
          </a:p>
        </p:txBody>
      </p:sp>
      <p:sp>
        <p:nvSpPr>
          <p:cNvPr id="17" name="Shape 15"/>
          <p:cNvSpPr/>
          <p:nvPr/>
        </p:nvSpPr>
        <p:spPr>
          <a:xfrm>
            <a:off x="9601200" y="1700784"/>
            <a:ext cx="2020824" cy="1097280"/>
          </a:xfrm>
          <a:prstGeom prst="roundRect">
            <a:avLst>
              <a:gd name="adj" fmla="val 5000"/>
            </a:avLst>
          </a:prstGeom>
          <a:solidFill>
            <a:srgbClr val="EDF1F5"/>
          </a:solidFill>
          <a:ln w="12700">
            <a:solidFill>
              <a:srgbClr val="EDF1F5"/>
            </a:solidFill>
            <a:prstDash val="solid"/>
          </a:ln>
        </p:spPr>
      </p:sp>
      <p:sp>
        <p:nvSpPr>
          <p:cNvPr id="18" name="Text 16"/>
          <p:cNvSpPr/>
          <p:nvPr/>
        </p:nvSpPr>
        <p:spPr>
          <a:xfrm>
            <a:off x="9601200" y="1847088"/>
            <a:ext cx="2020824" cy="310896"/>
          </a:xfrm>
          <a:prstGeom prst="rect">
            <a:avLst/>
          </a:prstGeom>
          <a:noFill/>
          <a:ln/>
        </p:spPr>
        <p:txBody>
          <a:bodyPr wrap="square" lIns="0" tIns="0" rIns="0" bIns="0" rtlCol="0" anchor="ctr"/>
          <a:lstStyle/>
          <a:p>
            <a:pPr algn="ctr" indent="0" marL="0">
              <a:buNone/>
            </a:pPr>
            <a:r>
              <a:rPr lang="en-US" sz="1600" b="1" dirty="0">
                <a:solidFill>
                  <a:srgbClr val="6B7785"/>
                </a:solidFill>
                <a:latin typeface="Cambria" pitchFamily="34" charset="0"/>
                <a:ea typeface="Cambria" pitchFamily="34" charset="-122"/>
                <a:cs typeface="Cambria" pitchFamily="34" charset="-120"/>
              </a:rPr>
              <a:t>Production</a:t>
            </a:r>
            <a:endParaRPr lang="en-US" sz="1600" dirty="0"/>
          </a:p>
        </p:txBody>
      </p:sp>
      <p:sp>
        <p:nvSpPr>
          <p:cNvPr id="19" name="Text 17"/>
          <p:cNvSpPr/>
          <p:nvPr/>
        </p:nvSpPr>
        <p:spPr>
          <a:xfrm>
            <a:off x="9710928" y="2212848"/>
            <a:ext cx="1801368" cy="457200"/>
          </a:xfrm>
          <a:prstGeom prst="rect">
            <a:avLst/>
          </a:prstGeom>
          <a:noFill/>
          <a:ln/>
        </p:spPr>
        <p:txBody>
          <a:bodyPr wrap="square" lIns="0" tIns="0" rIns="0" bIns="0" rtlCol="0" anchor="ctr"/>
          <a:lstStyle/>
          <a:p>
            <a:pPr algn="ctr" indent="0" marL="0">
              <a:lnSpc>
                <a:spcPts val="1400"/>
              </a:lnSpc>
              <a:buNone/>
            </a:pPr>
            <a:r>
              <a:rPr lang="en-US" sz="1050" dirty="0">
                <a:solidFill>
                  <a:srgbClr val="6B7785"/>
                </a:solidFill>
                <a:latin typeface="Calibri" pitchFamily="34" charset="0"/>
                <a:ea typeface="Calibri" pitchFamily="34" charset="-122"/>
                <a:cs typeface="Calibri" pitchFamily="34" charset="-120"/>
              </a:rPr>
              <a:t>never reached</a:t>
            </a:r>
            <a:endParaRPr lang="en-US" sz="1050" dirty="0"/>
          </a:p>
        </p:txBody>
      </p:sp>
      <p:sp>
        <p:nvSpPr>
          <p:cNvPr id="20" name="Shape 18"/>
          <p:cNvSpPr/>
          <p:nvPr/>
        </p:nvSpPr>
        <p:spPr>
          <a:xfrm>
            <a:off x="566928" y="3401568"/>
            <a:ext cx="11057839" cy="969264"/>
          </a:xfrm>
          <a:prstGeom prst="roundRect">
            <a:avLst>
              <a:gd name="adj" fmla="val 5660"/>
            </a:avLst>
          </a:prstGeom>
          <a:solidFill>
            <a:srgbClr val="EDF1F5"/>
          </a:solidFill>
          <a:ln w="12700">
            <a:solidFill>
              <a:srgbClr val="EDF1F5"/>
            </a:solidFill>
            <a:prstDash val="solid"/>
          </a:ln>
        </p:spPr>
      </p:sp>
      <p:sp>
        <p:nvSpPr>
          <p:cNvPr id="21" name="Text 19"/>
          <p:cNvSpPr/>
          <p:nvPr/>
        </p:nvSpPr>
        <p:spPr>
          <a:xfrm>
            <a:off x="859536" y="3547872"/>
            <a:ext cx="10472623" cy="310896"/>
          </a:xfrm>
          <a:prstGeom prst="rect">
            <a:avLst/>
          </a:prstGeom>
          <a:noFill/>
          <a:ln/>
        </p:spPr>
        <p:txBody>
          <a:bodyPr wrap="square" lIns="0" tIns="0" rIns="0" bIns="0" rtlCol="0" anchor="ctr"/>
          <a:lstStyle/>
          <a:p>
            <a:pPr indent="0" marL="0">
              <a:buNone/>
            </a:pPr>
            <a:r>
              <a:rPr lang="en-US" sz="2000" b="1" dirty="0">
                <a:solidFill>
                  <a:srgbClr val="0E2033"/>
                </a:solidFill>
                <a:latin typeface="Cambria" pitchFamily="34" charset="0"/>
                <a:ea typeface="Cambria" pitchFamily="34" charset="-122"/>
                <a:cs typeface="Cambria" pitchFamily="34" charset="-120"/>
              </a:rPr>
              <a:t>Can anyone prove the new program behaves identically to the old one?</a:t>
            </a:r>
            <a:endParaRPr lang="en-US" sz="2000" dirty="0"/>
          </a:p>
        </p:txBody>
      </p:sp>
      <p:sp>
        <p:nvSpPr>
          <p:cNvPr id="22" name="Text 20"/>
          <p:cNvSpPr/>
          <p:nvPr/>
        </p:nvSpPr>
        <p:spPr>
          <a:xfrm>
            <a:off x="859536" y="3895344"/>
            <a:ext cx="10472623" cy="384048"/>
          </a:xfrm>
          <a:prstGeom prst="rect">
            <a:avLst/>
          </a:prstGeom>
          <a:noFill/>
          <a:ln/>
        </p:spPr>
        <p:txBody>
          <a:bodyPr wrap="square" lIns="0" tIns="0" rIns="0" bIns="0" rtlCol="0" anchor="ctr"/>
          <a:lstStyle/>
          <a:p>
            <a:pPr indent="0" marL="0">
              <a:buNone/>
            </a:pPr>
            <a:r>
              <a:rPr lang="en-US" sz="1250" dirty="0">
                <a:solidFill>
                  <a:srgbClr val="16212E"/>
                </a:solidFill>
                <a:latin typeface="Calibri" pitchFamily="34" charset="0"/>
                <a:ea typeface="Calibri" pitchFamily="34" charset="-122"/>
                <a:cs typeface="Calibri" pitchFamily="34" charset="-120"/>
              </a:rPr>
              <a:t>No specification was ever written. The rules live only inside the code, and the engineers who put them there have retired. The tolerance for difference is zero.</a:t>
            </a:r>
            <a:endParaRPr lang="en-US" sz="1250" dirty="0"/>
          </a:p>
        </p:txBody>
      </p:sp>
      <p:sp>
        <p:nvSpPr>
          <p:cNvPr id="23" name="Shape 21"/>
          <p:cNvSpPr/>
          <p:nvPr/>
        </p:nvSpPr>
        <p:spPr>
          <a:xfrm>
            <a:off x="566928" y="4645152"/>
            <a:ext cx="11057839" cy="1371600"/>
          </a:xfrm>
          <a:prstGeom prst="roundRect">
            <a:avLst>
              <a:gd name="adj" fmla="val 4000"/>
            </a:avLst>
          </a:prstGeom>
          <a:solidFill>
            <a:srgbClr val="0E2033"/>
          </a:solidFill>
          <a:ln w="12700">
            <a:solidFill>
              <a:srgbClr val="0E2033"/>
            </a:solidFill>
            <a:prstDash val="solid"/>
          </a:ln>
        </p:spPr>
      </p:sp>
      <p:sp>
        <p:nvSpPr>
          <p:cNvPr id="24" name="Text 22"/>
          <p:cNvSpPr/>
          <p:nvPr/>
        </p:nvSpPr>
        <p:spPr>
          <a:xfrm>
            <a:off x="877824" y="4828032"/>
            <a:ext cx="10436047" cy="365760"/>
          </a:xfrm>
          <a:prstGeom prst="rect">
            <a:avLst/>
          </a:prstGeom>
          <a:noFill/>
          <a:ln/>
        </p:spPr>
        <p:txBody>
          <a:bodyPr wrap="square" lIns="0" tIns="0" rIns="0" bIns="0" rtlCol="0" anchor="ctr"/>
          <a:lstStyle/>
          <a:p>
            <a:pPr indent="0" marL="0">
              <a:buNone/>
            </a:pPr>
            <a:r>
              <a:rPr lang="en-US" sz="1900" b="1" i="1" dirty="0">
                <a:solidFill>
                  <a:srgbClr val="FFFFFF"/>
                </a:solidFill>
                <a:latin typeface="Cambria" pitchFamily="34" charset="0"/>
                <a:ea typeface="Cambria" pitchFamily="34" charset="-122"/>
                <a:cs typeface="Cambria" pitchFamily="34" charset="-120"/>
              </a:rPr>
              <a:t>"the resulting code cannot be trusted to correctly translate the original code"</a:t>
            </a:r>
            <a:endParaRPr lang="en-US" sz="1900" dirty="0"/>
          </a:p>
        </p:txBody>
      </p:sp>
      <p:sp>
        <p:nvSpPr>
          <p:cNvPr id="25" name="Text 23"/>
          <p:cNvSpPr/>
          <p:nvPr/>
        </p:nvSpPr>
        <p:spPr>
          <a:xfrm>
            <a:off x="877824" y="5285232"/>
            <a:ext cx="10436047" cy="566928"/>
          </a:xfrm>
          <a:prstGeom prst="rect">
            <a:avLst/>
          </a:prstGeom>
          <a:noFill/>
          <a:ln/>
        </p:spPr>
        <p:txBody>
          <a:bodyPr wrap="square" lIns="0" tIns="0" rIns="0" bIns="0" rtlCol="0" anchor="ctr"/>
          <a:lstStyle/>
          <a:p>
            <a:pPr indent="0" marL="0">
              <a:lnSpc>
                <a:spcPts val="1700"/>
              </a:lnSpc>
              <a:buNone/>
            </a:pPr>
            <a:r>
              <a:rPr lang="en-US" sz="1250" dirty="0">
                <a:solidFill>
                  <a:srgbClr val="C3D2DF"/>
                </a:solidFill>
                <a:latin typeface="Calibri" pitchFamily="34" charset="0"/>
                <a:ea typeface="Calibri" pitchFamily="34" charset="-122"/>
                <a:cs typeface="Calibri" pitchFamily="34" charset="-120"/>
              </a:rPr>
              <a:t>IBM Research, on the testing framework for IBM's own watsonx Code Assistant for Z (arXiv:2504.10548). If the vendor cannot trust its own output without validation, no bank can.</a:t>
            </a:r>
            <a:endParaRPr lang="en-US" sz="1250" dirty="0"/>
          </a:p>
        </p:txBody>
      </p:sp>
      <p:sp>
        <p:nvSpPr>
          <p:cNvPr id="26" name="Text 24"/>
          <p:cNvSpPr/>
          <p:nvPr/>
        </p:nvSpPr>
        <p:spPr>
          <a:xfrm>
            <a:off x="566928" y="6327648"/>
            <a:ext cx="11057839" cy="292608"/>
          </a:xfrm>
          <a:prstGeom prst="rect">
            <a:avLst/>
          </a:prstGeom>
          <a:noFill/>
          <a:ln/>
        </p:spPr>
        <p:txBody>
          <a:bodyPr wrap="square" lIns="0" tIns="0" rIns="0" bIns="0" rtlCol="0" anchor="ctr"/>
          <a:lstStyle/>
          <a:p>
            <a:pPr indent="0" marL="0">
              <a:lnSpc>
                <a:spcPts val="1200"/>
              </a:lnSpc>
              <a:buNone/>
            </a:pPr>
            <a:r>
              <a:rPr lang="en-US" sz="950" i="1" dirty="0">
                <a:solidFill>
                  <a:srgbClr val="6B7785"/>
                </a:solidFill>
                <a:latin typeface="Calibri" pitchFamily="34" charset="0"/>
                <a:ea typeface="Calibri" pitchFamily="34" charset="-122"/>
                <a:cs typeface="Calibri" pitchFamily="34" charset="-120"/>
              </a:rPr>
              <a:t>Quoted verbatim from the paper's abstract. The point is that validation is necessary, which is our point too.</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WHY THE OBVIOUS APPROACH FAILS</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100" b="1" dirty="0">
                <a:solidFill>
                  <a:srgbClr val="16212E"/>
                </a:solidFill>
                <a:latin typeface="Cambria" pitchFamily="34" charset="0"/>
                <a:ea typeface="Cambria" pitchFamily="34" charset="-122"/>
                <a:cs typeface="Cambria" pitchFamily="34" charset="-120"/>
              </a:rPr>
              <a:t>Pointing an AI at the COBOL is not enough</a:t>
            </a:r>
            <a:endParaRPr lang="en-US" sz="3100" dirty="0"/>
          </a:p>
        </p:txBody>
      </p:sp>
      <p:sp>
        <p:nvSpPr>
          <p:cNvPr id="4" name="Text 2"/>
          <p:cNvSpPr/>
          <p:nvPr/>
        </p:nvSpPr>
        <p:spPr>
          <a:xfrm>
            <a:off x="566928" y="1463040"/>
            <a:ext cx="11057839" cy="530352"/>
          </a:xfrm>
          <a:prstGeom prst="rect">
            <a:avLst/>
          </a:prstGeom>
          <a:noFill/>
          <a:ln/>
        </p:spPr>
        <p:txBody>
          <a:bodyPr wrap="square" lIns="0" tIns="0" rIns="0" bIns="0" rtlCol="0" anchor="ctr"/>
          <a:lstStyle/>
          <a:p>
            <a:pPr indent="0" marL="0">
              <a:lnSpc>
                <a:spcPts val="2000"/>
              </a:lnSpc>
              <a:buNone/>
            </a:pPr>
            <a:r>
              <a:rPr lang="en-US" sz="1400" dirty="0">
                <a:solidFill>
                  <a:srgbClr val="16212E"/>
                </a:solidFill>
                <a:latin typeface="Calibri" pitchFamily="34" charset="0"/>
                <a:ea typeface="Calibri" pitchFamily="34" charset="-122"/>
                <a:cs typeface="Calibri" pitchFamily="34" charset="-120"/>
              </a:rPr>
              <a:t>The intuitive move is to ask a language model to explain the business rules. The output looks excellent, clean and confident and well organised. And a meaningful share of it is wrong.</a:t>
            </a:r>
            <a:endParaRPr lang="en-US" sz="1400" dirty="0"/>
          </a:p>
        </p:txBody>
      </p:sp>
      <p:sp>
        <p:nvSpPr>
          <p:cNvPr id="5" name="Shape 3"/>
          <p:cNvSpPr/>
          <p:nvPr/>
        </p:nvSpPr>
        <p:spPr>
          <a:xfrm>
            <a:off x="566928" y="2121408"/>
            <a:ext cx="3639312" cy="1828800"/>
          </a:xfrm>
          <a:prstGeom prst="roundRect">
            <a:avLst>
              <a:gd name="adj" fmla="val 3000"/>
            </a:avLst>
          </a:prstGeom>
          <a:solidFill>
            <a:srgbClr val="EDF1F5"/>
          </a:solidFill>
          <a:ln w="12700">
            <a:solidFill>
              <a:srgbClr val="EDF1F5"/>
            </a:solidFill>
            <a:prstDash val="solid"/>
          </a:ln>
        </p:spPr>
      </p:sp>
      <p:sp>
        <p:nvSpPr>
          <p:cNvPr id="6" name="Text 4"/>
          <p:cNvSpPr/>
          <p:nvPr/>
        </p:nvSpPr>
        <p:spPr>
          <a:xfrm>
            <a:off x="804672" y="2231136"/>
            <a:ext cx="3163824" cy="731520"/>
          </a:xfrm>
          <a:prstGeom prst="rect">
            <a:avLst/>
          </a:prstGeom>
          <a:noFill/>
          <a:ln/>
        </p:spPr>
        <p:txBody>
          <a:bodyPr wrap="square" lIns="0" tIns="0" rIns="0" bIns="0" rtlCol="0" anchor="ctr"/>
          <a:lstStyle/>
          <a:p>
            <a:pPr indent="0" marL="0">
              <a:buNone/>
            </a:pPr>
            <a:r>
              <a:rPr lang="en-US" sz="4400" b="1" dirty="0">
                <a:solidFill>
                  <a:srgbClr val="0E2033"/>
                </a:solidFill>
                <a:latin typeface="Cambria" pitchFamily="34" charset="0"/>
                <a:ea typeface="Cambria" pitchFamily="34" charset="-122"/>
                <a:cs typeface="Cambria" pitchFamily="34" charset="-120"/>
              </a:rPr>
              <a:t>62%</a:t>
            </a:r>
            <a:endParaRPr lang="en-US" sz="4400" dirty="0"/>
          </a:p>
        </p:txBody>
      </p:sp>
      <p:sp>
        <p:nvSpPr>
          <p:cNvPr id="7" name="Text 5"/>
          <p:cNvSpPr/>
          <p:nvPr/>
        </p:nvSpPr>
        <p:spPr>
          <a:xfrm>
            <a:off x="804672" y="2980944"/>
            <a:ext cx="3163824" cy="530352"/>
          </a:xfrm>
          <a:prstGeom prst="rect">
            <a:avLst/>
          </a:prstGeom>
          <a:noFill/>
          <a:ln/>
        </p:spPr>
        <p:txBody>
          <a:bodyPr wrap="square" lIns="0" tIns="0" rIns="0" bIns="0" rtlCol="0" anchor="ctr"/>
          <a:lstStyle/>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precision of the best published</a:t>
            </a:r>
            <a:endParaRPr lang="en-US" sz="1200" dirty="0"/>
          </a:p>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COBOL rule extractor</a:t>
            </a:r>
            <a:endParaRPr lang="en-US" sz="1200" dirty="0"/>
          </a:p>
        </p:txBody>
      </p:sp>
      <p:sp>
        <p:nvSpPr>
          <p:cNvPr id="8" name="Text 6"/>
          <p:cNvSpPr/>
          <p:nvPr/>
        </p:nvSpPr>
        <p:spPr>
          <a:xfrm>
            <a:off x="804672" y="3547872"/>
            <a:ext cx="3163824" cy="256032"/>
          </a:xfrm>
          <a:prstGeom prst="rect">
            <a:avLst/>
          </a:prstGeom>
          <a:noFill/>
          <a:ln/>
        </p:spPr>
        <p:txBody>
          <a:bodyPr wrap="square" lIns="0" tIns="0" rIns="0" bIns="0" rtlCol="0" anchor="ctr"/>
          <a:lstStyle/>
          <a:p>
            <a:pPr indent="0" marL="0">
              <a:buNone/>
            </a:pPr>
            <a:r>
              <a:rPr lang="en-US" sz="1000" i="1" dirty="0">
                <a:solidFill>
                  <a:srgbClr val="6B7785"/>
                </a:solidFill>
                <a:latin typeface="Calibri" pitchFamily="34" charset="0"/>
                <a:ea typeface="Calibri" pitchFamily="34" charset="-122"/>
                <a:cs typeface="Calibri" pitchFamily="34" charset="-120"/>
              </a:rPr>
              <a:t>A-COBREX, ICSE 2025</a:t>
            </a:r>
            <a:endParaRPr lang="en-US" sz="1000" dirty="0"/>
          </a:p>
        </p:txBody>
      </p:sp>
      <p:sp>
        <p:nvSpPr>
          <p:cNvPr id="9" name="Shape 7"/>
          <p:cNvSpPr/>
          <p:nvPr/>
        </p:nvSpPr>
        <p:spPr>
          <a:xfrm>
            <a:off x="4389120" y="2121408"/>
            <a:ext cx="3639312" cy="1828800"/>
          </a:xfrm>
          <a:prstGeom prst="roundRect">
            <a:avLst>
              <a:gd name="adj" fmla="val 3000"/>
            </a:avLst>
          </a:prstGeom>
          <a:solidFill>
            <a:srgbClr val="EDF1F5"/>
          </a:solidFill>
          <a:ln w="12700">
            <a:solidFill>
              <a:srgbClr val="EDF1F5"/>
            </a:solidFill>
            <a:prstDash val="solid"/>
          </a:ln>
        </p:spPr>
      </p:sp>
      <p:sp>
        <p:nvSpPr>
          <p:cNvPr id="10" name="Text 8"/>
          <p:cNvSpPr/>
          <p:nvPr/>
        </p:nvSpPr>
        <p:spPr>
          <a:xfrm>
            <a:off x="4626864" y="2231136"/>
            <a:ext cx="3163824" cy="731520"/>
          </a:xfrm>
          <a:prstGeom prst="rect">
            <a:avLst/>
          </a:prstGeom>
          <a:noFill/>
          <a:ln/>
        </p:spPr>
        <p:txBody>
          <a:bodyPr wrap="square" lIns="0" tIns="0" rIns="0" bIns="0" rtlCol="0" anchor="ctr"/>
          <a:lstStyle/>
          <a:p>
            <a:pPr indent="0" marL="0">
              <a:buNone/>
            </a:pPr>
            <a:r>
              <a:rPr lang="en-US" sz="4400" b="1" dirty="0">
                <a:solidFill>
                  <a:srgbClr val="0E2033"/>
                </a:solidFill>
                <a:latin typeface="Cambria" pitchFamily="34" charset="0"/>
                <a:ea typeface="Cambria" pitchFamily="34" charset="-122"/>
                <a:cs typeface="Cambria" pitchFamily="34" charset="-120"/>
              </a:rPr>
              <a:t>91.2%</a:t>
            </a:r>
            <a:endParaRPr lang="en-US" sz="4400" dirty="0"/>
          </a:p>
        </p:txBody>
      </p:sp>
      <p:sp>
        <p:nvSpPr>
          <p:cNvPr id="11" name="Text 9"/>
          <p:cNvSpPr/>
          <p:nvPr/>
        </p:nvSpPr>
        <p:spPr>
          <a:xfrm>
            <a:off x="4626864" y="2980944"/>
            <a:ext cx="3163824" cy="530352"/>
          </a:xfrm>
          <a:prstGeom prst="rect">
            <a:avLst/>
          </a:prstGeom>
          <a:noFill/>
          <a:ln/>
        </p:spPr>
        <p:txBody>
          <a:bodyPr wrap="square" lIns="0" tIns="0" rIns="0" bIns="0" rtlCol="0" anchor="ctr"/>
          <a:lstStyle/>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of business rules successfully</a:t>
            </a:r>
            <a:endParaRPr lang="en-US" sz="1200" dirty="0"/>
          </a:p>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extracted by a 2026 system</a:t>
            </a:r>
            <a:endParaRPr lang="en-US" sz="1200" dirty="0"/>
          </a:p>
        </p:txBody>
      </p:sp>
      <p:sp>
        <p:nvSpPr>
          <p:cNvPr id="12" name="Text 10"/>
          <p:cNvSpPr/>
          <p:nvPr/>
        </p:nvSpPr>
        <p:spPr>
          <a:xfrm>
            <a:off x="4626864" y="3547872"/>
            <a:ext cx="3163824" cy="256032"/>
          </a:xfrm>
          <a:prstGeom prst="rect">
            <a:avLst/>
          </a:prstGeom>
          <a:noFill/>
          <a:ln/>
        </p:spPr>
        <p:txBody>
          <a:bodyPr wrap="square" lIns="0" tIns="0" rIns="0" bIns="0" rtlCol="0" anchor="ctr"/>
          <a:lstStyle/>
          <a:p>
            <a:pPr indent="0" marL="0">
              <a:buNone/>
            </a:pPr>
            <a:r>
              <a:rPr lang="en-US" sz="1000" i="1" dirty="0">
                <a:solidFill>
                  <a:srgbClr val="6B7785"/>
                </a:solidFill>
                <a:latin typeface="Calibri" pitchFamily="34" charset="0"/>
                <a:ea typeface="Calibri" pitchFamily="34" charset="-122"/>
                <a:cs typeface="Calibri" pitchFamily="34" charset="-120"/>
              </a:rPr>
              <a:t>AgentModernize, arXiv 2605.17535</a:t>
            </a:r>
            <a:endParaRPr lang="en-US" sz="1000" dirty="0"/>
          </a:p>
        </p:txBody>
      </p:sp>
      <p:sp>
        <p:nvSpPr>
          <p:cNvPr id="13" name="Shape 11"/>
          <p:cNvSpPr/>
          <p:nvPr/>
        </p:nvSpPr>
        <p:spPr>
          <a:xfrm>
            <a:off x="8211312" y="2121408"/>
            <a:ext cx="3639312" cy="1828800"/>
          </a:xfrm>
          <a:prstGeom prst="roundRect">
            <a:avLst>
              <a:gd name="adj" fmla="val 3000"/>
            </a:avLst>
          </a:prstGeom>
          <a:solidFill>
            <a:srgbClr val="EDF1F5"/>
          </a:solidFill>
          <a:ln w="12700">
            <a:solidFill>
              <a:srgbClr val="EDF1F5"/>
            </a:solidFill>
            <a:prstDash val="solid"/>
          </a:ln>
        </p:spPr>
      </p:sp>
      <p:sp>
        <p:nvSpPr>
          <p:cNvPr id="14" name="Text 12"/>
          <p:cNvSpPr/>
          <p:nvPr/>
        </p:nvSpPr>
        <p:spPr>
          <a:xfrm>
            <a:off x="8449056" y="2231136"/>
            <a:ext cx="3163824" cy="731520"/>
          </a:xfrm>
          <a:prstGeom prst="rect">
            <a:avLst/>
          </a:prstGeom>
          <a:noFill/>
          <a:ln/>
        </p:spPr>
        <p:txBody>
          <a:bodyPr wrap="square" lIns="0" tIns="0" rIns="0" bIns="0" rtlCol="0" anchor="ctr"/>
          <a:lstStyle/>
          <a:p>
            <a:pPr indent="0" marL="0">
              <a:buNone/>
            </a:pPr>
            <a:r>
              <a:rPr lang="en-US" sz="4400" b="1" dirty="0">
                <a:solidFill>
                  <a:srgbClr val="B07A16"/>
                </a:solidFill>
                <a:latin typeface="Cambria" pitchFamily="34" charset="0"/>
                <a:ea typeface="Cambria" pitchFamily="34" charset="-122"/>
                <a:cs typeface="Cambria" pitchFamily="34" charset="-120"/>
              </a:rPr>
              <a:t>&lt;20%</a:t>
            </a:r>
            <a:endParaRPr lang="en-US" sz="4400" dirty="0"/>
          </a:p>
        </p:txBody>
      </p:sp>
      <p:sp>
        <p:nvSpPr>
          <p:cNvPr id="15" name="Text 13"/>
          <p:cNvSpPr/>
          <p:nvPr/>
        </p:nvSpPr>
        <p:spPr>
          <a:xfrm>
            <a:off x="8449056" y="2980944"/>
            <a:ext cx="3163824" cy="530352"/>
          </a:xfrm>
          <a:prstGeom prst="rect">
            <a:avLst/>
          </a:prstGeom>
          <a:noFill/>
          <a:ln/>
        </p:spPr>
        <p:txBody>
          <a:bodyPr wrap="square" lIns="0" tIns="0" rIns="0" bIns="0" rtlCol="0" anchor="ctr"/>
          <a:lstStyle/>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behavioural equivalence reached</a:t>
            </a:r>
            <a:endParaRPr lang="en-US" sz="1200" dirty="0"/>
          </a:p>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by that same system</a:t>
            </a:r>
            <a:endParaRPr lang="en-US" sz="1200" dirty="0"/>
          </a:p>
        </p:txBody>
      </p:sp>
      <p:sp>
        <p:nvSpPr>
          <p:cNvPr id="16" name="Text 14"/>
          <p:cNvSpPr/>
          <p:nvPr/>
        </p:nvSpPr>
        <p:spPr>
          <a:xfrm>
            <a:off x="8449056" y="3547872"/>
            <a:ext cx="3163824" cy="256032"/>
          </a:xfrm>
          <a:prstGeom prst="rect">
            <a:avLst/>
          </a:prstGeom>
          <a:noFill/>
          <a:ln/>
        </p:spPr>
        <p:txBody>
          <a:bodyPr wrap="square" lIns="0" tIns="0" rIns="0" bIns="0" rtlCol="0" anchor="ctr"/>
          <a:lstStyle/>
          <a:p>
            <a:pPr indent="0" marL="0">
              <a:buNone/>
            </a:pPr>
            <a:r>
              <a:rPr lang="en-US" sz="1000" i="1" dirty="0">
                <a:solidFill>
                  <a:srgbClr val="6B7785"/>
                </a:solidFill>
                <a:latin typeface="Calibri" pitchFamily="34" charset="0"/>
                <a:ea typeface="Calibri" pitchFamily="34" charset="-122"/>
                <a:cs typeface="Calibri" pitchFamily="34" charset="-120"/>
              </a:rPr>
              <a:t>baselines scored 0.0%</a:t>
            </a:r>
            <a:endParaRPr lang="en-US" sz="1000" dirty="0"/>
          </a:p>
        </p:txBody>
      </p:sp>
      <p:sp>
        <p:nvSpPr>
          <p:cNvPr id="17" name="Shape 15"/>
          <p:cNvSpPr/>
          <p:nvPr/>
        </p:nvSpPr>
        <p:spPr>
          <a:xfrm>
            <a:off x="7772400" y="2926080"/>
            <a:ext cx="365760" cy="237744"/>
          </a:xfrm>
          <a:prstGeom prst="rightArrow">
            <a:avLst/>
          </a:prstGeom>
          <a:solidFill>
            <a:srgbClr val="D5DCE3"/>
          </a:solidFill>
          <a:ln w="12700">
            <a:solidFill>
              <a:srgbClr val="D5DCE3"/>
            </a:solidFill>
            <a:prstDash val="solid"/>
          </a:ln>
        </p:spPr>
      </p:sp>
      <p:sp>
        <p:nvSpPr>
          <p:cNvPr id="18" name="Shape 16"/>
          <p:cNvSpPr/>
          <p:nvPr/>
        </p:nvSpPr>
        <p:spPr>
          <a:xfrm>
            <a:off x="566928" y="4206240"/>
            <a:ext cx="11057839" cy="1755648"/>
          </a:xfrm>
          <a:prstGeom prst="roundRect">
            <a:avLst>
              <a:gd name="adj" fmla="val 3125"/>
            </a:avLst>
          </a:prstGeom>
          <a:solidFill>
            <a:srgbClr val="0E2033"/>
          </a:solidFill>
          <a:ln w="12700">
            <a:solidFill>
              <a:srgbClr val="0E2033"/>
            </a:solidFill>
            <a:prstDash val="solid"/>
          </a:ln>
        </p:spPr>
      </p:sp>
      <p:sp>
        <p:nvSpPr>
          <p:cNvPr id="19" name="Text 17"/>
          <p:cNvSpPr/>
          <p:nvPr/>
        </p:nvSpPr>
        <p:spPr>
          <a:xfrm>
            <a:off x="877824" y="4389120"/>
            <a:ext cx="10436047" cy="38404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Extraction works. Behavioural equivalence does not follow from it.</a:t>
            </a:r>
            <a:endParaRPr lang="en-US" sz="2300" dirty="0"/>
          </a:p>
        </p:txBody>
      </p:sp>
      <p:sp>
        <p:nvSpPr>
          <p:cNvPr id="20" name="Text 18"/>
          <p:cNvSpPr/>
          <p:nvPr/>
        </p:nvSpPr>
        <p:spPr>
          <a:xfrm>
            <a:off x="877824" y="4846320"/>
            <a:ext cx="10436047" cy="457200"/>
          </a:xfrm>
          <a:prstGeom prst="rect">
            <a:avLst/>
          </a:prstGeom>
          <a:noFill/>
          <a:ln/>
        </p:spPr>
        <p:txBody>
          <a:bodyPr wrap="square" lIns="0" tIns="0" rIns="0" bIns="0" rtlCol="0" anchor="ctr"/>
          <a:lstStyle/>
          <a:p>
            <a:pPr indent="0" marL="0">
              <a:lnSpc>
                <a:spcPts val="1800"/>
              </a:lnSpc>
              <a:buNone/>
            </a:pPr>
            <a:r>
              <a:rPr lang="en-US" sz="1300" dirty="0">
                <a:solidFill>
                  <a:srgbClr val="C3D2DF"/>
                </a:solidFill>
                <a:latin typeface="Calibri" pitchFamily="34" charset="0"/>
                <a:ea typeface="Calibri" pitchFamily="34" charset="-122"/>
                <a:cs typeface="Calibri" pitchFamily="34" charset="-120"/>
              </a:rPr>
              <a:t>A confidently stated wrong rule is more dangerous than no rule at all, because an engineer will build on it. Measured hallucination rates in code explanation run as high as 66%.</a:t>
            </a:r>
            <a:endParaRPr lang="en-US" sz="1300" dirty="0"/>
          </a:p>
        </p:txBody>
      </p:sp>
      <p:sp>
        <p:nvSpPr>
          <p:cNvPr id="21" name="Text 19"/>
          <p:cNvSpPr/>
          <p:nvPr/>
        </p:nvSpPr>
        <p:spPr>
          <a:xfrm>
            <a:off x="877824" y="5394960"/>
            <a:ext cx="10436047" cy="347472"/>
          </a:xfrm>
          <a:prstGeom prst="rect">
            <a:avLst/>
          </a:prstGeom>
          <a:noFill/>
          <a:ln/>
        </p:spPr>
        <p:txBody>
          <a:bodyPr wrap="square" lIns="0" tIns="0" rIns="0" bIns="0" rtlCol="0" anchor="ctr"/>
          <a:lstStyle/>
          <a:p>
            <a:pPr indent="0" marL="0">
              <a:buNone/>
            </a:pPr>
            <a:r>
              <a:rPr lang="en-US" sz="1400" b="1" dirty="0">
                <a:solidFill>
                  <a:srgbClr val="B07A16"/>
                </a:solidFill>
                <a:latin typeface="Calibri" pitchFamily="34" charset="0"/>
                <a:ea typeface="Calibri" pitchFamily="34" charset="-122"/>
                <a:cs typeface="Calibri" pitchFamily="34" charset="-120"/>
              </a:rPr>
              <a:t>So extraction cannot be the product. Verification has to be the product.</a:t>
            </a:r>
            <a:endParaRPr lang="en-US" sz="1400" dirty="0"/>
          </a:p>
        </p:txBody>
      </p:sp>
      <p:sp>
        <p:nvSpPr>
          <p:cNvPr id="22" name="Text 20"/>
          <p:cNvSpPr/>
          <p:nvPr/>
        </p:nvSpPr>
        <p:spPr>
          <a:xfrm>
            <a:off x="566928" y="6327648"/>
            <a:ext cx="11057839" cy="292608"/>
          </a:xfrm>
          <a:prstGeom prst="rect">
            <a:avLst/>
          </a:prstGeom>
          <a:noFill/>
          <a:ln/>
        </p:spPr>
        <p:txBody>
          <a:bodyPr wrap="square" lIns="0" tIns="0" rIns="0" bIns="0" rtlCol="0" anchor="ctr"/>
          <a:lstStyle/>
          <a:p>
            <a:pPr indent="0" marL="0">
              <a:lnSpc>
                <a:spcPts val="1200"/>
              </a:lnSpc>
              <a:buNone/>
            </a:pPr>
            <a:r>
              <a:rPr lang="en-US" sz="950" i="1" dirty="0">
                <a:solidFill>
                  <a:srgbClr val="6B7785"/>
                </a:solidFill>
                <a:latin typeface="Calibri" pitchFamily="34" charset="0"/>
                <a:ea typeface="Calibri" pitchFamily="34" charset="-122"/>
                <a:cs typeface="Calibri" pitchFamily="34" charset="-120"/>
              </a:rPr>
              <a:t>Sources: A-COBREX, ICSE 2025 · AgentModernize, arXiv 2605.17535 · Hallucinations in LLM-Based Code Summarization, PACMSE 2026.</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THE SYSTEM</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100" b="1" dirty="0">
                <a:solidFill>
                  <a:srgbClr val="16212E"/>
                </a:solidFill>
                <a:latin typeface="Cambria" pitchFamily="34" charset="0"/>
                <a:ea typeface="Cambria" pitchFamily="34" charset="-122"/>
                <a:cs typeface="Cambria" pitchFamily="34" charset="-120"/>
              </a:rPr>
              <a:t>A deterministic pipeline, with the AI on a short leash</a:t>
            </a:r>
            <a:endParaRPr lang="en-US" sz="3100" dirty="0"/>
          </a:p>
        </p:txBody>
      </p:sp>
      <p:sp>
        <p:nvSpPr>
          <p:cNvPr id="4" name="Shape 2"/>
          <p:cNvSpPr/>
          <p:nvPr/>
        </p:nvSpPr>
        <p:spPr>
          <a:xfrm>
            <a:off x="566928" y="1481328"/>
            <a:ext cx="2468880" cy="786384"/>
          </a:xfrm>
          <a:prstGeom prst="roundRect">
            <a:avLst>
              <a:gd name="adj" fmla="val 6977"/>
            </a:avLst>
          </a:prstGeom>
          <a:solidFill>
            <a:srgbClr val="EDF1F5"/>
          </a:solidFill>
          <a:ln w="12700">
            <a:solidFill>
              <a:srgbClr val="EDF1F5"/>
            </a:solidFill>
            <a:prstDash val="solid"/>
          </a:ln>
        </p:spPr>
      </p:sp>
      <p:sp>
        <p:nvSpPr>
          <p:cNvPr id="5" name="Text 3"/>
          <p:cNvSpPr/>
          <p:nvPr/>
        </p:nvSpPr>
        <p:spPr>
          <a:xfrm>
            <a:off x="566928" y="1737360"/>
            <a:ext cx="2468880" cy="310896"/>
          </a:xfrm>
          <a:prstGeom prst="rect">
            <a:avLst/>
          </a:prstGeom>
          <a:noFill/>
          <a:ln/>
        </p:spPr>
        <p:txBody>
          <a:bodyPr wrap="square" lIns="0" tIns="0" rIns="0" bIns="0" rtlCol="0" anchor="ctr"/>
          <a:lstStyle/>
          <a:p>
            <a:pPr algn="ctr" indent="0" marL="0">
              <a:buNone/>
            </a:pPr>
            <a:r>
              <a:rPr lang="en-US" sz="1400" b="1" dirty="0">
                <a:solidFill>
                  <a:srgbClr val="16212E"/>
                </a:solidFill>
                <a:latin typeface="Cambria" pitchFamily="34" charset="0"/>
                <a:ea typeface="Cambria" pitchFamily="34" charset="-122"/>
                <a:cs typeface="Cambria" pitchFamily="34" charset="-120"/>
              </a:rPr>
              <a:t>COBOL source</a:t>
            </a:r>
            <a:endParaRPr lang="en-US" sz="1400" dirty="0"/>
          </a:p>
        </p:txBody>
      </p:sp>
      <p:sp>
        <p:nvSpPr>
          <p:cNvPr id="6" name="Shape 4"/>
          <p:cNvSpPr/>
          <p:nvPr/>
        </p:nvSpPr>
        <p:spPr>
          <a:xfrm>
            <a:off x="3072384" y="1755648"/>
            <a:ext cx="237744" cy="237744"/>
          </a:xfrm>
          <a:prstGeom prst="rightArrow">
            <a:avLst/>
          </a:prstGeom>
          <a:solidFill>
            <a:srgbClr val="D5DCE3"/>
          </a:solidFill>
          <a:ln w="12700">
            <a:solidFill>
              <a:srgbClr val="D5DCE3"/>
            </a:solidFill>
            <a:prstDash val="solid"/>
          </a:ln>
        </p:spPr>
      </p:sp>
      <p:sp>
        <p:nvSpPr>
          <p:cNvPr id="7" name="Shape 5"/>
          <p:cNvSpPr/>
          <p:nvPr/>
        </p:nvSpPr>
        <p:spPr>
          <a:xfrm>
            <a:off x="3364992" y="1481328"/>
            <a:ext cx="2468880" cy="786384"/>
          </a:xfrm>
          <a:prstGeom prst="roundRect">
            <a:avLst>
              <a:gd name="adj" fmla="val 6977"/>
            </a:avLst>
          </a:prstGeom>
          <a:solidFill>
            <a:srgbClr val="EDF1F5"/>
          </a:solidFill>
          <a:ln w="12700">
            <a:solidFill>
              <a:srgbClr val="EDF1F5"/>
            </a:solidFill>
            <a:prstDash val="solid"/>
          </a:ln>
        </p:spPr>
      </p:sp>
      <p:sp>
        <p:nvSpPr>
          <p:cNvPr id="8" name="Text 6"/>
          <p:cNvSpPr/>
          <p:nvPr/>
        </p:nvSpPr>
        <p:spPr>
          <a:xfrm>
            <a:off x="3364992" y="1591056"/>
            <a:ext cx="2468880" cy="310896"/>
          </a:xfrm>
          <a:prstGeom prst="rect">
            <a:avLst/>
          </a:prstGeom>
          <a:noFill/>
          <a:ln/>
        </p:spPr>
        <p:txBody>
          <a:bodyPr wrap="square" lIns="0" tIns="0" rIns="0" bIns="0" rtlCol="0" anchor="ctr"/>
          <a:lstStyle/>
          <a:p>
            <a:pPr algn="ctr" indent="0" marL="0">
              <a:buNone/>
            </a:pPr>
            <a:r>
              <a:rPr lang="en-US" sz="1350" b="1" dirty="0">
                <a:solidFill>
                  <a:srgbClr val="16212E"/>
                </a:solidFill>
                <a:latin typeface="Cambria" pitchFamily="34" charset="0"/>
                <a:ea typeface="Cambria" pitchFamily="34" charset="-122"/>
                <a:cs typeface="Cambria" pitchFamily="34" charset="-120"/>
              </a:rPr>
              <a:t>0 · Intake gate</a:t>
            </a:r>
            <a:endParaRPr lang="en-US" sz="1350" dirty="0"/>
          </a:p>
        </p:txBody>
      </p:sp>
      <p:sp>
        <p:nvSpPr>
          <p:cNvPr id="9" name="Text 7"/>
          <p:cNvSpPr/>
          <p:nvPr/>
        </p:nvSpPr>
        <p:spPr>
          <a:xfrm>
            <a:off x="3474720" y="1901952"/>
            <a:ext cx="2249424" cy="457200"/>
          </a:xfrm>
          <a:prstGeom prst="rect">
            <a:avLst/>
          </a:prstGeom>
          <a:noFill/>
          <a:ln/>
        </p:spPr>
        <p:txBody>
          <a:bodyPr wrap="square" lIns="0" tIns="0" rIns="0" bIns="0" rtlCol="0" anchor="ctr"/>
          <a:lstStyle/>
          <a:p>
            <a:pPr algn="ctr" indent="0" marL="0">
              <a:lnSpc>
                <a:spcPts val="1400"/>
              </a:lnSpc>
              <a:buNone/>
            </a:pPr>
            <a:r>
              <a:rPr lang="en-US" sz="1000" dirty="0">
                <a:solidFill>
                  <a:srgbClr val="6B7785"/>
                </a:solidFill>
                <a:latin typeface="Calibri" pitchFamily="34" charset="0"/>
                <a:ea typeface="Calibri" pitchFamily="34" charset="-122"/>
                <a:cs typeface="Calibri" pitchFamily="34" charset="-120"/>
              </a:rPr>
              <a:t>clock / DB / CICS detected?</a:t>
            </a:r>
            <a:endParaRPr lang="en-US" sz="1000" dirty="0"/>
          </a:p>
        </p:txBody>
      </p:sp>
      <p:sp>
        <p:nvSpPr>
          <p:cNvPr id="10" name="Shape 8"/>
          <p:cNvSpPr/>
          <p:nvPr/>
        </p:nvSpPr>
        <p:spPr>
          <a:xfrm>
            <a:off x="5870448" y="1755648"/>
            <a:ext cx="237744" cy="237744"/>
          </a:xfrm>
          <a:prstGeom prst="rightArrow">
            <a:avLst/>
          </a:prstGeom>
          <a:solidFill>
            <a:srgbClr val="D5DCE3"/>
          </a:solidFill>
          <a:ln w="12700">
            <a:solidFill>
              <a:srgbClr val="D5DCE3"/>
            </a:solidFill>
            <a:prstDash val="solid"/>
          </a:ln>
        </p:spPr>
      </p:sp>
      <p:sp>
        <p:nvSpPr>
          <p:cNvPr id="11" name="Shape 9"/>
          <p:cNvSpPr/>
          <p:nvPr/>
        </p:nvSpPr>
        <p:spPr>
          <a:xfrm>
            <a:off x="6163056" y="1481328"/>
            <a:ext cx="2468880" cy="786384"/>
          </a:xfrm>
          <a:prstGeom prst="roundRect">
            <a:avLst>
              <a:gd name="adj" fmla="val 6977"/>
            </a:avLst>
          </a:prstGeom>
          <a:solidFill>
            <a:srgbClr val="EDF1F5"/>
          </a:solidFill>
          <a:ln w="12700">
            <a:solidFill>
              <a:srgbClr val="EDF1F5"/>
            </a:solidFill>
            <a:prstDash val="solid"/>
          </a:ln>
        </p:spPr>
      </p:sp>
      <p:sp>
        <p:nvSpPr>
          <p:cNvPr id="12" name="Text 10"/>
          <p:cNvSpPr/>
          <p:nvPr/>
        </p:nvSpPr>
        <p:spPr>
          <a:xfrm>
            <a:off x="6163056" y="1591056"/>
            <a:ext cx="2468880" cy="310896"/>
          </a:xfrm>
          <a:prstGeom prst="rect">
            <a:avLst/>
          </a:prstGeom>
          <a:noFill/>
          <a:ln/>
        </p:spPr>
        <p:txBody>
          <a:bodyPr wrap="square" lIns="0" tIns="0" rIns="0" bIns="0" rtlCol="0" anchor="ctr"/>
          <a:lstStyle/>
          <a:p>
            <a:pPr algn="ctr" indent="0" marL="0">
              <a:buNone/>
            </a:pPr>
            <a:r>
              <a:rPr lang="en-US" sz="1350" b="1" dirty="0">
                <a:solidFill>
                  <a:srgbClr val="16212E"/>
                </a:solidFill>
                <a:latin typeface="Cambria" pitchFamily="34" charset="0"/>
                <a:ea typeface="Cambria" pitchFamily="34" charset="-122"/>
                <a:cs typeface="Cambria" pitchFamily="34" charset="-120"/>
              </a:rPr>
              <a:t>1 · Parse &amp; slice</a:t>
            </a:r>
            <a:endParaRPr lang="en-US" sz="1350" dirty="0"/>
          </a:p>
        </p:txBody>
      </p:sp>
      <p:sp>
        <p:nvSpPr>
          <p:cNvPr id="13" name="Text 11"/>
          <p:cNvSpPr/>
          <p:nvPr/>
        </p:nvSpPr>
        <p:spPr>
          <a:xfrm>
            <a:off x="6272784" y="1901952"/>
            <a:ext cx="2249424" cy="457200"/>
          </a:xfrm>
          <a:prstGeom prst="rect">
            <a:avLst/>
          </a:prstGeom>
          <a:noFill/>
          <a:ln/>
        </p:spPr>
        <p:txBody>
          <a:bodyPr wrap="square" lIns="0" tIns="0" rIns="0" bIns="0" rtlCol="0" anchor="ctr"/>
          <a:lstStyle/>
          <a:p>
            <a:pPr algn="ctr" indent="0" marL="0">
              <a:lnSpc>
                <a:spcPts val="1400"/>
              </a:lnSpc>
              <a:buNone/>
            </a:pPr>
            <a:r>
              <a:rPr lang="en-US" sz="1000" dirty="0">
                <a:solidFill>
                  <a:srgbClr val="6B7785"/>
                </a:solidFill>
                <a:latin typeface="Calibri" pitchFamily="34" charset="0"/>
                <a:ea typeface="Calibri" pitchFamily="34" charset="-122"/>
                <a:cs typeface="Calibri" pitchFamily="34" charset="-120"/>
              </a:rPr>
              <a:t>ProLeap AST → rule slices</a:t>
            </a:r>
            <a:endParaRPr lang="en-US" sz="1000" dirty="0"/>
          </a:p>
        </p:txBody>
      </p:sp>
      <p:sp>
        <p:nvSpPr>
          <p:cNvPr id="14" name="Shape 12"/>
          <p:cNvSpPr/>
          <p:nvPr/>
        </p:nvSpPr>
        <p:spPr>
          <a:xfrm>
            <a:off x="8668512" y="1755648"/>
            <a:ext cx="237744" cy="237744"/>
          </a:xfrm>
          <a:prstGeom prst="rightArrow">
            <a:avLst/>
          </a:prstGeom>
          <a:solidFill>
            <a:srgbClr val="D5DCE3"/>
          </a:solidFill>
          <a:ln w="12700">
            <a:solidFill>
              <a:srgbClr val="D5DCE3"/>
            </a:solidFill>
            <a:prstDash val="solid"/>
          </a:ln>
        </p:spPr>
      </p:sp>
      <p:sp>
        <p:nvSpPr>
          <p:cNvPr id="15" name="Shape 13"/>
          <p:cNvSpPr/>
          <p:nvPr/>
        </p:nvSpPr>
        <p:spPr>
          <a:xfrm>
            <a:off x="8961120" y="1481328"/>
            <a:ext cx="2468880" cy="786384"/>
          </a:xfrm>
          <a:prstGeom prst="roundRect">
            <a:avLst>
              <a:gd name="adj" fmla="val 6977"/>
            </a:avLst>
          </a:prstGeom>
          <a:solidFill>
            <a:srgbClr val="EDF1F5"/>
          </a:solidFill>
          <a:ln w="12700">
            <a:solidFill>
              <a:srgbClr val="EDF1F5"/>
            </a:solidFill>
            <a:prstDash val="solid"/>
          </a:ln>
        </p:spPr>
      </p:sp>
      <p:sp>
        <p:nvSpPr>
          <p:cNvPr id="16" name="Text 14"/>
          <p:cNvSpPr/>
          <p:nvPr/>
        </p:nvSpPr>
        <p:spPr>
          <a:xfrm>
            <a:off x="8961120" y="1591056"/>
            <a:ext cx="2468880" cy="310896"/>
          </a:xfrm>
          <a:prstGeom prst="rect">
            <a:avLst/>
          </a:prstGeom>
          <a:noFill/>
          <a:ln/>
        </p:spPr>
        <p:txBody>
          <a:bodyPr wrap="square" lIns="0" tIns="0" rIns="0" bIns="0" rtlCol="0" anchor="ctr"/>
          <a:lstStyle/>
          <a:p>
            <a:pPr algn="ctr" indent="0" marL="0">
              <a:buNone/>
            </a:pPr>
            <a:r>
              <a:rPr lang="en-US" sz="1350" b="1" dirty="0">
                <a:solidFill>
                  <a:srgbClr val="B07A16"/>
                </a:solidFill>
                <a:latin typeface="Cambria" pitchFamily="34" charset="0"/>
                <a:ea typeface="Cambria" pitchFamily="34" charset="-122"/>
                <a:cs typeface="Cambria" pitchFamily="34" charset="-120"/>
              </a:rPr>
              <a:t>2 · Extract rules</a:t>
            </a:r>
            <a:endParaRPr lang="en-US" sz="1350" dirty="0"/>
          </a:p>
        </p:txBody>
      </p:sp>
      <p:sp>
        <p:nvSpPr>
          <p:cNvPr id="17" name="Text 15"/>
          <p:cNvSpPr/>
          <p:nvPr/>
        </p:nvSpPr>
        <p:spPr>
          <a:xfrm>
            <a:off x="9070848" y="1901952"/>
            <a:ext cx="2249424" cy="457200"/>
          </a:xfrm>
          <a:prstGeom prst="rect">
            <a:avLst/>
          </a:prstGeom>
          <a:noFill/>
          <a:ln/>
        </p:spPr>
        <p:txBody>
          <a:bodyPr wrap="square" lIns="0" tIns="0" rIns="0" bIns="0" rtlCol="0" anchor="ctr"/>
          <a:lstStyle/>
          <a:p>
            <a:pPr algn="ctr" indent="0" marL="0">
              <a:lnSpc>
                <a:spcPts val="1400"/>
              </a:lnSpc>
              <a:buNone/>
            </a:pPr>
            <a:r>
              <a:rPr lang="en-US" sz="1000" dirty="0">
                <a:solidFill>
                  <a:srgbClr val="6B7785"/>
                </a:solidFill>
                <a:latin typeface="Calibri" pitchFamily="34" charset="0"/>
                <a:ea typeface="Calibri" pitchFamily="34" charset="-122"/>
                <a:cs typeface="Calibri" pitchFamily="34" charset="-120"/>
              </a:rPr>
              <a:t>+ line citations from the slice</a:t>
            </a:r>
            <a:endParaRPr lang="en-US" sz="1000" dirty="0"/>
          </a:p>
        </p:txBody>
      </p:sp>
      <p:sp>
        <p:nvSpPr>
          <p:cNvPr id="18" name="Shape 16"/>
          <p:cNvSpPr/>
          <p:nvPr/>
        </p:nvSpPr>
        <p:spPr>
          <a:xfrm>
            <a:off x="4599432" y="2267712"/>
            <a:ext cx="0" cy="329184"/>
          </a:xfrm>
          <a:prstGeom prst="line">
            <a:avLst/>
          </a:prstGeom>
          <a:noFill/>
          <a:ln w="19050">
            <a:solidFill>
              <a:srgbClr val="D5DCE3"/>
            </a:solidFill>
            <a:prstDash val="solid"/>
          </a:ln>
        </p:spPr>
      </p:sp>
      <p:sp>
        <p:nvSpPr>
          <p:cNvPr id="19" name="Text 17"/>
          <p:cNvSpPr/>
          <p:nvPr/>
        </p:nvSpPr>
        <p:spPr>
          <a:xfrm>
            <a:off x="1737360" y="2578608"/>
            <a:ext cx="3931920" cy="237744"/>
          </a:xfrm>
          <a:prstGeom prst="rect">
            <a:avLst/>
          </a:prstGeom>
          <a:noFill/>
          <a:ln/>
        </p:spPr>
        <p:txBody>
          <a:bodyPr wrap="square" lIns="0" tIns="0" rIns="0" bIns="0" rtlCol="0" anchor="ctr"/>
          <a:lstStyle/>
          <a:p>
            <a:pPr algn="ctr" indent="0" marL="0">
              <a:buNone/>
            </a:pPr>
            <a:r>
              <a:rPr lang="en-US" sz="1000" b="1" dirty="0">
                <a:solidFill>
                  <a:srgbClr val="6B7785"/>
                </a:solidFill>
                <a:latin typeface="Calibri" pitchFamily="34" charset="0"/>
                <a:ea typeface="Calibri" pitchFamily="34" charset="-122"/>
                <a:cs typeface="Calibri" pitchFamily="34" charset="-120"/>
              </a:rPr>
              <a:t>REFUSED — non-deterministic, cannot be verified soundly</a:t>
            </a:r>
            <a:endParaRPr lang="en-US" sz="1000" dirty="0"/>
          </a:p>
        </p:txBody>
      </p:sp>
      <p:sp>
        <p:nvSpPr>
          <p:cNvPr id="20" name="Shape 18"/>
          <p:cNvSpPr/>
          <p:nvPr/>
        </p:nvSpPr>
        <p:spPr>
          <a:xfrm>
            <a:off x="10195560" y="2267712"/>
            <a:ext cx="0" cy="274320"/>
          </a:xfrm>
          <a:prstGeom prst="line">
            <a:avLst/>
          </a:prstGeom>
          <a:noFill/>
          <a:ln w="19050">
            <a:solidFill>
              <a:srgbClr val="D5DCE3"/>
            </a:solidFill>
            <a:prstDash val="solid"/>
          </a:ln>
        </p:spPr>
      </p:sp>
      <p:sp>
        <p:nvSpPr>
          <p:cNvPr id="21" name="Shape 19"/>
          <p:cNvSpPr/>
          <p:nvPr/>
        </p:nvSpPr>
        <p:spPr>
          <a:xfrm>
            <a:off x="6537960" y="2542032"/>
            <a:ext cx="3657600" cy="0"/>
          </a:xfrm>
          <a:prstGeom prst="line">
            <a:avLst/>
          </a:prstGeom>
          <a:noFill/>
          <a:ln w="19050">
            <a:solidFill>
              <a:srgbClr val="D5DCE3"/>
            </a:solidFill>
            <a:prstDash val="solid"/>
          </a:ln>
        </p:spPr>
      </p:sp>
      <p:sp>
        <p:nvSpPr>
          <p:cNvPr id="22" name="Shape 20"/>
          <p:cNvSpPr/>
          <p:nvPr/>
        </p:nvSpPr>
        <p:spPr>
          <a:xfrm>
            <a:off x="6419088" y="2542032"/>
            <a:ext cx="237744" cy="237744"/>
          </a:xfrm>
          <a:prstGeom prst="downArrow">
            <a:avLst/>
          </a:prstGeom>
          <a:solidFill>
            <a:srgbClr val="D5DCE3"/>
          </a:solidFill>
          <a:ln w="12700">
            <a:solidFill>
              <a:srgbClr val="D5DCE3"/>
            </a:solidFill>
            <a:prstDash val="solid"/>
          </a:ln>
        </p:spPr>
      </p:sp>
      <p:sp>
        <p:nvSpPr>
          <p:cNvPr id="23" name="Shape 21"/>
          <p:cNvSpPr/>
          <p:nvPr/>
        </p:nvSpPr>
        <p:spPr>
          <a:xfrm>
            <a:off x="566928" y="2779776"/>
            <a:ext cx="11057839" cy="749808"/>
          </a:xfrm>
          <a:prstGeom prst="roundRect">
            <a:avLst>
              <a:gd name="adj" fmla="val 7317"/>
            </a:avLst>
          </a:prstGeom>
          <a:solidFill>
            <a:srgbClr val="EDF1F5"/>
          </a:solidFill>
          <a:ln w="12700">
            <a:solidFill>
              <a:srgbClr val="EDF1F5"/>
            </a:solidFill>
            <a:prstDash val="solid"/>
          </a:ln>
        </p:spPr>
      </p:sp>
      <p:sp>
        <p:nvSpPr>
          <p:cNvPr id="24" name="Text 22"/>
          <p:cNvSpPr/>
          <p:nvPr/>
        </p:nvSpPr>
        <p:spPr>
          <a:xfrm>
            <a:off x="841248" y="2871216"/>
            <a:ext cx="3840480" cy="274320"/>
          </a:xfrm>
          <a:prstGeom prst="rect">
            <a:avLst/>
          </a:prstGeom>
          <a:noFill/>
          <a:ln/>
        </p:spPr>
        <p:txBody>
          <a:bodyPr wrap="square" lIns="0" tIns="0" rIns="0" bIns="0" rtlCol="0" anchor="ctr"/>
          <a:lstStyle/>
          <a:p>
            <a:pPr indent="0" marL="0">
              <a:buNone/>
            </a:pPr>
            <a:r>
              <a:rPr lang="en-US" sz="1350" b="1" dirty="0">
                <a:solidFill>
                  <a:srgbClr val="0E2033"/>
                </a:solidFill>
                <a:latin typeface="Calibri" pitchFamily="34" charset="0"/>
                <a:ea typeface="Calibri" pitchFamily="34" charset="-122"/>
                <a:cs typeface="Calibri" pitchFamily="34" charset="-120"/>
              </a:rPr>
              <a:t>3 · Rule-directed input generation</a:t>
            </a:r>
            <a:endParaRPr lang="en-US" sz="1350" dirty="0"/>
          </a:p>
        </p:txBody>
      </p:sp>
      <p:sp>
        <p:nvSpPr>
          <p:cNvPr id="25" name="Text 23"/>
          <p:cNvSpPr/>
          <p:nvPr/>
        </p:nvSpPr>
        <p:spPr>
          <a:xfrm>
            <a:off x="841248" y="3163824"/>
            <a:ext cx="4023360" cy="256032"/>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the extracted rules say where the boundaries are</a:t>
            </a:r>
            <a:endParaRPr lang="en-US" sz="1050" dirty="0"/>
          </a:p>
        </p:txBody>
      </p:sp>
      <p:sp>
        <p:nvSpPr>
          <p:cNvPr id="26" name="Text 24"/>
          <p:cNvSpPr/>
          <p:nvPr/>
        </p:nvSpPr>
        <p:spPr>
          <a:xfrm>
            <a:off x="5029200" y="2907792"/>
            <a:ext cx="6400800" cy="512064"/>
          </a:xfrm>
          <a:prstGeom prst="rect">
            <a:avLst/>
          </a:prstGeom>
          <a:noFill/>
          <a:ln/>
        </p:spPr>
        <p:txBody>
          <a:bodyPr wrap="square" lIns="0" tIns="0" rIns="0" bIns="0" rtlCol="0" anchor="ctr"/>
          <a:lstStyle/>
          <a:p>
            <a:pPr indent="0" marL="0">
              <a:lnSpc>
                <a:spcPts val="1500"/>
              </a:lnSpc>
              <a:buNone/>
            </a:pPr>
            <a:r>
              <a:rPr lang="en-US" sz="1000" dirty="0">
                <a:solidFill>
                  <a:srgbClr val="16212E"/>
                </a:solidFill>
                <a:latin typeface="Consolas" pitchFamily="34" charset="0"/>
                <a:ea typeface="Consolas" pitchFamily="34" charset="-122"/>
                <a:cs typeface="Consolas" pitchFamily="34" charset="-120"/>
              </a:rPr>
              <a:t>₹99,999 / ₹1,00,000 / ₹1,00,001   ·   ₹0.50 rounding midpoints</a:t>
            </a:r>
            <a:endParaRPr lang="en-US" sz="1000" dirty="0"/>
          </a:p>
          <a:p>
            <a:pPr indent="0" marL="0">
              <a:lnSpc>
                <a:spcPts val="1500"/>
              </a:lnSpc>
              <a:buNone/>
            </a:pPr>
            <a:r>
              <a:rPr lang="en-US" sz="1000" dirty="0">
                <a:solidFill>
                  <a:srgbClr val="16212E"/>
                </a:solidFill>
                <a:latin typeface="Consolas" pitchFamily="34" charset="0"/>
                <a:ea typeface="Consolas" pitchFamily="34" charset="-122"/>
                <a:cs typeface="Consolas" pitchFamily="34" charset="-120"/>
              </a:rPr>
              <a:t>29 February  ·  month and quarter ends  ·  zero and maximum values</a:t>
            </a:r>
            <a:endParaRPr lang="en-US" sz="1000" dirty="0"/>
          </a:p>
        </p:txBody>
      </p:sp>
      <p:sp>
        <p:nvSpPr>
          <p:cNvPr id="27" name="Shape 25"/>
          <p:cNvSpPr/>
          <p:nvPr/>
        </p:nvSpPr>
        <p:spPr>
          <a:xfrm>
            <a:off x="6035040" y="3529584"/>
            <a:ext cx="237744" cy="237744"/>
          </a:xfrm>
          <a:prstGeom prst="downArrow">
            <a:avLst/>
          </a:prstGeom>
          <a:solidFill>
            <a:srgbClr val="D5DCE3"/>
          </a:solidFill>
          <a:ln w="12700">
            <a:solidFill>
              <a:srgbClr val="D5DCE3"/>
            </a:solidFill>
            <a:prstDash val="solid"/>
          </a:ln>
        </p:spPr>
      </p:sp>
      <p:sp>
        <p:nvSpPr>
          <p:cNvPr id="28" name="Shape 26"/>
          <p:cNvSpPr/>
          <p:nvPr/>
        </p:nvSpPr>
        <p:spPr>
          <a:xfrm>
            <a:off x="566928" y="3913632"/>
            <a:ext cx="11057839" cy="1024128"/>
          </a:xfrm>
          <a:prstGeom prst="roundRect">
            <a:avLst>
              <a:gd name="adj" fmla="val 5357"/>
            </a:avLst>
          </a:prstGeom>
          <a:solidFill>
            <a:srgbClr val="EDF1F5"/>
          </a:solidFill>
          <a:ln w="12700">
            <a:solidFill>
              <a:srgbClr val="EDF1F5"/>
            </a:solidFill>
            <a:prstDash val="solid"/>
          </a:ln>
        </p:spPr>
      </p:sp>
      <p:sp>
        <p:nvSpPr>
          <p:cNvPr id="29" name="Text 27"/>
          <p:cNvSpPr/>
          <p:nvPr/>
        </p:nvSpPr>
        <p:spPr>
          <a:xfrm>
            <a:off x="841248" y="4041648"/>
            <a:ext cx="4206240" cy="274320"/>
          </a:xfrm>
          <a:prstGeom prst="rect">
            <a:avLst/>
          </a:prstGeom>
          <a:noFill/>
          <a:ln/>
        </p:spPr>
        <p:txBody>
          <a:bodyPr wrap="square" lIns="0" tIns="0" rIns="0" bIns="0" rtlCol="0" anchor="ctr"/>
          <a:lstStyle/>
          <a:p>
            <a:pPr indent="0" marL="0">
              <a:buNone/>
            </a:pPr>
            <a:r>
              <a:rPr lang="en-US" sz="1350" b="1" dirty="0">
                <a:solidFill>
                  <a:srgbClr val="0E2033"/>
                </a:solidFill>
                <a:latin typeface="Calibri" pitchFamily="34" charset="0"/>
                <a:ea typeface="Calibri" pitchFamily="34" charset="-122"/>
                <a:cs typeface="Calibri" pitchFamily="34" charset="-120"/>
              </a:rPr>
              <a:t>4 · Execute and compare, three ways</a:t>
            </a:r>
            <a:endParaRPr lang="en-US" sz="1350" dirty="0"/>
          </a:p>
        </p:txBody>
      </p:sp>
      <p:sp>
        <p:nvSpPr>
          <p:cNvPr id="30" name="Text 28"/>
          <p:cNvSpPr/>
          <p:nvPr/>
        </p:nvSpPr>
        <p:spPr>
          <a:xfrm>
            <a:off x="841248" y="4334256"/>
            <a:ext cx="4206240" cy="256032"/>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same input, three outputs</a:t>
            </a:r>
            <a:endParaRPr lang="en-US" sz="1050" dirty="0"/>
          </a:p>
        </p:txBody>
      </p:sp>
      <p:sp>
        <p:nvSpPr>
          <p:cNvPr id="31" name="Shape 29"/>
          <p:cNvSpPr/>
          <p:nvPr/>
        </p:nvSpPr>
        <p:spPr>
          <a:xfrm>
            <a:off x="4754880" y="4096512"/>
            <a:ext cx="2157984" cy="658368"/>
          </a:xfrm>
          <a:prstGeom prst="roundRect">
            <a:avLst>
              <a:gd name="adj" fmla="val 6944"/>
            </a:avLst>
          </a:prstGeom>
          <a:solidFill>
            <a:srgbClr val="FFFFFF"/>
          </a:solidFill>
          <a:ln w="12700">
            <a:solidFill>
              <a:srgbClr val="FFFFFF"/>
            </a:solidFill>
            <a:prstDash val="solid"/>
          </a:ln>
        </p:spPr>
      </p:sp>
      <p:sp>
        <p:nvSpPr>
          <p:cNvPr id="32" name="Text 30"/>
          <p:cNvSpPr/>
          <p:nvPr/>
        </p:nvSpPr>
        <p:spPr>
          <a:xfrm>
            <a:off x="4754880" y="4169664"/>
            <a:ext cx="2157984" cy="237744"/>
          </a:xfrm>
          <a:prstGeom prst="rect">
            <a:avLst/>
          </a:prstGeom>
          <a:noFill/>
          <a:ln/>
        </p:spPr>
        <p:txBody>
          <a:bodyPr wrap="square" lIns="0" tIns="0" rIns="0" bIns="0" rtlCol="0" anchor="ctr"/>
          <a:lstStyle/>
          <a:p>
            <a:pPr algn="ctr" indent="0" marL="0">
              <a:buNone/>
            </a:pPr>
            <a:r>
              <a:rPr lang="en-US" sz="1150" b="1" dirty="0">
                <a:solidFill>
                  <a:srgbClr val="0E2033"/>
                </a:solidFill>
                <a:latin typeface="Calibri" pitchFamily="34" charset="0"/>
                <a:ea typeface="Calibri" pitchFamily="34" charset="-122"/>
                <a:cs typeface="Calibri" pitchFamily="34" charset="-120"/>
              </a:rPr>
              <a:t>Legacy COBOL</a:t>
            </a:r>
            <a:endParaRPr lang="en-US" sz="1150" dirty="0"/>
          </a:p>
        </p:txBody>
      </p:sp>
      <p:sp>
        <p:nvSpPr>
          <p:cNvPr id="33" name="Text 31"/>
          <p:cNvSpPr/>
          <p:nvPr/>
        </p:nvSpPr>
        <p:spPr>
          <a:xfrm>
            <a:off x="4754880" y="4407408"/>
            <a:ext cx="2157984" cy="219456"/>
          </a:xfrm>
          <a:prstGeom prst="rect">
            <a:avLst/>
          </a:prstGeom>
          <a:noFill/>
          <a:ln/>
        </p:spPr>
        <p:txBody>
          <a:bodyPr wrap="square" lIns="0" tIns="0" rIns="0" bIns="0" rtlCol="0" anchor="ctr"/>
          <a:lstStyle/>
          <a:p>
            <a:pPr algn="ctr" indent="0" marL="0">
              <a:buNone/>
            </a:pPr>
            <a:r>
              <a:rPr lang="en-US" sz="950" dirty="0">
                <a:solidFill>
                  <a:srgbClr val="6B7785"/>
                </a:solidFill>
                <a:latin typeface="Calibri" pitchFamily="34" charset="0"/>
                <a:ea typeface="Calibri" pitchFamily="34" charset="-122"/>
                <a:cs typeface="Calibri" pitchFamily="34" charset="-120"/>
              </a:rPr>
              <a:t>GnuCOBOL, the oracle</a:t>
            </a:r>
            <a:endParaRPr lang="en-US" sz="950" dirty="0"/>
          </a:p>
        </p:txBody>
      </p:sp>
      <p:sp>
        <p:nvSpPr>
          <p:cNvPr id="34" name="Shape 32"/>
          <p:cNvSpPr/>
          <p:nvPr/>
        </p:nvSpPr>
        <p:spPr>
          <a:xfrm>
            <a:off x="7059168" y="4096512"/>
            <a:ext cx="2157984" cy="658368"/>
          </a:xfrm>
          <a:prstGeom prst="roundRect">
            <a:avLst>
              <a:gd name="adj" fmla="val 6944"/>
            </a:avLst>
          </a:prstGeom>
          <a:solidFill>
            <a:srgbClr val="FFFFFF"/>
          </a:solidFill>
          <a:ln w="12700">
            <a:solidFill>
              <a:srgbClr val="FFFFFF"/>
            </a:solidFill>
            <a:prstDash val="solid"/>
          </a:ln>
        </p:spPr>
      </p:sp>
      <p:sp>
        <p:nvSpPr>
          <p:cNvPr id="35" name="Text 33"/>
          <p:cNvSpPr/>
          <p:nvPr/>
        </p:nvSpPr>
        <p:spPr>
          <a:xfrm>
            <a:off x="7059168" y="4169664"/>
            <a:ext cx="2157984" cy="237744"/>
          </a:xfrm>
          <a:prstGeom prst="rect">
            <a:avLst/>
          </a:prstGeom>
          <a:noFill/>
          <a:ln/>
        </p:spPr>
        <p:txBody>
          <a:bodyPr wrap="square" lIns="0" tIns="0" rIns="0" bIns="0" rtlCol="0" anchor="ctr"/>
          <a:lstStyle/>
          <a:p>
            <a:pPr algn="ctr" indent="0" marL="0">
              <a:buNone/>
            </a:pPr>
            <a:r>
              <a:rPr lang="en-US" sz="1150" b="1" dirty="0">
                <a:solidFill>
                  <a:srgbClr val="0E2033"/>
                </a:solidFill>
                <a:latin typeface="Calibri" pitchFamily="34" charset="0"/>
                <a:ea typeface="Calibri" pitchFamily="34" charset="-122"/>
                <a:cs typeface="Calibri" pitchFamily="34" charset="-120"/>
              </a:rPr>
              <a:t>Reimplementation</a:t>
            </a:r>
            <a:endParaRPr lang="en-US" sz="1150" dirty="0"/>
          </a:p>
        </p:txBody>
      </p:sp>
      <p:sp>
        <p:nvSpPr>
          <p:cNvPr id="36" name="Text 34"/>
          <p:cNvSpPr/>
          <p:nvPr/>
        </p:nvSpPr>
        <p:spPr>
          <a:xfrm>
            <a:off x="7059168" y="4407408"/>
            <a:ext cx="2157984" cy="219456"/>
          </a:xfrm>
          <a:prstGeom prst="rect">
            <a:avLst/>
          </a:prstGeom>
          <a:noFill/>
          <a:ln/>
        </p:spPr>
        <p:txBody>
          <a:bodyPr wrap="square" lIns="0" tIns="0" rIns="0" bIns="0" rtlCol="0" anchor="ctr"/>
          <a:lstStyle/>
          <a:p>
            <a:pPr algn="ctr" indent="0" marL="0">
              <a:buNone/>
            </a:pPr>
            <a:r>
              <a:rPr lang="en-US" sz="950" dirty="0">
                <a:solidFill>
                  <a:srgbClr val="6B7785"/>
                </a:solidFill>
                <a:latin typeface="Calibri" pitchFamily="34" charset="0"/>
                <a:ea typeface="Calibri" pitchFamily="34" charset="-122"/>
                <a:cs typeface="Calibri" pitchFamily="34" charset="-120"/>
              </a:rPr>
              <a:t>generated Java, untrusted</a:t>
            </a:r>
            <a:endParaRPr lang="en-US" sz="950" dirty="0"/>
          </a:p>
        </p:txBody>
      </p:sp>
      <p:sp>
        <p:nvSpPr>
          <p:cNvPr id="37" name="Shape 35"/>
          <p:cNvSpPr/>
          <p:nvPr/>
        </p:nvSpPr>
        <p:spPr>
          <a:xfrm>
            <a:off x="9363456" y="4096512"/>
            <a:ext cx="2157984" cy="658368"/>
          </a:xfrm>
          <a:prstGeom prst="roundRect">
            <a:avLst>
              <a:gd name="adj" fmla="val 6944"/>
            </a:avLst>
          </a:prstGeom>
          <a:solidFill>
            <a:srgbClr val="FFFFFF"/>
          </a:solidFill>
          <a:ln w="12700">
            <a:solidFill>
              <a:srgbClr val="FFFFFF"/>
            </a:solidFill>
            <a:prstDash val="solid"/>
          </a:ln>
        </p:spPr>
      </p:sp>
      <p:sp>
        <p:nvSpPr>
          <p:cNvPr id="38" name="Text 36"/>
          <p:cNvSpPr/>
          <p:nvPr/>
        </p:nvSpPr>
        <p:spPr>
          <a:xfrm>
            <a:off x="9363456" y="4169664"/>
            <a:ext cx="2157984" cy="237744"/>
          </a:xfrm>
          <a:prstGeom prst="rect">
            <a:avLst/>
          </a:prstGeom>
          <a:noFill/>
          <a:ln/>
        </p:spPr>
        <p:txBody>
          <a:bodyPr wrap="square" lIns="0" tIns="0" rIns="0" bIns="0" rtlCol="0" anchor="ctr"/>
          <a:lstStyle/>
          <a:p>
            <a:pPr algn="ctr" indent="0" marL="0">
              <a:buNone/>
            </a:pPr>
            <a:r>
              <a:rPr lang="en-US" sz="1150" b="1" dirty="0">
                <a:solidFill>
                  <a:srgbClr val="B07A16"/>
                </a:solidFill>
                <a:latin typeface="Calibri" pitchFamily="34" charset="0"/>
                <a:ea typeface="Calibri" pitchFamily="34" charset="-122"/>
                <a:cs typeface="Calibri" pitchFamily="34" charset="-120"/>
              </a:rPr>
              <a:t>RBI Direction</a:t>
            </a:r>
            <a:endParaRPr lang="en-US" sz="1150" dirty="0"/>
          </a:p>
        </p:txBody>
      </p:sp>
      <p:sp>
        <p:nvSpPr>
          <p:cNvPr id="39" name="Text 37"/>
          <p:cNvSpPr/>
          <p:nvPr/>
        </p:nvSpPr>
        <p:spPr>
          <a:xfrm>
            <a:off x="9363456" y="4407408"/>
            <a:ext cx="2157984" cy="219456"/>
          </a:xfrm>
          <a:prstGeom prst="rect">
            <a:avLst/>
          </a:prstGeom>
          <a:noFill/>
          <a:ln/>
        </p:spPr>
        <p:txBody>
          <a:bodyPr wrap="square" lIns="0" tIns="0" rIns="0" bIns="0" rtlCol="0" anchor="ctr"/>
          <a:lstStyle/>
          <a:p>
            <a:pPr algn="ctr" indent="0" marL="0">
              <a:buNone/>
            </a:pPr>
            <a:r>
              <a:rPr lang="en-US" sz="950" dirty="0">
                <a:solidFill>
                  <a:srgbClr val="6B7785"/>
                </a:solidFill>
                <a:latin typeface="Calibri" pitchFamily="34" charset="0"/>
                <a:ea typeface="Calibri" pitchFamily="34" charset="-122"/>
                <a:cs typeface="Calibri" pitchFamily="34" charset="-120"/>
              </a:rPr>
              <a:t>the third reference</a:t>
            </a:r>
            <a:endParaRPr lang="en-US" sz="950" dirty="0"/>
          </a:p>
        </p:txBody>
      </p:sp>
      <p:sp>
        <p:nvSpPr>
          <p:cNvPr id="40" name="Shape 38"/>
          <p:cNvSpPr/>
          <p:nvPr/>
        </p:nvSpPr>
        <p:spPr>
          <a:xfrm>
            <a:off x="6035040" y="4937760"/>
            <a:ext cx="237744" cy="219456"/>
          </a:xfrm>
          <a:prstGeom prst="downArrow">
            <a:avLst/>
          </a:prstGeom>
          <a:solidFill>
            <a:srgbClr val="D5DCE3"/>
          </a:solidFill>
          <a:ln w="12700">
            <a:solidFill>
              <a:srgbClr val="D5DCE3"/>
            </a:solidFill>
            <a:prstDash val="solid"/>
          </a:ln>
        </p:spPr>
      </p:sp>
      <p:sp>
        <p:nvSpPr>
          <p:cNvPr id="41" name="Shape 39"/>
          <p:cNvSpPr/>
          <p:nvPr/>
        </p:nvSpPr>
        <p:spPr>
          <a:xfrm>
            <a:off x="566928" y="5394960"/>
            <a:ext cx="2670048" cy="713232"/>
          </a:xfrm>
          <a:prstGeom prst="roundRect">
            <a:avLst>
              <a:gd name="adj" fmla="val 7692"/>
            </a:avLst>
          </a:prstGeom>
          <a:solidFill>
            <a:srgbClr val="EDF1F5"/>
          </a:solidFill>
          <a:ln w="12700">
            <a:solidFill>
              <a:srgbClr val="EDF1F5"/>
            </a:solidFill>
            <a:prstDash val="solid"/>
          </a:ln>
        </p:spPr>
      </p:sp>
      <p:sp>
        <p:nvSpPr>
          <p:cNvPr id="42" name="Text 40"/>
          <p:cNvSpPr/>
          <p:nvPr/>
        </p:nvSpPr>
        <p:spPr>
          <a:xfrm>
            <a:off x="713232" y="5486400"/>
            <a:ext cx="2377440" cy="256032"/>
          </a:xfrm>
          <a:prstGeom prst="rect">
            <a:avLst/>
          </a:prstGeom>
          <a:noFill/>
          <a:ln/>
        </p:spPr>
        <p:txBody>
          <a:bodyPr wrap="square" lIns="0" tIns="0" rIns="0" bIns="0" rtlCol="0" anchor="ctr"/>
          <a:lstStyle/>
          <a:p>
            <a:pPr algn="ctr" indent="0" marL="0">
              <a:buNone/>
            </a:pPr>
            <a:r>
              <a:rPr lang="en-US" sz="1250" b="1" dirty="0">
                <a:solidFill>
                  <a:srgbClr val="0E2033"/>
                </a:solidFill>
                <a:latin typeface="Calibri" pitchFamily="34" charset="0"/>
                <a:ea typeface="Calibri" pitchFamily="34" charset="-122"/>
                <a:cs typeface="Calibri" pitchFamily="34" charset="-120"/>
              </a:rPr>
              <a:t>Rule coverage</a:t>
            </a:r>
            <a:endParaRPr lang="en-US" sz="1250" dirty="0"/>
          </a:p>
        </p:txBody>
      </p:sp>
      <p:sp>
        <p:nvSpPr>
          <p:cNvPr id="43" name="Text 41"/>
          <p:cNvSpPr/>
          <p:nvPr/>
        </p:nvSpPr>
        <p:spPr>
          <a:xfrm>
            <a:off x="713232" y="5742432"/>
            <a:ext cx="2377440" cy="256032"/>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which rules the tests reached</a:t>
            </a:r>
            <a:endParaRPr lang="en-US" sz="1000" dirty="0"/>
          </a:p>
        </p:txBody>
      </p:sp>
      <p:sp>
        <p:nvSpPr>
          <p:cNvPr id="44" name="Shape 42"/>
          <p:cNvSpPr/>
          <p:nvPr/>
        </p:nvSpPr>
        <p:spPr>
          <a:xfrm>
            <a:off x="3374136" y="5394960"/>
            <a:ext cx="2670048" cy="713232"/>
          </a:xfrm>
          <a:prstGeom prst="roundRect">
            <a:avLst>
              <a:gd name="adj" fmla="val 7692"/>
            </a:avLst>
          </a:prstGeom>
          <a:solidFill>
            <a:srgbClr val="EDF1F5"/>
          </a:solidFill>
          <a:ln w="12700">
            <a:solidFill>
              <a:srgbClr val="EDF1F5"/>
            </a:solidFill>
            <a:prstDash val="solid"/>
          </a:ln>
        </p:spPr>
      </p:sp>
      <p:sp>
        <p:nvSpPr>
          <p:cNvPr id="45" name="Text 43"/>
          <p:cNvSpPr/>
          <p:nvPr/>
        </p:nvSpPr>
        <p:spPr>
          <a:xfrm>
            <a:off x="3520440" y="5486400"/>
            <a:ext cx="2377440" cy="256032"/>
          </a:xfrm>
          <a:prstGeom prst="rect">
            <a:avLst/>
          </a:prstGeom>
          <a:noFill/>
          <a:ln/>
        </p:spPr>
        <p:txBody>
          <a:bodyPr wrap="square" lIns="0" tIns="0" rIns="0" bIns="0" rtlCol="0" anchor="ctr"/>
          <a:lstStyle/>
          <a:p>
            <a:pPr algn="ctr" indent="0" marL="0">
              <a:buNone/>
            </a:pPr>
            <a:r>
              <a:rPr lang="en-US" sz="1250" b="1" dirty="0">
                <a:solidFill>
                  <a:srgbClr val="0E2033"/>
                </a:solidFill>
                <a:latin typeface="Calibri" pitchFamily="34" charset="0"/>
                <a:ea typeface="Calibri" pitchFamily="34" charset="-122"/>
                <a:cs typeface="Calibri" pitchFamily="34" charset="-120"/>
              </a:rPr>
              <a:t>Mutation score</a:t>
            </a:r>
            <a:endParaRPr lang="en-US" sz="1250" dirty="0"/>
          </a:p>
        </p:txBody>
      </p:sp>
      <p:sp>
        <p:nvSpPr>
          <p:cNvPr id="46" name="Text 44"/>
          <p:cNvSpPr/>
          <p:nvPr/>
        </p:nvSpPr>
        <p:spPr>
          <a:xfrm>
            <a:off x="3520440" y="5742432"/>
            <a:ext cx="2377440" cy="256032"/>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how strong is this claim?</a:t>
            </a:r>
            <a:endParaRPr lang="en-US" sz="1000" dirty="0"/>
          </a:p>
        </p:txBody>
      </p:sp>
      <p:sp>
        <p:nvSpPr>
          <p:cNvPr id="47" name="Shape 45"/>
          <p:cNvSpPr/>
          <p:nvPr/>
        </p:nvSpPr>
        <p:spPr>
          <a:xfrm>
            <a:off x="6181344" y="5394960"/>
            <a:ext cx="2670048" cy="713232"/>
          </a:xfrm>
          <a:prstGeom prst="roundRect">
            <a:avLst>
              <a:gd name="adj" fmla="val 7692"/>
            </a:avLst>
          </a:prstGeom>
          <a:solidFill>
            <a:srgbClr val="EDF1F5"/>
          </a:solidFill>
          <a:ln w="12700">
            <a:solidFill>
              <a:srgbClr val="EDF1F5"/>
            </a:solidFill>
            <a:prstDash val="solid"/>
          </a:ln>
        </p:spPr>
      </p:sp>
      <p:sp>
        <p:nvSpPr>
          <p:cNvPr id="48" name="Text 46"/>
          <p:cNvSpPr/>
          <p:nvPr/>
        </p:nvSpPr>
        <p:spPr>
          <a:xfrm>
            <a:off x="6327648" y="5486400"/>
            <a:ext cx="2377440" cy="256032"/>
          </a:xfrm>
          <a:prstGeom prst="rect">
            <a:avLst/>
          </a:prstGeom>
          <a:noFill/>
          <a:ln/>
        </p:spPr>
        <p:txBody>
          <a:bodyPr wrap="square" lIns="0" tIns="0" rIns="0" bIns="0" rtlCol="0" anchor="ctr"/>
          <a:lstStyle/>
          <a:p>
            <a:pPr algn="ctr" indent="0" marL="0">
              <a:buNone/>
            </a:pPr>
            <a:r>
              <a:rPr lang="en-US" sz="1250" b="1" dirty="0">
                <a:solidFill>
                  <a:srgbClr val="0E2033"/>
                </a:solidFill>
                <a:latin typeface="Calibri" pitchFamily="34" charset="0"/>
                <a:ea typeface="Calibri" pitchFamily="34" charset="-122"/>
                <a:cs typeface="Calibri" pitchFamily="34" charset="-120"/>
              </a:rPr>
              <a:t>Compliance findings</a:t>
            </a:r>
            <a:endParaRPr lang="en-US" sz="1250" dirty="0"/>
          </a:p>
        </p:txBody>
      </p:sp>
      <p:sp>
        <p:nvSpPr>
          <p:cNvPr id="49" name="Text 47"/>
          <p:cNvSpPr/>
          <p:nvPr/>
        </p:nvSpPr>
        <p:spPr>
          <a:xfrm>
            <a:off x="6327648" y="5742432"/>
            <a:ext cx="2377440" cy="256032"/>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legacy against the regulator</a:t>
            </a:r>
            <a:endParaRPr lang="en-US" sz="1000" dirty="0"/>
          </a:p>
        </p:txBody>
      </p:sp>
      <p:sp>
        <p:nvSpPr>
          <p:cNvPr id="50" name="Shape 48"/>
          <p:cNvSpPr/>
          <p:nvPr/>
        </p:nvSpPr>
        <p:spPr>
          <a:xfrm>
            <a:off x="8988552" y="5394960"/>
            <a:ext cx="2670048" cy="713232"/>
          </a:xfrm>
          <a:prstGeom prst="roundRect">
            <a:avLst>
              <a:gd name="adj" fmla="val 7692"/>
            </a:avLst>
          </a:prstGeom>
          <a:solidFill>
            <a:srgbClr val="EDF1F5"/>
          </a:solidFill>
          <a:ln w="12700">
            <a:solidFill>
              <a:srgbClr val="EDF1F5"/>
            </a:solidFill>
            <a:prstDash val="solid"/>
          </a:ln>
        </p:spPr>
      </p:sp>
      <p:sp>
        <p:nvSpPr>
          <p:cNvPr id="51" name="Text 49"/>
          <p:cNvSpPr/>
          <p:nvPr/>
        </p:nvSpPr>
        <p:spPr>
          <a:xfrm>
            <a:off x="9134856" y="5486400"/>
            <a:ext cx="2377440" cy="256032"/>
          </a:xfrm>
          <a:prstGeom prst="rect">
            <a:avLst/>
          </a:prstGeom>
          <a:noFill/>
          <a:ln/>
        </p:spPr>
        <p:txBody>
          <a:bodyPr wrap="square" lIns="0" tIns="0" rIns="0" bIns="0" rtlCol="0" anchor="ctr"/>
          <a:lstStyle/>
          <a:p>
            <a:pPr algn="ctr" indent="0" marL="0">
              <a:buNone/>
            </a:pPr>
            <a:r>
              <a:rPr lang="en-US" sz="1250" b="1" dirty="0">
                <a:solidFill>
                  <a:srgbClr val="0E2033"/>
                </a:solidFill>
                <a:latin typeface="Calibri" pitchFamily="34" charset="0"/>
                <a:ea typeface="Calibri" pitchFamily="34" charset="-122"/>
                <a:cs typeface="Calibri" pitchFamily="34" charset="-120"/>
              </a:rPr>
              <a:t>Evidence bundle</a:t>
            </a:r>
            <a:endParaRPr lang="en-US" sz="1250" dirty="0"/>
          </a:p>
        </p:txBody>
      </p:sp>
      <p:sp>
        <p:nvSpPr>
          <p:cNvPr id="52" name="Text 50"/>
          <p:cNvSpPr/>
          <p:nvPr/>
        </p:nvSpPr>
        <p:spPr>
          <a:xfrm>
            <a:off x="9134856" y="5742432"/>
            <a:ext cx="2377440" cy="256032"/>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spec · tests · signed claim</a:t>
            </a:r>
            <a:endParaRPr lang="en-US" sz="1000" dirty="0"/>
          </a:p>
        </p:txBody>
      </p:sp>
      <p:sp>
        <p:nvSpPr>
          <p:cNvPr id="53" name="Text 51"/>
          <p:cNvSpPr/>
          <p:nvPr/>
        </p:nvSpPr>
        <p:spPr>
          <a:xfrm>
            <a:off x="566928" y="6327648"/>
            <a:ext cx="11057839" cy="292608"/>
          </a:xfrm>
          <a:prstGeom prst="rect">
            <a:avLst/>
          </a:prstGeom>
          <a:noFill/>
          <a:ln/>
        </p:spPr>
        <p:txBody>
          <a:bodyPr wrap="square" lIns="0" tIns="0" rIns="0" bIns="0" rtlCol="0" anchor="ctr"/>
          <a:lstStyle/>
          <a:p>
            <a:pPr indent="0" marL="0">
              <a:lnSpc>
                <a:spcPts val="1200"/>
              </a:lnSpc>
              <a:buNone/>
            </a:pPr>
            <a:r>
              <a:rPr lang="en-US" sz="950" i="1" dirty="0">
                <a:solidFill>
                  <a:srgbClr val="6B7785"/>
                </a:solidFill>
                <a:latin typeface="Calibri" pitchFamily="34" charset="0"/>
                <a:ea typeface="Calibri" pitchFamily="34" charset="-122"/>
                <a:cs typeface="Calibri" pitchFamily="34" charset="-120"/>
              </a:rPr>
              <a:t>Titles in amber are the two bounded LLM calls; everything else is deterministic. Deterministic orchestration matches agentic accuracy at up to 3.5× lower token cost (arXiv 2605.09894).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WHAT NOBODY ELSE DOES  ·  01</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100" b="1" dirty="0">
                <a:solidFill>
                  <a:srgbClr val="16212E"/>
                </a:solidFill>
                <a:latin typeface="Cambria" pitchFamily="34" charset="0"/>
                <a:ea typeface="Cambria" pitchFamily="34" charset="-122"/>
                <a:cs typeface="Cambria" pitchFamily="34" charset="-120"/>
              </a:rPr>
              <a:t>We check the legacy against the regulator</a:t>
            </a:r>
            <a:endParaRPr lang="en-US" sz="3100" dirty="0"/>
          </a:p>
        </p:txBody>
      </p:sp>
      <p:sp>
        <p:nvSpPr>
          <p:cNvPr id="4" name="Text 2"/>
          <p:cNvSpPr/>
          <p:nvPr/>
        </p:nvSpPr>
        <p:spPr>
          <a:xfrm>
            <a:off x="566928" y="1426464"/>
            <a:ext cx="11057839" cy="566928"/>
          </a:xfrm>
          <a:prstGeom prst="rect">
            <a:avLst/>
          </a:prstGeom>
          <a:noFill/>
          <a:ln/>
        </p:spPr>
        <p:txBody>
          <a:bodyPr wrap="square" lIns="0" tIns="0" rIns="0" bIns="0" rtlCol="0" anchor="ctr"/>
          <a:lstStyle/>
          <a:p>
            <a:pPr indent="0" marL="0">
              <a:lnSpc>
                <a:spcPts val="1800"/>
              </a:lnSpc>
              <a:buNone/>
            </a:pPr>
            <a:r>
              <a:rPr lang="en-US" sz="1300" dirty="0">
                <a:solidFill>
                  <a:srgbClr val="16212E"/>
                </a:solidFill>
                <a:latin typeface="Calibri" pitchFamily="34" charset="0"/>
                <a:ea typeface="Calibri" pitchFamily="34" charset="-122"/>
                <a:cs typeface="Calibri" pitchFamily="34" charset="-120"/>
              </a:rPr>
              <a:t>Every tool on the market compares two things and treats the legacy as correct by definition. But "the legacy is its own oracle" is true for equivalence and false for correctness: a program written in 1987 can breach a Direction issued decades later.</a:t>
            </a:r>
            <a:endParaRPr lang="en-US" sz="1300" dirty="0"/>
          </a:p>
        </p:txBody>
      </p:sp>
      <p:sp>
        <p:nvSpPr>
          <p:cNvPr id="5" name="Shape 3"/>
          <p:cNvSpPr/>
          <p:nvPr/>
        </p:nvSpPr>
        <p:spPr>
          <a:xfrm>
            <a:off x="566928" y="2157984"/>
            <a:ext cx="3291840" cy="694944"/>
          </a:xfrm>
          <a:prstGeom prst="roundRect">
            <a:avLst>
              <a:gd name="adj" fmla="val 7895"/>
            </a:avLst>
          </a:prstGeom>
          <a:solidFill>
            <a:srgbClr val="EDF1F5"/>
          </a:solidFill>
          <a:ln w="12700">
            <a:solidFill>
              <a:srgbClr val="EDF1F5"/>
            </a:solidFill>
            <a:prstDash val="solid"/>
          </a:ln>
        </p:spPr>
      </p:sp>
      <p:sp>
        <p:nvSpPr>
          <p:cNvPr id="6" name="Text 4"/>
          <p:cNvSpPr/>
          <p:nvPr/>
        </p:nvSpPr>
        <p:spPr>
          <a:xfrm>
            <a:off x="566928" y="2249424"/>
            <a:ext cx="3291840" cy="256032"/>
          </a:xfrm>
          <a:prstGeom prst="rect">
            <a:avLst/>
          </a:prstGeom>
          <a:noFill/>
          <a:ln/>
        </p:spPr>
        <p:txBody>
          <a:bodyPr wrap="square" lIns="0" tIns="0" rIns="0" bIns="0" rtlCol="0" anchor="ctr"/>
          <a:lstStyle/>
          <a:p>
            <a:pPr algn="ctr" indent="0" marL="0">
              <a:buNone/>
            </a:pPr>
            <a:r>
              <a:rPr lang="en-US" sz="1300" b="1" dirty="0">
                <a:solidFill>
                  <a:srgbClr val="0E2033"/>
                </a:solidFill>
                <a:latin typeface="Calibri" pitchFamily="34" charset="0"/>
                <a:ea typeface="Calibri" pitchFamily="34" charset="-122"/>
                <a:cs typeface="Calibri" pitchFamily="34" charset="-120"/>
              </a:rPr>
              <a:t>Legacy COBOL</a:t>
            </a:r>
            <a:endParaRPr lang="en-US" sz="1300" dirty="0"/>
          </a:p>
        </p:txBody>
      </p:sp>
      <p:sp>
        <p:nvSpPr>
          <p:cNvPr id="7" name="Text 5"/>
          <p:cNvSpPr/>
          <p:nvPr/>
        </p:nvSpPr>
        <p:spPr>
          <a:xfrm>
            <a:off x="658368" y="2523744"/>
            <a:ext cx="3108960" cy="237744"/>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what the bank does today</a:t>
            </a:r>
            <a:endParaRPr lang="en-US" sz="1000" dirty="0"/>
          </a:p>
        </p:txBody>
      </p:sp>
      <p:sp>
        <p:nvSpPr>
          <p:cNvPr id="8" name="Shape 6"/>
          <p:cNvSpPr/>
          <p:nvPr/>
        </p:nvSpPr>
        <p:spPr>
          <a:xfrm>
            <a:off x="4261104" y="2157984"/>
            <a:ext cx="3291840" cy="694944"/>
          </a:xfrm>
          <a:prstGeom prst="roundRect">
            <a:avLst>
              <a:gd name="adj" fmla="val 7895"/>
            </a:avLst>
          </a:prstGeom>
          <a:solidFill>
            <a:srgbClr val="EDF1F5"/>
          </a:solidFill>
          <a:ln w="12700">
            <a:solidFill>
              <a:srgbClr val="EDF1F5"/>
            </a:solidFill>
            <a:prstDash val="solid"/>
          </a:ln>
        </p:spPr>
      </p:sp>
      <p:sp>
        <p:nvSpPr>
          <p:cNvPr id="9" name="Text 7"/>
          <p:cNvSpPr/>
          <p:nvPr/>
        </p:nvSpPr>
        <p:spPr>
          <a:xfrm>
            <a:off x="4261104" y="2249424"/>
            <a:ext cx="3291840" cy="256032"/>
          </a:xfrm>
          <a:prstGeom prst="rect">
            <a:avLst/>
          </a:prstGeom>
          <a:noFill/>
          <a:ln/>
        </p:spPr>
        <p:txBody>
          <a:bodyPr wrap="square" lIns="0" tIns="0" rIns="0" bIns="0" rtlCol="0" anchor="ctr"/>
          <a:lstStyle/>
          <a:p>
            <a:pPr algn="ctr" indent="0" marL="0">
              <a:buNone/>
            </a:pPr>
            <a:r>
              <a:rPr lang="en-US" sz="1300" b="1" dirty="0">
                <a:solidFill>
                  <a:srgbClr val="0E2033"/>
                </a:solidFill>
                <a:latin typeface="Calibri" pitchFamily="34" charset="0"/>
                <a:ea typeface="Calibri" pitchFamily="34" charset="-122"/>
                <a:cs typeface="Calibri" pitchFamily="34" charset="-120"/>
              </a:rPr>
              <a:t>Reimplementation</a:t>
            </a:r>
            <a:endParaRPr lang="en-US" sz="1300" dirty="0"/>
          </a:p>
        </p:txBody>
      </p:sp>
      <p:sp>
        <p:nvSpPr>
          <p:cNvPr id="10" name="Text 8"/>
          <p:cNvSpPr/>
          <p:nvPr/>
        </p:nvSpPr>
        <p:spPr>
          <a:xfrm>
            <a:off x="4352544" y="2523744"/>
            <a:ext cx="3108960" cy="237744"/>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generated Java, untrusted</a:t>
            </a:r>
            <a:endParaRPr lang="en-US" sz="1000" dirty="0"/>
          </a:p>
        </p:txBody>
      </p:sp>
      <p:sp>
        <p:nvSpPr>
          <p:cNvPr id="11" name="Shape 9"/>
          <p:cNvSpPr/>
          <p:nvPr/>
        </p:nvSpPr>
        <p:spPr>
          <a:xfrm>
            <a:off x="7955280" y="2157984"/>
            <a:ext cx="3291840" cy="694944"/>
          </a:xfrm>
          <a:prstGeom prst="roundRect">
            <a:avLst>
              <a:gd name="adj" fmla="val 7895"/>
            </a:avLst>
          </a:prstGeom>
          <a:solidFill>
            <a:srgbClr val="EDF1F5"/>
          </a:solidFill>
          <a:ln w="12700">
            <a:solidFill>
              <a:srgbClr val="EDF1F5"/>
            </a:solidFill>
            <a:prstDash val="solid"/>
          </a:ln>
        </p:spPr>
      </p:sp>
      <p:sp>
        <p:nvSpPr>
          <p:cNvPr id="12" name="Text 10"/>
          <p:cNvSpPr/>
          <p:nvPr/>
        </p:nvSpPr>
        <p:spPr>
          <a:xfrm>
            <a:off x="7955280" y="2249424"/>
            <a:ext cx="3291840" cy="256032"/>
          </a:xfrm>
          <a:prstGeom prst="rect">
            <a:avLst/>
          </a:prstGeom>
          <a:noFill/>
          <a:ln/>
        </p:spPr>
        <p:txBody>
          <a:bodyPr wrap="square" lIns="0" tIns="0" rIns="0" bIns="0" rtlCol="0" anchor="ctr"/>
          <a:lstStyle/>
          <a:p>
            <a:pPr algn="ctr" indent="0" marL="0">
              <a:buNone/>
            </a:pPr>
            <a:r>
              <a:rPr lang="en-US" sz="1300" b="1" dirty="0">
                <a:solidFill>
                  <a:srgbClr val="B07A16"/>
                </a:solidFill>
                <a:latin typeface="Calibri" pitchFamily="34" charset="0"/>
                <a:ea typeface="Calibri" pitchFamily="34" charset="-122"/>
                <a:cs typeface="Calibri" pitchFamily="34" charset="-120"/>
              </a:rPr>
              <a:t>RBI Master Direction</a:t>
            </a:r>
            <a:endParaRPr lang="en-US" sz="1300" dirty="0"/>
          </a:p>
        </p:txBody>
      </p:sp>
      <p:sp>
        <p:nvSpPr>
          <p:cNvPr id="13" name="Text 11"/>
          <p:cNvSpPr/>
          <p:nvPr/>
        </p:nvSpPr>
        <p:spPr>
          <a:xfrm>
            <a:off x="8046720" y="2523744"/>
            <a:ext cx="3108960" cy="237744"/>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daily product · nearest rupee · ₹1 lakh</a:t>
            </a:r>
            <a:endParaRPr lang="en-US" sz="1000" dirty="0"/>
          </a:p>
        </p:txBody>
      </p:sp>
      <p:sp>
        <p:nvSpPr>
          <p:cNvPr id="14" name="Text 12"/>
          <p:cNvSpPr/>
          <p:nvPr/>
        </p:nvSpPr>
        <p:spPr>
          <a:xfrm>
            <a:off x="7955280" y="1901952"/>
            <a:ext cx="3291840" cy="219456"/>
          </a:xfrm>
          <a:prstGeom prst="rect">
            <a:avLst/>
          </a:prstGeom>
          <a:noFill/>
          <a:ln/>
        </p:spPr>
        <p:txBody>
          <a:bodyPr wrap="square" lIns="0" tIns="0" rIns="0" bIns="0" rtlCol="0" anchor="ctr"/>
          <a:lstStyle/>
          <a:p>
            <a:pPr algn="ctr" indent="0" marL="0">
              <a:buNone/>
            </a:pPr>
            <a:r>
              <a:rPr lang="en-US" sz="900" b="1" spc="120" kern="0" dirty="0">
                <a:solidFill>
                  <a:srgbClr val="B07A16"/>
                </a:solidFill>
                <a:latin typeface="Calibri" pitchFamily="34" charset="0"/>
                <a:ea typeface="Calibri" pitchFamily="34" charset="-122"/>
                <a:cs typeface="Calibri" pitchFamily="34" charset="-120"/>
              </a:rPr>
              <a:t>OUR ADDITION</a:t>
            </a:r>
            <a:endParaRPr lang="en-US" sz="900" dirty="0"/>
          </a:p>
        </p:txBody>
      </p:sp>
      <p:sp>
        <p:nvSpPr>
          <p:cNvPr id="15" name="Shape 13"/>
          <p:cNvSpPr/>
          <p:nvPr/>
        </p:nvSpPr>
        <p:spPr>
          <a:xfrm>
            <a:off x="2212848" y="2852928"/>
            <a:ext cx="0" cy="256032"/>
          </a:xfrm>
          <a:prstGeom prst="line">
            <a:avLst/>
          </a:prstGeom>
          <a:noFill/>
          <a:ln w="19050">
            <a:solidFill>
              <a:srgbClr val="D5DCE3"/>
            </a:solidFill>
            <a:prstDash val="solid"/>
          </a:ln>
        </p:spPr>
      </p:sp>
      <p:sp>
        <p:nvSpPr>
          <p:cNvPr id="16" name="Shape 14"/>
          <p:cNvSpPr/>
          <p:nvPr/>
        </p:nvSpPr>
        <p:spPr>
          <a:xfrm>
            <a:off x="5907024" y="2852928"/>
            <a:ext cx="0" cy="256032"/>
          </a:xfrm>
          <a:prstGeom prst="line">
            <a:avLst/>
          </a:prstGeom>
          <a:noFill/>
          <a:ln w="19050">
            <a:solidFill>
              <a:srgbClr val="D5DCE3"/>
            </a:solidFill>
            <a:prstDash val="solid"/>
          </a:ln>
        </p:spPr>
      </p:sp>
      <p:sp>
        <p:nvSpPr>
          <p:cNvPr id="17" name="Shape 15"/>
          <p:cNvSpPr/>
          <p:nvPr/>
        </p:nvSpPr>
        <p:spPr>
          <a:xfrm>
            <a:off x="9601200" y="2852928"/>
            <a:ext cx="0" cy="256032"/>
          </a:xfrm>
          <a:prstGeom prst="line">
            <a:avLst/>
          </a:prstGeom>
          <a:noFill/>
          <a:ln w="19050">
            <a:solidFill>
              <a:srgbClr val="D5DCE3"/>
            </a:solidFill>
            <a:prstDash val="solid"/>
          </a:ln>
        </p:spPr>
      </p:sp>
      <p:sp>
        <p:nvSpPr>
          <p:cNvPr id="18" name="Shape 16"/>
          <p:cNvSpPr/>
          <p:nvPr/>
        </p:nvSpPr>
        <p:spPr>
          <a:xfrm>
            <a:off x="2212848" y="3108960"/>
            <a:ext cx="9436608" cy="0"/>
          </a:xfrm>
          <a:prstGeom prst="line">
            <a:avLst/>
          </a:prstGeom>
          <a:noFill/>
          <a:ln w="19050">
            <a:solidFill>
              <a:srgbClr val="D5DCE3"/>
            </a:solidFill>
            <a:prstDash val="solid"/>
          </a:ln>
        </p:spPr>
      </p:sp>
      <p:sp>
        <p:nvSpPr>
          <p:cNvPr id="19" name="Shape 17"/>
          <p:cNvSpPr/>
          <p:nvPr/>
        </p:nvSpPr>
        <p:spPr>
          <a:xfrm>
            <a:off x="5980176" y="3108960"/>
            <a:ext cx="237744" cy="219456"/>
          </a:xfrm>
          <a:prstGeom prst="downArrow">
            <a:avLst/>
          </a:prstGeom>
          <a:solidFill>
            <a:srgbClr val="D5DCE3"/>
          </a:solidFill>
          <a:ln w="12700">
            <a:solidFill>
              <a:srgbClr val="D5DCE3"/>
            </a:solidFill>
            <a:prstDash val="solid"/>
          </a:ln>
        </p:spPr>
      </p:sp>
      <p:sp>
        <p:nvSpPr>
          <p:cNvPr id="20" name="Shape 18"/>
          <p:cNvSpPr/>
          <p:nvPr/>
        </p:nvSpPr>
        <p:spPr>
          <a:xfrm>
            <a:off x="4480560" y="3401568"/>
            <a:ext cx="3246120" cy="402336"/>
          </a:xfrm>
          <a:prstGeom prst="roundRect">
            <a:avLst>
              <a:gd name="adj" fmla="val 13636"/>
            </a:avLst>
          </a:prstGeom>
          <a:solidFill>
            <a:srgbClr val="EDF1F5"/>
          </a:solidFill>
          <a:ln w="12700">
            <a:solidFill>
              <a:srgbClr val="EDF1F5"/>
            </a:solidFill>
            <a:prstDash val="solid"/>
          </a:ln>
        </p:spPr>
      </p:sp>
      <p:sp>
        <p:nvSpPr>
          <p:cNvPr id="21" name="Text 19"/>
          <p:cNvSpPr/>
          <p:nvPr/>
        </p:nvSpPr>
        <p:spPr>
          <a:xfrm>
            <a:off x="4480560" y="3401568"/>
            <a:ext cx="3246120" cy="402336"/>
          </a:xfrm>
          <a:prstGeom prst="rect">
            <a:avLst/>
          </a:prstGeom>
          <a:noFill/>
          <a:ln/>
        </p:spPr>
        <p:txBody>
          <a:bodyPr wrap="square" lIns="0" tIns="0" rIns="0" bIns="0" rtlCol="0" anchor="ctr"/>
          <a:lstStyle/>
          <a:p>
            <a:pPr algn="ctr" indent="0" marL="0">
              <a:buNone/>
            </a:pPr>
            <a:r>
              <a:rPr lang="en-US" sz="1300" b="1" dirty="0">
                <a:solidFill>
                  <a:srgbClr val="0E2033"/>
                </a:solidFill>
                <a:latin typeface="Calibri" pitchFamily="34" charset="0"/>
                <a:ea typeface="Calibri" pitchFamily="34" charset="-122"/>
                <a:cs typeface="Calibri" pitchFamily="34" charset="-120"/>
              </a:rPr>
              <a:t>Same input, three outputs</a:t>
            </a:r>
            <a:endParaRPr lang="en-US" sz="1300" dirty="0"/>
          </a:p>
        </p:txBody>
      </p:sp>
      <p:sp>
        <p:nvSpPr>
          <p:cNvPr id="22" name="Shape 20"/>
          <p:cNvSpPr/>
          <p:nvPr/>
        </p:nvSpPr>
        <p:spPr>
          <a:xfrm>
            <a:off x="6099048" y="3803904"/>
            <a:ext cx="0" cy="182880"/>
          </a:xfrm>
          <a:prstGeom prst="line">
            <a:avLst/>
          </a:prstGeom>
          <a:noFill/>
          <a:ln w="19050">
            <a:solidFill>
              <a:srgbClr val="D5DCE3"/>
            </a:solidFill>
            <a:prstDash val="solid"/>
          </a:ln>
        </p:spPr>
      </p:sp>
      <p:sp>
        <p:nvSpPr>
          <p:cNvPr id="23" name="Shape 21"/>
          <p:cNvSpPr/>
          <p:nvPr/>
        </p:nvSpPr>
        <p:spPr>
          <a:xfrm>
            <a:off x="1901952" y="3986784"/>
            <a:ext cx="8394192" cy="0"/>
          </a:xfrm>
          <a:prstGeom prst="line">
            <a:avLst/>
          </a:prstGeom>
          <a:noFill/>
          <a:ln w="19050">
            <a:solidFill>
              <a:srgbClr val="D5DCE3"/>
            </a:solidFill>
            <a:prstDash val="solid"/>
          </a:ln>
        </p:spPr>
      </p:sp>
      <p:sp>
        <p:nvSpPr>
          <p:cNvPr id="24" name="Shape 22"/>
          <p:cNvSpPr/>
          <p:nvPr/>
        </p:nvSpPr>
        <p:spPr>
          <a:xfrm>
            <a:off x="1901952" y="3986784"/>
            <a:ext cx="0" cy="182880"/>
          </a:xfrm>
          <a:prstGeom prst="line">
            <a:avLst/>
          </a:prstGeom>
          <a:noFill/>
          <a:ln w="19050">
            <a:solidFill>
              <a:srgbClr val="D5DCE3"/>
            </a:solidFill>
            <a:prstDash val="solid"/>
          </a:ln>
        </p:spPr>
      </p:sp>
      <p:sp>
        <p:nvSpPr>
          <p:cNvPr id="25" name="Shape 23"/>
          <p:cNvSpPr/>
          <p:nvPr/>
        </p:nvSpPr>
        <p:spPr>
          <a:xfrm>
            <a:off x="1783080" y="4059936"/>
            <a:ext cx="237744" cy="182880"/>
          </a:xfrm>
          <a:prstGeom prst="downArrow">
            <a:avLst/>
          </a:prstGeom>
          <a:solidFill>
            <a:srgbClr val="D5DCE3"/>
          </a:solidFill>
          <a:ln w="12700">
            <a:solidFill>
              <a:srgbClr val="D5DCE3"/>
            </a:solidFill>
            <a:prstDash val="solid"/>
          </a:ln>
        </p:spPr>
      </p:sp>
      <p:sp>
        <p:nvSpPr>
          <p:cNvPr id="26" name="Shape 24"/>
          <p:cNvSpPr/>
          <p:nvPr/>
        </p:nvSpPr>
        <p:spPr>
          <a:xfrm>
            <a:off x="566928" y="4315968"/>
            <a:ext cx="2670048" cy="1463040"/>
          </a:xfrm>
          <a:prstGeom prst="roundRect">
            <a:avLst>
              <a:gd name="adj" fmla="val 3750"/>
            </a:avLst>
          </a:prstGeom>
          <a:solidFill>
            <a:srgbClr val="EDF1F5"/>
          </a:solidFill>
          <a:ln w="12700">
            <a:solidFill>
              <a:srgbClr val="EDF1F5"/>
            </a:solidFill>
            <a:prstDash val="solid"/>
          </a:ln>
        </p:spPr>
      </p:sp>
      <p:sp>
        <p:nvSpPr>
          <p:cNvPr id="27" name="Text 25"/>
          <p:cNvSpPr/>
          <p:nvPr/>
        </p:nvSpPr>
        <p:spPr>
          <a:xfrm>
            <a:off x="694944" y="4425696"/>
            <a:ext cx="2414016" cy="237744"/>
          </a:xfrm>
          <a:prstGeom prst="rect">
            <a:avLst/>
          </a:prstGeom>
          <a:noFill/>
          <a:ln/>
        </p:spPr>
        <p:txBody>
          <a:bodyPr wrap="square" lIns="0" tIns="0" rIns="0" bIns="0" rtlCol="0" anchor="ctr"/>
          <a:lstStyle/>
          <a:p>
            <a:pPr algn="ctr" indent="0" marL="0">
              <a:buNone/>
            </a:pPr>
            <a:r>
              <a:rPr lang="en-US" sz="1150" b="1" dirty="0">
                <a:solidFill>
                  <a:srgbClr val="6B7785"/>
                </a:solidFill>
                <a:latin typeface="Consolas" pitchFamily="34" charset="0"/>
                <a:ea typeface="Consolas" pitchFamily="34" charset="-122"/>
                <a:cs typeface="Consolas" pitchFamily="34" charset="-120"/>
              </a:rPr>
              <a:t>L = R = Reg</a:t>
            </a:r>
            <a:endParaRPr lang="en-US" sz="1150" dirty="0"/>
          </a:p>
        </p:txBody>
      </p:sp>
      <p:sp>
        <p:nvSpPr>
          <p:cNvPr id="28" name="Text 26"/>
          <p:cNvSpPr/>
          <p:nvPr/>
        </p:nvSpPr>
        <p:spPr>
          <a:xfrm>
            <a:off x="694944" y="4700016"/>
            <a:ext cx="2414016" cy="274320"/>
          </a:xfrm>
          <a:prstGeom prst="rect">
            <a:avLst/>
          </a:prstGeom>
          <a:noFill/>
          <a:ln/>
        </p:spPr>
        <p:txBody>
          <a:bodyPr wrap="square" lIns="0" tIns="0" rIns="0" bIns="0" rtlCol="0" anchor="ctr"/>
          <a:lstStyle/>
          <a:p>
            <a:pPr algn="ctr" indent="0" marL="0">
              <a:buNone/>
            </a:pPr>
            <a:r>
              <a:rPr lang="en-US" sz="1500" b="1" dirty="0">
                <a:solidFill>
                  <a:srgbClr val="0E2033"/>
                </a:solidFill>
                <a:latin typeface="Cambria" pitchFamily="34" charset="0"/>
                <a:ea typeface="Cambria" pitchFamily="34" charset="-122"/>
                <a:cs typeface="Cambria" pitchFamily="34" charset="-120"/>
              </a:rPr>
              <a:t>Verified compliant</a:t>
            </a:r>
            <a:endParaRPr lang="en-US" sz="1500" dirty="0"/>
          </a:p>
        </p:txBody>
      </p:sp>
      <p:sp>
        <p:nvSpPr>
          <p:cNvPr id="29" name="Text 27"/>
          <p:cNvSpPr/>
          <p:nvPr/>
        </p:nvSpPr>
        <p:spPr>
          <a:xfrm>
            <a:off x="713232" y="5029200"/>
            <a:ext cx="2377440" cy="676656"/>
          </a:xfrm>
          <a:prstGeom prst="rect">
            <a:avLst/>
          </a:prstGeom>
          <a:noFill/>
          <a:ln/>
        </p:spPr>
        <p:txBody>
          <a:bodyPr wrap="square" lIns="0" tIns="0" rIns="0" bIns="0" rtlCol="0" anchor="ctr"/>
          <a:lstStyle/>
          <a:p>
            <a:pPr algn="ctr" indent="0" marL="0">
              <a:lnSpc>
                <a:spcPts val="1400"/>
              </a:lnSpc>
              <a:buNone/>
            </a:pPr>
            <a:r>
              <a:rPr lang="en-US" sz="1050" dirty="0">
                <a:solidFill>
                  <a:srgbClr val="6B7785"/>
                </a:solidFill>
                <a:latin typeface="Calibri" pitchFamily="34" charset="0"/>
                <a:ea typeface="Calibri" pitchFamily="34" charset="-122"/>
                <a:cs typeface="Calibri" pitchFamily="34" charset="-120"/>
              </a:rPr>
              <a:t>Nothing to do. What a sign-off is actually made of.</a:t>
            </a:r>
            <a:endParaRPr lang="en-US" sz="1050" dirty="0"/>
          </a:p>
        </p:txBody>
      </p:sp>
      <p:sp>
        <p:nvSpPr>
          <p:cNvPr id="30" name="Shape 28"/>
          <p:cNvSpPr/>
          <p:nvPr/>
        </p:nvSpPr>
        <p:spPr>
          <a:xfrm>
            <a:off x="4709160" y="3986784"/>
            <a:ext cx="0" cy="182880"/>
          </a:xfrm>
          <a:prstGeom prst="line">
            <a:avLst/>
          </a:prstGeom>
          <a:noFill/>
          <a:ln w="19050">
            <a:solidFill>
              <a:srgbClr val="D5DCE3"/>
            </a:solidFill>
            <a:prstDash val="solid"/>
          </a:ln>
        </p:spPr>
      </p:sp>
      <p:sp>
        <p:nvSpPr>
          <p:cNvPr id="31" name="Shape 29"/>
          <p:cNvSpPr/>
          <p:nvPr/>
        </p:nvSpPr>
        <p:spPr>
          <a:xfrm>
            <a:off x="4590288" y="4059936"/>
            <a:ext cx="237744" cy="182880"/>
          </a:xfrm>
          <a:prstGeom prst="downArrow">
            <a:avLst/>
          </a:prstGeom>
          <a:solidFill>
            <a:srgbClr val="D5DCE3"/>
          </a:solidFill>
          <a:ln w="12700">
            <a:solidFill>
              <a:srgbClr val="D5DCE3"/>
            </a:solidFill>
            <a:prstDash val="solid"/>
          </a:ln>
        </p:spPr>
      </p:sp>
      <p:sp>
        <p:nvSpPr>
          <p:cNvPr id="32" name="Shape 30"/>
          <p:cNvSpPr/>
          <p:nvPr/>
        </p:nvSpPr>
        <p:spPr>
          <a:xfrm>
            <a:off x="3374136" y="4315968"/>
            <a:ext cx="2670048" cy="1463040"/>
          </a:xfrm>
          <a:prstGeom prst="roundRect">
            <a:avLst>
              <a:gd name="adj" fmla="val 3750"/>
            </a:avLst>
          </a:prstGeom>
          <a:solidFill>
            <a:srgbClr val="EDF1F5"/>
          </a:solidFill>
          <a:ln w="12700">
            <a:solidFill>
              <a:srgbClr val="EDF1F5"/>
            </a:solidFill>
            <a:prstDash val="solid"/>
          </a:ln>
        </p:spPr>
      </p:sp>
      <p:sp>
        <p:nvSpPr>
          <p:cNvPr id="33" name="Text 31"/>
          <p:cNvSpPr/>
          <p:nvPr/>
        </p:nvSpPr>
        <p:spPr>
          <a:xfrm>
            <a:off x="3502152" y="4425696"/>
            <a:ext cx="2414016" cy="237744"/>
          </a:xfrm>
          <a:prstGeom prst="rect">
            <a:avLst/>
          </a:prstGeom>
          <a:noFill/>
          <a:ln/>
        </p:spPr>
        <p:txBody>
          <a:bodyPr wrap="square" lIns="0" tIns="0" rIns="0" bIns="0" rtlCol="0" anchor="ctr"/>
          <a:lstStyle/>
          <a:p>
            <a:pPr algn="ctr" indent="0" marL="0">
              <a:buNone/>
            </a:pPr>
            <a:r>
              <a:rPr lang="en-US" sz="1150" b="1" dirty="0">
                <a:solidFill>
                  <a:srgbClr val="6B7785"/>
                </a:solidFill>
                <a:latin typeface="Consolas" pitchFamily="34" charset="0"/>
                <a:ea typeface="Consolas" pitchFamily="34" charset="-122"/>
                <a:cs typeface="Consolas" pitchFamily="34" charset="-120"/>
              </a:rPr>
              <a:t>L ≠ R</a:t>
            </a:r>
            <a:endParaRPr lang="en-US" sz="1150" dirty="0"/>
          </a:p>
        </p:txBody>
      </p:sp>
      <p:sp>
        <p:nvSpPr>
          <p:cNvPr id="34" name="Text 32"/>
          <p:cNvSpPr/>
          <p:nvPr/>
        </p:nvSpPr>
        <p:spPr>
          <a:xfrm>
            <a:off x="3502152" y="4700016"/>
            <a:ext cx="2414016" cy="274320"/>
          </a:xfrm>
          <a:prstGeom prst="rect">
            <a:avLst/>
          </a:prstGeom>
          <a:noFill/>
          <a:ln/>
        </p:spPr>
        <p:txBody>
          <a:bodyPr wrap="square" lIns="0" tIns="0" rIns="0" bIns="0" rtlCol="0" anchor="ctr"/>
          <a:lstStyle/>
          <a:p>
            <a:pPr algn="ctr" indent="0" marL="0">
              <a:buNone/>
            </a:pPr>
            <a:r>
              <a:rPr lang="en-US" sz="1500" b="1" dirty="0">
                <a:solidFill>
                  <a:srgbClr val="0E2033"/>
                </a:solidFill>
                <a:latin typeface="Cambria" pitchFamily="34" charset="0"/>
                <a:ea typeface="Cambria" pitchFamily="34" charset="-122"/>
                <a:cs typeface="Cambria" pitchFamily="34" charset="-120"/>
              </a:rPr>
              <a:t>Translation defect</a:t>
            </a:r>
            <a:endParaRPr lang="en-US" sz="1500" dirty="0"/>
          </a:p>
        </p:txBody>
      </p:sp>
      <p:sp>
        <p:nvSpPr>
          <p:cNvPr id="35" name="Text 33"/>
          <p:cNvSpPr/>
          <p:nvPr/>
        </p:nvSpPr>
        <p:spPr>
          <a:xfrm>
            <a:off x="3520440" y="5029200"/>
            <a:ext cx="2377440" cy="676656"/>
          </a:xfrm>
          <a:prstGeom prst="rect">
            <a:avLst/>
          </a:prstGeom>
          <a:noFill/>
          <a:ln/>
        </p:spPr>
        <p:txBody>
          <a:bodyPr wrap="square" lIns="0" tIns="0" rIns="0" bIns="0" rtlCol="0" anchor="ctr"/>
          <a:lstStyle/>
          <a:p>
            <a:pPr algn="ctr" indent="0" marL="0">
              <a:lnSpc>
                <a:spcPts val="1400"/>
              </a:lnSpc>
              <a:buNone/>
            </a:pPr>
            <a:r>
              <a:rPr lang="en-US" sz="1050" dirty="0">
                <a:solidFill>
                  <a:srgbClr val="6B7785"/>
                </a:solidFill>
                <a:latin typeface="Calibri" pitchFamily="34" charset="0"/>
                <a:ea typeface="Calibri" pitchFamily="34" charset="-122"/>
                <a:cs typeface="Calibri" pitchFamily="34" charset="-120"/>
              </a:rPr>
              <a:t>The rewrite is wrong. The only cell a two-way tool sees.</a:t>
            </a:r>
            <a:endParaRPr lang="en-US" sz="1050" dirty="0"/>
          </a:p>
        </p:txBody>
      </p:sp>
      <p:sp>
        <p:nvSpPr>
          <p:cNvPr id="36" name="Shape 34"/>
          <p:cNvSpPr/>
          <p:nvPr/>
        </p:nvSpPr>
        <p:spPr>
          <a:xfrm>
            <a:off x="7516368" y="3986784"/>
            <a:ext cx="0" cy="182880"/>
          </a:xfrm>
          <a:prstGeom prst="line">
            <a:avLst/>
          </a:prstGeom>
          <a:noFill/>
          <a:ln w="19050">
            <a:solidFill>
              <a:srgbClr val="D5DCE3"/>
            </a:solidFill>
            <a:prstDash val="solid"/>
          </a:ln>
        </p:spPr>
      </p:sp>
      <p:sp>
        <p:nvSpPr>
          <p:cNvPr id="37" name="Shape 35"/>
          <p:cNvSpPr/>
          <p:nvPr/>
        </p:nvSpPr>
        <p:spPr>
          <a:xfrm>
            <a:off x="7397496" y="4059936"/>
            <a:ext cx="237744" cy="182880"/>
          </a:xfrm>
          <a:prstGeom prst="downArrow">
            <a:avLst/>
          </a:prstGeom>
          <a:solidFill>
            <a:srgbClr val="D5DCE3"/>
          </a:solidFill>
          <a:ln w="12700">
            <a:solidFill>
              <a:srgbClr val="D5DCE3"/>
            </a:solidFill>
            <a:prstDash val="solid"/>
          </a:ln>
        </p:spPr>
      </p:sp>
      <p:sp>
        <p:nvSpPr>
          <p:cNvPr id="38" name="Shape 36"/>
          <p:cNvSpPr/>
          <p:nvPr/>
        </p:nvSpPr>
        <p:spPr>
          <a:xfrm>
            <a:off x="6181344" y="4315968"/>
            <a:ext cx="2670048" cy="1463040"/>
          </a:xfrm>
          <a:prstGeom prst="roundRect">
            <a:avLst>
              <a:gd name="adj" fmla="val 3750"/>
            </a:avLst>
          </a:prstGeom>
          <a:solidFill>
            <a:srgbClr val="EDF1F5"/>
          </a:solidFill>
          <a:ln w="12700">
            <a:solidFill>
              <a:srgbClr val="EDF1F5"/>
            </a:solidFill>
            <a:prstDash val="solid"/>
          </a:ln>
        </p:spPr>
      </p:sp>
      <p:sp>
        <p:nvSpPr>
          <p:cNvPr id="39" name="Text 37"/>
          <p:cNvSpPr/>
          <p:nvPr/>
        </p:nvSpPr>
        <p:spPr>
          <a:xfrm>
            <a:off x="6309360" y="4425696"/>
            <a:ext cx="2414016" cy="237744"/>
          </a:xfrm>
          <a:prstGeom prst="rect">
            <a:avLst/>
          </a:prstGeom>
          <a:noFill/>
          <a:ln/>
        </p:spPr>
        <p:txBody>
          <a:bodyPr wrap="square" lIns="0" tIns="0" rIns="0" bIns="0" rtlCol="0" anchor="ctr"/>
          <a:lstStyle/>
          <a:p>
            <a:pPr algn="ctr" indent="0" marL="0">
              <a:buNone/>
            </a:pPr>
            <a:r>
              <a:rPr lang="en-US" sz="1150" b="1" dirty="0">
                <a:solidFill>
                  <a:srgbClr val="B07A16"/>
                </a:solidFill>
                <a:latin typeface="Consolas" pitchFamily="34" charset="0"/>
                <a:ea typeface="Consolas" pitchFamily="34" charset="-122"/>
                <a:cs typeface="Consolas" pitchFamily="34" charset="-120"/>
              </a:rPr>
              <a:t>L = R ≠ Reg</a:t>
            </a:r>
            <a:endParaRPr lang="en-US" sz="1150" dirty="0"/>
          </a:p>
        </p:txBody>
      </p:sp>
      <p:sp>
        <p:nvSpPr>
          <p:cNvPr id="40" name="Text 38"/>
          <p:cNvSpPr/>
          <p:nvPr/>
        </p:nvSpPr>
        <p:spPr>
          <a:xfrm>
            <a:off x="6309360" y="4700016"/>
            <a:ext cx="2414016" cy="274320"/>
          </a:xfrm>
          <a:prstGeom prst="rect">
            <a:avLst/>
          </a:prstGeom>
          <a:noFill/>
          <a:ln/>
        </p:spPr>
        <p:txBody>
          <a:bodyPr wrap="square" lIns="0" tIns="0" rIns="0" bIns="0" rtlCol="0" anchor="ctr"/>
          <a:lstStyle/>
          <a:p>
            <a:pPr algn="ctr" indent="0" marL="0">
              <a:buNone/>
            </a:pPr>
            <a:r>
              <a:rPr lang="en-US" sz="1500" b="1" dirty="0">
                <a:solidFill>
                  <a:srgbClr val="B07A16"/>
                </a:solidFill>
                <a:latin typeface="Cambria" pitchFamily="34" charset="0"/>
                <a:ea typeface="Cambria" pitchFamily="34" charset="-122"/>
                <a:cs typeface="Cambria" pitchFamily="34" charset="-120"/>
              </a:rPr>
              <a:t>Inherited breach</a:t>
            </a:r>
            <a:endParaRPr lang="en-US" sz="1500" dirty="0"/>
          </a:p>
        </p:txBody>
      </p:sp>
      <p:sp>
        <p:nvSpPr>
          <p:cNvPr id="41" name="Text 39"/>
          <p:cNvSpPr/>
          <p:nvPr/>
        </p:nvSpPr>
        <p:spPr>
          <a:xfrm>
            <a:off x="6327648" y="5029200"/>
            <a:ext cx="2377440" cy="676656"/>
          </a:xfrm>
          <a:prstGeom prst="rect">
            <a:avLst/>
          </a:prstGeom>
          <a:noFill/>
          <a:ln/>
        </p:spPr>
        <p:txBody>
          <a:bodyPr wrap="square" lIns="0" tIns="0" rIns="0" bIns="0" rtlCol="0" anchor="ctr"/>
          <a:lstStyle/>
          <a:p>
            <a:pPr algn="ctr" indent="0" marL="0">
              <a:lnSpc>
                <a:spcPts val="1400"/>
              </a:lnSpc>
              <a:buNone/>
            </a:pPr>
            <a:r>
              <a:rPr lang="en-US" sz="1050" dirty="0">
                <a:solidFill>
                  <a:srgbClr val="6B7785"/>
                </a:solidFill>
                <a:latin typeface="Calibri" pitchFamily="34" charset="0"/>
                <a:ea typeface="Calibri" pitchFamily="34" charset="-122"/>
                <a:cs typeface="Calibri" pitchFamily="34" charset="-120"/>
              </a:rPr>
              <a:t>Both agree, and both breach. Invisible to everyone else.</a:t>
            </a:r>
            <a:endParaRPr lang="en-US" sz="1050" dirty="0"/>
          </a:p>
        </p:txBody>
      </p:sp>
      <p:sp>
        <p:nvSpPr>
          <p:cNvPr id="42" name="Shape 40"/>
          <p:cNvSpPr/>
          <p:nvPr/>
        </p:nvSpPr>
        <p:spPr>
          <a:xfrm>
            <a:off x="10323576" y="3986784"/>
            <a:ext cx="0" cy="182880"/>
          </a:xfrm>
          <a:prstGeom prst="line">
            <a:avLst/>
          </a:prstGeom>
          <a:noFill/>
          <a:ln w="19050">
            <a:solidFill>
              <a:srgbClr val="D5DCE3"/>
            </a:solidFill>
            <a:prstDash val="solid"/>
          </a:ln>
        </p:spPr>
      </p:sp>
      <p:sp>
        <p:nvSpPr>
          <p:cNvPr id="43" name="Shape 41"/>
          <p:cNvSpPr/>
          <p:nvPr/>
        </p:nvSpPr>
        <p:spPr>
          <a:xfrm>
            <a:off x="10204704" y="4059936"/>
            <a:ext cx="237744" cy="182880"/>
          </a:xfrm>
          <a:prstGeom prst="downArrow">
            <a:avLst/>
          </a:prstGeom>
          <a:solidFill>
            <a:srgbClr val="D5DCE3"/>
          </a:solidFill>
          <a:ln w="12700">
            <a:solidFill>
              <a:srgbClr val="D5DCE3"/>
            </a:solidFill>
            <a:prstDash val="solid"/>
          </a:ln>
        </p:spPr>
      </p:sp>
      <p:sp>
        <p:nvSpPr>
          <p:cNvPr id="44" name="Shape 42"/>
          <p:cNvSpPr/>
          <p:nvPr/>
        </p:nvSpPr>
        <p:spPr>
          <a:xfrm>
            <a:off x="8988552" y="4315968"/>
            <a:ext cx="2670048" cy="1463040"/>
          </a:xfrm>
          <a:prstGeom prst="roundRect">
            <a:avLst>
              <a:gd name="adj" fmla="val 3750"/>
            </a:avLst>
          </a:prstGeom>
          <a:solidFill>
            <a:srgbClr val="EDF1F5"/>
          </a:solidFill>
          <a:ln w="12700">
            <a:solidFill>
              <a:srgbClr val="EDF1F5"/>
            </a:solidFill>
            <a:prstDash val="solid"/>
          </a:ln>
        </p:spPr>
      </p:sp>
      <p:sp>
        <p:nvSpPr>
          <p:cNvPr id="45" name="Text 43"/>
          <p:cNvSpPr/>
          <p:nvPr/>
        </p:nvSpPr>
        <p:spPr>
          <a:xfrm>
            <a:off x="9116568" y="4425696"/>
            <a:ext cx="2414016" cy="237744"/>
          </a:xfrm>
          <a:prstGeom prst="rect">
            <a:avLst/>
          </a:prstGeom>
          <a:noFill/>
          <a:ln/>
        </p:spPr>
        <p:txBody>
          <a:bodyPr wrap="square" lIns="0" tIns="0" rIns="0" bIns="0" rtlCol="0" anchor="ctr"/>
          <a:lstStyle/>
          <a:p>
            <a:pPr algn="ctr" indent="0" marL="0">
              <a:buNone/>
            </a:pPr>
            <a:r>
              <a:rPr lang="en-US" sz="1150" b="1" dirty="0">
                <a:solidFill>
                  <a:srgbClr val="6B7785"/>
                </a:solidFill>
                <a:latin typeface="Consolas" pitchFamily="34" charset="0"/>
                <a:ea typeface="Consolas" pitchFamily="34" charset="-122"/>
                <a:cs typeface="Consolas" pitchFamily="34" charset="-120"/>
              </a:rPr>
              <a:t>L ≠ R = Reg</a:t>
            </a:r>
            <a:endParaRPr lang="en-US" sz="1150" dirty="0"/>
          </a:p>
        </p:txBody>
      </p:sp>
      <p:sp>
        <p:nvSpPr>
          <p:cNvPr id="46" name="Text 44"/>
          <p:cNvSpPr/>
          <p:nvPr/>
        </p:nvSpPr>
        <p:spPr>
          <a:xfrm>
            <a:off x="9116568" y="4700016"/>
            <a:ext cx="2414016" cy="274320"/>
          </a:xfrm>
          <a:prstGeom prst="rect">
            <a:avLst/>
          </a:prstGeom>
          <a:noFill/>
          <a:ln/>
        </p:spPr>
        <p:txBody>
          <a:bodyPr wrap="square" lIns="0" tIns="0" rIns="0" bIns="0" rtlCol="0" anchor="ctr"/>
          <a:lstStyle/>
          <a:p>
            <a:pPr algn="ctr" indent="0" marL="0">
              <a:buNone/>
            </a:pPr>
            <a:r>
              <a:rPr lang="en-US" sz="1500" b="1" dirty="0">
                <a:solidFill>
                  <a:srgbClr val="0E2033"/>
                </a:solidFill>
                <a:latin typeface="Cambria" pitchFamily="34" charset="0"/>
                <a:ea typeface="Cambria" pitchFamily="34" charset="-122"/>
                <a:cs typeface="Cambria" pitchFamily="34" charset="-120"/>
              </a:rPr>
              <a:t>Silent correction</a:t>
            </a:r>
            <a:endParaRPr lang="en-US" sz="1500" dirty="0"/>
          </a:p>
        </p:txBody>
      </p:sp>
      <p:sp>
        <p:nvSpPr>
          <p:cNvPr id="47" name="Text 45"/>
          <p:cNvSpPr/>
          <p:nvPr/>
        </p:nvSpPr>
        <p:spPr>
          <a:xfrm>
            <a:off x="9134856" y="5029200"/>
            <a:ext cx="2377440" cy="676656"/>
          </a:xfrm>
          <a:prstGeom prst="rect">
            <a:avLst/>
          </a:prstGeom>
          <a:noFill/>
          <a:ln/>
        </p:spPr>
        <p:txBody>
          <a:bodyPr wrap="square" lIns="0" tIns="0" rIns="0" bIns="0" rtlCol="0" anchor="ctr"/>
          <a:lstStyle/>
          <a:p>
            <a:pPr algn="ctr" indent="0" marL="0">
              <a:lnSpc>
                <a:spcPts val="1400"/>
              </a:lnSpc>
              <a:buNone/>
            </a:pPr>
            <a:r>
              <a:rPr lang="en-US" sz="1050" dirty="0">
                <a:solidFill>
                  <a:srgbClr val="6B7785"/>
                </a:solidFill>
                <a:latin typeface="Calibri" pitchFamily="34" charset="0"/>
                <a:ea typeface="Calibri" pitchFamily="34" charset="-122"/>
                <a:cs typeface="Calibri" pitchFamily="34" charset="-120"/>
              </a:rPr>
              <a:t>The rewrite "fixed" it. The books change at cutover.</a:t>
            </a:r>
            <a:endParaRPr lang="en-US" sz="1050" dirty="0"/>
          </a:p>
        </p:txBody>
      </p:sp>
      <p:sp>
        <p:nvSpPr>
          <p:cNvPr id="48" name="Text 46"/>
          <p:cNvSpPr/>
          <p:nvPr/>
        </p:nvSpPr>
        <p:spPr>
          <a:xfrm>
            <a:off x="566928" y="6327648"/>
            <a:ext cx="11057839" cy="292608"/>
          </a:xfrm>
          <a:prstGeom prst="rect">
            <a:avLst/>
          </a:prstGeom>
          <a:noFill/>
          <a:ln/>
        </p:spPr>
        <p:txBody>
          <a:bodyPr wrap="square" lIns="0" tIns="0" rIns="0" bIns="0" rtlCol="0" anchor="ctr"/>
          <a:lstStyle/>
          <a:p>
            <a:pPr indent="0" marL="0">
              <a:lnSpc>
                <a:spcPts val="1200"/>
              </a:lnSpc>
              <a:buNone/>
            </a:pPr>
            <a:r>
              <a:rPr lang="en-US" sz="950" i="1" dirty="0">
                <a:solidFill>
                  <a:srgbClr val="6B7785"/>
                </a:solidFill>
                <a:latin typeface="Calibri" pitchFamily="34" charset="0"/>
                <a:ea typeface="Calibri" pitchFamily="34" charset="-122"/>
                <a:cs typeface="Calibri" pitchFamily="34" charset="-120"/>
              </a:rPr>
              <a:t>RBI Master Direction (Interest Rate on Deposits), 2016 — clause 6(a) daily product basis · 6(a)(1)–(2) uniform rate to ₹1 lakh, differential above · 4(f) rounded to the nearest rupee.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WHAT NOBODY ELSE DOES  ·  02 AND 03</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100" b="1" dirty="0">
                <a:solidFill>
                  <a:srgbClr val="16212E"/>
                </a:solidFill>
                <a:latin typeface="Cambria" pitchFamily="34" charset="0"/>
                <a:ea typeface="Cambria" pitchFamily="34" charset="-122"/>
                <a:cs typeface="Cambria" pitchFamily="34" charset="-120"/>
              </a:rPr>
              <a:t>We test the rules, then we test the tests</a:t>
            </a:r>
            <a:endParaRPr lang="en-US" sz="3100" dirty="0"/>
          </a:p>
        </p:txBody>
      </p:sp>
      <p:sp>
        <p:nvSpPr>
          <p:cNvPr id="4" name="Text 2"/>
          <p:cNvSpPr/>
          <p:nvPr/>
        </p:nvSpPr>
        <p:spPr>
          <a:xfrm>
            <a:off x="566928" y="1426464"/>
            <a:ext cx="6766560" cy="274320"/>
          </a:xfrm>
          <a:prstGeom prst="rect">
            <a:avLst/>
          </a:prstGeom>
          <a:noFill/>
          <a:ln/>
        </p:spPr>
        <p:txBody>
          <a:bodyPr wrap="square" lIns="0" tIns="0" rIns="0" bIns="0" rtlCol="0" anchor="ctr"/>
          <a:lstStyle/>
          <a:p>
            <a:pPr indent="0" marL="0">
              <a:buNone/>
            </a:pPr>
            <a:r>
              <a:rPr lang="en-US" sz="1350" b="1" dirty="0">
                <a:solidFill>
                  <a:srgbClr val="0E2033"/>
                </a:solidFill>
                <a:latin typeface="Calibri" pitchFamily="34" charset="0"/>
                <a:ea typeface="Calibri" pitchFamily="34" charset="-122"/>
                <a:cs typeface="Calibri" pitchFamily="34" charset="-120"/>
              </a:rPr>
              <a:t>When has a business rule actually been tested?</a:t>
            </a:r>
            <a:endParaRPr lang="en-US" sz="1350" dirty="0"/>
          </a:p>
        </p:txBody>
      </p:sp>
      <p:sp>
        <p:nvSpPr>
          <p:cNvPr id="5" name="Text 3"/>
          <p:cNvSpPr/>
          <p:nvPr/>
        </p:nvSpPr>
        <p:spPr>
          <a:xfrm>
            <a:off x="566928" y="1700784"/>
            <a:ext cx="6766560" cy="256032"/>
          </a:xfrm>
          <a:prstGeom prst="rect">
            <a:avLst/>
          </a:prstGeom>
          <a:noFill/>
          <a:ln/>
        </p:spPr>
        <p:txBody>
          <a:bodyPr wrap="square" lIns="0" tIns="0" rIns="0" bIns="0" rtlCol="0" anchor="ctr"/>
          <a:lstStyle/>
          <a:p>
            <a:pPr indent="0" marL="0">
              <a:buNone/>
            </a:pPr>
            <a:r>
              <a:rPr lang="en-US" sz="1150" dirty="0">
                <a:solidFill>
                  <a:srgbClr val="6B7785"/>
                </a:solidFill>
                <a:latin typeface="Calibri" pitchFamily="34" charset="0"/>
                <a:ea typeface="Calibri" pitchFamily="34" charset="-122"/>
                <a:cs typeface="Calibri" pitchFamily="34" charset="-120"/>
              </a:rPr>
              <a:t>Executing a line is not testing the rule it encodes. Three checks, not one.</a:t>
            </a:r>
            <a:endParaRPr lang="en-US" sz="1150" dirty="0"/>
          </a:p>
        </p:txBody>
      </p:sp>
      <p:sp>
        <p:nvSpPr>
          <p:cNvPr id="6" name="Shape 4"/>
          <p:cNvSpPr/>
          <p:nvPr/>
        </p:nvSpPr>
        <p:spPr>
          <a:xfrm>
            <a:off x="566928" y="2066544"/>
            <a:ext cx="5029200" cy="786384"/>
          </a:xfrm>
          <a:prstGeom prst="roundRect">
            <a:avLst>
              <a:gd name="adj" fmla="val 6977"/>
            </a:avLst>
          </a:prstGeom>
          <a:solidFill>
            <a:srgbClr val="EDF1F5"/>
          </a:solidFill>
          <a:ln w="12700">
            <a:solidFill>
              <a:srgbClr val="EDF1F5"/>
            </a:solidFill>
            <a:prstDash val="solid"/>
          </a:ln>
        </p:spPr>
      </p:sp>
      <p:sp>
        <p:nvSpPr>
          <p:cNvPr id="7" name="Shape 5"/>
          <p:cNvSpPr/>
          <p:nvPr/>
        </p:nvSpPr>
        <p:spPr>
          <a:xfrm>
            <a:off x="749808" y="2267712"/>
            <a:ext cx="384048" cy="384048"/>
          </a:xfrm>
          <a:prstGeom prst="ellipse">
            <a:avLst/>
          </a:prstGeom>
          <a:solidFill>
            <a:srgbClr val="6B7785"/>
          </a:solidFill>
          <a:ln w="12700">
            <a:solidFill>
              <a:srgbClr val="6B7785"/>
            </a:solidFill>
            <a:prstDash val="solid"/>
          </a:ln>
        </p:spPr>
      </p:sp>
      <p:sp>
        <p:nvSpPr>
          <p:cNvPr id="8" name="Text 6"/>
          <p:cNvSpPr/>
          <p:nvPr/>
        </p:nvSpPr>
        <p:spPr>
          <a:xfrm>
            <a:off x="749808" y="22677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261872" y="2176272"/>
            <a:ext cx="2194560" cy="256032"/>
          </a:xfrm>
          <a:prstGeom prst="rect">
            <a:avLst/>
          </a:prstGeom>
          <a:noFill/>
          <a:ln/>
        </p:spPr>
        <p:txBody>
          <a:bodyPr wrap="square" lIns="0" tIns="0" rIns="0" bIns="0" rtlCol="0" anchor="ctr"/>
          <a:lstStyle/>
          <a:p>
            <a:pPr indent="0" marL="0">
              <a:buNone/>
            </a:pPr>
            <a:r>
              <a:rPr lang="en-US" sz="1500" b="1" dirty="0">
                <a:solidFill>
                  <a:srgbClr val="0E2033"/>
                </a:solidFill>
                <a:latin typeface="Cambria" pitchFamily="34" charset="0"/>
                <a:ea typeface="Cambria" pitchFamily="34" charset="-122"/>
                <a:cs typeface="Cambria" pitchFamily="34" charset="-120"/>
              </a:rPr>
              <a:t>Reached</a:t>
            </a:r>
            <a:endParaRPr lang="en-US" sz="1500" dirty="0"/>
          </a:p>
        </p:txBody>
      </p:sp>
      <p:sp>
        <p:nvSpPr>
          <p:cNvPr id="10" name="Text 8"/>
          <p:cNvSpPr/>
          <p:nvPr/>
        </p:nvSpPr>
        <p:spPr>
          <a:xfrm>
            <a:off x="1261872" y="2432304"/>
            <a:ext cx="4114800" cy="365760"/>
          </a:xfrm>
          <a:prstGeom prst="rect">
            <a:avLst/>
          </a:prstGeom>
          <a:noFill/>
          <a:ln/>
        </p:spPr>
        <p:txBody>
          <a:bodyPr wrap="square" lIns="0" tIns="0" rIns="0" bIns="0" rtlCol="0" anchor="ctr"/>
          <a:lstStyle/>
          <a:p>
            <a:pPr indent="0" marL="0">
              <a:lnSpc>
                <a:spcPts val="1300"/>
              </a:lnSpc>
              <a:buNone/>
            </a:pPr>
            <a:r>
              <a:rPr lang="en-US" sz="1050" dirty="0">
                <a:solidFill>
                  <a:srgbClr val="6B7785"/>
                </a:solidFill>
                <a:latin typeface="Calibri" pitchFamily="34" charset="0"/>
                <a:ea typeface="Calibri" pitchFamily="34" charset="-122"/>
                <a:cs typeface="Calibri" pitchFamily="34" charset="-120"/>
              </a:rPr>
              <a:t>did any input execute this rule's lines?</a:t>
            </a:r>
            <a:endParaRPr lang="en-US" sz="1050" dirty="0"/>
          </a:p>
        </p:txBody>
      </p:sp>
      <p:sp>
        <p:nvSpPr>
          <p:cNvPr id="11" name="Shape 9"/>
          <p:cNvSpPr/>
          <p:nvPr/>
        </p:nvSpPr>
        <p:spPr>
          <a:xfrm>
            <a:off x="5687568" y="2340864"/>
            <a:ext cx="274320" cy="237744"/>
          </a:xfrm>
          <a:prstGeom prst="rightArrow">
            <a:avLst/>
          </a:prstGeom>
          <a:solidFill>
            <a:srgbClr val="D5DCE3"/>
          </a:solidFill>
          <a:ln w="12700">
            <a:solidFill>
              <a:srgbClr val="D5DCE3"/>
            </a:solidFill>
            <a:prstDash val="solid"/>
          </a:ln>
        </p:spPr>
      </p:sp>
      <p:sp>
        <p:nvSpPr>
          <p:cNvPr id="12" name="Text 10"/>
          <p:cNvSpPr/>
          <p:nvPr/>
        </p:nvSpPr>
        <p:spPr>
          <a:xfrm>
            <a:off x="6035040" y="2267712"/>
            <a:ext cx="2103120" cy="402336"/>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if not: never exercised</a:t>
            </a:r>
            <a:endParaRPr lang="en-US" sz="1050" dirty="0"/>
          </a:p>
        </p:txBody>
      </p:sp>
      <p:sp>
        <p:nvSpPr>
          <p:cNvPr id="13" name="Shape 11"/>
          <p:cNvSpPr/>
          <p:nvPr/>
        </p:nvSpPr>
        <p:spPr>
          <a:xfrm>
            <a:off x="2962656" y="2852928"/>
            <a:ext cx="237744" cy="182880"/>
          </a:xfrm>
          <a:prstGeom prst="downArrow">
            <a:avLst/>
          </a:prstGeom>
          <a:solidFill>
            <a:srgbClr val="D5DCE3"/>
          </a:solidFill>
          <a:ln w="12700">
            <a:solidFill>
              <a:srgbClr val="D5DCE3"/>
            </a:solidFill>
            <a:prstDash val="solid"/>
          </a:ln>
        </p:spPr>
      </p:sp>
      <p:sp>
        <p:nvSpPr>
          <p:cNvPr id="14" name="Shape 12"/>
          <p:cNvSpPr/>
          <p:nvPr/>
        </p:nvSpPr>
        <p:spPr>
          <a:xfrm>
            <a:off x="566928" y="3035808"/>
            <a:ext cx="5029200" cy="786384"/>
          </a:xfrm>
          <a:prstGeom prst="roundRect">
            <a:avLst>
              <a:gd name="adj" fmla="val 6977"/>
            </a:avLst>
          </a:prstGeom>
          <a:solidFill>
            <a:srgbClr val="EDF1F5"/>
          </a:solidFill>
          <a:ln w="12700">
            <a:solidFill>
              <a:srgbClr val="EDF1F5"/>
            </a:solidFill>
            <a:prstDash val="solid"/>
          </a:ln>
        </p:spPr>
      </p:sp>
      <p:sp>
        <p:nvSpPr>
          <p:cNvPr id="15" name="Shape 13"/>
          <p:cNvSpPr/>
          <p:nvPr/>
        </p:nvSpPr>
        <p:spPr>
          <a:xfrm>
            <a:off x="749808" y="3236976"/>
            <a:ext cx="384048" cy="384048"/>
          </a:xfrm>
          <a:prstGeom prst="ellipse">
            <a:avLst/>
          </a:prstGeom>
          <a:solidFill>
            <a:srgbClr val="B07A16"/>
          </a:solidFill>
          <a:ln w="12700">
            <a:solidFill>
              <a:srgbClr val="B07A16"/>
            </a:solidFill>
            <a:prstDash val="solid"/>
          </a:ln>
        </p:spPr>
      </p:sp>
      <p:sp>
        <p:nvSpPr>
          <p:cNvPr id="16" name="Text 14"/>
          <p:cNvSpPr/>
          <p:nvPr/>
        </p:nvSpPr>
        <p:spPr>
          <a:xfrm>
            <a:off x="749808" y="32369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p:nvPr/>
        </p:nvSpPr>
        <p:spPr>
          <a:xfrm>
            <a:off x="1261872" y="3145536"/>
            <a:ext cx="2194560" cy="256032"/>
          </a:xfrm>
          <a:prstGeom prst="rect">
            <a:avLst/>
          </a:prstGeom>
          <a:noFill/>
          <a:ln/>
        </p:spPr>
        <p:txBody>
          <a:bodyPr wrap="square" lIns="0" tIns="0" rIns="0" bIns="0" rtlCol="0" anchor="ctr"/>
          <a:lstStyle/>
          <a:p>
            <a:pPr indent="0" marL="0">
              <a:buNone/>
            </a:pPr>
            <a:r>
              <a:rPr lang="en-US" sz="1500" b="1" dirty="0">
                <a:solidFill>
                  <a:srgbClr val="B07A16"/>
                </a:solidFill>
                <a:latin typeface="Cambria" pitchFamily="34" charset="0"/>
                <a:ea typeface="Cambria" pitchFamily="34" charset="-122"/>
                <a:cs typeface="Cambria" pitchFamily="34" charset="-120"/>
              </a:rPr>
              <a:t>Discriminating</a:t>
            </a:r>
            <a:endParaRPr lang="en-US" sz="1500" dirty="0"/>
          </a:p>
        </p:txBody>
      </p:sp>
      <p:sp>
        <p:nvSpPr>
          <p:cNvPr id="18" name="Text 16"/>
          <p:cNvSpPr/>
          <p:nvPr/>
        </p:nvSpPr>
        <p:spPr>
          <a:xfrm>
            <a:off x="1261872" y="3401568"/>
            <a:ext cx="4114800" cy="365760"/>
          </a:xfrm>
          <a:prstGeom prst="rect">
            <a:avLst/>
          </a:prstGeom>
          <a:noFill/>
          <a:ln/>
        </p:spPr>
        <p:txBody>
          <a:bodyPr wrap="square" lIns="0" tIns="0" rIns="0" bIns="0" rtlCol="0" anchor="ctr"/>
          <a:lstStyle/>
          <a:p>
            <a:pPr indent="0" marL="0">
              <a:lnSpc>
                <a:spcPts val="1300"/>
              </a:lnSpc>
              <a:buNone/>
            </a:pPr>
            <a:r>
              <a:rPr lang="en-US" sz="1050" dirty="0">
                <a:solidFill>
                  <a:srgbClr val="6B7785"/>
                </a:solidFill>
                <a:latin typeface="Calibri" pitchFamily="34" charset="0"/>
                <a:ea typeface="Calibri" pitchFamily="34" charset="-122"/>
                <a:cs typeface="Calibri" pitchFamily="34" charset="-120"/>
              </a:rPr>
              <a:t>did both sides of the boundary give different legacy outputs?</a:t>
            </a:r>
            <a:endParaRPr lang="en-US" sz="1050" dirty="0"/>
          </a:p>
        </p:txBody>
      </p:sp>
      <p:sp>
        <p:nvSpPr>
          <p:cNvPr id="19" name="Shape 17"/>
          <p:cNvSpPr/>
          <p:nvPr/>
        </p:nvSpPr>
        <p:spPr>
          <a:xfrm>
            <a:off x="5687568" y="3310128"/>
            <a:ext cx="274320" cy="237744"/>
          </a:xfrm>
          <a:prstGeom prst="rightArrow">
            <a:avLst/>
          </a:prstGeom>
          <a:solidFill>
            <a:srgbClr val="D5DCE3"/>
          </a:solidFill>
          <a:ln w="12700">
            <a:solidFill>
              <a:srgbClr val="D5DCE3"/>
            </a:solidFill>
            <a:prstDash val="solid"/>
          </a:ln>
        </p:spPr>
      </p:sp>
      <p:sp>
        <p:nvSpPr>
          <p:cNvPr id="20" name="Text 18"/>
          <p:cNvSpPr/>
          <p:nvPr/>
        </p:nvSpPr>
        <p:spPr>
          <a:xfrm>
            <a:off x="6035040" y="3236976"/>
            <a:ext cx="2103120" cy="402336"/>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if not: the rule is not in the program</a:t>
            </a:r>
            <a:endParaRPr lang="en-US" sz="1050" dirty="0"/>
          </a:p>
        </p:txBody>
      </p:sp>
      <p:sp>
        <p:nvSpPr>
          <p:cNvPr id="21" name="Shape 19"/>
          <p:cNvSpPr/>
          <p:nvPr/>
        </p:nvSpPr>
        <p:spPr>
          <a:xfrm>
            <a:off x="2962656" y="3822192"/>
            <a:ext cx="237744" cy="182880"/>
          </a:xfrm>
          <a:prstGeom prst="downArrow">
            <a:avLst/>
          </a:prstGeom>
          <a:solidFill>
            <a:srgbClr val="D5DCE3"/>
          </a:solidFill>
          <a:ln w="12700">
            <a:solidFill>
              <a:srgbClr val="D5DCE3"/>
            </a:solidFill>
            <a:prstDash val="solid"/>
          </a:ln>
        </p:spPr>
      </p:sp>
      <p:sp>
        <p:nvSpPr>
          <p:cNvPr id="22" name="Shape 20"/>
          <p:cNvSpPr/>
          <p:nvPr/>
        </p:nvSpPr>
        <p:spPr>
          <a:xfrm>
            <a:off x="566928" y="4005072"/>
            <a:ext cx="5029200" cy="786384"/>
          </a:xfrm>
          <a:prstGeom prst="roundRect">
            <a:avLst>
              <a:gd name="adj" fmla="val 6977"/>
            </a:avLst>
          </a:prstGeom>
          <a:solidFill>
            <a:srgbClr val="EDF1F5"/>
          </a:solidFill>
          <a:ln w="12700">
            <a:solidFill>
              <a:srgbClr val="EDF1F5"/>
            </a:solidFill>
            <a:prstDash val="solid"/>
          </a:ln>
        </p:spPr>
      </p:sp>
      <p:sp>
        <p:nvSpPr>
          <p:cNvPr id="23" name="Shape 21"/>
          <p:cNvSpPr/>
          <p:nvPr/>
        </p:nvSpPr>
        <p:spPr>
          <a:xfrm>
            <a:off x="749808" y="4206240"/>
            <a:ext cx="384048" cy="384048"/>
          </a:xfrm>
          <a:prstGeom prst="ellipse">
            <a:avLst/>
          </a:prstGeom>
          <a:solidFill>
            <a:srgbClr val="6B7785"/>
          </a:solidFill>
          <a:ln w="12700">
            <a:solidFill>
              <a:srgbClr val="6B7785"/>
            </a:solidFill>
            <a:prstDash val="solid"/>
          </a:ln>
        </p:spPr>
      </p:sp>
      <p:sp>
        <p:nvSpPr>
          <p:cNvPr id="24" name="Text 22"/>
          <p:cNvSpPr/>
          <p:nvPr/>
        </p:nvSpPr>
        <p:spPr>
          <a:xfrm>
            <a:off x="749808" y="4206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5" name="Text 23"/>
          <p:cNvSpPr/>
          <p:nvPr/>
        </p:nvSpPr>
        <p:spPr>
          <a:xfrm>
            <a:off x="1261872" y="4114800"/>
            <a:ext cx="2194560" cy="256032"/>
          </a:xfrm>
          <a:prstGeom prst="rect">
            <a:avLst/>
          </a:prstGeom>
          <a:noFill/>
          <a:ln/>
        </p:spPr>
        <p:txBody>
          <a:bodyPr wrap="square" lIns="0" tIns="0" rIns="0" bIns="0" rtlCol="0" anchor="ctr"/>
          <a:lstStyle/>
          <a:p>
            <a:pPr indent="0" marL="0">
              <a:buNone/>
            </a:pPr>
            <a:r>
              <a:rPr lang="en-US" sz="1500" b="1" dirty="0">
                <a:solidFill>
                  <a:srgbClr val="0E2033"/>
                </a:solidFill>
                <a:latin typeface="Cambria" pitchFamily="34" charset="0"/>
                <a:ea typeface="Cambria" pitchFamily="34" charset="-122"/>
                <a:cs typeface="Cambria" pitchFamily="34" charset="-120"/>
              </a:rPr>
              <a:t>Agreed</a:t>
            </a:r>
            <a:endParaRPr lang="en-US" sz="1500" dirty="0"/>
          </a:p>
        </p:txBody>
      </p:sp>
      <p:sp>
        <p:nvSpPr>
          <p:cNvPr id="26" name="Text 24"/>
          <p:cNvSpPr/>
          <p:nvPr/>
        </p:nvSpPr>
        <p:spPr>
          <a:xfrm>
            <a:off x="1261872" y="4370832"/>
            <a:ext cx="4114800" cy="365760"/>
          </a:xfrm>
          <a:prstGeom prst="rect">
            <a:avLst/>
          </a:prstGeom>
          <a:noFill/>
          <a:ln/>
        </p:spPr>
        <p:txBody>
          <a:bodyPr wrap="square" lIns="0" tIns="0" rIns="0" bIns="0" rtlCol="0" anchor="ctr"/>
          <a:lstStyle/>
          <a:p>
            <a:pPr indent="0" marL="0">
              <a:lnSpc>
                <a:spcPts val="1300"/>
              </a:lnSpc>
              <a:buNone/>
            </a:pPr>
            <a:r>
              <a:rPr lang="en-US" sz="1050" dirty="0">
                <a:solidFill>
                  <a:srgbClr val="6B7785"/>
                </a:solidFill>
                <a:latin typeface="Calibri" pitchFamily="34" charset="0"/>
                <a:ea typeface="Calibri" pitchFamily="34" charset="-122"/>
                <a:cs typeface="Calibri" pitchFamily="34" charset="-120"/>
              </a:rPr>
              <a:t>did the rewrite match the legacy every time?</a:t>
            </a:r>
            <a:endParaRPr lang="en-US" sz="1050" dirty="0"/>
          </a:p>
        </p:txBody>
      </p:sp>
      <p:sp>
        <p:nvSpPr>
          <p:cNvPr id="27" name="Shape 25"/>
          <p:cNvSpPr/>
          <p:nvPr/>
        </p:nvSpPr>
        <p:spPr>
          <a:xfrm>
            <a:off x="5687568" y="4279392"/>
            <a:ext cx="274320" cy="237744"/>
          </a:xfrm>
          <a:prstGeom prst="rightArrow">
            <a:avLst/>
          </a:prstGeom>
          <a:solidFill>
            <a:srgbClr val="D5DCE3"/>
          </a:solidFill>
          <a:ln w="12700">
            <a:solidFill>
              <a:srgbClr val="D5DCE3"/>
            </a:solidFill>
            <a:prstDash val="solid"/>
          </a:ln>
        </p:spPr>
      </p:sp>
      <p:sp>
        <p:nvSpPr>
          <p:cNvPr id="28" name="Text 26"/>
          <p:cNvSpPr/>
          <p:nvPr/>
        </p:nvSpPr>
        <p:spPr>
          <a:xfrm>
            <a:off x="6035040" y="4206240"/>
            <a:ext cx="2103120" cy="402336"/>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if not: a reproducible divergence</a:t>
            </a:r>
            <a:endParaRPr lang="en-US" sz="1050" dirty="0"/>
          </a:p>
        </p:txBody>
      </p:sp>
      <p:sp>
        <p:nvSpPr>
          <p:cNvPr id="29" name="Shape 27"/>
          <p:cNvSpPr/>
          <p:nvPr/>
        </p:nvSpPr>
        <p:spPr>
          <a:xfrm>
            <a:off x="2962656" y="4882896"/>
            <a:ext cx="237744" cy="182880"/>
          </a:xfrm>
          <a:prstGeom prst="downArrow">
            <a:avLst/>
          </a:prstGeom>
          <a:solidFill>
            <a:srgbClr val="D5DCE3"/>
          </a:solidFill>
          <a:ln w="12700">
            <a:solidFill>
              <a:srgbClr val="D5DCE3"/>
            </a:solidFill>
            <a:prstDash val="solid"/>
          </a:ln>
        </p:spPr>
      </p:sp>
      <p:sp>
        <p:nvSpPr>
          <p:cNvPr id="30" name="Shape 28"/>
          <p:cNvSpPr/>
          <p:nvPr/>
        </p:nvSpPr>
        <p:spPr>
          <a:xfrm>
            <a:off x="566928" y="5120640"/>
            <a:ext cx="5029200" cy="512064"/>
          </a:xfrm>
          <a:prstGeom prst="roundRect">
            <a:avLst>
              <a:gd name="adj" fmla="val 10714"/>
            </a:avLst>
          </a:prstGeom>
          <a:solidFill>
            <a:srgbClr val="EDF1F5"/>
          </a:solidFill>
          <a:ln w="12700">
            <a:solidFill>
              <a:srgbClr val="EDF1F5"/>
            </a:solidFill>
            <a:prstDash val="solid"/>
          </a:ln>
        </p:spPr>
      </p:sp>
      <p:sp>
        <p:nvSpPr>
          <p:cNvPr id="31" name="Text 29"/>
          <p:cNvSpPr/>
          <p:nvPr/>
        </p:nvSpPr>
        <p:spPr>
          <a:xfrm>
            <a:off x="566928" y="5120640"/>
            <a:ext cx="5029200" cy="512064"/>
          </a:xfrm>
          <a:prstGeom prst="rect">
            <a:avLst/>
          </a:prstGeom>
          <a:noFill/>
          <a:ln/>
        </p:spPr>
        <p:txBody>
          <a:bodyPr wrap="square" lIns="0" tIns="0" rIns="0" bIns="0" rtlCol="0" anchor="ctr"/>
          <a:lstStyle/>
          <a:p>
            <a:pPr algn="ctr" indent="0" marL="0">
              <a:buNone/>
            </a:pPr>
            <a:r>
              <a:rPr lang="en-US" sz="1450" b="1" dirty="0">
                <a:solidFill>
                  <a:srgbClr val="0E2033"/>
                </a:solidFill>
                <a:latin typeface="Cambria" pitchFamily="34" charset="0"/>
                <a:ea typeface="Cambria" pitchFamily="34" charset="-122"/>
                <a:cs typeface="Cambria" pitchFamily="34" charset="-120"/>
              </a:rPr>
              <a:t>All three hold: the rule is confirmed by execution</a:t>
            </a:r>
            <a:endParaRPr lang="en-US" sz="1450" dirty="0"/>
          </a:p>
        </p:txBody>
      </p:sp>
      <p:sp>
        <p:nvSpPr>
          <p:cNvPr id="32" name="Text 30"/>
          <p:cNvSpPr/>
          <p:nvPr/>
        </p:nvSpPr>
        <p:spPr>
          <a:xfrm>
            <a:off x="8503920" y="1426464"/>
            <a:ext cx="3127248" cy="274320"/>
          </a:xfrm>
          <a:prstGeom prst="rect">
            <a:avLst/>
          </a:prstGeom>
          <a:noFill/>
          <a:ln/>
        </p:spPr>
        <p:txBody>
          <a:bodyPr wrap="square" lIns="0" tIns="0" rIns="0" bIns="0" rtlCol="0" anchor="ctr"/>
          <a:lstStyle/>
          <a:p>
            <a:pPr indent="0" marL="0">
              <a:buNone/>
            </a:pPr>
            <a:r>
              <a:rPr lang="en-US" sz="1350" b="1" dirty="0">
                <a:solidFill>
                  <a:srgbClr val="0E2033"/>
                </a:solidFill>
                <a:latin typeface="Calibri" pitchFamily="34" charset="0"/>
                <a:ea typeface="Calibri" pitchFamily="34" charset="-122"/>
                <a:cs typeface="Calibri" pitchFamily="34" charset="-120"/>
              </a:rPr>
              <a:t>How strong is that claim?</a:t>
            </a:r>
            <a:endParaRPr lang="en-US" sz="1350" dirty="0"/>
          </a:p>
        </p:txBody>
      </p:sp>
      <p:sp>
        <p:nvSpPr>
          <p:cNvPr id="33" name="Text 31"/>
          <p:cNvSpPr/>
          <p:nvPr/>
        </p:nvSpPr>
        <p:spPr>
          <a:xfrm>
            <a:off x="8503920" y="1700784"/>
            <a:ext cx="3127248" cy="274320"/>
          </a:xfrm>
          <a:prstGeom prst="rect">
            <a:avLst/>
          </a:prstGeom>
          <a:noFill/>
          <a:ln/>
        </p:spPr>
        <p:txBody>
          <a:bodyPr wrap="square" lIns="0" tIns="0" rIns="0" bIns="0" rtlCol="0" anchor="ctr"/>
          <a:lstStyle/>
          <a:p>
            <a:pPr indent="0" marL="0">
              <a:lnSpc>
                <a:spcPts val="1400"/>
              </a:lnSpc>
              <a:buNone/>
            </a:pPr>
            <a:r>
              <a:rPr lang="en-US" sz="1150" dirty="0">
                <a:solidFill>
                  <a:srgbClr val="6B7785"/>
                </a:solidFill>
                <a:latin typeface="Calibri" pitchFamily="34" charset="0"/>
                <a:ea typeface="Calibri" pitchFamily="34" charset="-122"/>
                <a:cs typeface="Calibri" pitchFamily="34" charset="-120"/>
              </a:rPr>
              <a:t>We break the legacy on purpose and see if our inputs notice.</a:t>
            </a:r>
            <a:endParaRPr lang="en-US" sz="1150" dirty="0"/>
          </a:p>
        </p:txBody>
      </p:sp>
      <p:sp>
        <p:nvSpPr>
          <p:cNvPr id="34" name="Shape 32"/>
          <p:cNvSpPr/>
          <p:nvPr/>
        </p:nvSpPr>
        <p:spPr>
          <a:xfrm>
            <a:off x="8503920" y="2066544"/>
            <a:ext cx="3127248" cy="566928"/>
          </a:xfrm>
          <a:prstGeom prst="roundRect">
            <a:avLst>
              <a:gd name="adj" fmla="val 9677"/>
            </a:avLst>
          </a:prstGeom>
          <a:solidFill>
            <a:srgbClr val="EDF1F5"/>
          </a:solidFill>
          <a:ln w="12700">
            <a:solidFill>
              <a:srgbClr val="EDF1F5"/>
            </a:solidFill>
            <a:prstDash val="solid"/>
          </a:ln>
        </p:spPr>
      </p:sp>
      <p:sp>
        <p:nvSpPr>
          <p:cNvPr id="35" name="Text 33"/>
          <p:cNvSpPr/>
          <p:nvPr/>
        </p:nvSpPr>
        <p:spPr>
          <a:xfrm>
            <a:off x="8503920" y="2066544"/>
            <a:ext cx="3127248" cy="566928"/>
          </a:xfrm>
          <a:prstGeom prst="rect">
            <a:avLst/>
          </a:prstGeom>
          <a:noFill/>
          <a:ln/>
        </p:spPr>
        <p:txBody>
          <a:bodyPr wrap="square" lIns="0" tIns="0" rIns="0" bIns="0" rtlCol="0" anchor="ctr"/>
          <a:lstStyle/>
          <a:p>
            <a:pPr algn="ctr" indent="0" marL="0">
              <a:buNone/>
            </a:pPr>
            <a:r>
              <a:rPr lang="en-US" sz="1200" b="1" dirty="0">
                <a:solidFill>
                  <a:srgbClr val="0E2033"/>
                </a:solidFill>
                <a:latin typeface="Calibri" pitchFamily="34" charset="0"/>
                <a:ea typeface="Calibri" pitchFamily="34" charset="-122"/>
                <a:cs typeface="Calibri" pitchFamily="34" charset="-120"/>
              </a:rPr>
              <a:t>Legacy COBOL, the oracle</a:t>
            </a:r>
            <a:endParaRPr lang="en-US" sz="1200" dirty="0"/>
          </a:p>
        </p:txBody>
      </p:sp>
      <p:sp>
        <p:nvSpPr>
          <p:cNvPr id="36" name="Shape 34"/>
          <p:cNvSpPr/>
          <p:nvPr/>
        </p:nvSpPr>
        <p:spPr>
          <a:xfrm>
            <a:off x="9948672" y="2688336"/>
            <a:ext cx="237744" cy="201168"/>
          </a:xfrm>
          <a:prstGeom prst="downArrow">
            <a:avLst/>
          </a:prstGeom>
          <a:solidFill>
            <a:srgbClr val="D5DCE3"/>
          </a:solidFill>
          <a:ln w="12700">
            <a:solidFill>
              <a:srgbClr val="D5DCE3"/>
            </a:solidFill>
            <a:prstDash val="solid"/>
          </a:ln>
        </p:spPr>
      </p:sp>
      <p:sp>
        <p:nvSpPr>
          <p:cNvPr id="37" name="Shape 35"/>
          <p:cNvSpPr/>
          <p:nvPr/>
        </p:nvSpPr>
        <p:spPr>
          <a:xfrm>
            <a:off x="8503920" y="2944368"/>
            <a:ext cx="3127248" cy="841248"/>
          </a:xfrm>
          <a:prstGeom prst="roundRect">
            <a:avLst>
              <a:gd name="adj" fmla="val 6522"/>
            </a:avLst>
          </a:prstGeom>
          <a:solidFill>
            <a:srgbClr val="EDF1F5"/>
          </a:solidFill>
          <a:ln w="12700">
            <a:solidFill>
              <a:srgbClr val="EDF1F5"/>
            </a:solidFill>
            <a:prstDash val="solid"/>
          </a:ln>
        </p:spPr>
      </p:sp>
      <p:sp>
        <p:nvSpPr>
          <p:cNvPr id="38" name="Text 36"/>
          <p:cNvSpPr/>
          <p:nvPr/>
        </p:nvSpPr>
        <p:spPr>
          <a:xfrm>
            <a:off x="8503920" y="3017520"/>
            <a:ext cx="3127248" cy="237744"/>
          </a:xfrm>
          <a:prstGeom prst="rect">
            <a:avLst/>
          </a:prstGeom>
          <a:noFill/>
          <a:ln/>
        </p:spPr>
        <p:txBody>
          <a:bodyPr wrap="square" lIns="0" tIns="0" rIns="0" bIns="0" rtlCol="0" anchor="ctr"/>
          <a:lstStyle/>
          <a:p>
            <a:pPr algn="ctr" indent="0" marL="0">
              <a:buNone/>
            </a:pPr>
            <a:r>
              <a:rPr lang="en-US" sz="1200" b="1" dirty="0">
                <a:solidFill>
                  <a:srgbClr val="B07A16"/>
                </a:solidFill>
                <a:latin typeface="Calibri" pitchFamily="34" charset="0"/>
                <a:ea typeface="Calibri" pitchFamily="34" charset="-122"/>
                <a:cs typeface="Calibri" pitchFamily="34" charset="-120"/>
              </a:rPr>
              <a:t>Inject a deliberate defect</a:t>
            </a:r>
            <a:endParaRPr lang="en-US" sz="1200" dirty="0"/>
          </a:p>
        </p:txBody>
      </p:sp>
      <p:sp>
        <p:nvSpPr>
          <p:cNvPr id="39" name="Text 37"/>
          <p:cNvSpPr/>
          <p:nvPr/>
        </p:nvSpPr>
        <p:spPr>
          <a:xfrm>
            <a:off x="8595360" y="3273552"/>
            <a:ext cx="2944368" cy="438912"/>
          </a:xfrm>
          <a:prstGeom prst="rect">
            <a:avLst/>
          </a:prstGeom>
          <a:noFill/>
          <a:ln/>
        </p:spPr>
        <p:txBody>
          <a:bodyPr wrap="square" lIns="0" tIns="0" rIns="0" bIns="0" rtlCol="0" anchor="ctr"/>
          <a:lstStyle/>
          <a:p>
            <a:pPr algn="ctr" indent="0" marL="0">
              <a:lnSpc>
                <a:spcPts val="1400"/>
              </a:lnSpc>
              <a:buNone/>
            </a:pPr>
            <a:r>
              <a:rPr lang="en-US" sz="950" dirty="0">
                <a:solidFill>
                  <a:srgbClr val="16212E"/>
                </a:solidFill>
                <a:latin typeface="Consolas" pitchFamily="34" charset="0"/>
                <a:ea typeface="Consolas" pitchFamily="34" charset="-122"/>
                <a:cs typeface="Consolas" pitchFamily="34" charset="-120"/>
              </a:rPr>
              <a:t>100000 → 100001   ·   &gt; → &gt;=</a:t>
            </a:r>
            <a:endParaRPr lang="en-US" sz="950" dirty="0"/>
          </a:p>
          <a:p>
            <a:pPr algn="ctr" indent="0" marL="0">
              <a:lnSpc>
                <a:spcPts val="1400"/>
              </a:lnSpc>
              <a:buNone/>
            </a:pPr>
            <a:r>
              <a:rPr lang="en-US" sz="950" dirty="0">
                <a:solidFill>
                  <a:srgbClr val="16212E"/>
                </a:solidFill>
                <a:latin typeface="Consolas" pitchFamily="34" charset="0"/>
                <a:ea typeface="Consolas" pitchFamily="34" charset="-122"/>
                <a:cs typeface="Consolas" pitchFamily="34" charset="-120"/>
              </a:rPr>
              <a:t>delete ROUNDED   ·   360 → 365</a:t>
            </a:r>
            <a:endParaRPr lang="en-US" sz="950" dirty="0"/>
          </a:p>
        </p:txBody>
      </p:sp>
      <p:sp>
        <p:nvSpPr>
          <p:cNvPr id="40" name="Shape 38"/>
          <p:cNvSpPr/>
          <p:nvPr/>
        </p:nvSpPr>
        <p:spPr>
          <a:xfrm>
            <a:off x="9948672" y="3840480"/>
            <a:ext cx="237744" cy="201168"/>
          </a:xfrm>
          <a:prstGeom prst="downArrow">
            <a:avLst/>
          </a:prstGeom>
          <a:solidFill>
            <a:srgbClr val="D5DCE3"/>
          </a:solidFill>
          <a:ln w="12700">
            <a:solidFill>
              <a:srgbClr val="D5DCE3"/>
            </a:solidFill>
            <a:prstDash val="solid"/>
          </a:ln>
        </p:spPr>
      </p:sp>
      <p:sp>
        <p:nvSpPr>
          <p:cNvPr id="41" name="Shape 39"/>
          <p:cNvSpPr/>
          <p:nvPr/>
        </p:nvSpPr>
        <p:spPr>
          <a:xfrm>
            <a:off x="8503920" y="4096512"/>
            <a:ext cx="3127248" cy="566928"/>
          </a:xfrm>
          <a:prstGeom prst="roundRect">
            <a:avLst>
              <a:gd name="adj" fmla="val 9677"/>
            </a:avLst>
          </a:prstGeom>
          <a:solidFill>
            <a:srgbClr val="EDF1F5"/>
          </a:solidFill>
          <a:ln w="12700">
            <a:solidFill>
              <a:srgbClr val="EDF1F5"/>
            </a:solidFill>
            <a:prstDash val="solid"/>
          </a:ln>
        </p:spPr>
      </p:sp>
      <p:sp>
        <p:nvSpPr>
          <p:cNvPr id="42" name="Text 40"/>
          <p:cNvSpPr/>
          <p:nvPr/>
        </p:nvSpPr>
        <p:spPr>
          <a:xfrm>
            <a:off x="8503920" y="4096512"/>
            <a:ext cx="3127248" cy="566928"/>
          </a:xfrm>
          <a:prstGeom prst="rect">
            <a:avLst/>
          </a:prstGeom>
          <a:noFill/>
          <a:ln/>
        </p:spPr>
        <p:txBody>
          <a:bodyPr wrap="square" lIns="0" tIns="0" rIns="0" bIns="0" rtlCol="0" anchor="ctr"/>
          <a:lstStyle/>
          <a:p>
            <a:pPr algn="ctr" indent="0" marL="0">
              <a:buNone/>
            </a:pPr>
            <a:r>
              <a:rPr lang="en-US" sz="1200" b="1" dirty="0">
                <a:solidFill>
                  <a:srgbClr val="0E2033"/>
                </a:solidFill>
                <a:latin typeface="Calibri" pitchFamily="34" charset="0"/>
                <a:ea typeface="Calibri" pitchFamily="34" charset="-122"/>
                <a:cs typeface="Calibri" pitchFamily="34" charset="-120"/>
              </a:rPr>
              <a:t>Re-run the same input corpus</a:t>
            </a:r>
            <a:endParaRPr lang="en-US" sz="1200" dirty="0"/>
          </a:p>
        </p:txBody>
      </p:sp>
      <p:sp>
        <p:nvSpPr>
          <p:cNvPr id="43" name="Shape 41"/>
          <p:cNvSpPr/>
          <p:nvPr/>
        </p:nvSpPr>
        <p:spPr>
          <a:xfrm>
            <a:off x="9189720" y="4663440"/>
            <a:ext cx="0" cy="164592"/>
          </a:xfrm>
          <a:prstGeom prst="line">
            <a:avLst/>
          </a:prstGeom>
          <a:noFill/>
          <a:ln w="19050">
            <a:solidFill>
              <a:srgbClr val="D5DCE3"/>
            </a:solidFill>
            <a:prstDash val="solid"/>
          </a:ln>
        </p:spPr>
      </p:sp>
      <p:sp>
        <p:nvSpPr>
          <p:cNvPr id="44" name="Shape 42"/>
          <p:cNvSpPr/>
          <p:nvPr/>
        </p:nvSpPr>
        <p:spPr>
          <a:xfrm>
            <a:off x="10927080" y="4663440"/>
            <a:ext cx="0" cy="164592"/>
          </a:xfrm>
          <a:prstGeom prst="line">
            <a:avLst/>
          </a:prstGeom>
          <a:noFill/>
          <a:ln w="19050">
            <a:solidFill>
              <a:srgbClr val="D5DCE3"/>
            </a:solidFill>
            <a:prstDash val="solid"/>
          </a:ln>
        </p:spPr>
      </p:sp>
      <p:sp>
        <p:nvSpPr>
          <p:cNvPr id="45" name="Shape 43"/>
          <p:cNvSpPr/>
          <p:nvPr/>
        </p:nvSpPr>
        <p:spPr>
          <a:xfrm>
            <a:off x="9189720" y="4663440"/>
            <a:ext cx="1737360" cy="0"/>
          </a:xfrm>
          <a:prstGeom prst="line">
            <a:avLst/>
          </a:prstGeom>
          <a:noFill/>
          <a:ln w="19050">
            <a:solidFill>
              <a:srgbClr val="D5DCE3"/>
            </a:solidFill>
            <a:prstDash val="solid"/>
          </a:ln>
        </p:spPr>
      </p:sp>
      <p:sp>
        <p:nvSpPr>
          <p:cNvPr id="46" name="Shape 44"/>
          <p:cNvSpPr/>
          <p:nvPr/>
        </p:nvSpPr>
        <p:spPr>
          <a:xfrm>
            <a:off x="8503920" y="4882896"/>
            <a:ext cx="1481328" cy="749808"/>
          </a:xfrm>
          <a:prstGeom prst="roundRect">
            <a:avLst>
              <a:gd name="adj" fmla="val 7317"/>
            </a:avLst>
          </a:prstGeom>
          <a:solidFill>
            <a:srgbClr val="EDF1F5"/>
          </a:solidFill>
          <a:ln w="12700">
            <a:solidFill>
              <a:srgbClr val="EDF1F5"/>
            </a:solidFill>
            <a:prstDash val="solid"/>
          </a:ln>
        </p:spPr>
      </p:sp>
      <p:sp>
        <p:nvSpPr>
          <p:cNvPr id="47" name="Text 45"/>
          <p:cNvSpPr/>
          <p:nvPr/>
        </p:nvSpPr>
        <p:spPr>
          <a:xfrm>
            <a:off x="8503920" y="4956048"/>
            <a:ext cx="1481328" cy="237744"/>
          </a:xfrm>
          <a:prstGeom prst="rect">
            <a:avLst/>
          </a:prstGeom>
          <a:noFill/>
          <a:ln/>
        </p:spPr>
        <p:txBody>
          <a:bodyPr wrap="square" lIns="0" tIns="0" rIns="0" bIns="0" rtlCol="0" anchor="ctr"/>
          <a:lstStyle/>
          <a:p>
            <a:pPr algn="ctr" indent="0" marL="0">
              <a:buNone/>
            </a:pPr>
            <a:r>
              <a:rPr lang="en-US" sz="1150" b="1" dirty="0">
                <a:solidFill>
                  <a:srgbClr val="0E2033"/>
                </a:solidFill>
                <a:latin typeface="Calibri" pitchFamily="34" charset="0"/>
                <a:ea typeface="Calibri" pitchFamily="34" charset="-122"/>
                <a:cs typeface="Calibri" pitchFamily="34" charset="-120"/>
              </a:rPr>
              <a:t>Caught</a:t>
            </a:r>
            <a:endParaRPr lang="en-US" sz="1150" dirty="0"/>
          </a:p>
        </p:txBody>
      </p:sp>
      <p:sp>
        <p:nvSpPr>
          <p:cNvPr id="48" name="Text 46"/>
          <p:cNvSpPr/>
          <p:nvPr/>
        </p:nvSpPr>
        <p:spPr>
          <a:xfrm>
            <a:off x="8503920" y="5193792"/>
            <a:ext cx="1481328" cy="384048"/>
          </a:xfrm>
          <a:prstGeom prst="rect">
            <a:avLst/>
          </a:prstGeom>
          <a:noFill/>
          <a:ln/>
        </p:spPr>
        <p:txBody>
          <a:bodyPr wrap="square" lIns="0" tIns="0" rIns="0" bIns="0" rtlCol="0" anchor="ctr"/>
          <a:lstStyle/>
          <a:p>
            <a:pPr algn="ctr" indent="0" marL="0">
              <a:lnSpc>
                <a:spcPts val="1300"/>
              </a:lnSpc>
              <a:buNone/>
            </a:pPr>
            <a:r>
              <a:rPr lang="en-US" sz="1000" dirty="0">
                <a:solidFill>
                  <a:srgbClr val="6B7785"/>
                </a:solidFill>
                <a:latin typeface="Calibri" pitchFamily="34" charset="0"/>
                <a:ea typeface="Calibri" pitchFamily="34" charset="-122"/>
                <a:cs typeface="Calibri" pitchFamily="34" charset="-120"/>
              </a:rPr>
              <a:t>the claim</a:t>
            </a:r>
            <a:endParaRPr lang="en-US" sz="1000" dirty="0"/>
          </a:p>
          <a:p>
            <a:pPr algn="ctr" indent="0" marL="0">
              <a:lnSpc>
                <a:spcPts val="1300"/>
              </a:lnSpc>
              <a:buNone/>
            </a:pPr>
            <a:r>
              <a:rPr lang="en-US" sz="1000" dirty="0">
                <a:solidFill>
                  <a:srgbClr val="6B7785"/>
                </a:solidFill>
                <a:latin typeface="Calibri" pitchFamily="34" charset="0"/>
                <a:ea typeface="Calibri" pitchFamily="34" charset="-122"/>
                <a:cs typeface="Calibri" pitchFamily="34" charset="-120"/>
              </a:rPr>
              <a:t>stands</a:t>
            </a:r>
            <a:endParaRPr lang="en-US" sz="1000" dirty="0"/>
          </a:p>
        </p:txBody>
      </p:sp>
      <p:sp>
        <p:nvSpPr>
          <p:cNvPr id="49" name="Shape 47"/>
          <p:cNvSpPr/>
          <p:nvPr/>
        </p:nvSpPr>
        <p:spPr>
          <a:xfrm>
            <a:off x="10149840" y="4882896"/>
            <a:ext cx="1481328" cy="749808"/>
          </a:xfrm>
          <a:prstGeom prst="roundRect">
            <a:avLst>
              <a:gd name="adj" fmla="val 7317"/>
            </a:avLst>
          </a:prstGeom>
          <a:solidFill>
            <a:srgbClr val="EDF1F5"/>
          </a:solidFill>
          <a:ln w="12700">
            <a:solidFill>
              <a:srgbClr val="EDF1F5"/>
            </a:solidFill>
            <a:prstDash val="solid"/>
          </a:ln>
        </p:spPr>
      </p:sp>
      <p:sp>
        <p:nvSpPr>
          <p:cNvPr id="50" name="Text 48"/>
          <p:cNvSpPr/>
          <p:nvPr/>
        </p:nvSpPr>
        <p:spPr>
          <a:xfrm>
            <a:off x="10149840" y="4956048"/>
            <a:ext cx="1481328" cy="237744"/>
          </a:xfrm>
          <a:prstGeom prst="rect">
            <a:avLst/>
          </a:prstGeom>
          <a:noFill/>
          <a:ln/>
        </p:spPr>
        <p:txBody>
          <a:bodyPr wrap="square" lIns="0" tIns="0" rIns="0" bIns="0" rtlCol="0" anchor="ctr"/>
          <a:lstStyle/>
          <a:p>
            <a:pPr algn="ctr" indent="0" marL="0">
              <a:buNone/>
            </a:pPr>
            <a:r>
              <a:rPr lang="en-US" sz="1150" b="1" dirty="0">
                <a:solidFill>
                  <a:srgbClr val="0E2033"/>
                </a:solidFill>
                <a:latin typeface="Calibri" pitchFamily="34" charset="0"/>
                <a:ea typeface="Calibri" pitchFamily="34" charset="-122"/>
                <a:cs typeface="Calibri" pitchFamily="34" charset="-120"/>
              </a:rPr>
              <a:t>Missed</a:t>
            </a:r>
            <a:endParaRPr lang="en-US" sz="1150" dirty="0"/>
          </a:p>
        </p:txBody>
      </p:sp>
      <p:sp>
        <p:nvSpPr>
          <p:cNvPr id="51" name="Text 49"/>
          <p:cNvSpPr/>
          <p:nvPr/>
        </p:nvSpPr>
        <p:spPr>
          <a:xfrm>
            <a:off x="10149840" y="5193792"/>
            <a:ext cx="1481328" cy="384048"/>
          </a:xfrm>
          <a:prstGeom prst="rect">
            <a:avLst/>
          </a:prstGeom>
          <a:noFill/>
          <a:ln/>
        </p:spPr>
        <p:txBody>
          <a:bodyPr wrap="square" lIns="0" tIns="0" rIns="0" bIns="0" rtlCol="0" anchor="ctr"/>
          <a:lstStyle/>
          <a:p>
            <a:pPr algn="ctr" indent="0" marL="0">
              <a:lnSpc>
                <a:spcPts val="1300"/>
              </a:lnSpc>
              <a:buNone/>
            </a:pPr>
            <a:r>
              <a:rPr lang="en-US" sz="1000" dirty="0">
                <a:solidFill>
                  <a:srgbClr val="6B7785"/>
                </a:solidFill>
                <a:latin typeface="Calibri" pitchFamily="34" charset="0"/>
                <a:ea typeface="Calibri" pitchFamily="34" charset="-122"/>
                <a:cs typeface="Calibri" pitchFamily="34" charset="-120"/>
              </a:rPr>
              <a:t>we do not</a:t>
            </a:r>
            <a:endParaRPr lang="en-US" sz="1000" dirty="0"/>
          </a:p>
          <a:p>
            <a:pPr algn="ctr" indent="0" marL="0">
              <a:lnSpc>
                <a:spcPts val="1300"/>
              </a:lnSpc>
              <a:buNone/>
            </a:pPr>
            <a:r>
              <a:rPr lang="en-US" sz="1000" dirty="0">
                <a:solidFill>
                  <a:srgbClr val="6B7785"/>
                </a:solidFill>
                <a:latin typeface="Calibri" pitchFamily="34" charset="0"/>
                <a:ea typeface="Calibri" pitchFamily="34" charset="-122"/>
                <a:cs typeface="Calibri" pitchFamily="34" charset="-120"/>
              </a:rPr>
              <a:t>claim it</a:t>
            </a:r>
            <a:endParaRPr lang="en-US" sz="1000" dirty="0"/>
          </a:p>
        </p:txBody>
      </p:sp>
      <p:sp>
        <p:nvSpPr>
          <p:cNvPr id="52" name="Text 50"/>
          <p:cNvSpPr/>
          <p:nvPr/>
        </p:nvSpPr>
        <p:spPr>
          <a:xfrm>
            <a:off x="566928" y="6327648"/>
            <a:ext cx="11057839" cy="292608"/>
          </a:xfrm>
          <a:prstGeom prst="rect">
            <a:avLst/>
          </a:prstGeom>
          <a:noFill/>
          <a:ln/>
        </p:spPr>
        <p:txBody>
          <a:bodyPr wrap="square" lIns="0" tIns="0" rIns="0" bIns="0" rtlCol="0" anchor="ctr"/>
          <a:lstStyle/>
          <a:p>
            <a:pPr indent="0" marL="0">
              <a:lnSpc>
                <a:spcPts val="1200"/>
              </a:lnSpc>
              <a:buNone/>
            </a:pPr>
            <a:r>
              <a:rPr lang="en-US" sz="950" i="1" dirty="0">
                <a:solidFill>
                  <a:srgbClr val="6B7785"/>
                </a:solidFill>
                <a:latin typeface="Calibri" pitchFamily="34" charset="0"/>
                <a:ea typeface="Calibri" pitchFamily="34" charset="-122"/>
                <a:cs typeface="Calibri" pitchFamily="34" charset="-120"/>
              </a:rPr>
              <a:t>A rule whose boundary makes no difference to the output has not been tested at all. That is our own AI, caught by our own harness.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WHAT THE BANK ACTUALLY GETS</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100" b="1" dirty="0">
                <a:solidFill>
                  <a:srgbClr val="16212E"/>
                </a:solidFill>
                <a:latin typeface="Cambria" pitchFamily="34" charset="0"/>
                <a:ea typeface="Cambria" pitchFamily="34" charset="-122"/>
                <a:cs typeface="Cambria" pitchFamily="34" charset="-120"/>
              </a:rPr>
              <a:t>Three artifacts it never had, and an honest claim</a:t>
            </a:r>
            <a:endParaRPr lang="en-US" sz="3100" dirty="0"/>
          </a:p>
        </p:txBody>
      </p:sp>
      <p:sp>
        <p:nvSpPr>
          <p:cNvPr id="4" name="Shape 2"/>
          <p:cNvSpPr/>
          <p:nvPr/>
        </p:nvSpPr>
        <p:spPr>
          <a:xfrm>
            <a:off x="566928" y="1481328"/>
            <a:ext cx="2670048" cy="1042416"/>
          </a:xfrm>
          <a:prstGeom prst="roundRect">
            <a:avLst>
              <a:gd name="adj" fmla="val 5263"/>
            </a:avLst>
          </a:prstGeom>
          <a:solidFill>
            <a:srgbClr val="EDF1F5"/>
          </a:solidFill>
          <a:ln w="12700">
            <a:solidFill>
              <a:srgbClr val="EDF1F5"/>
            </a:solidFill>
            <a:prstDash val="solid"/>
          </a:ln>
        </p:spPr>
      </p:sp>
      <p:sp>
        <p:nvSpPr>
          <p:cNvPr id="5" name="Text 3"/>
          <p:cNvSpPr/>
          <p:nvPr/>
        </p:nvSpPr>
        <p:spPr>
          <a:xfrm>
            <a:off x="768096" y="1536192"/>
            <a:ext cx="2267712" cy="566928"/>
          </a:xfrm>
          <a:prstGeom prst="rect">
            <a:avLst/>
          </a:prstGeom>
          <a:noFill/>
          <a:ln/>
        </p:spPr>
        <p:txBody>
          <a:bodyPr wrap="square" lIns="0" tIns="0" rIns="0" bIns="0" rtlCol="0" anchor="ctr"/>
          <a:lstStyle/>
          <a:p>
            <a:pPr indent="0" marL="0">
              <a:buNone/>
            </a:pPr>
            <a:r>
              <a:rPr lang="en-US" sz="3400" b="1" dirty="0">
                <a:solidFill>
                  <a:srgbClr val="0E2033"/>
                </a:solidFill>
                <a:latin typeface="Cambria" pitchFamily="34" charset="0"/>
                <a:ea typeface="Cambria" pitchFamily="34" charset="-122"/>
                <a:cs typeface="Cambria" pitchFamily="34" charset="-120"/>
              </a:rPr>
              <a:t>47</a:t>
            </a:r>
            <a:endParaRPr lang="en-US" sz="3400" dirty="0"/>
          </a:p>
        </p:txBody>
      </p:sp>
      <p:sp>
        <p:nvSpPr>
          <p:cNvPr id="6" name="Text 4"/>
          <p:cNvSpPr/>
          <p:nvPr/>
        </p:nvSpPr>
        <p:spPr>
          <a:xfrm>
            <a:off x="768096" y="2103120"/>
            <a:ext cx="2267712" cy="347472"/>
          </a:xfrm>
          <a:prstGeom prst="rect">
            <a:avLst/>
          </a:prstGeom>
          <a:noFill/>
          <a:ln/>
        </p:spPr>
        <p:txBody>
          <a:bodyPr wrap="square" lIns="0" tIns="0" rIns="0" bIns="0" rtlCol="0" anchor="ctr"/>
          <a:lstStyle/>
          <a:p>
            <a:pPr indent="0" marL="0">
              <a:buNone/>
            </a:pPr>
            <a:r>
              <a:rPr lang="en-US" sz="1100" dirty="0">
                <a:solidFill>
                  <a:srgbClr val="16212E"/>
                </a:solidFill>
                <a:latin typeface="Calibri" pitchFamily="34" charset="0"/>
                <a:ea typeface="Calibri" pitchFamily="34" charset="-122"/>
                <a:cs typeface="Calibri" pitchFamily="34" charset="-120"/>
              </a:rPr>
              <a:t>business rules extracted</a:t>
            </a:r>
            <a:endParaRPr lang="en-US" sz="1100" dirty="0"/>
          </a:p>
        </p:txBody>
      </p:sp>
      <p:sp>
        <p:nvSpPr>
          <p:cNvPr id="7" name="Shape 5"/>
          <p:cNvSpPr/>
          <p:nvPr/>
        </p:nvSpPr>
        <p:spPr>
          <a:xfrm>
            <a:off x="3374136" y="1481328"/>
            <a:ext cx="2670048" cy="1042416"/>
          </a:xfrm>
          <a:prstGeom prst="roundRect">
            <a:avLst>
              <a:gd name="adj" fmla="val 5263"/>
            </a:avLst>
          </a:prstGeom>
          <a:solidFill>
            <a:srgbClr val="EDF1F5"/>
          </a:solidFill>
          <a:ln w="12700">
            <a:solidFill>
              <a:srgbClr val="EDF1F5"/>
            </a:solidFill>
            <a:prstDash val="solid"/>
          </a:ln>
        </p:spPr>
      </p:sp>
      <p:sp>
        <p:nvSpPr>
          <p:cNvPr id="8" name="Text 6"/>
          <p:cNvSpPr/>
          <p:nvPr/>
        </p:nvSpPr>
        <p:spPr>
          <a:xfrm>
            <a:off x="3575304" y="1536192"/>
            <a:ext cx="2267712" cy="566928"/>
          </a:xfrm>
          <a:prstGeom prst="rect">
            <a:avLst/>
          </a:prstGeom>
          <a:noFill/>
          <a:ln/>
        </p:spPr>
        <p:txBody>
          <a:bodyPr wrap="square" lIns="0" tIns="0" rIns="0" bIns="0" rtlCol="0" anchor="ctr"/>
          <a:lstStyle/>
          <a:p>
            <a:pPr indent="0" marL="0">
              <a:buNone/>
            </a:pPr>
            <a:r>
              <a:rPr lang="en-US" sz="3400" b="1" dirty="0">
                <a:solidFill>
                  <a:srgbClr val="0E2033"/>
                </a:solidFill>
                <a:latin typeface="Cambria" pitchFamily="34" charset="0"/>
                <a:ea typeface="Cambria" pitchFamily="34" charset="-122"/>
                <a:cs typeface="Cambria" pitchFamily="34" charset="-120"/>
              </a:rPr>
              <a:t>31</a:t>
            </a:r>
            <a:endParaRPr lang="en-US" sz="3400" dirty="0"/>
          </a:p>
        </p:txBody>
      </p:sp>
      <p:sp>
        <p:nvSpPr>
          <p:cNvPr id="9" name="Text 7"/>
          <p:cNvSpPr/>
          <p:nvPr/>
        </p:nvSpPr>
        <p:spPr>
          <a:xfrm>
            <a:off x="3575304" y="2103120"/>
            <a:ext cx="2267712" cy="347472"/>
          </a:xfrm>
          <a:prstGeom prst="rect">
            <a:avLst/>
          </a:prstGeom>
          <a:noFill/>
          <a:ln/>
        </p:spPr>
        <p:txBody>
          <a:bodyPr wrap="square" lIns="0" tIns="0" rIns="0" bIns="0" rtlCol="0" anchor="ctr"/>
          <a:lstStyle/>
          <a:p>
            <a:pPr indent="0" marL="0">
              <a:buNone/>
            </a:pPr>
            <a:r>
              <a:rPr lang="en-US" sz="1100" dirty="0">
                <a:solidFill>
                  <a:srgbClr val="16212E"/>
                </a:solidFill>
                <a:latin typeface="Calibri" pitchFamily="34" charset="0"/>
                <a:ea typeface="Calibri" pitchFamily="34" charset="-122"/>
                <a:cs typeface="Calibri" pitchFamily="34" charset="-120"/>
              </a:rPr>
              <a:t>confirmed by execution</a:t>
            </a:r>
            <a:endParaRPr lang="en-US" sz="1100" dirty="0"/>
          </a:p>
        </p:txBody>
      </p:sp>
      <p:sp>
        <p:nvSpPr>
          <p:cNvPr id="10" name="Shape 8"/>
          <p:cNvSpPr/>
          <p:nvPr/>
        </p:nvSpPr>
        <p:spPr>
          <a:xfrm>
            <a:off x="6181344" y="1481328"/>
            <a:ext cx="2670048" cy="1042416"/>
          </a:xfrm>
          <a:prstGeom prst="roundRect">
            <a:avLst>
              <a:gd name="adj" fmla="val 5263"/>
            </a:avLst>
          </a:prstGeom>
          <a:solidFill>
            <a:srgbClr val="EDF1F5"/>
          </a:solidFill>
          <a:ln w="12700">
            <a:solidFill>
              <a:srgbClr val="EDF1F5"/>
            </a:solidFill>
            <a:prstDash val="solid"/>
          </a:ln>
        </p:spPr>
      </p:sp>
      <p:sp>
        <p:nvSpPr>
          <p:cNvPr id="11" name="Text 9"/>
          <p:cNvSpPr/>
          <p:nvPr/>
        </p:nvSpPr>
        <p:spPr>
          <a:xfrm>
            <a:off x="6382512" y="1536192"/>
            <a:ext cx="2267712" cy="566928"/>
          </a:xfrm>
          <a:prstGeom prst="rect">
            <a:avLst/>
          </a:prstGeom>
          <a:noFill/>
          <a:ln/>
        </p:spPr>
        <p:txBody>
          <a:bodyPr wrap="square" lIns="0" tIns="0" rIns="0" bIns="0" rtlCol="0" anchor="ctr"/>
          <a:lstStyle/>
          <a:p>
            <a:pPr indent="0" marL="0">
              <a:buNone/>
            </a:pPr>
            <a:r>
              <a:rPr lang="en-US" sz="3400" b="1" dirty="0">
                <a:solidFill>
                  <a:srgbClr val="B07A16"/>
                </a:solidFill>
                <a:latin typeface="Cambria" pitchFamily="34" charset="0"/>
                <a:ea typeface="Cambria" pitchFamily="34" charset="-122"/>
                <a:cs typeface="Cambria" pitchFamily="34" charset="-120"/>
              </a:rPr>
              <a:t>16</a:t>
            </a:r>
            <a:endParaRPr lang="en-US" sz="3400" dirty="0"/>
          </a:p>
        </p:txBody>
      </p:sp>
      <p:sp>
        <p:nvSpPr>
          <p:cNvPr id="12" name="Text 10"/>
          <p:cNvSpPr/>
          <p:nvPr/>
        </p:nvSpPr>
        <p:spPr>
          <a:xfrm>
            <a:off x="6382512" y="2103120"/>
            <a:ext cx="2267712" cy="347472"/>
          </a:xfrm>
          <a:prstGeom prst="rect">
            <a:avLst/>
          </a:prstGeom>
          <a:noFill/>
          <a:ln/>
        </p:spPr>
        <p:txBody>
          <a:bodyPr wrap="square" lIns="0" tIns="0" rIns="0" bIns="0" rtlCol="0" anchor="ctr"/>
          <a:lstStyle/>
          <a:p>
            <a:pPr indent="0" marL="0">
              <a:buNone/>
            </a:pPr>
            <a:r>
              <a:rPr lang="en-US" sz="1100" dirty="0">
                <a:solidFill>
                  <a:srgbClr val="16212E"/>
                </a:solidFill>
                <a:latin typeface="Calibri" pitchFamily="34" charset="0"/>
                <a:ea typeface="Calibri" pitchFamily="34" charset="-122"/>
                <a:cs typeface="Calibri" pitchFamily="34" charset="-120"/>
              </a:rPr>
              <a:t>not confirmed, and named</a:t>
            </a:r>
            <a:endParaRPr lang="en-US" sz="1100" dirty="0"/>
          </a:p>
        </p:txBody>
      </p:sp>
      <p:sp>
        <p:nvSpPr>
          <p:cNvPr id="13" name="Shape 11"/>
          <p:cNvSpPr/>
          <p:nvPr/>
        </p:nvSpPr>
        <p:spPr>
          <a:xfrm>
            <a:off x="8988552" y="1481328"/>
            <a:ext cx="2670048" cy="1042416"/>
          </a:xfrm>
          <a:prstGeom prst="roundRect">
            <a:avLst>
              <a:gd name="adj" fmla="val 5263"/>
            </a:avLst>
          </a:prstGeom>
          <a:solidFill>
            <a:srgbClr val="EDF1F5"/>
          </a:solidFill>
          <a:ln w="12700">
            <a:solidFill>
              <a:srgbClr val="EDF1F5"/>
            </a:solidFill>
            <a:prstDash val="solid"/>
          </a:ln>
        </p:spPr>
      </p:sp>
      <p:sp>
        <p:nvSpPr>
          <p:cNvPr id="14" name="Text 12"/>
          <p:cNvSpPr/>
          <p:nvPr/>
        </p:nvSpPr>
        <p:spPr>
          <a:xfrm>
            <a:off x="9189720" y="1536192"/>
            <a:ext cx="2267712" cy="566928"/>
          </a:xfrm>
          <a:prstGeom prst="rect">
            <a:avLst/>
          </a:prstGeom>
          <a:noFill/>
          <a:ln/>
        </p:spPr>
        <p:txBody>
          <a:bodyPr wrap="square" lIns="0" tIns="0" rIns="0" bIns="0" rtlCol="0" anchor="ctr"/>
          <a:lstStyle/>
          <a:p>
            <a:pPr indent="0" marL="0">
              <a:buNone/>
            </a:pPr>
            <a:r>
              <a:rPr lang="en-US" sz="3400" b="1" dirty="0">
                <a:solidFill>
                  <a:srgbClr val="0E2033"/>
                </a:solidFill>
                <a:latin typeface="Cambria" pitchFamily="34" charset="0"/>
                <a:ea typeface="Cambria" pitchFamily="34" charset="-122"/>
                <a:cs typeface="Cambria" pitchFamily="34" charset="-120"/>
              </a:rPr>
              <a:t>94%</a:t>
            </a:r>
            <a:endParaRPr lang="en-US" sz="3400" dirty="0"/>
          </a:p>
        </p:txBody>
      </p:sp>
      <p:sp>
        <p:nvSpPr>
          <p:cNvPr id="15" name="Text 13"/>
          <p:cNvSpPr/>
          <p:nvPr/>
        </p:nvSpPr>
        <p:spPr>
          <a:xfrm>
            <a:off x="9189720" y="2103120"/>
            <a:ext cx="2267712" cy="347472"/>
          </a:xfrm>
          <a:prstGeom prst="rect">
            <a:avLst/>
          </a:prstGeom>
          <a:noFill/>
          <a:ln/>
        </p:spPr>
        <p:txBody>
          <a:bodyPr wrap="square" lIns="0" tIns="0" rIns="0" bIns="0" rtlCol="0" anchor="ctr"/>
          <a:lstStyle/>
          <a:p>
            <a:pPr indent="0" marL="0">
              <a:buNone/>
            </a:pPr>
            <a:r>
              <a:rPr lang="en-US" sz="1100" dirty="0">
                <a:solidFill>
                  <a:srgbClr val="16212E"/>
                </a:solidFill>
                <a:latin typeface="Calibri" pitchFamily="34" charset="0"/>
                <a:ea typeface="Calibri" pitchFamily="34" charset="-122"/>
                <a:cs typeface="Calibri" pitchFamily="34" charset="-120"/>
              </a:rPr>
              <a:t>mutation kill rate</a:t>
            </a:r>
            <a:endParaRPr lang="en-US" sz="1100" dirty="0"/>
          </a:p>
        </p:txBody>
      </p:sp>
      <p:sp>
        <p:nvSpPr>
          <p:cNvPr id="16" name="Shape 14"/>
          <p:cNvSpPr/>
          <p:nvPr/>
        </p:nvSpPr>
        <p:spPr>
          <a:xfrm>
            <a:off x="566928" y="2670048"/>
            <a:ext cx="5614416" cy="1371600"/>
          </a:xfrm>
          <a:prstGeom prst="roundRect">
            <a:avLst>
              <a:gd name="adj" fmla="val 4000"/>
            </a:avLst>
          </a:prstGeom>
          <a:solidFill>
            <a:srgbClr val="EDF1F5"/>
          </a:solidFill>
          <a:ln w="12700">
            <a:solidFill>
              <a:srgbClr val="EDF1F5"/>
            </a:solidFill>
            <a:prstDash val="solid"/>
          </a:ln>
        </p:spPr>
      </p:sp>
      <p:sp>
        <p:nvSpPr>
          <p:cNvPr id="17" name="Text 15"/>
          <p:cNvSpPr/>
          <p:nvPr/>
        </p:nvSpPr>
        <p:spPr>
          <a:xfrm>
            <a:off x="786384" y="2779776"/>
            <a:ext cx="5175504" cy="219456"/>
          </a:xfrm>
          <a:prstGeom prst="rect">
            <a:avLst/>
          </a:prstGeom>
          <a:noFill/>
          <a:ln/>
        </p:spPr>
        <p:txBody>
          <a:bodyPr wrap="square" lIns="0" tIns="0" rIns="0" bIns="0" rtlCol="0" anchor="ctr"/>
          <a:lstStyle/>
          <a:p>
            <a:pPr indent="0" marL="0">
              <a:buNone/>
            </a:pPr>
            <a:r>
              <a:rPr lang="en-US" sz="950" b="1" spc="140" kern="0" dirty="0">
                <a:solidFill>
                  <a:srgbClr val="6B7785"/>
                </a:solidFill>
                <a:latin typeface="Calibri" pitchFamily="34" charset="0"/>
                <a:ea typeface="Calibri" pitchFamily="34" charset="-122"/>
                <a:cs typeface="Calibri" pitchFamily="34" charset="-120"/>
              </a:rPr>
              <a:t>DIVERGENCE, MINIMISED TO ONE CASE</a:t>
            </a:r>
            <a:endParaRPr lang="en-US" sz="950" dirty="0"/>
          </a:p>
        </p:txBody>
      </p:sp>
      <p:sp>
        <p:nvSpPr>
          <p:cNvPr id="18" name="Text 16"/>
          <p:cNvSpPr/>
          <p:nvPr/>
        </p:nvSpPr>
        <p:spPr>
          <a:xfrm>
            <a:off x="786384" y="3017520"/>
            <a:ext cx="5175504" cy="237744"/>
          </a:xfrm>
          <a:prstGeom prst="rect">
            <a:avLst/>
          </a:prstGeom>
          <a:noFill/>
          <a:ln/>
        </p:spPr>
        <p:txBody>
          <a:bodyPr wrap="square" lIns="0" tIns="0" rIns="0" bIns="0" rtlCol="0" anchor="ctr"/>
          <a:lstStyle/>
          <a:p>
            <a:pPr indent="0" marL="0">
              <a:buNone/>
            </a:pPr>
            <a:r>
              <a:rPr lang="en-US" sz="1100" dirty="0">
                <a:solidFill>
                  <a:srgbClr val="16212E"/>
                </a:solidFill>
                <a:latin typeface="Consolas" pitchFamily="34" charset="0"/>
                <a:ea typeface="Consolas" pitchFamily="34" charset="-122"/>
                <a:cs typeface="Consolas" pitchFamily="34" charset="-120"/>
              </a:rPr>
              <a:t>balance ₹1,00,000.00 · 12 days · 3.5%</a:t>
            </a:r>
            <a:endParaRPr lang="en-US" sz="1100" dirty="0"/>
          </a:p>
        </p:txBody>
      </p:sp>
      <p:sp>
        <p:nvSpPr>
          <p:cNvPr id="19" name="Text 17"/>
          <p:cNvSpPr/>
          <p:nvPr/>
        </p:nvSpPr>
        <p:spPr>
          <a:xfrm>
            <a:off x="786384" y="3255264"/>
            <a:ext cx="5175504" cy="256032"/>
          </a:xfrm>
          <a:prstGeom prst="rect">
            <a:avLst/>
          </a:prstGeom>
          <a:noFill/>
          <a:ln/>
        </p:spPr>
        <p:txBody>
          <a:bodyPr wrap="square" lIns="0" tIns="0" rIns="0" bIns="0" rtlCol="0" anchor="ctr"/>
          <a:lstStyle/>
          <a:p>
            <a:pPr indent="0" marL="0">
              <a:buNone/>
            </a:pPr>
            <a:r>
              <a:rPr lang="en-US" sz="1200" b="1" dirty="0">
                <a:solidFill>
                  <a:srgbClr val="0E2033"/>
                </a:solidFill>
                <a:latin typeface="Consolas" pitchFamily="34" charset="0"/>
                <a:ea typeface="Consolas" pitchFamily="34" charset="-122"/>
                <a:cs typeface="Consolas" pitchFamily="34" charset="-120"/>
              </a:rPr>
              <a:t>legacy → ₹115        rewrite → ₹116</a:t>
            </a:r>
            <a:endParaRPr lang="en-US" sz="1200" dirty="0"/>
          </a:p>
        </p:txBody>
      </p:sp>
      <p:sp>
        <p:nvSpPr>
          <p:cNvPr id="20" name="Text 18"/>
          <p:cNvSpPr/>
          <p:nvPr/>
        </p:nvSpPr>
        <p:spPr>
          <a:xfrm>
            <a:off x="786384" y="3529584"/>
            <a:ext cx="5175504" cy="420624"/>
          </a:xfrm>
          <a:prstGeom prst="rect">
            <a:avLst/>
          </a:prstGeom>
          <a:noFill/>
          <a:ln/>
        </p:spPr>
        <p:txBody>
          <a:bodyPr wrap="square" lIns="0" tIns="0" rIns="0" bIns="0" rtlCol="0" anchor="ctr"/>
          <a:lstStyle/>
          <a:p>
            <a:pPr indent="0" marL="0">
              <a:lnSpc>
                <a:spcPts val="1400"/>
              </a:lnSpc>
              <a:buNone/>
            </a:pPr>
            <a:r>
              <a:rPr lang="en-US" sz="1050" dirty="0">
                <a:solidFill>
                  <a:srgbClr val="16212E"/>
                </a:solidFill>
                <a:latin typeface="Calibri" pitchFamily="34" charset="0"/>
                <a:ea typeface="Calibri" pitchFamily="34" charset="-122"/>
                <a:cs typeface="Calibri" pitchFamily="34" charset="-120"/>
              </a:rPr>
              <a:t>Rule R-07, line 214. The Java uses HALF_UP; the COBOL truncates at the PIC boundary.</a:t>
            </a:r>
            <a:endParaRPr lang="en-US" sz="1050" dirty="0"/>
          </a:p>
        </p:txBody>
      </p:sp>
      <p:sp>
        <p:nvSpPr>
          <p:cNvPr id="21" name="Shape 19"/>
          <p:cNvSpPr/>
          <p:nvPr/>
        </p:nvSpPr>
        <p:spPr>
          <a:xfrm>
            <a:off x="6345936" y="2670048"/>
            <a:ext cx="5614416" cy="1371600"/>
          </a:xfrm>
          <a:prstGeom prst="roundRect">
            <a:avLst>
              <a:gd name="adj" fmla="val 4000"/>
            </a:avLst>
          </a:prstGeom>
          <a:solidFill>
            <a:srgbClr val="EDF1F5"/>
          </a:solidFill>
          <a:ln w="12700">
            <a:solidFill>
              <a:srgbClr val="EDF1F5"/>
            </a:solidFill>
            <a:prstDash val="solid"/>
          </a:ln>
        </p:spPr>
      </p:sp>
      <p:sp>
        <p:nvSpPr>
          <p:cNvPr id="22" name="Text 20"/>
          <p:cNvSpPr/>
          <p:nvPr/>
        </p:nvSpPr>
        <p:spPr>
          <a:xfrm>
            <a:off x="6565392" y="2779776"/>
            <a:ext cx="5175504" cy="219456"/>
          </a:xfrm>
          <a:prstGeom prst="rect">
            <a:avLst/>
          </a:prstGeom>
          <a:noFill/>
          <a:ln/>
        </p:spPr>
        <p:txBody>
          <a:bodyPr wrap="square" lIns="0" tIns="0" rIns="0" bIns="0" rtlCol="0" anchor="ctr"/>
          <a:lstStyle/>
          <a:p>
            <a:pPr indent="0" marL="0">
              <a:buNone/>
            </a:pPr>
            <a:r>
              <a:rPr lang="en-US" sz="950" b="1" spc="140" kern="0" dirty="0">
                <a:solidFill>
                  <a:srgbClr val="B07A16"/>
                </a:solidFill>
                <a:latin typeface="Calibri" pitchFamily="34" charset="0"/>
                <a:ea typeface="Calibri" pitchFamily="34" charset="-122"/>
                <a:cs typeface="Calibri" pitchFamily="34" charset="-120"/>
              </a:rPr>
              <a:t>COMPLIANCE FINDING, NEEDS THE THIRD REFERENCE</a:t>
            </a:r>
            <a:endParaRPr lang="en-US" sz="950" dirty="0"/>
          </a:p>
        </p:txBody>
      </p:sp>
      <p:sp>
        <p:nvSpPr>
          <p:cNvPr id="23" name="Text 21"/>
          <p:cNvSpPr/>
          <p:nvPr/>
        </p:nvSpPr>
        <p:spPr>
          <a:xfrm>
            <a:off x="6565392" y="3017520"/>
            <a:ext cx="5175504" cy="237744"/>
          </a:xfrm>
          <a:prstGeom prst="rect">
            <a:avLst/>
          </a:prstGeom>
          <a:noFill/>
          <a:ln/>
        </p:spPr>
        <p:txBody>
          <a:bodyPr wrap="square" lIns="0" tIns="0" rIns="0" bIns="0" rtlCol="0" anchor="ctr"/>
          <a:lstStyle/>
          <a:p>
            <a:pPr indent="0" marL="0">
              <a:buNone/>
            </a:pPr>
            <a:r>
              <a:rPr lang="en-US" sz="1150" b="1" dirty="0">
                <a:solidFill>
                  <a:srgbClr val="16212E"/>
                </a:solidFill>
                <a:latin typeface="Calibri" pitchFamily="34" charset="0"/>
                <a:ea typeface="Calibri" pitchFamily="34" charset="-122"/>
                <a:cs typeface="Calibri" pitchFamily="34" charset="-120"/>
              </a:rPr>
              <a:t>Legacy and rewrite agree. Both round to two decimals.</a:t>
            </a:r>
            <a:endParaRPr lang="en-US" sz="1150" dirty="0"/>
          </a:p>
        </p:txBody>
      </p:sp>
      <p:sp>
        <p:nvSpPr>
          <p:cNvPr id="24" name="Text 22"/>
          <p:cNvSpPr/>
          <p:nvPr/>
        </p:nvSpPr>
        <p:spPr>
          <a:xfrm>
            <a:off x="6565392" y="3273552"/>
            <a:ext cx="5175504" cy="237744"/>
          </a:xfrm>
          <a:prstGeom prst="rect">
            <a:avLst/>
          </a:prstGeom>
          <a:noFill/>
          <a:ln/>
        </p:spPr>
        <p:txBody>
          <a:bodyPr wrap="square" lIns="0" tIns="0" rIns="0" bIns="0" rtlCol="0" anchor="ctr"/>
          <a:lstStyle/>
          <a:p>
            <a:pPr indent="0" marL="0">
              <a:buNone/>
            </a:pPr>
            <a:r>
              <a:rPr lang="en-US" sz="1150" b="1" dirty="0">
                <a:solidFill>
                  <a:srgbClr val="B07A16"/>
                </a:solidFill>
                <a:latin typeface="Calibri" pitchFamily="34" charset="0"/>
                <a:ea typeface="Calibri" pitchFamily="34" charset="-122"/>
                <a:cs typeface="Calibri" pitchFamily="34" charset="-120"/>
              </a:rPr>
              <a:t>RBI clause 4(f) requires rounding to the nearest rupee.</a:t>
            </a:r>
            <a:endParaRPr lang="en-US" sz="1150" dirty="0"/>
          </a:p>
        </p:txBody>
      </p:sp>
      <p:sp>
        <p:nvSpPr>
          <p:cNvPr id="25" name="Text 23"/>
          <p:cNvSpPr/>
          <p:nvPr/>
        </p:nvSpPr>
        <p:spPr>
          <a:xfrm>
            <a:off x="6565392" y="3529584"/>
            <a:ext cx="5175504" cy="420624"/>
          </a:xfrm>
          <a:prstGeom prst="rect">
            <a:avLst/>
          </a:prstGeom>
          <a:noFill/>
          <a:ln/>
        </p:spPr>
        <p:txBody>
          <a:bodyPr wrap="square" lIns="0" tIns="0" rIns="0" bIns="0" rtlCol="0" anchor="ctr"/>
          <a:lstStyle/>
          <a:p>
            <a:pPr indent="0" marL="0">
              <a:lnSpc>
                <a:spcPts val="1400"/>
              </a:lnSpc>
              <a:buNone/>
            </a:pPr>
            <a:r>
              <a:rPr lang="en-US" sz="1050" dirty="0">
                <a:solidFill>
                  <a:srgbClr val="16212E"/>
                </a:solidFill>
                <a:latin typeface="Calibri" pitchFamily="34" charset="0"/>
                <a:ea typeface="Calibri" pitchFamily="34" charset="-122"/>
                <a:cs typeface="Calibri" pitchFamily="34" charset="-120"/>
              </a:rPr>
              <a:t>Not a migration defect. It has been running for forty years, and warrants a compliance review.</a:t>
            </a:r>
            <a:endParaRPr lang="en-US" sz="1050" dirty="0"/>
          </a:p>
        </p:txBody>
      </p:sp>
      <p:sp>
        <p:nvSpPr>
          <p:cNvPr id="26" name="Shape 24"/>
          <p:cNvSpPr/>
          <p:nvPr/>
        </p:nvSpPr>
        <p:spPr>
          <a:xfrm>
            <a:off x="566928" y="4224528"/>
            <a:ext cx="11057839" cy="566928"/>
          </a:xfrm>
          <a:prstGeom prst="roundRect">
            <a:avLst>
              <a:gd name="adj" fmla="val 9677"/>
            </a:avLst>
          </a:prstGeom>
          <a:solidFill>
            <a:srgbClr val="EDF1F5"/>
          </a:solidFill>
          <a:ln w="12700">
            <a:solidFill>
              <a:srgbClr val="EDF1F5"/>
            </a:solidFill>
            <a:prstDash val="solid"/>
          </a:ln>
        </p:spPr>
      </p:sp>
      <p:sp>
        <p:nvSpPr>
          <p:cNvPr id="27" name="Text 25"/>
          <p:cNvSpPr/>
          <p:nvPr/>
        </p:nvSpPr>
        <p:spPr>
          <a:xfrm>
            <a:off x="841248" y="4224528"/>
            <a:ext cx="10509199" cy="566928"/>
          </a:xfrm>
          <a:prstGeom prst="rect">
            <a:avLst/>
          </a:prstGeom>
          <a:noFill/>
          <a:ln/>
        </p:spPr>
        <p:txBody>
          <a:bodyPr wrap="square" lIns="0" tIns="0" rIns="0" bIns="0" rtlCol="0" anchor="ctr"/>
          <a:lstStyle/>
          <a:p>
            <a:pPr indent="0" marL="0">
              <a:buNone/>
            </a:pPr>
            <a:r>
              <a:rPr lang="en-US" sz="1200" b="1" dirty="0">
                <a:solidFill>
                  <a:srgbClr val="0E2033"/>
                </a:solidFill>
                <a:latin typeface="Calibri" pitchFamily="34" charset="0"/>
                <a:ea typeface="Calibri" pitchFamily="34" charset="-122"/>
                <a:cs typeface="Calibri" pitchFamily="34" charset="-120"/>
              </a:rPr>
              <a:t>Retained by the bank:   </a:t>
            </a:r>
            <a:pPr indent="0" marL="0">
              <a:buNone/>
            </a:pPr>
            <a:r>
              <a:rPr lang="en-US" sz="1200" dirty="0">
                <a:solidFill>
                  <a:srgbClr val="16212E"/>
                </a:solidFill>
                <a:latin typeface="Calibri" pitchFamily="34" charset="0"/>
                <a:ea typeface="Calibri" pitchFamily="34" charset="-122"/>
                <a:cs typeface="Calibri" pitchFamily="34" charset="-120"/>
              </a:rPr>
              <a:t>a specification  ·  a regression suite  ·  an evidence-backed equivalence claim</a:t>
            </a:r>
            <a:endParaRPr lang="en-US" sz="1200" dirty="0"/>
          </a:p>
        </p:txBody>
      </p:sp>
      <p:sp>
        <p:nvSpPr>
          <p:cNvPr id="28" name="Shape 26"/>
          <p:cNvSpPr/>
          <p:nvPr/>
        </p:nvSpPr>
        <p:spPr>
          <a:xfrm>
            <a:off x="566928" y="4974336"/>
            <a:ext cx="11057839" cy="1243584"/>
          </a:xfrm>
          <a:prstGeom prst="roundRect">
            <a:avLst>
              <a:gd name="adj" fmla="val 4412"/>
            </a:avLst>
          </a:prstGeom>
          <a:solidFill>
            <a:srgbClr val="0E2033"/>
          </a:solidFill>
          <a:ln w="12700">
            <a:solidFill>
              <a:srgbClr val="0E2033"/>
            </a:solidFill>
            <a:prstDash val="solid"/>
          </a:ln>
        </p:spPr>
      </p:sp>
      <p:sp>
        <p:nvSpPr>
          <p:cNvPr id="29" name="Text 27"/>
          <p:cNvSpPr/>
          <p:nvPr/>
        </p:nvSpPr>
        <p:spPr>
          <a:xfrm>
            <a:off x="877824" y="5084064"/>
            <a:ext cx="10436047" cy="585216"/>
          </a:xfrm>
          <a:prstGeom prst="rect">
            <a:avLst/>
          </a:prstGeom>
          <a:noFill/>
          <a:ln/>
        </p:spPr>
        <p:txBody>
          <a:bodyPr wrap="square" lIns="0" tIns="0" rIns="0" bIns="0" rtlCol="0" anchor="ctr"/>
          <a:lstStyle/>
          <a:p>
            <a:pPr indent="0" marL="0">
              <a:lnSpc>
                <a:spcPts val="2500"/>
              </a:lnSpc>
              <a:buNone/>
            </a:pPr>
            <a:r>
              <a:rPr lang="en-US" sz="1800" b="1" dirty="0">
                <a:solidFill>
                  <a:srgbClr val="FFFFFF"/>
                </a:solidFill>
                <a:latin typeface="Cambria" pitchFamily="34" charset="0"/>
                <a:ea typeface="Cambria" pitchFamily="34" charset="-122"/>
                <a:cs typeface="Cambria" pitchFamily="34" charset="-120"/>
              </a:rPr>
              <a:t>Everyone proves the rewrite matches the legacy.</a:t>
            </a:r>
            <a:endParaRPr lang="en-US" sz="1800" dirty="0"/>
          </a:p>
          <a:p>
            <a:pPr indent="0" marL="0">
              <a:lnSpc>
                <a:spcPts val="2500"/>
              </a:lnSpc>
              <a:buNone/>
            </a:pPr>
            <a:r>
              <a:rPr lang="en-US" sz="1800" b="1" dirty="0">
                <a:solidFill>
                  <a:srgbClr val="FFFFFF"/>
                </a:solidFill>
                <a:latin typeface="Cambria" pitchFamily="34" charset="0"/>
                <a:ea typeface="Cambria" pitchFamily="34" charset="-122"/>
                <a:cs typeface="Cambria" pitchFamily="34" charset="-120"/>
              </a:rPr>
              <a:t>We also ask whether the legacy matches the regulator.</a:t>
            </a:r>
            <a:endParaRPr lang="en-US" sz="1800" dirty="0"/>
          </a:p>
        </p:txBody>
      </p:sp>
      <p:sp>
        <p:nvSpPr>
          <p:cNvPr id="30" name="Text 28"/>
          <p:cNvSpPr/>
          <p:nvPr/>
        </p:nvSpPr>
        <p:spPr>
          <a:xfrm>
            <a:off x="877824" y="5705856"/>
            <a:ext cx="10436047" cy="438912"/>
          </a:xfrm>
          <a:prstGeom prst="rect">
            <a:avLst/>
          </a:prstGeom>
          <a:noFill/>
          <a:ln/>
        </p:spPr>
        <p:txBody>
          <a:bodyPr wrap="square" lIns="0" tIns="0" rIns="0" bIns="0" rtlCol="0" anchor="ctr"/>
          <a:lstStyle/>
          <a:p>
            <a:pPr indent="0" marL="0">
              <a:lnSpc>
                <a:spcPts val="1400"/>
              </a:lnSpc>
              <a:buNone/>
            </a:pPr>
            <a:r>
              <a:rPr lang="en-US" sz="1100" dirty="0">
                <a:solidFill>
                  <a:srgbClr val="C3D2DF"/>
                </a:solidFill>
                <a:latin typeface="Calibri" pitchFamily="34" charset="0"/>
                <a:ea typeface="Calibri" pitchFamily="34" charset="-122"/>
                <a:cs typeface="Calibri" pitchFamily="34" charset="-120"/>
              </a:rPr>
              <a:t>The differential mechanism is prior art. IBM, AWS, Mechanical Orchard and a paper published five days ago all do a version of it, and we say so. Ours is the coverage reported per business rule including the rules we could not confirm, a score for our own test corpus, and the regulator as a third reference.</a:t>
            </a:r>
            <a:endParaRPr lang="en-US" sz="1100" dirty="0"/>
          </a:p>
        </p:txBody>
      </p:sp>
      <p:sp>
        <p:nvSpPr>
          <p:cNvPr id="31" name="Text 29"/>
          <p:cNvSpPr/>
          <p:nvPr/>
        </p:nvSpPr>
        <p:spPr>
          <a:xfrm>
            <a:off x="566928" y="6327648"/>
            <a:ext cx="11057839" cy="292608"/>
          </a:xfrm>
          <a:prstGeom prst="rect">
            <a:avLst/>
          </a:prstGeom>
          <a:noFill/>
          <a:ln/>
        </p:spPr>
        <p:txBody>
          <a:bodyPr wrap="square" lIns="0" tIns="0" rIns="0" bIns="0" rtlCol="0" anchor="ctr"/>
          <a:lstStyle/>
          <a:p>
            <a:pPr indent="0" marL="0">
              <a:lnSpc>
                <a:spcPts val="1200"/>
              </a:lnSpc>
              <a:buNone/>
            </a:pPr>
            <a:r>
              <a:rPr lang="en-US" sz="950" i="1" dirty="0">
                <a:solidFill>
                  <a:srgbClr val="6B7785"/>
                </a:solidFill>
                <a:latin typeface="Calibri" pitchFamily="34" charset="0"/>
                <a:ea typeface="Calibri" pitchFamily="34" charset="-122"/>
                <a:cs typeface="Calibri" pitchFamily="34" charset="-120"/>
              </a:rPr>
              <a:t>Figures illustrative, for a savings-interest accrual program. Full sources and the competitive landscape are in the research dossier.</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Odisha University of Technology and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Legacy Banking Modernisation Platform</dc:title>
  <dc:subject>PptxGenJS Presentation</dc:subject>
  <dc:creator>Team StudyEdge</dc:creator>
  <cp:lastModifiedBy>Team StudyEdge</cp:lastModifiedBy>
  <cp:revision>1</cp:revision>
  <dcterms:created xsi:type="dcterms:W3CDTF">2026-08-03T22:01:07Z</dcterms:created>
  <dcterms:modified xsi:type="dcterms:W3CDTF">2026-08-03T22:01:07Z</dcterms:modified>
</cp:coreProperties>
</file>