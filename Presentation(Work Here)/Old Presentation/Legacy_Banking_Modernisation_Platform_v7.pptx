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proves the rewrite matches the legacy; we also ask whether the legacy matches the regulator.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million customer figure often quoted for TSB is press reporting, not the FCA, which says 'a significant proportion of its 5.2 million customers'. HDFC is the example that lands with an Indian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AgentModernize captured 91.2% of gold-standard rules but its Behavioural Equivalence Rate was 9.4%, 8.1% and 19.4% across three models, with baselines at 0.0%. That pair is the sharpest argument in the deck and it is someone else's data.
Be generous to the incumbents. Claiming to have invented differential verification would lose a Cognizant mainframe judge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of the whole pitch. Testing normally requires knowing the correct answer in advance; here that requirement disappears because the program being replaced already defines it by running.
Every mismatch becomes a concrete reproducible finding rather than a confidence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from Extract rules back into input generation is the reciprocal loop.
The intake gate matters: the tool refuses programs it cannot verify soundly, with a reason, rather than producing a confident wrong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Novelty 01 is the strongest and survived a deliberate falsification pass. Locksmith has no regulatory checks; AgentModernize has none; EvolveWare is static documentation with no execution.
Be precise on 02: rule-level scoring itself exists (AgentModernize's Business Rule Preservation Score, against human gold-standard rules). The discrimination check and flagging contradicted rules are ours.
On 03: mutation testing is textbook. Applying it to the oracle to certify a migration equivalence claim is the combination we could not find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CardDemo: CBACT04C.cbl is an interest calculator but reads four VSAM files and calls FUNCTION CURRENT-DATE, so our own intake gate refuses it. We use that as the refusal demo and lift the arithmetic into a pure unit for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coverage numbers, not a promise: 'these sixteen we could not confirm, and we are telling you which ones.'
Of the 16, some were never exercised and some were contradicted by the evidence. That second group is the interesting one: it is where our own extraction layer invented a rule that is not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in the deck traces to one of these. The dossier also records six corrections found during a deliberate falsification pass, including the RBI clause numbering and the fact that the differential mechanism is prior 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3"/>
        </a:solidFill>
      </p:bgPr>
    </p:bg>
    <p:spTree>
      <p:nvGrpSpPr>
        <p:cNvPr id="1" name=""/>
        <p:cNvGrpSpPr/>
        <p:nvPr/>
      </p:nvGrpSpPr>
      <p:grpSpPr>
        <a:xfrm>
          <a:off x="0" y="0"/>
          <a:ext cx="0" cy="0"/>
          <a:chOff x="0" y="0"/>
          <a:chExt cx="0" cy="0"/>
        </a:xfrm>
      </p:grpSpPr>
      <p:sp>
        <p:nvSpPr>
          <p:cNvPr id="2" name="Text 0"/>
          <p:cNvSpPr/>
          <p:nvPr/>
        </p:nvSpPr>
        <p:spPr>
          <a:xfrm>
            <a:off x="566928" y="566928"/>
            <a:ext cx="11057839" cy="274320"/>
          </a:xfrm>
          <a:prstGeom prst="rect">
            <a:avLst/>
          </a:prstGeom>
          <a:noFill/>
          <a:ln/>
        </p:spPr>
        <p:txBody>
          <a:bodyPr wrap="square" lIns="0" tIns="0" rIns="0" bIns="0" rtlCol="0" anchor="ctr"/>
          <a:lstStyle/>
          <a:p>
            <a:pPr indent="0" marL="0">
              <a:buNone/>
            </a:pPr>
            <a:r>
              <a:rPr lang="en-US" sz="1100" b="1" spc="240" kern="0" dirty="0">
                <a:solidFill>
                  <a:srgbClr val="6B7785"/>
                </a:solidFill>
                <a:latin typeface="Calibri" pitchFamily="34" charset="0"/>
                <a:ea typeface="Calibri" pitchFamily="34" charset="-122"/>
                <a:cs typeface="Calibri" pitchFamily="34" charset="-120"/>
              </a:rPr>
              <a:t>DIGITAL NURTURE HACKATHON 2026   ·   BANKING AND FINANCE TECHNOLOGY</a:t>
            </a:r>
            <a:endParaRPr lang="en-US" sz="1100" dirty="0"/>
          </a:p>
        </p:txBody>
      </p:sp>
      <p:sp>
        <p:nvSpPr>
          <p:cNvPr id="3" name="Text 1"/>
          <p:cNvSpPr/>
          <p:nvPr/>
        </p:nvSpPr>
        <p:spPr>
          <a:xfrm>
            <a:off x="566928" y="1572768"/>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Legacy Banking</a:t>
            </a:r>
            <a:endParaRPr lang="en-US" sz="4800" dirty="0"/>
          </a:p>
        </p:txBody>
      </p:sp>
      <p:sp>
        <p:nvSpPr>
          <p:cNvPr id="4" name="Text 2"/>
          <p:cNvSpPr/>
          <p:nvPr/>
        </p:nvSpPr>
        <p:spPr>
          <a:xfrm>
            <a:off x="566928" y="2368296"/>
            <a:ext cx="8595360" cy="841248"/>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Modernisation Platform</a:t>
            </a:r>
            <a:endParaRPr lang="en-US" sz="4800" dirty="0"/>
          </a:p>
        </p:txBody>
      </p:sp>
      <p:sp>
        <p:nvSpPr>
          <p:cNvPr id="5" name="Text 3"/>
          <p:cNvSpPr/>
          <p:nvPr/>
        </p:nvSpPr>
        <p:spPr>
          <a:xfrm>
            <a:off x="566928" y="3328416"/>
            <a:ext cx="8595360" cy="384048"/>
          </a:xfrm>
          <a:prstGeom prst="rect">
            <a:avLst/>
          </a:prstGeom>
          <a:noFill/>
          <a:ln/>
        </p:spPr>
        <p:txBody>
          <a:bodyPr wrap="square" lIns="0" tIns="0" rIns="0" bIns="0" rtlCol="0" anchor="ctr"/>
          <a:lstStyle/>
          <a:p>
            <a:pPr indent="0" marL="0">
              <a:buNone/>
            </a:pPr>
            <a:r>
              <a:rPr lang="en-US" sz="1900" i="1" dirty="0">
                <a:solidFill>
                  <a:srgbClr val="B07A16"/>
                </a:solidFill>
                <a:latin typeface="Calibri" pitchFamily="34" charset="0"/>
                <a:ea typeface="Calibri" pitchFamily="34" charset="-122"/>
                <a:cs typeface="Calibri" pitchFamily="34" charset="-120"/>
              </a:rPr>
              <a:t>Proving the rewrite behaves exactly like the original</a:t>
            </a:r>
            <a:endParaRPr lang="en-US" sz="1900" dirty="0"/>
          </a:p>
        </p:txBody>
      </p:sp>
      <p:sp>
        <p:nvSpPr>
          <p:cNvPr id="6" name="Text 4"/>
          <p:cNvSpPr/>
          <p:nvPr/>
        </p:nvSpPr>
        <p:spPr>
          <a:xfrm>
            <a:off x="566928" y="3877056"/>
            <a:ext cx="8229600" cy="658368"/>
          </a:xfrm>
          <a:prstGeom prst="rect">
            <a:avLst/>
          </a:prstGeom>
          <a:noFill/>
          <a:ln/>
        </p:spPr>
        <p:txBody>
          <a:bodyPr wrap="square" lIns="0" tIns="0" rIns="0" bIns="0" rtlCol="0" anchor="ctr"/>
          <a:lstStyle/>
          <a:p>
            <a:pPr indent="0" marL="0">
              <a:lnSpc>
                <a:spcPts val="2100"/>
              </a:lnSpc>
              <a:buNone/>
            </a:pPr>
            <a:r>
              <a:rPr lang="en-US" sz="1350" dirty="0">
                <a:solidFill>
                  <a:srgbClr val="C3D2DF"/>
                </a:solidFill>
                <a:latin typeface="Calibri" pitchFamily="34" charset="0"/>
                <a:ea typeface="Calibri" pitchFamily="34" charset="-122"/>
                <a:cs typeface="Calibri" pitchFamily="34" charset="-120"/>
              </a:rPr>
              <a:t>Legacy migration fails on verification, not translation. We make behavioural equivalence something a bank can prove, then check that answer against the regulator.</a:t>
            </a:r>
            <a:endParaRPr lang="en-US" sz="1350" dirty="0"/>
          </a:p>
        </p:txBody>
      </p:sp>
      <p:sp>
        <p:nvSpPr>
          <p:cNvPr id="7" name="Shape 5"/>
          <p:cNvSpPr/>
          <p:nvPr/>
        </p:nvSpPr>
        <p:spPr>
          <a:xfrm>
            <a:off x="566928" y="4956048"/>
            <a:ext cx="3840480" cy="0"/>
          </a:xfrm>
          <a:prstGeom prst="line">
            <a:avLst/>
          </a:prstGeom>
          <a:noFill/>
          <a:ln w="19050">
            <a:solidFill>
              <a:srgbClr val="D5DCE3"/>
            </a:solidFill>
            <a:prstDash val="solid"/>
          </a:ln>
        </p:spPr>
      </p:sp>
      <p:sp>
        <p:nvSpPr>
          <p:cNvPr id="8" name="Text 6"/>
          <p:cNvSpPr/>
          <p:nvPr/>
        </p:nvSpPr>
        <p:spPr>
          <a:xfrm>
            <a:off x="566928" y="5102352"/>
            <a:ext cx="5669280"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Team StudyEdge</a:t>
            </a:r>
            <a:endParaRPr lang="en-US" sz="1600" dirty="0"/>
          </a:p>
        </p:txBody>
      </p:sp>
      <p:sp>
        <p:nvSpPr>
          <p:cNvPr id="9" name="Text 7"/>
          <p:cNvSpPr/>
          <p:nvPr/>
        </p:nvSpPr>
        <p:spPr>
          <a:xfrm>
            <a:off x="566928" y="5413248"/>
            <a:ext cx="6035040" cy="256032"/>
          </a:xfrm>
          <a:prstGeom prst="rect">
            <a:avLst/>
          </a:prstGeom>
          <a:noFill/>
          <a:ln/>
        </p:spPr>
        <p:txBody>
          <a:bodyPr wrap="square" lIns="0" tIns="0" rIns="0" bIns="0" rtlCol="0" anchor="ctr"/>
          <a:lstStyle/>
          <a:p>
            <a:pPr indent="0" marL="0">
              <a:buNone/>
            </a:pPr>
            <a:r>
              <a:rPr lang="en-US" sz="1150" dirty="0">
                <a:solidFill>
                  <a:srgbClr val="C3D2DF"/>
                </a:solidFill>
                <a:latin typeface="Calibri" pitchFamily="34" charset="0"/>
                <a:ea typeface="Calibri" pitchFamily="34" charset="-122"/>
                <a:cs typeface="Calibri" pitchFamily="34" charset="-120"/>
              </a:rPr>
              <a:t>Odisha University of Technology and Research, Bhubaneswar</a:t>
            </a:r>
            <a:endParaRPr lang="en-US" sz="1150" dirty="0"/>
          </a:p>
        </p:txBody>
      </p:sp>
      <p:sp>
        <p:nvSpPr>
          <p:cNvPr id="10" name="Text 8"/>
          <p:cNvSpPr/>
          <p:nvPr/>
        </p:nvSpPr>
        <p:spPr>
          <a:xfrm>
            <a:off x="566928" y="5705856"/>
            <a:ext cx="7863840" cy="256032"/>
          </a:xfrm>
          <a:prstGeom prst="rect">
            <a:avLst/>
          </a:prstGeom>
          <a:noFill/>
          <a:ln/>
        </p:spPr>
        <p:txBody>
          <a:bodyPr wrap="square" lIns="0" tIns="0" rIns="0" bIns="0" rtlCol="0" anchor="ctr"/>
          <a:lstStyle/>
          <a:p>
            <a:pPr indent="0" marL="0">
              <a:buNone/>
            </a:pPr>
            <a:r>
              <a:rPr lang="en-US" sz="1100" dirty="0">
                <a:solidFill>
                  <a:srgbClr val="C3D2DF"/>
                </a:solidFill>
                <a:latin typeface="Calibri" pitchFamily="34" charset="0"/>
                <a:ea typeface="Calibri" pitchFamily="34" charset="-122"/>
                <a:cs typeface="Calibri" pitchFamily="34" charset="-120"/>
              </a:rPr>
              <a:t>Tamanna Panda  ·  Swayam Subhankar Sahoo  ·  Adyasha Das  ·  Soumyajit Sarkar</a:t>
            </a:r>
            <a:endParaRPr lang="en-US" sz="1100" dirty="0"/>
          </a:p>
        </p:txBody>
      </p:sp>
      <p:sp>
        <p:nvSpPr>
          <p:cNvPr id="11" name="Text 9"/>
          <p:cNvSpPr/>
          <p:nvPr/>
        </p:nvSpPr>
        <p:spPr>
          <a:xfrm>
            <a:off x="9400032" y="1700784"/>
            <a:ext cx="2231136" cy="237744"/>
          </a:xfrm>
          <a:prstGeom prst="rect">
            <a:avLst/>
          </a:prstGeom>
          <a:noFill/>
          <a:ln/>
        </p:spPr>
        <p:txBody>
          <a:bodyPr wrap="square" lIns="0" tIns="0" rIns="0" bIns="0" rtlCol="0" anchor="ctr"/>
          <a:lstStyle/>
          <a:p>
            <a:pPr indent="0" marL="0">
              <a:buNone/>
            </a:pPr>
            <a:r>
              <a:rPr lang="en-US" sz="900" b="1" spc="140" kern="0" dirty="0">
                <a:solidFill>
                  <a:srgbClr val="B07A16"/>
                </a:solidFill>
                <a:latin typeface="Calibri" pitchFamily="34" charset="0"/>
                <a:ea typeface="Calibri" pitchFamily="34" charset="-122"/>
                <a:cs typeface="Calibri" pitchFamily="34" charset="-120"/>
              </a:rPr>
              <a:t>THREE REFERENCES, NOT TWO</a:t>
            </a:r>
            <a:endParaRPr lang="en-US" sz="900" dirty="0"/>
          </a:p>
        </p:txBody>
      </p:sp>
      <p:sp>
        <p:nvSpPr>
          <p:cNvPr id="12" name="Shape 10"/>
          <p:cNvSpPr/>
          <p:nvPr/>
        </p:nvSpPr>
        <p:spPr>
          <a:xfrm>
            <a:off x="9400032" y="2011680"/>
            <a:ext cx="2231136" cy="0"/>
          </a:xfrm>
          <a:prstGeom prst="line">
            <a:avLst/>
          </a:prstGeom>
          <a:noFill/>
          <a:ln w="19050">
            <a:solidFill>
              <a:srgbClr val="D5DCE3"/>
            </a:solidFill>
            <a:prstDash val="solid"/>
          </a:ln>
        </p:spPr>
      </p:sp>
      <p:sp>
        <p:nvSpPr>
          <p:cNvPr id="13" name="Text 11"/>
          <p:cNvSpPr/>
          <p:nvPr/>
        </p:nvSpPr>
        <p:spPr>
          <a:xfrm>
            <a:off x="9400032" y="2157984"/>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Legacy COBOL</a:t>
            </a:r>
            <a:endParaRPr lang="en-US" sz="1250" dirty="0"/>
          </a:p>
        </p:txBody>
      </p:sp>
      <p:sp>
        <p:nvSpPr>
          <p:cNvPr id="14" name="Text 12"/>
          <p:cNvSpPr/>
          <p:nvPr/>
        </p:nvSpPr>
        <p:spPr>
          <a:xfrm>
            <a:off x="9400032" y="2560320"/>
            <a:ext cx="2231136"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Reimplementation</a:t>
            </a:r>
            <a:endParaRPr lang="en-US" sz="1250" dirty="0"/>
          </a:p>
        </p:txBody>
      </p:sp>
      <p:sp>
        <p:nvSpPr>
          <p:cNvPr id="15" name="Text 13"/>
          <p:cNvSpPr/>
          <p:nvPr/>
        </p:nvSpPr>
        <p:spPr>
          <a:xfrm>
            <a:off x="9400032" y="2962656"/>
            <a:ext cx="2231136" cy="274320"/>
          </a:xfrm>
          <a:prstGeom prst="rect">
            <a:avLst/>
          </a:prstGeom>
          <a:noFill/>
          <a:ln/>
        </p:spPr>
        <p:txBody>
          <a:bodyPr wrap="square" lIns="0" tIns="0" rIns="0" bIns="0" rtlCol="0" anchor="ctr"/>
          <a:lstStyle/>
          <a:p>
            <a:pPr indent="0" marL="0">
              <a:buNone/>
            </a:pPr>
            <a:r>
              <a:rPr lang="en-US" sz="1250" dirty="0">
                <a:solidFill>
                  <a:srgbClr val="B07A16"/>
                </a:solidFill>
                <a:latin typeface="Calibri" pitchFamily="34" charset="0"/>
                <a:ea typeface="Calibri" pitchFamily="34" charset="-122"/>
                <a:cs typeface="Calibri" pitchFamily="34" charset="-120"/>
              </a:rPr>
              <a:t>RBI Master Direction</a:t>
            </a:r>
            <a:endParaRPr lang="en-US" sz="1250" dirty="0"/>
          </a:p>
        </p:txBody>
      </p:sp>
      <p:sp>
        <p:nvSpPr>
          <p:cNvPr id="16" name="Text 14"/>
          <p:cNvSpPr/>
          <p:nvPr/>
        </p:nvSpPr>
        <p:spPr>
          <a:xfrm>
            <a:off x="9400032" y="3474720"/>
            <a:ext cx="2231136" cy="548640"/>
          </a:xfrm>
          <a:prstGeom prst="rect">
            <a:avLst/>
          </a:prstGeom>
          <a:noFill/>
          <a:ln/>
        </p:spPr>
        <p:txBody>
          <a:bodyPr wrap="square" lIns="0" tIns="0" rIns="0" bIns="0" rtlCol="0" anchor="ctr"/>
          <a:lstStyle/>
          <a:p>
            <a:pPr indent="0" marL="0">
              <a:lnSpc>
                <a:spcPts val="1400"/>
              </a:lnSpc>
              <a:buNone/>
            </a:pPr>
            <a:r>
              <a:rPr lang="en-US" sz="1000" i="1" dirty="0">
                <a:solidFill>
                  <a:srgbClr val="C3D2DF"/>
                </a:solidFill>
                <a:latin typeface="Calibri" pitchFamily="34" charset="0"/>
                <a:ea typeface="Calibri" pitchFamily="34" charset="-122"/>
                <a:cs typeface="Calibri" pitchFamily="34" charset="-120"/>
              </a:rPr>
              <a:t>Same input. Three outputs. Every difference explained.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PROBLEM</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India's banks run on code nobody can safely change</a:t>
            </a:r>
            <a:endParaRPr lang="en-US" sz="3100" dirty="0"/>
          </a:p>
        </p:txBody>
      </p:sp>
      <p:sp>
        <p:nvSpPr>
          <p:cNvPr id="4" name="Shape 2"/>
          <p:cNvSpPr/>
          <p:nvPr/>
        </p:nvSpPr>
        <p:spPr>
          <a:xfrm>
            <a:off x="566928" y="1481328"/>
            <a:ext cx="2670048" cy="1645920"/>
          </a:xfrm>
          <a:prstGeom prst="roundRect">
            <a:avLst>
              <a:gd name="adj" fmla="val 3333"/>
            </a:avLst>
          </a:prstGeom>
          <a:solidFill>
            <a:srgbClr val="EDF1F5"/>
          </a:solidFill>
          <a:ln w="12700">
            <a:solidFill>
              <a:srgbClr val="EDF1F5"/>
            </a:solidFill>
            <a:prstDash val="solid"/>
          </a:ln>
        </p:spPr>
      </p:sp>
      <p:sp>
        <p:nvSpPr>
          <p:cNvPr id="5" name="Text 3"/>
          <p:cNvSpPr/>
          <p:nvPr/>
        </p:nvSpPr>
        <p:spPr>
          <a:xfrm>
            <a:off x="768096"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92</a:t>
            </a:r>
            <a:endParaRPr lang="en-US" sz="4000" dirty="0"/>
          </a:p>
        </p:txBody>
      </p:sp>
      <p:sp>
        <p:nvSpPr>
          <p:cNvPr id="6" name="Text 4"/>
          <p:cNvSpPr/>
          <p:nvPr/>
        </p:nvSpPr>
        <p:spPr>
          <a:xfrm>
            <a:off x="768096"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the top 100</a:t>
            </a:r>
            <a:endParaRPr lang="en-US" sz="1150" dirty="0"/>
          </a:p>
        </p:txBody>
      </p:sp>
      <p:sp>
        <p:nvSpPr>
          <p:cNvPr id="7" name="Text 5"/>
          <p:cNvSpPr/>
          <p:nvPr/>
        </p:nvSpPr>
        <p:spPr>
          <a:xfrm>
            <a:off x="768096"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banks worldwide run on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IBM mainframes</a:t>
            </a:r>
            <a:endParaRPr lang="en-US" sz="1100" dirty="0"/>
          </a:p>
        </p:txBody>
      </p:sp>
      <p:sp>
        <p:nvSpPr>
          <p:cNvPr id="8" name="Shape 6"/>
          <p:cNvSpPr/>
          <p:nvPr/>
        </p:nvSpPr>
        <p:spPr>
          <a:xfrm>
            <a:off x="3374136" y="1481328"/>
            <a:ext cx="2670048" cy="1645920"/>
          </a:xfrm>
          <a:prstGeom prst="roundRect">
            <a:avLst>
              <a:gd name="adj" fmla="val 3333"/>
            </a:avLst>
          </a:prstGeom>
          <a:solidFill>
            <a:srgbClr val="EDF1F5"/>
          </a:solidFill>
          <a:ln w="12700">
            <a:solidFill>
              <a:srgbClr val="EDF1F5"/>
            </a:solidFill>
            <a:prstDash val="solid"/>
          </a:ln>
        </p:spPr>
      </p:sp>
      <p:sp>
        <p:nvSpPr>
          <p:cNvPr id="9" name="Text 7"/>
          <p:cNvSpPr/>
          <p:nvPr/>
        </p:nvSpPr>
        <p:spPr>
          <a:xfrm>
            <a:off x="3575304"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40%+</a:t>
            </a:r>
            <a:endParaRPr lang="en-US" sz="4000" dirty="0"/>
          </a:p>
        </p:txBody>
      </p:sp>
      <p:sp>
        <p:nvSpPr>
          <p:cNvPr id="10" name="Text 8"/>
          <p:cNvSpPr/>
          <p:nvPr/>
        </p:nvSpPr>
        <p:spPr>
          <a:xfrm>
            <a:off x="3575304"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of banking systems</a:t>
            </a:r>
            <a:endParaRPr lang="en-US" sz="1150" dirty="0"/>
          </a:p>
        </p:txBody>
      </p:sp>
      <p:sp>
        <p:nvSpPr>
          <p:cNvPr id="11" name="Text 9"/>
          <p:cNvSpPr/>
          <p:nvPr/>
        </p:nvSpPr>
        <p:spPr>
          <a:xfrm>
            <a:off x="3575304"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still run COBOL written</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decades ago</a:t>
            </a:r>
            <a:endParaRPr lang="en-US" sz="1100" dirty="0"/>
          </a:p>
        </p:txBody>
      </p:sp>
      <p:sp>
        <p:nvSpPr>
          <p:cNvPr id="12" name="Shape 10"/>
          <p:cNvSpPr/>
          <p:nvPr/>
        </p:nvSpPr>
        <p:spPr>
          <a:xfrm>
            <a:off x="6181344" y="1481328"/>
            <a:ext cx="2670048" cy="1645920"/>
          </a:xfrm>
          <a:prstGeom prst="roundRect">
            <a:avLst>
              <a:gd name="adj" fmla="val 3333"/>
            </a:avLst>
          </a:prstGeom>
          <a:solidFill>
            <a:srgbClr val="EDF1F5"/>
          </a:solidFill>
          <a:ln w="12700">
            <a:solidFill>
              <a:srgbClr val="EDF1F5"/>
            </a:solidFill>
            <a:prstDash val="solid"/>
          </a:ln>
        </p:spPr>
      </p:sp>
      <p:sp>
        <p:nvSpPr>
          <p:cNvPr id="13" name="Text 11"/>
          <p:cNvSpPr/>
          <p:nvPr/>
        </p:nvSpPr>
        <p:spPr>
          <a:xfrm>
            <a:off x="6382512"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$1bn</a:t>
            </a:r>
            <a:endParaRPr lang="en-US" sz="4000" dirty="0"/>
          </a:p>
        </p:txBody>
      </p:sp>
      <p:sp>
        <p:nvSpPr>
          <p:cNvPr id="14" name="Text 12"/>
          <p:cNvSpPr/>
          <p:nvPr/>
        </p:nvSpPr>
        <p:spPr>
          <a:xfrm>
            <a:off x="6382512"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over 5–10 years</a:t>
            </a:r>
            <a:endParaRPr lang="en-US" sz="1150" dirty="0"/>
          </a:p>
        </p:txBody>
      </p:sp>
      <p:sp>
        <p:nvSpPr>
          <p:cNvPr id="15" name="Text 13"/>
          <p:cNvSpPr/>
          <p:nvPr/>
        </p:nvSpPr>
        <p:spPr>
          <a:xfrm>
            <a:off x="6382512"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to upgrade Indian core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banking systems (BCG)</a:t>
            </a:r>
            <a:endParaRPr lang="en-US" sz="1100" dirty="0"/>
          </a:p>
        </p:txBody>
      </p:sp>
      <p:sp>
        <p:nvSpPr>
          <p:cNvPr id="16" name="Shape 14"/>
          <p:cNvSpPr/>
          <p:nvPr/>
        </p:nvSpPr>
        <p:spPr>
          <a:xfrm>
            <a:off x="8988552" y="1481328"/>
            <a:ext cx="2670048" cy="1645920"/>
          </a:xfrm>
          <a:prstGeom prst="roundRect">
            <a:avLst>
              <a:gd name="adj" fmla="val 3333"/>
            </a:avLst>
          </a:prstGeom>
          <a:solidFill>
            <a:srgbClr val="EDF1F5"/>
          </a:solidFill>
          <a:ln w="12700">
            <a:solidFill>
              <a:srgbClr val="EDF1F5"/>
            </a:solidFill>
            <a:prstDash val="solid"/>
          </a:ln>
        </p:spPr>
      </p:sp>
      <p:sp>
        <p:nvSpPr>
          <p:cNvPr id="17" name="Text 15"/>
          <p:cNvSpPr/>
          <p:nvPr/>
        </p:nvSpPr>
        <p:spPr>
          <a:xfrm>
            <a:off x="9189720" y="1572768"/>
            <a:ext cx="2267712" cy="640080"/>
          </a:xfrm>
          <a:prstGeom prst="rect">
            <a:avLst/>
          </a:prstGeom>
          <a:noFill/>
          <a:ln/>
        </p:spPr>
        <p:txBody>
          <a:bodyPr wrap="square" lIns="0" tIns="0" rIns="0" bIns="0" rtlCol="0" anchor="ctr"/>
          <a:lstStyle/>
          <a:p>
            <a:pPr indent="0" marL="0">
              <a:buNone/>
            </a:pPr>
            <a:r>
              <a:rPr lang="en-US" sz="4000" b="1" dirty="0">
                <a:solidFill>
                  <a:srgbClr val="0E2033"/>
                </a:solidFill>
                <a:latin typeface="Cambria" pitchFamily="34" charset="0"/>
                <a:ea typeface="Cambria" pitchFamily="34" charset="-122"/>
                <a:cs typeface="Cambria" pitchFamily="34" charset="-120"/>
              </a:rPr>
              <a:t>0</a:t>
            </a:r>
            <a:endParaRPr lang="en-US" sz="4000" dirty="0"/>
          </a:p>
        </p:txBody>
      </p:sp>
      <p:sp>
        <p:nvSpPr>
          <p:cNvPr id="18" name="Text 16"/>
          <p:cNvSpPr/>
          <p:nvPr/>
        </p:nvSpPr>
        <p:spPr>
          <a:xfrm>
            <a:off x="9189720" y="2212848"/>
            <a:ext cx="2267712"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specifications</a:t>
            </a:r>
            <a:endParaRPr lang="en-US" sz="1150" dirty="0"/>
          </a:p>
        </p:txBody>
      </p:sp>
      <p:sp>
        <p:nvSpPr>
          <p:cNvPr id="19" name="Text 17"/>
          <p:cNvSpPr/>
          <p:nvPr/>
        </p:nvSpPr>
        <p:spPr>
          <a:xfrm>
            <a:off x="9189720" y="2468880"/>
            <a:ext cx="2267712" cy="566928"/>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state what those</a:t>
            </a:r>
            <a:endParaRPr lang="en-US" sz="1100" dirty="0"/>
          </a:p>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programs should do</a:t>
            </a:r>
            <a:endParaRPr lang="en-US" sz="1100" dirty="0"/>
          </a:p>
        </p:txBody>
      </p:sp>
      <p:sp>
        <p:nvSpPr>
          <p:cNvPr id="20" name="Text 18"/>
          <p:cNvSpPr/>
          <p:nvPr/>
        </p:nvSpPr>
        <p:spPr>
          <a:xfrm>
            <a:off x="566928" y="3310128"/>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When a bank guesses wrong, it is a supervisory event, not a bug report</a:t>
            </a:r>
            <a:endParaRPr lang="en-US" sz="1800" dirty="0"/>
          </a:p>
        </p:txBody>
      </p:sp>
      <p:sp>
        <p:nvSpPr>
          <p:cNvPr id="21" name="Shape 19"/>
          <p:cNvSpPr/>
          <p:nvPr/>
        </p:nvSpPr>
        <p:spPr>
          <a:xfrm>
            <a:off x="566928" y="3694176"/>
            <a:ext cx="5614416" cy="1481328"/>
          </a:xfrm>
          <a:prstGeom prst="roundRect">
            <a:avLst>
              <a:gd name="adj" fmla="val 3704"/>
            </a:avLst>
          </a:prstGeom>
          <a:solidFill>
            <a:srgbClr val="EDF1F5"/>
          </a:solidFill>
          <a:ln w="12700">
            <a:solidFill>
              <a:srgbClr val="EDF1F5"/>
            </a:solidFill>
            <a:prstDash val="solid"/>
          </a:ln>
        </p:spPr>
      </p:sp>
      <p:sp>
        <p:nvSpPr>
          <p:cNvPr id="22" name="Text 20"/>
          <p:cNvSpPr/>
          <p:nvPr/>
        </p:nvSpPr>
        <p:spPr>
          <a:xfrm>
            <a:off x="804672"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TSB, United Kingdom — 2018</a:t>
            </a:r>
            <a:endParaRPr lang="en-US" sz="1350" dirty="0"/>
          </a:p>
        </p:txBody>
      </p:sp>
      <p:sp>
        <p:nvSpPr>
          <p:cNvPr id="23" name="Text 21"/>
          <p:cNvSpPr/>
          <p:nvPr/>
        </p:nvSpPr>
        <p:spPr>
          <a:xfrm>
            <a:off x="804672"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 core migration failed at cutover. The FCA and PRA fined TSB £48.65m for operational risk and governance failings, and £32.7m went in customer redress. Business as usual took eight months to return.</a:t>
            </a:r>
            <a:endParaRPr lang="en-US" sz="1150" dirty="0"/>
          </a:p>
        </p:txBody>
      </p:sp>
      <p:sp>
        <p:nvSpPr>
          <p:cNvPr id="24" name="Shape 22"/>
          <p:cNvSpPr/>
          <p:nvPr/>
        </p:nvSpPr>
        <p:spPr>
          <a:xfrm>
            <a:off x="6345936" y="3694176"/>
            <a:ext cx="5614416" cy="1481328"/>
          </a:xfrm>
          <a:prstGeom prst="roundRect">
            <a:avLst>
              <a:gd name="adj" fmla="val 3704"/>
            </a:avLst>
          </a:prstGeom>
          <a:solidFill>
            <a:srgbClr val="EDF1F5"/>
          </a:solidFill>
          <a:ln w="12700">
            <a:solidFill>
              <a:srgbClr val="EDF1F5"/>
            </a:solidFill>
            <a:prstDash val="solid"/>
          </a:ln>
        </p:spPr>
      </p:sp>
      <p:sp>
        <p:nvSpPr>
          <p:cNvPr id="25" name="Text 23"/>
          <p:cNvSpPr/>
          <p:nvPr/>
        </p:nvSpPr>
        <p:spPr>
          <a:xfrm>
            <a:off x="6583680" y="3840480"/>
            <a:ext cx="5138928"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HDFC Bank, India — 2020</a:t>
            </a:r>
            <a:endParaRPr lang="en-US" sz="1350" dirty="0"/>
          </a:p>
        </p:txBody>
      </p:sp>
      <p:sp>
        <p:nvSpPr>
          <p:cNvPr id="26" name="Text 24"/>
          <p:cNvSpPr/>
          <p:nvPr/>
        </p:nvSpPr>
        <p:spPr>
          <a:xfrm>
            <a:off x="6583680" y="4133088"/>
            <a:ext cx="5138928" cy="950976"/>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After repeated outages the RBI halted every Digital 2.0 launch and froze new credit-card issuance. The card freeze lifted only in August 2021; the digital freeze ran into 2022.</a:t>
            </a:r>
            <a:endParaRPr lang="en-US" sz="1150" dirty="0"/>
          </a:p>
        </p:txBody>
      </p:sp>
      <p:sp>
        <p:nvSpPr>
          <p:cNvPr id="27" name="Text 25"/>
          <p:cNvSpPr/>
          <p:nvPr/>
        </p:nvSpPr>
        <p:spPr>
          <a:xfrm>
            <a:off x="566928" y="5358384"/>
            <a:ext cx="11057839" cy="548640"/>
          </a:xfrm>
          <a:prstGeom prst="rect">
            <a:avLst/>
          </a:prstGeom>
          <a:noFill/>
          <a:ln/>
        </p:spPr>
        <p:txBody>
          <a:bodyPr wrap="square" lIns="0" tIns="0" rIns="0" bIns="0" rtlCol="0" anchor="ctr"/>
          <a:lstStyle/>
          <a:p>
            <a:pPr indent="0" marL="0">
              <a:lnSpc>
                <a:spcPts val="1800"/>
              </a:lnSpc>
              <a:buNone/>
            </a:pPr>
            <a:r>
              <a:rPr lang="en-US" sz="1300" i="1" dirty="0">
                <a:solidFill>
                  <a:srgbClr val="0E2033"/>
                </a:solidFill>
                <a:latin typeface="Calibri" pitchFamily="34" charset="0"/>
                <a:ea typeface="Calibri" pitchFamily="34" charset="-122"/>
                <a:cs typeface="Calibri" pitchFamily="34" charset="-120"/>
              </a:rPr>
              <a:t>A one-paisa divergence across millions of accounts is a reportable regulatory event. Refusing to touch the system is the correct decision under the bank's own risk framework, and that is why the backlog is measured in decades.</a:t>
            </a:r>
            <a:endParaRPr lang="en-US" sz="1300" dirty="0"/>
          </a:p>
        </p:txBody>
      </p:sp>
      <p:sp>
        <p:nvSpPr>
          <p:cNvPr id="28" name="Text 2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FCA press release, Dec 2022 · BCG, Cloud-based Core Transformations, Aug 2024 · RBI supervisory action, Dec 2020.</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WHY IT'S UNSOLVED</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Translation is solved. Proof is not.</a:t>
            </a:r>
            <a:endParaRPr lang="en-US" sz="3100" dirty="0"/>
          </a:p>
        </p:txBody>
      </p:sp>
      <p:sp>
        <p:nvSpPr>
          <p:cNvPr id="4" name="Shape 2"/>
          <p:cNvSpPr/>
          <p:nvPr/>
        </p:nvSpPr>
        <p:spPr>
          <a:xfrm>
            <a:off x="566928" y="1463040"/>
            <a:ext cx="2157984" cy="932688"/>
          </a:xfrm>
          <a:prstGeom prst="roundRect">
            <a:avLst>
              <a:gd name="adj" fmla="val 5882"/>
            </a:avLst>
          </a:prstGeom>
          <a:solidFill>
            <a:srgbClr val="EDF1F5"/>
          </a:solidFill>
          <a:ln w="12700">
            <a:solidFill>
              <a:srgbClr val="EDF1F5"/>
            </a:solidFill>
            <a:prstDash val="solid"/>
          </a:ln>
        </p:spPr>
      </p:sp>
      <p:sp>
        <p:nvSpPr>
          <p:cNvPr id="5" name="Text 3"/>
          <p:cNvSpPr/>
          <p:nvPr/>
        </p:nvSpPr>
        <p:spPr>
          <a:xfrm>
            <a:off x="566928" y="1591056"/>
            <a:ext cx="2157984"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COBOL source</a:t>
            </a:r>
            <a:endParaRPr lang="en-US" sz="1400" dirty="0"/>
          </a:p>
        </p:txBody>
      </p:sp>
      <p:sp>
        <p:nvSpPr>
          <p:cNvPr id="6" name="Text 4"/>
          <p:cNvSpPr/>
          <p:nvPr/>
        </p:nvSpPr>
        <p:spPr>
          <a:xfrm>
            <a:off x="676656" y="1938528"/>
            <a:ext cx="1938528"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4,000 lines · 1987</a:t>
            </a:r>
            <a:endParaRPr lang="en-US" sz="1000" dirty="0"/>
          </a:p>
        </p:txBody>
      </p:sp>
      <p:sp>
        <p:nvSpPr>
          <p:cNvPr id="7" name="Shape 5"/>
          <p:cNvSpPr/>
          <p:nvPr/>
        </p:nvSpPr>
        <p:spPr>
          <a:xfrm>
            <a:off x="2834640" y="1810512"/>
            <a:ext cx="274320" cy="237744"/>
          </a:xfrm>
          <a:prstGeom prst="rightArrow">
            <a:avLst/>
          </a:prstGeom>
          <a:solidFill>
            <a:srgbClr val="D5DCE3"/>
          </a:solidFill>
          <a:ln w="12700">
            <a:solidFill>
              <a:srgbClr val="D5DCE3"/>
            </a:solidFill>
            <a:prstDash val="solid"/>
          </a:ln>
        </p:spPr>
      </p:sp>
      <p:sp>
        <p:nvSpPr>
          <p:cNvPr id="8" name="Shape 6"/>
          <p:cNvSpPr/>
          <p:nvPr/>
        </p:nvSpPr>
        <p:spPr>
          <a:xfrm>
            <a:off x="3218688" y="1463040"/>
            <a:ext cx="2286000" cy="932688"/>
          </a:xfrm>
          <a:prstGeom prst="roundRect">
            <a:avLst>
              <a:gd name="adj" fmla="val 5882"/>
            </a:avLst>
          </a:prstGeom>
          <a:solidFill>
            <a:srgbClr val="EDF1F5"/>
          </a:solidFill>
          <a:ln w="12700">
            <a:solidFill>
              <a:srgbClr val="EDF1F5"/>
            </a:solidFill>
            <a:prstDash val="solid"/>
          </a:ln>
        </p:spPr>
      </p:sp>
      <p:sp>
        <p:nvSpPr>
          <p:cNvPr id="9" name="Text 7"/>
          <p:cNvSpPr/>
          <p:nvPr/>
        </p:nvSpPr>
        <p:spPr>
          <a:xfrm>
            <a:off x="3218688" y="1591056"/>
            <a:ext cx="2286000" cy="310896"/>
          </a:xfrm>
          <a:prstGeom prst="rect">
            <a:avLst/>
          </a:prstGeom>
          <a:noFill/>
          <a:ln/>
        </p:spPr>
        <p:txBody>
          <a:bodyPr wrap="square" lIns="0" tIns="0" rIns="0" bIns="0" rtlCol="0" anchor="ctr"/>
          <a:lstStyle/>
          <a:p>
            <a:pPr algn="ctr" indent="0" marL="0">
              <a:buNone/>
            </a:pPr>
            <a:r>
              <a:rPr lang="en-US" sz="1400" b="1" dirty="0">
                <a:solidFill>
                  <a:srgbClr val="B07A16"/>
                </a:solidFill>
                <a:latin typeface="Cambria" pitchFamily="34" charset="0"/>
                <a:ea typeface="Cambria" pitchFamily="34" charset="-122"/>
                <a:cs typeface="Cambria" pitchFamily="34" charset="-120"/>
              </a:rPr>
              <a:t>Translate</a:t>
            </a:r>
            <a:endParaRPr lang="en-US" sz="1400" dirty="0"/>
          </a:p>
        </p:txBody>
      </p:sp>
      <p:sp>
        <p:nvSpPr>
          <p:cNvPr id="10" name="Text 8"/>
          <p:cNvSpPr/>
          <p:nvPr/>
        </p:nvSpPr>
        <p:spPr>
          <a:xfrm>
            <a:off x="3328416" y="1938528"/>
            <a:ext cx="206654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AWS · IBM · TCS ship this</a:t>
            </a:r>
            <a:endParaRPr lang="en-US" sz="1000" dirty="0"/>
          </a:p>
        </p:txBody>
      </p:sp>
      <p:sp>
        <p:nvSpPr>
          <p:cNvPr id="11" name="Shape 9"/>
          <p:cNvSpPr/>
          <p:nvPr/>
        </p:nvSpPr>
        <p:spPr>
          <a:xfrm>
            <a:off x="5614416" y="1810512"/>
            <a:ext cx="274320" cy="237744"/>
          </a:xfrm>
          <a:prstGeom prst="rightArrow">
            <a:avLst/>
          </a:prstGeom>
          <a:solidFill>
            <a:srgbClr val="D5DCE3"/>
          </a:solidFill>
          <a:ln w="12700">
            <a:solidFill>
              <a:srgbClr val="D5DCE3"/>
            </a:solidFill>
            <a:prstDash val="solid"/>
          </a:ln>
        </p:spPr>
      </p:sp>
      <p:sp>
        <p:nvSpPr>
          <p:cNvPr id="12" name="Shape 10"/>
          <p:cNvSpPr/>
          <p:nvPr/>
        </p:nvSpPr>
        <p:spPr>
          <a:xfrm>
            <a:off x="5998464" y="1463040"/>
            <a:ext cx="2157984" cy="932688"/>
          </a:xfrm>
          <a:prstGeom prst="roundRect">
            <a:avLst>
              <a:gd name="adj" fmla="val 5882"/>
            </a:avLst>
          </a:prstGeom>
          <a:solidFill>
            <a:srgbClr val="EDF1F5"/>
          </a:solidFill>
          <a:ln w="12700">
            <a:solidFill>
              <a:srgbClr val="EDF1F5"/>
            </a:solidFill>
            <a:prstDash val="solid"/>
          </a:ln>
        </p:spPr>
      </p:sp>
      <p:sp>
        <p:nvSpPr>
          <p:cNvPr id="13" name="Text 11"/>
          <p:cNvSpPr/>
          <p:nvPr/>
        </p:nvSpPr>
        <p:spPr>
          <a:xfrm>
            <a:off x="5998464" y="1591056"/>
            <a:ext cx="2157984"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Modern Java</a:t>
            </a:r>
            <a:endParaRPr lang="en-US" sz="1400" dirty="0"/>
          </a:p>
        </p:txBody>
      </p:sp>
      <p:sp>
        <p:nvSpPr>
          <p:cNvPr id="14" name="Text 12"/>
          <p:cNvSpPr/>
          <p:nvPr/>
        </p:nvSpPr>
        <p:spPr>
          <a:xfrm>
            <a:off x="6108192" y="1938528"/>
            <a:ext cx="1938528"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compiles, passes tests</a:t>
            </a:r>
            <a:endParaRPr lang="en-US" sz="1000" dirty="0"/>
          </a:p>
        </p:txBody>
      </p:sp>
      <p:sp>
        <p:nvSpPr>
          <p:cNvPr id="15" name="Shape 13"/>
          <p:cNvSpPr/>
          <p:nvPr/>
        </p:nvSpPr>
        <p:spPr>
          <a:xfrm>
            <a:off x="8412480" y="1316736"/>
            <a:ext cx="274320" cy="1225296"/>
          </a:xfrm>
          <a:prstGeom prst="rect">
            <a:avLst/>
          </a:prstGeom>
          <a:solidFill>
            <a:srgbClr val="0E2033"/>
          </a:solidFill>
          <a:ln w="12700">
            <a:solidFill>
              <a:srgbClr val="0E2033"/>
            </a:solidFill>
            <a:prstDash val="solid"/>
          </a:ln>
        </p:spPr>
      </p:sp>
      <p:sp>
        <p:nvSpPr>
          <p:cNvPr id="16" name="Text 14"/>
          <p:cNvSpPr/>
          <p:nvPr/>
        </p:nvSpPr>
        <p:spPr>
          <a:xfrm>
            <a:off x="7498080" y="2578608"/>
            <a:ext cx="2103120" cy="219456"/>
          </a:xfrm>
          <a:prstGeom prst="rect">
            <a:avLst/>
          </a:prstGeom>
          <a:noFill/>
          <a:ln/>
        </p:spPr>
        <p:txBody>
          <a:bodyPr wrap="square" lIns="0" tIns="0" rIns="0" bIns="0" rtlCol="0" anchor="ctr"/>
          <a:lstStyle/>
          <a:p>
            <a:pPr algn="ctr" indent="0" marL="0">
              <a:buNone/>
            </a:pPr>
            <a:r>
              <a:rPr lang="en-US" sz="950" b="1" spc="130" kern="0" dirty="0">
                <a:solidFill>
                  <a:srgbClr val="0E2033"/>
                </a:solidFill>
                <a:latin typeface="Calibri" pitchFamily="34" charset="0"/>
                <a:ea typeface="Calibri" pitchFamily="34" charset="-122"/>
                <a:cs typeface="Calibri" pitchFamily="34" charset="-120"/>
              </a:rPr>
              <a:t>VERIFICATION</a:t>
            </a:r>
            <a:endParaRPr lang="en-US" sz="950" dirty="0"/>
          </a:p>
        </p:txBody>
      </p:sp>
      <p:sp>
        <p:nvSpPr>
          <p:cNvPr id="17" name="Shape 15"/>
          <p:cNvSpPr/>
          <p:nvPr/>
        </p:nvSpPr>
        <p:spPr>
          <a:xfrm>
            <a:off x="8961120" y="1463040"/>
            <a:ext cx="2660904" cy="932688"/>
          </a:xfrm>
          <a:prstGeom prst="roundRect">
            <a:avLst>
              <a:gd name="adj" fmla="val 5882"/>
            </a:avLst>
          </a:prstGeom>
          <a:solidFill>
            <a:srgbClr val="EDF1F5"/>
          </a:solidFill>
          <a:ln w="12700">
            <a:solidFill>
              <a:srgbClr val="EDF1F5"/>
            </a:solidFill>
            <a:prstDash val="solid"/>
          </a:ln>
        </p:spPr>
      </p:sp>
      <p:sp>
        <p:nvSpPr>
          <p:cNvPr id="18" name="Text 16"/>
          <p:cNvSpPr/>
          <p:nvPr/>
        </p:nvSpPr>
        <p:spPr>
          <a:xfrm>
            <a:off x="8961120" y="1591056"/>
            <a:ext cx="2660904" cy="310896"/>
          </a:xfrm>
          <a:prstGeom prst="rect">
            <a:avLst/>
          </a:prstGeom>
          <a:noFill/>
          <a:ln/>
        </p:spPr>
        <p:txBody>
          <a:bodyPr wrap="square" lIns="0" tIns="0" rIns="0" bIns="0" rtlCol="0" anchor="ctr"/>
          <a:lstStyle/>
          <a:p>
            <a:pPr algn="ctr" indent="0" marL="0">
              <a:buNone/>
            </a:pPr>
            <a:r>
              <a:rPr lang="en-US" sz="1400" b="1" dirty="0">
                <a:solidFill>
                  <a:srgbClr val="6B7785"/>
                </a:solidFill>
                <a:latin typeface="Cambria" pitchFamily="34" charset="0"/>
                <a:ea typeface="Cambria" pitchFamily="34" charset="-122"/>
                <a:cs typeface="Cambria" pitchFamily="34" charset="-120"/>
              </a:rPr>
              <a:t>Production</a:t>
            </a:r>
            <a:endParaRPr lang="en-US" sz="1400" dirty="0"/>
          </a:p>
        </p:txBody>
      </p:sp>
      <p:sp>
        <p:nvSpPr>
          <p:cNvPr id="19" name="Text 17"/>
          <p:cNvSpPr/>
          <p:nvPr/>
        </p:nvSpPr>
        <p:spPr>
          <a:xfrm>
            <a:off x="9070848" y="1938528"/>
            <a:ext cx="2441448"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never reached</a:t>
            </a:r>
            <a:endParaRPr lang="en-US" sz="1000" dirty="0"/>
          </a:p>
        </p:txBody>
      </p:sp>
      <p:sp>
        <p:nvSpPr>
          <p:cNvPr id="20" name="Shape 18"/>
          <p:cNvSpPr/>
          <p:nvPr/>
        </p:nvSpPr>
        <p:spPr>
          <a:xfrm>
            <a:off x="566928" y="2798064"/>
            <a:ext cx="5440680" cy="1773936"/>
          </a:xfrm>
          <a:prstGeom prst="roundRect">
            <a:avLst>
              <a:gd name="adj" fmla="val 3093"/>
            </a:avLst>
          </a:prstGeom>
          <a:solidFill>
            <a:srgbClr val="EDF1F5"/>
          </a:solidFill>
          <a:ln w="12700">
            <a:solidFill>
              <a:srgbClr val="EDF1F5"/>
            </a:solidFill>
            <a:prstDash val="solid"/>
          </a:ln>
        </p:spPr>
      </p:sp>
      <p:sp>
        <p:nvSpPr>
          <p:cNvPr id="21" name="Text 19"/>
          <p:cNvSpPr/>
          <p:nvPr/>
        </p:nvSpPr>
        <p:spPr>
          <a:xfrm>
            <a:off x="822960" y="2926080"/>
            <a:ext cx="4928616" cy="292608"/>
          </a:xfrm>
          <a:prstGeom prst="rect">
            <a:avLst/>
          </a:prstGeom>
          <a:noFill/>
          <a:ln/>
        </p:spPr>
        <p:txBody>
          <a:bodyPr wrap="square" lIns="0" tIns="0" rIns="0" bIns="0" rtlCol="0" anchor="ctr"/>
          <a:lstStyle/>
          <a:p>
            <a:pPr indent="0" marL="0">
              <a:buNone/>
            </a:pPr>
            <a:r>
              <a:rPr lang="en-US" sz="1700" b="1" dirty="0">
                <a:solidFill>
                  <a:srgbClr val="0E2033"/>
                </a:solidFill>
                <a:latin typeface="Cambria" pitchFamily="34" charset="0"/>
                <a:ea typeface="Cambria" pitchFamily="34" charset="-122"/>
                <a:cs typeface="Cambria" pitchFamily="34" charset="-120"/>
              </a:rPr>
              <a:t>The specification was never written</a:t>
            </a:r>
            <a:endParaRPr lang="en-US" sz="1700" dirty="0"/>
          </a:p>
        </p:txBody>
      </p:sp>
      <p:sp>
        <p:nvSpPr>
          <p:cNvPr id="22" name="Text 20"/>
          <p:cNvSpPr/>
          <p:nvPr/>
        </p:nvSpPr>
        <p:spPr>
          <a:xfrm>
            <a:off x="822960" y="3255264"/>
            <a:ext cx="4928616" cy="1188720"/>
          </a:xfrm>
          <a:prstGeom prst="rect">
            <a:avLst/>
          </a:prstGeom>
          <a:noFill/>
          <a:ln/>
        </p:spPr>
        <p:txBody>
          <a:bodyPr wrap="square" lIns="0" tIns="0" rIns="0" bIns="0" rtlCol="0" anchor="ctr"/>
          <a:lstStyle/>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Accrual conventions, rounding on the third decimal, leap years, accounts opened on the 31st. Hundreds of edge cases patched in over four decades, none of them documented, and the engineers who added them have retired.</a:t>
            </a:r>
            <a:endParaRPr lang="en-US" sz="1150" dirty="0"/>
          </a:p>
          <a:p>
            <a:pPr indent="0" marL="0">
              <a:lnSpc>
                <a:spcPts val="1600"/>
              </a:lnSpc>
              <a:buNone/>
            </a:pPr>
            <a:endParaRPr lang="en-US" sz="1150" dirty="0"/>
          </a:p>
          <a:p>
            <a:pPr indent="0" marL="0">
              <a:lnSpc>
                <a:spcPts val="1600"/>
              </a:lnSpc>
              <a:buNone/>
            </a:pPr>
            <a:r>
              <a:rPr lang="en-US" sz="1150" dirty="0">
                <a:solidFill>
                  <a:srgbClr val="16212E"/>
                </a:solidFill>
                <a:latin typeface="Calibri" pitchFamily="34" charset="0"/>
                <a:ea typeface="Calibri" pitchFamily="34" charset="-122"/>
                <a:cs typeface="Calibri" pitchFamily="34" charset="-120"/>
              </a:rPr>
              <a:t>The code is the specification. There is no other one.</a:t>
            </a:r>
            <a:endParaRPr lang="en-US" sz="1150" dirty="0"/>
          </a:p>
        </p:txBody>
      </p:sp>
      <p:sp>
        <p:nvSpPr>
          <p:cNvPr id="23" name="Shape 21"/>
          <p:cNvSpPr/>
          <p:nvPr/>
        </p:nvSpPr>
        <p:spPr>
          <a:xfrm>
            <a:off x="6199632" y="2798064"/>
            <a:ext cx="5422392" cy="1773936"/>
          </a:xfrm>
          <a:prstGeom prst="roundRect">
            <a:avLst>
              <a:gd name="adj" fmla="val 3093"/>
            </a:avLst>
          </a:prstGeom>
          <a:solidFill>
            <a:srgbClr val="EDF1F5"/>
          </a:solidFill>
          <a:ln w="12700">
            <a:solidFill>
              <a:srgbClr val="EDF1F5"/>
            </a:solidFill>
            <a:prstDash val="solid"/>
          </a:ln>
        </p:spPr>
      </p:sp>
      <p:sp>
        <p:nvSpPr>
          <p:cNvPr id="24" name="Text 22"/>
          <p:cNvSpPr/>
          <p:nvPr/>
        </p:nvSpPr>
        <p:spPr>
          <a:xfrm>
            <a:off x="6455664" y="2926080"/>
            <a:ext cx="4910328" cy="292608"/>
          </a:xfrm>
          <a:prstGeom prst="rect">
            <a:avLst/>
          </a:prstGeom>
          <a:noFill/>
          <a:ln/>
        </p:spPr>
        <p:txBody>
          <a:bodyPr wrap="square" lIns="0" tIns="0" rIns="0" bIns="0" rtlCol="0" anchor="ctr"/>
          <a:lstStyle/>
          <a:p>
            <a:pPr indent="0" marL="0">
              <a:buNone/>
            </a:pPr>
            <a:r>
              <a:rPr lang="en-US" sz="1700" b="1" dirty="0">
                <a:solidFill>
                  <a:srgbClr val="0E2033"/>
                </a:solidFill>
                <a:latin typeface="Cambria" pitchFamily="34" charset="0"/>
                <a:ea typeface="Cambria" pitchFamily="34" charset="-122"/>
                <a:cs typeface="Cambria" pitchFamily="34" charset="-120"/>
              </a:rPr>
              <a:t>And asking an AI does not recover it</a:t>
            </a:r>
            <a:endParaRPr lang="en-US" sz="1700" dirty="0"/>
          </a:p>
        </p:txBody>
      </p:sp>
      <p:sp>
        <p:nvSpPr>
          <p:cNvPr id="25" name="Text 23"/>
          <p:cNvSpPr/>
          <p:nvPr/>
        </p:nvSpPr>
        <p:spPr>
          <a:xfrm>
            <a:off x="6455664" y="3291840"/>
            <a:ext cx="1188720" cy="384048"/>
          </a:xfrm>
          <a:prstGeom prst="rect">
            <a:avLst/>
          </a:prstGeom>
          <a:noFill/>
          <a:ln/>
        </p:spPr>
        <p:txBody>
          <a:bodyPr wrap="square" lIns="0" tIns="0" rIns="0" bIns="0" rtlCol="0" anchor="ctr"/>
          <a:lstStyle/>
          <a:p>
            <a:pPr indent="0" marL="0">
              <a:buNone/>
            </a:pPr>
            <a:r>
              <a:rPr lang="en-US" sz="2400" b="1" dirty="0">
                <a:solidFill>
                  <a:srgbClr val="0E2033"/>
                </a:solidFill>
                <a:latin typeface="Cambria" pitchFamily="34" charset="0"/>
                <a:ea typeface="Cambria" pitchFamily="34" charset="-122"/>
                <a:cs typeface="Cambria" pitchFamily="34" charset="-120"/>
              </a:rPr>
              <a:t>91.2%</a:t>
            </a:r>
            <a:endParaRPr lang="en-US" sz="2400" dirty="0"/>
          </a:p>
        </p:txBody>
      </p:sp>
      <p:sp>
        <p:nvSpPr>
          <p:cNvPr id="26" name="Text 24"/>
          <p:cNvSpPr/>
          <p:nvPr/>
        </p:nvSpPr>
        <p:spPr>
          <a:xfrm>
            <a:off x="7699248" y="3346704"/>
            <a:ext cx="3657600" cy="365760"/>
          </a:xfrm>
          <a:prstGeom prst="rect">
            <a:avLst/>
          </a:prstGeom>
          <a:noFill/>
          <a:ln/>
        </p:spPr>
        <p:txBody>
          <a:bodyPr wrap="square" lIns="0" tIns="0" rIns="0" bIns="0" rtlCol="0" anchor="ctr"/>
          <a:lstStyle/>
          <a:p>
            <a:pPr indent="0" marL="0">
              <a:lnSpc>
                <a:spcPts val="1400"/>
              </a:lnSpc>
              <a:buNone/>
            </a:pPr>
            <a:r>
              <a:rPr lang="en-US" sz="1100" dirty="0">
                <a:solidFill>
                  <a:srgbClr val="16212E"/>
                </a:solidFill>
                <a:latin typeface="Calibri" pitchFamily="34" charset="0"/>
                <a:ea typeface="Calibri" pitchFamily="34" charset="-122"/>
                <a:cs typeface="Calibri" pitchFamily="34" charset="-120"/>
              </a:rPr>
              <a:t>of business rules extracted by a 2026 system</a:t>
            </a:r>
            <a:endParaRPr lang="en-US" sz="1100" dirty="0"/>
          </a:p>
        </p:txBody>
      </p:sp>
      <p:sp>
        <p:nvSpPr>
          <p:cNvPr id="27" name="Text 25"/>
          <p:cNvSpPr/>
          <p:nvPr/>
        </p:nvSpPr>
        <p:spPr>
          <a:xfrm>
            <a:off x="6455664" y="3858768"/>
            <a:ext cx="1188720" cy="384048"/>
          </a:xfrm>
          <a:prstGeom prst="rect">
            <a:avLst/>
          </a:prstGeom>
          <a:noFill/>
          <a:ln/>
        </p:spPr>
        <p:txBody>
          <a:bodyPr wrap="square" lIns="0" tIns="0" rIns="0" bIns="0" rtlCol="0" anchor="ctr"/>
          <a:lstStyle/>
          <a:p>
            <a:pPr indent="0" marL="0">
              <a:buNone/>
            </a:pPr>
            <a:r>
              <a:rPr lang="en-US" sz="2400" b="1" dirty="0">
                <a:solidFill>
                  <a:srgbClr val="B07A16"/>
                </a:solidFill>
                <a:latin typeface="Cambria" pitchFamily="34" charset="0"/>
                <a:ea typeface="Cambria" pitchFamily="34" charset="-122"/>
                <a:cs typeface="Cambria" pitchFamily="34" charset="-120"/>
              </a:rPr>
              <a:t>&lt;20%</a:t>
            </a:r>
            <a:endParaRPr lang="en-US" sz="2400" dirty="0"/>
          </a:p>
        </p:txBody>
      </p:sp>
      <p:sp>
        <p:nvSpPr>
          <p:cNvPr id="28" name="Text 26"/>
          <p:cNvSpPr/>
          <p:nvPr/>
        </p:nvSpPr>
        <p:spPr>
          <a:xfrm>
            <a:off x="7699248" y="3913632"/>
            <a:ext cx="3657600" cy="365760"/>
          </a:xfrm>
          <a:prstGeom prst="rect">
            <a:avLst/>
          </a:prstGeom>
          <a:noFill/>
          <a:ln/>
        </p:spPr>
        <p:txBody>
          <a:bodyPr wrap="square" lIns="0" tIns="0" rIns="0" bIns="0" rtlCol="0" anchor="ctr"/>
          <a:lstStyle/>
          <a:p>
            <a:pPr indent="0" marL="0">
              <a:lnSpc>
                <a:spcPts val="1400"/>
              </a:lnSpc>
              <a:buNone/>
            </a:pPr>
            <a:r>
              <a:rPr lang="en-US" sz="1100" dirty="0">
                <a:solidFill>
                  <a:srgbClr val="16212E"/>
                </a:solidFill>
                <a:latin typeface="Calibri" pitchFamily="34" charset="0"/>
                <a:ea typeface="Calibri" pitchFamily="34" charset="-122"/>
                <a:cs typeface="Calibri" pitchFamily="34" charset="-120"/>
              </a:rPr>
              <a:t>behavioural equivalence that same system reached</a:t>
            </a:r>
            <a:endParaRPr lang="en-US" sz="1100" dirty="0"/>
          </a:p>
        </p:txBody>
      </p:sp>
      <p:sp>
        <p:nvSpPr>
          <p:cNvPr id="29" name="Text 27"/>
          <p:cNvSpPr/>
          <p:nvPr/>
        </p:nvSpPr>
        <p:spPr>
          <a:xfrm>
            <a:off x="6455664" y="4315968"/>
            <a:ext cx="4910328"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Extraction works. Behavioural equivalence does not follow from it.</a:t>
            </a:r>
            <a:endParaRPr lang="en-US" sz="1050" dirty="0"/>
          </a:p>
        </p:txBody>
      </p:sp>
      <p:sp>
        <p:nvSpPr>
          <p:cNvPr id="30" name="Shape 28"/>
          <p:cNvSpPr/>
          <p:nvPr/>
        </p:nvSpPr>
        <p:spPr>
          <a:xfrm>
            <a:off x="566928" y="4791456"/>
            <a:ext cx="11057839" cy="1170432"/>
          </a:xfrm>
          <a:prstGeom prst="roundRect">
            <a:avLst>
              <a:gd name="adj" fmla="val 4688"/>
            </a:avLst>
          </a:prstGeom>
          <a:solidFill>
            <a:srgbClr val="0E2033"/>
          </a:solidFill>
          <a:ln w="12700">
            <a:solidFill>
              <a:srgbClr val="0E2033"/>
            </a:solidFill>
            <a:prstDash val="solid"/>
          </a:ln>
        </p:spPr>
      </p:sp>
      <p:sp>
        <p:nvSpPr>
          <p:cNvPr id="31" name="Text 29"/>
          <p:cNvSpPr/>
          <p:nvPr/>
        </p:nvSpPr>
        <p:spPr>
          <a:xfrm>
            <a:off x="877824" y="4937760"/>
            <a:ext cx="10436047" cy="347472"/>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"the resulting code cannot be trusted to correctly translate the original code"</a:t>
            </a:r>
            <a:endParaRPr lang="en-US" sz="1800" dirty="0"/>
          </a:p>
        </p:txBody>
      </p:sp>
      <p:sp>
        <p:nvSpPr>
          <p:cNvPr id="32" name="Text 30"/>
          <p:cNvSpPr/>
          <p:nvPr/>
        </p:nvSpPr>
        <p:spPr>
          <a:xfrm>
            <a:off x="877824" y="5340096"/>
            <a:ext cx="10436047" cy="512064"/>
          </a:xfrm>
          <a:prstGeom prst="rect">
            <a:avLst/>
          </a:prstGeom>
          <a:noFill/>
          <a:ln/>
        </p:spPr>
        <p:txBody>
          <a:bodyPr wrap="square" lIns="0" tIns="0" rIns="0" bIns="0" rtlCol="0" anchor="ctr"/>
          <a:lstStyle/>
          <a:p>
            <a:pPr indent="0" marL="0">
              <a:lnSpc>
                <a:spcPts val="1600"/>
              </a:lnSpc>
              <a:buNone/>
            </a:pPr>
            <a:r>
              <a:rPr lang="en-US" sz="1200" dirty="0">
                <a:solidFill>
                  <a:srgbClr val="C3D2DF"/>
                </a:solidFill>
                <a:latin typeface="Calibri" pitchFamily="34" charset="0"/>
                <a:ea typeface="Calibri" pitchFamily="34" charset="-122"/>
                <a:cs typeface="Calibri" pitchFamily="34" charset="-120"/>
              </a:rPr>
              <a:t>IBM Research, on the testing framework for IBM's own watsonx Code Assistant for Z. If the vendor cannot trust its own output without validation, no bank can. The bottleneck is verification, not code generation.</a:t>
            </a:r>
            <a:endParaRPr lang="en-US" sz="1200" dirty="0"/>
          </a:p>
        </p:txBody>
      </p:sp>
      <p:sp>
        <p:nvSpPr>
          <p:cNvPr id="33" name="Text 31"/>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Sources: arXiv 2504.10548 (quoted verbatim from the abstract) · AgentModernize, arXiv 2605.17535 · A-COBREX, ICSE 2025.</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OUR SOLUTION</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Treat modernisation as a verification problem</a:t>
            </a:r>
            <a:endParaRPr lang="en-US" sz="3100" dirty="0"/>
          </a:p>
        </p:txBody>
      </p:sp>
      <p:sp>
        <p:nvSpPr>
          <p:cNvPr id="4" name="Text 2"/>
          <p:cNvSpPr/>
          <p:nvPr/>
        </p:nvSpPr>
        <p:spPr>
          <a:xfrm>
            <a:off x="566928" y="1444752"/>
            <a:ext cx="11057839" cy="365760"/>
          </a:xfrm>
          <a:prstGeom prst="rect">
            <a:avLst/>
          </a:prstGeom>
          <a:noFill/>
          <a:ln/>
        </p:spPr>
        <p:txBody>
          <a:bodyPr wrap="square" lIns="0" tIns="0" rIns="0" bIns="0" rtlCol="0" anchor="ctr"/>
          <a:lstStyle/>
          <a:p>
            <a:pPr indent="0" marL="0">
              <a:lnSpc>
                <a:spcPts val="2000"/>
              </a:lnSpc>
              <a:buNone/>
            </a:pPr>
            <a:r>
              <a:rPr lang="en-US" sz="1400" dirty="0">
                <a:solidFill>
                  <a:srgbClr val="16212E"/>
                </a:solidFill>
                <a:latin typeface="Calibri" pitchFamily="34" charset="0"/>
                <a:ea typeface="Calibri" pitchFamily="34" charset="-122"/>
                <a:cs typeface="Calibri" pitchFamily="34" charset="-120"/>
              </a:rPr>
              <a:t>If nobody can write the specification, stop trying to write it first. Run the old program and the new one against the same inputs, and let the difference be the finding.</a:t>
            </a:r>
            <a:endParaRPr lang="en-US" sz="1400" dirty="0"/>
          </a:p>
        </p:txBody>
      </p:sp>
      <p:sp>
        <p:nvSpPr>
          <p:cNvPr id="5" name="Shape 3"/>
          <p:cNvSpPr/>
          <p:nvPr/>
        </p:nvSpPr>
        <p:spPr>
          <a:xfrm>
            <a:off x="566928" y="1975104"/>
            <a:ext cx="3566160" cy="2139696"/>
          </a:xfrm>
          <a:prstGeom prst="roundRect">
            <a:avLst>
              <a:gd name="adj" fmla="val 2564"/>
            </a:avLst>
          </a:prstGeom>
          <a:solidFill>
            <a:srgbClr val="EDF1F5"/>
          </a:solidFill>
          <a:ln w="12700">
            <a:solidFill>
              <a:srgbClr val="EDF1F5"/>
            </a:solidFill>
            <a:prstDash val="solid"/>
          </a:ln>
        </p:spPr>
      </p:sp>
      <p:sp>
        <p:nvSpPr>
          <p:cNvPr id="6" name="Shape 4"/>
          <p:cNvSpPr/>
          <p:nvPr/>
        </p:nvSpPr>
        <p:spPr>
          <a:xfrm>
            <a:off x="804672" y="2176272"/>
            <a:ext cx="457200" cy="457200"/>
          </a:xfrm>
          <a:prstGeom prst="ellipse">
            <a:avLst/>
          </a:prstGeom>
          <a:solidFill>
            <a:srgbClr val="6B7785"/>
          </a:solidFill>
          <a:ln w="12700">
            <a:solidFill>
              <a:srgbClr val="6B7785"/>
            </a:solidFill>
            <a:prstDash val="solid"/>
          </a:ln>
        </p:spPr>
      </p:sp>
      <p:sp>
        <p:nvSpPr>
          <p:cNvPr id="7" name="Text 5"/>
          <p:cNvSpPr/>
          <p:nvPr/>
        </p:nvSpPr>
        <p:spPr>
          <a:xfrm>
            <a:off x="804672" y="2176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389888" y="2221992"/>
            <a:ext cx="2505456" cy="365760"/>
          </a:xfrm>
          <a:prstGeom prst="rect">
            <a:avLst/>
          </a:prstGeom>
          <a:noFill/>
          <a:ln/>
        </p:spPr>
        <p:txBody>
          <a:bodyPr wrap="square" lIns="0" tIns="0" rIns="0" bIns="0" rtlCol="0" anchor="ctr"/>
          <a:lstStyle/>
          <a:p>
            <a:pPr indent="0" marL="0">
              <a:buNone/>
            </a:pPr>
            <a:r>
              <a:rPr lang="en-US" sz="2000" b="1" dirty="0">
                <a:solidFill>
                  <a:srgbClr val="0E2033"/>
                </a:solidFill>
                <a:latin typeface="Cambria" pitchFamily="34" charset="0"/>
                <a:ea typeface="Cambria" pitchFamily="34" charset="-122"/>
                <a:cs typeface="Cambria" pitchFamily="34" charset="-120"/>
              </a:rPr>
              <a:t>Extract</a:t>
            </a:r>
            <a:endParaRPr lang="en-US" sz="2000" dirty="0"/>
          </a:p>
        </p:txBody>
      </p:sp>
      <p:sp>
        <p:nvSpPr>
          <p:cNvPr id="9" name="Text 7"/>
          <p:cNvSpPr/>
          <p:nvPr/>
        </p:nvSpPr>
        <p:spPr>
          <a:xfrm>
            <a:off x="804672" y="2779776"/>
            <a:ext cx="3090672" cy="1225296"/>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Slice the legacy source into functional units and state each unit's business rules in plain language. Every rule carries the exact lines that produce it, written by the pipeline from the slice rather than asserted by the model.</a:t>
            </a:r>
            <a:endParaRPr lang="en-US" sz="1100" dirty="0"/>
          </a:p>
        </p:txBody>
      </p:sp>
      <p:sp>
        <p:nvSpPr>
          <p:cNvPr id="10" name="Shape 8"/>
          <p:cNvSpPr/>
          <p:nvPr/>
        </p:nvSpPr>
        <p:spPr>
          <a:xfrm>
            <a:off x="4315968" y="1975104"/>
            <a:ext cx="3566160" cy="2139696"/>
          </a:xfrm>
          <a:prstGeom prst="roundRect">
            <a:avLst>
              <a:gd name="adj" fmla="val 2564"/>
            </a:avLst>
          </a:prstGeom>
          <a:solidFill>
            <a:srgbClr val="EDF1F5"/>
          </a:solidFill>
          <a:ln w="12700">
            <a:solidFill>
              <a:srgbClr val="EDF1F5"/>
            </a:solidFill>
            <a:prstDash val="solid"/>
          </a:ln>
        </p:spPr>
      </p:sp>
      <p:sp>
        <p:nvSpPr>
          <p:cNvPr id="11" name="Shape 9"/>
          <p:cNvSpPr/>
          <p:nvPr/>
        </p:nvSpPr>
        <p:spPr>
          <a:xfrm>
            <a:off x="4553712" y="2176272"/>
            <a:ext cx="457200" cy="457200"/>
          </a:xfrm>
          <a:prstGeom prst="ellipse">
            <a:avLst/>
          </a:prstGeom>
          <a:solidFill>
            <a:srgbClr val="6B7785"/>
          </a:solidFill>
          <a:ln w="12700">
            <a:solidFill>
              <a:srgbClr val="6B7785"/>
            </a:solidFill>
            <a:prstDash val="solid"/>
          </a:ln>
        </p:spPr>
      </p:sp>
      <p:sp>
        <p:nvSpPr>
          <p:cNvPr id="12" name="Text 10"/>
          <p:cNvSpPr/>
          <p:nvPr/>
        </p:nvSpPr>
        <p:spPr>
          <a:xfrm>
            <a:off x="4553712" y="2176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138928" y="2221992"/>
            <a:ext cx="2505456" cy="365760"/>
          </a:xfrm>
          <a:prstGeom prst="rect">
            <a:avLst/>
          </a:prstGeom>
          <a:noFill/>
          <a:ln/>
        </p:spPr>
        <p:txBody>
          <a:bodyPr wrap="square" lIns="0" tIns="0" rIns="0" bIns="0" rtlCol="0" anchor="ctr"/>
          <a:lstStyle/>
          <a:p>
            <a:pPr indent="0" marL="0">
              <a:buNone/>
            </a:pPr>
            <a:r>
              <a:rPr lang="en-US" sz="2000" b="1" dirty="0">
                <a:solidFill>
                  <a:srgbClr val="0E2033"/>
                </a:solidFill>
                <a:latin typeface="Cambria" pitchFamily="34" charset="0"/>
                <a:ea typeface="Cambria" pitchFamily="34" charset="-122"/>
                <a:cs typeface="Cambria" pitchFamily="34" charset="-120"/>
              </a:rPr>
              <a:t>Reimplement</a:t>
            </a:r>
            <a:endParaRPr lang="en-US" sz="2000" dirty="0"/>
          </a:p>
        </p:txBody>
      </p:sp>
      <p:sp>
        <p:nvSpPr>
          <p:cNvPr id="14" name="Text 12"/>
          <p:cNvSpPr/>
          <p:nvPr/>
        </p:nvSpPr>
        <p:spPr>
          <a:xfrm>
            <a:off x="4553712" y="2779776"/>
            <a:ext cx="3090672" cy="1225296"/>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Generate the modern equivalent. This is the commodity step and deliberately the least interesting part of the system. The output is treated as untrusted by design.</a:t>
            </a:r>
            <a:endParaRPr lang="en-US" sz="1100" dirty="0"/>
          </a:p>
        </p:txBody>
      </p:sp>
      <p:sp>
        <p:nvSpPr>
          <p:cNvPr id="15" name="Shape 13"/>
          <p:cNvSpPr/>
          <p:nvPr/>
        </p:nvSpPr>
        <p:spPr>
          <a:xfrm>
            <a:off x="8065008" y="1975104"/>
            <a:ext cx="3566160" cy="2139696"/>
          </a:xfrm>
          <a:prstGeom prst="roundRect">
            <a:avLst>
              <a:gd name="adj" fmla="val 2564"/>
            </a:avLst>
          </a:prstGeom>
          <a:solidFill>
            <a:srgbClr val="EDF1F5"/>
          </a:solidFill>
          <a:ln w="12700">
            <a:solidFill>
              <a:srgbClr val="EDF1F5"/>
            </a:solidFill>
            <a:prstDash val="solid"/>
          </a:ln>
        </p:spPr>
      </p:sp>
      <p:sp>
        <p:nvSpPr>
          <p:cNvPr id="16" name="Shape 14"/>
          <p:cNvSpPr/>
          <p:nvPr/>
        </p:nvSpPr>
        <p:spPr>
          <a:xfrm>
            <a:off x="8302752" y="2176272"/>
            <a:ext cx="457200" cy="457200"/>
          </a:xfrm>
          <a:prstGeom prst="ellipse">
            <a:avLst/>
          </a:prstGeom>
          <a:solidFill>
            <a:srgbClr val="B07A16"/>
          </a:solidFill>
          <a:ln w="12700">
            <a:solidFill>
              <a:srgbClr val="B07A16"/>
            </a:solidFill>
            <a:prstDash val="solid"/>
          </a:ln>
        </p:spPr>
      </p:sp>
      <p:sp>
        <p:nvSpPr>
          <p:cNvPr id="17" name="Text 15"/>
          <p:cNvSpPr/>
          <p:nvPr/>
        </p:nvSpPr>
        <p:spPr>
          <a:xfrm>
            <a:off x="8302752" y="2176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8" name="Text 16"/>
          <p:cNvSpPr/>
          <p:nvPr/>
        </p:nvSpPr>
        <p:spPr>
          <a:xfrm>
            <a:off x="8887968" y="2221992"/>
            <a:ext cx="2505456" cy="365760"/>
          </a:xfrm>
          <a:prstGeom prst="rect">
            <a:avLst/>
          </a:prstGeom>
          <a:noFill/>
          <a:ln/>
        </p:spPr>
        <p:txBody>
          <a:bodyPr wrap="square" lIns="0" tIns="0" rIns="0" bIns="0" rtlCol="0" anchor="ctr"/>
          <a:lstStyle/>
          <a:p>
            <a:pPr indent="0" marL="0">
              <a:buNone/>
            </a:pPr>
            <a:r>
              <a:rPr lang="en-US" sz="2000" b="1" dirty="0">
                <a:solidFill>
                  <a:srgbClr val="B07A16"/>
                </a:solidFill>
                <a:latin typeface="Cambria" pitchFamily="34" charset="0"/>
                <a:ea typeface="Cambria" pitchFamily="34" charset="-122"/>
                <a:cs typeface="Cambria" pitchFamily="34" charset="-120"/>
              </a:rPr>
              <a:t>Verify</a:t>
            </a:r>
            <a:endParaRPr lang="en-US" sz="2000" dirty="0"/>
          </a:p>
        </p:txBody>
      </p:sp>
      <p:sp>
        <p:nvSpPr>
          <p:cNvPr id="19" name="Text 17"/>
          <p:cNvSpPr/>
          <p:nvPr/>
        </p:nvSpPr>
        <p:spPr>
          <a:xfrm>
            <a:off x="8302752" y="2779776"/>
            <a:ext cx="3090672" cy="1225296"/>
          </a:xfrm>
          <a:prstGeom prst="rect">
            <a:avLst/>
          </a:prstGeom>
          <a:noFill/>
          <a:ln/>
        </p:spPr>
        <p:txBody>
          <a:bodyPr wrap="square" lIns="0" tIns="0" rIns="0" bIns="0" rtlCol="0" anchor="ctr"/>
          <a:lstStyle/>
          <a:p>
            <a:pPr indent="0" marL="0">
              <a:lnSpc>
                <a:spcPts val="1500"/>
              </a:lnSpc>
              <a:buNone/>
            </a:pPr>
            <a:r>
              <a:rPr lang="en-US" sz="1100" dirty="0">
                <a:solidFill>
                  <a:srgbClr val="6B7785"/>
                </a:solidFill>
                <a:latin typeface="Calibri" pitchFamily="34" charset="0"/>
                <a:ea typeface="Calibri" pitchFamily="34" charset="-122"/>
                <a:cs typeface="Calibri" pitchFamily="34" charset="-120"/>
              </a:rPr>
              <a:t>Generate inputs at the boundaries those rules imply, execute both programs against every one, and compare. Real execution on both sides, on a laptop, with nothing hand-waved.</a:t>
            </a:r>
            <a:endParaRPr lang="en-US" sz="1100" dirty="0"/>
          </a:p>
        </p:txBody>
      </p:sp>
      <p:sp>
        <p:nvSpPr>
          <p:cNvPr id="20" name="Shape 18"/>
          <p:cNvSpPr/>
          <p:nvPr/>
        </p:nvSpPr>
        <p:spPr>
          <a:xfrm>
            <a:off x="566928" y="4315968"/>
            <a:ext cx="11057839" cy="841248"/>
          </a:xfrm>
          <a:prstGeom prst="roundRect">
            <a:avLst>
              <a:gd name="adj" fmla="val 6522"/>
            </a:avLst>
          </a:prstGeom>
          <a:solidFill>
            <a:srgbClr val="EDF1F5"/>
          </a:solidFill>
          <a:ln w="12700">
            <a:solidFill>
              <a:srgbClr val="EDF1F5"/>
            </a:solidFill>
            <a:prstDash val="solid"/>
          </a:ln>
        </p:spPr>
      </p:sp>
      <p:sp>
        <p:nvSpPr>
          <p:cNvPr id="21" name="Text 19"/>
          <p:cNvSpPr/>
          <p:nvPr/>
        </p:nvSpPr>
        <p:spPr>
          <a:xfrm>
            <a:off x="841248" y="4425696"/>
            <a:ext cx="4937760" cy="274320"/>
          </a:xfrm>
          <a:prstGeom prst="rect">
            <a:avLst/>
          </a:prstGeom>
          <a:noFill/>
          <a:ln/>
        </p:spPr>
        <p:txBody>
          <a:bodyPr wrap="square" lIns="0" tIns="0" rIns="0" bIns="0" rtlCol="0" anchor="ctr"/>
          <a:lstStyle/>
          <a:p>
            <a:pPr indent="0" marL="0">
              <a:buNone/>
            </a:pPr>
            <a:r>
              <a:rPr lang="en-US" sz="1400" b="1" dirty="0">
                <a:solidFill>
                  <a:srgbClr val="0E2033"/>
                </a:solidFill>
                <a:latin typeface="Calibri" pitchFamily="34" charset="0"/>
                <a:ea typeface="Calibri" pitchFamily="34" charset="-122"/>
                <a:cs typeface="Calibri" pitchFamily="34" charset="-120"/>
              </a:rPr>
              <a:t>The legacy program is its own correctness oracle.</a:t>
            </a:r>
            <a:endParaRPr lang="en-US" sz="1400" dirty="0"/>
          </a:p>
        </p:txBody>
      </p:sp>
      <p:sp>
        <p:nvSpPr>
          <p:cNvPr id="22" name="Text 20"/>
          <p:cNvSpPr/>
          <p:nvPr/>
        </p:nvSpPr>
        <p:spPr>
          <a:xfrm>
            <a:off x="841248" y="4700016"/>
            <a:ext cx="10515600" cy="329184"/>
          </a:xfrm>
          <a:prstGeom prst="rect">
            <a:avLst/>
          </a:prstGeom>
          <a:noFill/>
          <a:ln/>
        </p:spPr>
        <p:txBody>
          <a:bodyPr wrap="square" lIns="0" tIns="0" rIns="0" bIns="0" rtlCol="0" anchor="ctr"/>
          <a:lstStyle/>
          <a:p>
            <a:pPr indent="0" marL="0">
              <a:buNone/>
            </a:pPr>
            <a:r>
              <a:rPr lang="en-US" sz="1150" dirty="0">
                <a:solidFill>
                  <a:srgbClr val="6B7785"/>
                </a:solidFill>
                <a:latin typeface="Calibri" pitchFamily="34" charset="0"/>
                <a:ea typeface="Calibri" pitchFamily="34" charset="-122"/>
                <a:cs typeface="Calibri" pitchFamily="34" charset="-120"/>
              </a:rPr>
              <a:t>It already defines the right answer by running, so nobody has to specify the expected behaviour in advance. Ground truth comes free from the thing being replaced.</a:t>
            </a:r>
            <a:endParaRPr lang="en-US" sz="1150" dirty="0"/>
          </a:p>
        </p:txBody>
      </p:sp>
      <p:sp>
        <p:nvSpPr>
          <p:cNvPr id="23" name="Shape 21"/>
          <p:cNvSpPr/>
          <p:nvPr/>
        </p:nvSpPr>
        <p:spPr>
          <a:xfrm>
            <a:off x="566928" y="5358384"/>
            <a:ext cx="11057839" cy="786384"/>
          </a:xfrm>
          <a:prstGeom prst="roundRect">
            <a:avLst>
              <a:gd name="adj" fmla="val 6977"/>
            </a:avLst>
          </a:prstGeom>
          <a:solidFill>
            <a:srgbClr val="0E2033"/>
          </a:solidFill>
          <a:ln w="12700">
            <a:solidFill>
              <a:srgbClr val="0E2033"/>
            </a:solidFill>
            <a:prstDash val="solid"/>
          </a:ln>
        </p:spPr>
      </p:sp>
      <p:sp>
        <p:nvSpPr>
          <p:cNvPr id="24" name="Text 22"/>
          <p:cNvSpPr/>
          <p:nvPr/>
        </p:nvSpPr>
        <p:spPr>
          <a:xfrm>
            <a:off x="877824" y="5468112"/>
            <a:ext cx="2377440" cy="274320"/>
          </a:xfrm>
          <a:prstGeom prst="rect">
            <a:avLst/>
          </a:prstGeom>
          <a:noFill/>
          <a:ln/>
        </p:spPr>
        <p:txBody>
          <a:bodyPr wrap="square" lIns="0" tIns="0" rIns="0" bIns="0" rtlCol="0" anchor="ctr"/>
          <a:lstStyle/>
          <a:p>
            <a:pPr indent="0" marL="0">
              <a:buNone/>
            </a:pPr>
            <a:r>
              <a:rPr lang="en-US" sz="1300" b="1" dirty="0">
                <a:solidFill>
                  <a:srgbClr val="B07A16"/>
                </a:solidFill>
                <a:latin typeface="Calibri" pitchFamily="34" charset="0"/>
                <a:ea typeface="Calibri" pitchFamily="34" charset="-122"/>
                <a:cs typeface="Calibri" pitchFamily="34" charset="-120"/>
              </a:rPr>
              <a:t>The reciprocal loop</a:t>
            </a:r>
            <a:endParaRPr lang="en-US" sz="1300" dirty="0"/>
          </a:p>
        </p:txBody>
      </p:sp>
      <p:sp>
        <p:nvSpPr>
          <p:cNvPr id="25" name="Text 23"/>
          <p:cNvSpPr/>
          <p:nvPr/>
        </p:nvSpPr>
        <p:spPr>
          <a:xfrm>
            <a:off x="3401568" y="5468112"/>
            <a:ext cx="7863840" cy="512064"/>
          </a:xfrm>
          <a:prstGeom prst="rect">
            <a:avLst/>
          </a:prstGeom>
          <a:noFill/>
          <a:ln/>
        </p:spPr>
        <p:txBody>
          <a:bodyPr wrap="square" lIns="0" tIns="0" rIns="0" bIns="0" rtlCol="0" anchor="ctr"/>
          <a:lstStyle/>
          <a:p>
            <a:pPr indent="0" marL="0">
              <a:lnSpc>
                <a:spcPts val="1600"/>
              </a:lnSpc>
              <a:buNone/>
            </a:pPr>
            <a:r>
              <a:rPr lang="en-US" sz="1200" dirty="0">
                <a:solidFill>
                  <a:srgbClr val="C3D2DF"/>
                </a:solidFill>
                <a:latin typeface="Calibri" pitchFamily="34" charset="0"/>
                <a:ea typeface="Calibri" pitchFamily="34" charset="-122"/>
                <a:cs typeface="Calibri" pitchFamily="34" charset="-120"/>
              </a:rPr>
              <a:t>The extracted rules tell the input generator where the boundaries are. The differential run then catches the extraction layer stating rules that are wrong. Neither half works alone.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HOW IT WORKS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A deterministic pipeline, with the AI on a short leash</a:t>
            </a:r>
            <a:endParaRPr lang="en-US" sz="3100" dirty="0"/>
          </a:p>
        </p:txBody>
      </p:sp>
      <p:sp>
        <p:nvSpPr>
          <p:cNvPr id="4" name="Shape 2"/>
          <p:cNvSpPr/>
          <p:nvPr/>
        </p:nvSpPr>
        <p:spPr>
          <a:xfrm>
            <a:off x="566928" y="1481328"/>
            <a:ext cx="2468880" cy="786384"/>
          </a:xfrm>
          <a:prstGeom prst="roundRect">
            <a:avLst>
              <a:gd name="adj" fmla="val 6977"/>
            </a:avLst>
          </a:prstGeom>
          <a:solidFill>
            <a:srgbClr val="EDF1F5"/>
          </a:solidFill>
          <a:ln w="12700">
            <a:solidFill>
              <a:srgbClr val="EDF1F5"/>
            </a:solidFill>
            <a:prstDash val="solid"/>
          </a:ln>
        </p:spPr>
      </p:sp>
      <p:sp>
        <p:nvSpPr>
          <p:cNvPr id="5" name="Text 3"/>
          <p:cNvSpPr/>
          <p:nvPr/>
        </p:nvSpPr>
        <p:spPr>
          <a:xfrm>
            <a:off x="566928" y="1737360"/>
            <a:ext cx="2468880" cy="310896"/>
          </a:xfrm>
          <a:prstGeom prst="rect">
            <a:avLst/>
          </a:prstGeom>
          <a:noFill/>
          <a:ln/>
        </p:spPr>
        <p:txBody>
          <a:bodyPr wrap="square" lIns="0" tIns="0" rIns="0" bIns="0" rtlCol="0" anchor="ctr"/>
          <a:lstStyle/>
          <a:p>
            <a:pPr algn="ctr" indent="0" marL="0">
              <a:buNone/>
            </a:pPr>
            <a:r>
              <a:rPr lang="en-US" sz="1400" b="1" dirty="0">
                <a:solidFill>
                  <a:srgbClr val="16212E"/>
                </a:solidFill>
                <a:latin typeface="Cambria" pitchFamily="34" charset="0"/>
                <a:ea typeface="Cambria" pitchFamily="34" charset="-122"/>
                <a:cs typeface="Cambria" pitchFamily="34" charset="-120"/>
              </a:rPr>
              <a:t>COBOL source</a:t>
            </a:r>
            <a:endParaRPr lang="en-US" sz="1400" dirty="0"/>
          </a:p>
        </p:txBody>
      </p:sp>
      <p:sp>
        <p:nvSpPr>
          <p:cNvPr id="6" name="Shape 4"/>
          <p:cNvSpPr/>
          <p:nvPr/>
        </p:nvSpPr>
        <p:spPr>
          <a:xfrm>
            <a:off x="3072384" y="1755648"/>
            <a:ext cx="237744" cy="237744"/>
          </a:xfrm>
          <a:prstGeom prst="rightArrow">
            <a:avLst/>
          </a:prstGeom>
          <a:solidFill>
            <a:srgbClr val="D5DCE3"/>
          </a:solidFill>
          <a:ln w="12700">
            <a:solidFill>
              <a:srgbClr val="D5DCE3"/>
            </a:solidFill>
            <a:prstDash val="solid"/>
          </a:ln>
        </p:spPr>
      </p:sp>
      <p:sp>
        <p:nvSpPr>
          <p:cNvPr id="7" name="Shape 5"/>
          <p:cNvSpPr/>
          <p:nvPr/>
        </p:nvSpPr>
        <p:spPr>
          <a:xfrm>
            <a:off x="3364992" y="1481328"/>
            <a:ext cx="2468880" cy="786384"/>
          </a:xfrm>
          <a:prstGeom prst="roundRect">
            <a:avLst>
              <a:gd name="adj" fmla="val 6977"/>
            </a:avLst>
          </a:prstGeom>
          <a:solidFill>
            <a:srgbClr val="EDF1F5"/>
          </a:solidFill>
          <a:ln w="12700">
            <a:solidFill>
              <a:srgbClr val="EDF1F5"/>
            </a:solidFill>
            <a:prstDash val="solid"/>
          </a:ln>
        </p:spPr>
      </p:sp>
      <p:sp>
        <p:nvSpPr>
          <p:cNvPr id="8" name="Text 6"/>
          <p:cNvSpPr/>
          <p:nvPr/>
        </p:nvSpPr>
        <p:spPr>
          <a:xfrm>
            <a:off x="3364992" y="1591056"/>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0 · Intake gate</a:t>
            </a:r>
            <a:endParaRPr lang="en-US" sz="1350" dirty="0"/>
          </a:p>
        </p:txBody>
      </p:sp>
      <p:sp>
        <p:nvSpPr>
          <p:cNvPr id="9" name="Text 7"/>
          <p:cNvSpPr/>
          <p:nvPr/>
        </p:nvSpPr>
        <p:spPr>
          <a:xfrm>
            <a:off x="3474720"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clock / DB / CICS detected?</a:t>
            </a:r>
            <a:endParaRPr lang="en-US" sz="1000" dirty="0"/>
          </a:p>
        </p:txBody>
      </p:sp>
      <p:sp>
        <p:nvSpPr>
          <p:cNvPr id="10" name="Shape 8"/>
          <p:cNvSpPr/>
          <p:nvPr/>
        </p:nvSpPr>
        <p:spPr>
          <a:xfrm>
            <a:off x="5870448" y="1755648"/>
            <a:ext cx="237744" cy="237744"/>
          </a:xfrm>
          <a:prstGeom prst="rightArrow">
            <a:avLst/>
          </a:prstGeom>
          <a:solidFill>
            <a:srgbClr val="D5DCE3"/>
          </a:solidFill>
          <a:ln w="12700">
            <a:solidFill>
              <a:srgbClr val="D5DCE3"/>
            </a:solidFill>
            <a:prstDash val="solid"/>
          </a:ln>
        </p:spPr>
      </p:sp>
      <p:sp>
        <p:nvSpPr>
          <p:cNvPr id="11" name="Shape 9"/>
          <p:cNvSpPr/>
          <p:nvPr/>
        </p:nvSpPr>
        <p:spPr>
          <a:xfrm>
            <a:off x="6163056" y="1481328"/>
            <a:ext cx="2468880" cy="786384"/>
          </a:xfrm>
          <a:prstGeom prst="roundRect">
            <a:avLst>
              <a:gd name="adj" fmla="val 6977"/>
            </a:avLst>
          </a:prstGeom>
          <a:solidFill>
            <a:srgbClr val="EDF1F5"/>
          </a:solidFill>
          <a:ln w="12700">
            <a:solidFill>
              <a:srgbClr val="EDF1F5"/>
            </a:solidFill>
            <a:prstDash val="solid"/>
          </a:ln>
        </p:spPr>
      </p:sp>
      <p:sp>
        <p:nvSpPr>
          <p:cNvPr id="12" name="Text 10"/>
          <p:cNvSpPr/>
          <p:nvPr/>
        </p:nvSpPr>
        <p:spPr>
          <a:xfrm>
            <a:off x="6163056" y="1591056"/>
            <a:ext cx="2468880" cy="310896"/>
          </a:xfrm>
          <a:prstGeom prst="rect">
            <a:avLst/>
          </a:prstGeom>
          <a:noFill/>
          <a:ln/>
        </p:spPr>
        <p:txBody>
          <a:bodyPr wrap="square" lIns="0" tIns="0" rIns="0" bIns="0" rtlCol="0" anchor="ctr"/>
          <a:lstStyle/>
          <a:p>
            <a:pPr algn="ctr" indent="0" marL="0">
              <a:buNone/>
            </a:pPr>
            <a:r>
              <a:rPr lang="en-US" sz="1350" b="1" dirty="0">
                <a:solidFill>
                  <a:srgbClr val="16212E"/>
                </a:solidFill>
                <a:latin typeface="Cambria" pitchFamily="34" charset="0"/>
                <a:ea typeface="Cambria" pitchFamily="34" charset="-122"/>
                <a:cs typeface="Cambria" pitchFamily="34" charset="-120"/>
              </a:rPr>
              <a:t>1 · Parse &amp; slice</a:t>
            </a:r>
            <a:endParaRPr lang="en-US" sz="1350" dirty="0"/>
          </a:p>
        </p:txBody>
      </p:sp>
      <p:sp>
        <p:nvSpPr>
          <p:cNvPr id="13" name="Text 11"/>
          <p:cNvSpPr/>
          <p:nvPr/>
        </p:nvSpPr>
        <p:spPr>
          <a:xfrm>
            <a:off x="6272784"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ProLeap AST → rule slices</a:t>
            </a:r>
            <a:endParaRPr lang="en-US" sz="1000" dirty="0"/>
          </a:p>
        </p:txBody>
      </p:sp>
      <p:sp>
        <p:nvSpPr>
          <p:cNvPr id="14" name="Shape 12"/>
          <p:cNvSpPr/>
          <p:nvPr/>
        </p:nvSpPr>
        <p:spPr>
          <a:xfrm>
            <a:off x="8668512" y="1755648"/>
            <a:ext cx="237744" cy="237744"/>
          </a:xfrm>
          <a:prstGeom prst="rightArrow">
            <a:avLst/>
          </a:prstGeom>
          <a:solidFill>
            <a:srgbClr val="D5DCE3"/>
          </a:solidFill>
          <a:ln w="12700">
            <a:solidFill>
              <a:srgbClr val="D5DCE3"/>
            </a:solidFill>
            <a:prstDash val="solid"/>
          </a:ln>
        </p:spPr>
      </p:sp>
      <p:sp>
        <p:nvSpPr>
          <p:cNvPr id="15" name="Shape 13"/>
          <p:cNvSpPr/>
          <p:nvPr/>
        </p:nvSpPr>
        <p:spPr>
          <a:xfrm>
            <a:off x="8961120" y="1481328"/>
            <a:ext cx="2468880" cy="786384"/>
          </a:xfrm>
          <a:prstGeom prst="roundRect">
            <a:avLst>
              <a:gd name="adj" fmla="val 6977"/>
            </a:avLst>
          </a:prstGeom>
          <a:solidFill>
            <a:srgbClr val="EDF1F5"/>
          </a:solidFill>
          <a:ln w="12700">
            <a:solidFill>
              <a:srgbClr val="EDF1F5"/>
            </a:solidFill>
            <a:prstDash val="solid"/>
          </a:ln>
        </p:spPr>
      </p:sp>
      <p:sp>
        <p:nvSpPr>
          <p:cNvPr id="16" name="Text 14"/>
          <p:cNvSpPr/>
          <p:nvPr/>
        </p:nvSpPr>
        <p:spPr>
          <a:xfrm>
            <a:off x="8961120" y="1591056"/>
            <a:ext cx="2468880" cy="310896"/>
          </a:xfrm>
          <a:prstGeom prst="rect">
            <a:avLst/>
          </a:prstGeom>
          <a:noFill/>
          <a:ln/>
        </p:spPr>
        <p:txBody>
          <a:bodyPr wrap="square" lIns="0" tIns="0" rIns="0" bIns="0" rtlCol="0" anchor="ctr"/>
          <a:lstStyle/>
          <a:p>
            <a:pPr algn="ctr" indent="0" marL="0">
              <a:buNone/>
            </a:pPr>
            <a:r>
              <a:rPr lang="en-US" sz="1350" b="1" dirty="0">
                <a:solidFill>
                  <a:srgbClr val="B07A16"/>
                </a:solidFill>
                <a:latin typeface="Cambria" pitchFamily="34" charset="0"/>
                <a:ea typeface="Cambria" pitchFamily="34" charset="-122"/>
                <a:cs typeface="Cambria" pitchFamily="34" charset="-120"/>
              </a:rPr>
              <a:t>2 · Extract rules</a:t>
            </a:r>
            <a:endParaRPr lang="en-US" sz="1350" dirty="0"/>
          </a:p>
        </p:txBody>
      </p:sp>
      <p:sp>
        <p:nvSpPr>
          <p:cNvPr id="17" name="Text 15"/>
          <p:cNvSpPr/>
          <p:nvPr/>
        </p:nvSpPr>
        <p:spPr>
          <a:xfrm>
            <a:off x="9070848" y="1901952"/>
            <a:ext cx="2249424" cy="457200"/>
          </a:xfrm>
          <a:prstGeom prst="rect">
            <a:avLst/>
          </a:prstGeom>
          <a:noFill/>
          <a:ln/>
        </p:spPr>
        <p:txBody>
          <a:bodyPr wrap="square" lIns="0" tIns="0" rIns="0" bIns="0" rtlCol="0" anchor="ctr"/>
          <a:lstStyle/>
          <a:p>
            <a:pPr algn="ctr" indent="0" marL="0">
              <a:lnSpc>
                <a:spcPts val="1400"/>
              </a:lnSpc>
              <a:buNone/>
            </a:pPr>
            <a:r>
              <a:rPr lang="en-US" sz="1000" dirty="0">
                <a:solidFill>
                  <a:srgbClr val="6B7785"/>
                </a:solidFill>
                <a:latin typeface="Calibri" pitchFamily="34" charset="0"/>
                <a:ea typeface="Calibri" pitchFamily="34" charset="-122"/>
                <a:cs typeface="Calibri" pitchFamily="34" charset="-120"/>
              </a:rPr>
              <a:t>+ line citations from the slice</a:t>
            </a:r>
            <a:endParaRPr lang="en-US" sz="1000" dirty="0"/>
          </a:p>
        </p:txBody>
      </p:sp>
      <p:sp>
        <p:nvSpPr>
          <p:cNvPr id="18" name="Shape 16"/>
          <p:cNvSpPr/>
          <p:nvPr/>
        </p:nvSpPr>
        <p:spPr>
          <a:xfrm>
            <a:off x="4599432" y="2267712"/>
            <a:ext cx="0" cy="329184"/>
          </a:xfrm>
          <a:prstGeom prst="line">
            <a:avLst/>
          </a:prstGeom>
          <a:noFill/>
          <a:ln w="19050">
            <a:solidFill>
              <a:srgbClr val="D5DCE3"/>
            </a:solidFill>
            <a:prstDash val="solid"/>
          </a:ln>
        </p:spPr>
      </p:sp>
      <p:sp>
        <p:nvSpPr>
          <p:cNvPr id="19" name="Text 17"/>
          <p:cNvSpPr/>
          <p:nvPr/>
        </p:nvSpPr>
        <p:spPr>
          <a:xfrm>
            <a:off x="1737360" y="2578608"/>
            <a:ext cx="3931920" cy="237744"/>
          </a:xfrm>
          <a:prstGeom prst="rect">
            <a:avLst/>
          </a:prstGeom>
          <a:noFill/>
          <a:ln/>
        </p:spPr>
        <p:txBody>
          <a:bodyPr wrap="square" lIns="0" tIns="0" rIns="0" bIns="0" rtlCol="0" anchor="ctr"/>
          <a:lstStyle/>
          <a:p>
            <a:pPr algn="ctr" indent="0" marL="0">
              <a:buNone/>
            </a:pPr>
            <a:r>
              <a:rPr lang="en-US" sz="1000" b="1" dirty="0">
                <a:solidFill>
                  <a:srgbClr val="6B7785"/>
                </a:solidFill>
                <a:latin typeface="Calibri" pitchFamily="34" charset="0"/>
                <a:ea typeface="Calibri" pitchFamily="34" charset="-122"/>
                <a:cs typeface="Calibri" pitchFamily="34" charset="-120"/>
              </a:rPr>
              <a:t>REFUSED — non-deterministic, cannot be verified soundly</a:t>
            </a:r>
            <a:endParaRPr lang="en-US" sz="1000" dirty="0"/>
          </a:p>
        </p:txBody>
      </p:sp>
      <p:sp>
        <p:nvSpPr>
          <p:cNvPr id="20" name="Shape 18"/>
          <p:cNvSpPr/>
          <p:nvPr/>
        </p:nvSpPr>
        <p:spPr>
          <a:xfrm>
            <a:off x="10195560" y="2267712"/>
            <a:ext cx="0" cy="274320"/>
          </a:xfrm>
          <a:prstGeom prst="line">
            <a:avLst/>
          </a:prstGeom>
          <a:noFill/>
          <a:ln w="19050">
            <a:solidFill>
              <a:srgbClr val="D5DCE3"/>
            </a:solidFill>
            <a:prstDash val="solid"/>
          </a:ln>
        </p:spPr>
      </p:sp>
      <p:sp>
        <p:nvSpPr>
          <p:cNvPr id="21" name="Shape 19"/>
          <p:cNvSpPr/>
          <p:nvPr/>
        </p:nvSpPr>
        <p:spPr>
          <a:xfrm>
            <a:off x="6537960" y="2542032"/>
            <a:ext cx="3657600" cy="0"/>
          </a:xfrm>
          <a:prstGeom prst="line">
            <a:avLst/>
          </a:prstGeom>
          <a:noFill/>
          <a:ln w="19050">
            <a:solidFill>
              <a:srgbClr val="D5DCE3"/>
            </a:solidFill>
            <a:prstDash val="solid"/>
          </a:ln>
        </p:spPr>
      </p:sp>
      <p:sp>
        <p:nvSpPr>
          <p:cNvPr id="22" name="Shape 20"/>
          <p:cNvSpPr/>
          <p:nvPr/>
        </p:nvSpPr>
        <p:spPr>
          <a:xfrm>
            <a:off x="6419088" y="2542032"/>
            <a:ext cx="237744" cy="237744"/>
          </a:xfrm>
          <a:prstGeom prst="downArrow">
            <a:avLst/>
          </a:prstGeom>
          <a:solidFill>
            <a:srgbClr val="D5DCE3"/>
          </a:solidFill>
          <a:ln w="12700">
            <a:solidFill>
              <a:srgbClr val="D5DCE3"/>
            </a:solidFill>
            <a:prstDash val="solid"/>
          </a:ln>
        </p:spPr>
      </p:sp>
      <p:sp>
        <p:nvSpPr>
          <p:cNvPr id="23" name="Shape 21"/>
          <p:cNvSpPr/>
          <p:nvPr/>
        </p:nvSpPr>
        <p:spPr>
          <a:xfrm>
            <a:off x="566928" y="2779776"/>
            <a:ext cx="11057839" cy="749808"/>
          </a:xfrm>
          <a:prstGeom prst="roundRect">
            <a:avLst>
              <a:gd name="adj" fmla="val 7317"/>
            </a:avLst>
          </a:prstGeom>
          <a:solidFill>
            <a:srgbClr val="EDF1F5"/>
          </a:solidFill>
          <a:ln w="12700">
            <a:solidFill>
              <a:srgbClr val="EDF1F5"/>
            </a:solidFill>
            <a:prstDash val="solid"/>
          </a:ln>
        </p:spPr>
      </p:sp>
      <p:sp>
        <p:nvSpPr>
          <p:cNvPr id="24" name="Text 22"/>
          <p:cNvSpPr/>
          <p:nvPr/>
        </p:nvSpPr>
        <p:spPr>
          <a:xfrm>
            <a:off x="841248" y="2871216"/>
            <a:ext cx="384048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3 · Rule-directed input generation</a:t>
            </a:r>
            <a:endParaRPr lang="en-US" sz="1350" dirty="0"/>
          </a:p>
        </p:txBody>
      </p:sp>
      <p:sp>
        <p:nvSpPr>
          <p:cNvPr id="25" name="Text 23"/>
          <p:cNvSpPr/>
          <p:nvPr/>
        </p:nvSpPr>
        <p:spPr>
          <a:xfrm>
            <a:off x="841248" y="3163824"/>
            <a:ext cx="4023360"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the extracted rules say where the boundaries are</a:t>
            </a:r>
            <a:endParaRPr lang="en-US" sz="1050" dirty="0"/>
          </a:p>
        </p:txBody>
      </p:sp>
      <p:sp>
        <p:nvSpPr>
          <p:cNvPr id="26" name="Text 24"/>
          <p:cNvSpPr/>
          <p:nvPr/>
        </p:nvSpPr>
        <p:spPr>
          <a:xfrm>
            <a:off x="5029200" y="2907792"/>
            <a:ext cx="6400800" cy="512064"/>
          </a:xfrm>
          <a:prstGeom prst="rect">
            <a:avLst/>
          </a:prstGeom>
          <a:noFill/>
          <a:ln/>
        </p:spPr>
        <p:txBody>
          <a:bodyPr wrap="square" lIns="0" tIns="0" rIns="0" bIns="0" rtlCol="0" anchor="ctr"/>
          <a:lstStyle/>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₹99,999 / ₹1,00,000 / ₹1,00,001   ·   ₹0.50 rounding midpoints</a:t>
            </a:r>
            <a:endParaRPr lang="en-US" sz="1000" dirty="0"/>
          </a:p>
          <a:p>
            <a:pPr indent="0" marL="0">
              <a:lnSpc>
                <a:spcPts val="1500"/>
              </a:lnSpc>
              <a:buNone/>
            </a:pPr>
            <a:r>
              <a:rPr lang="en-US" sz="1000" dirty="0">
                <a:solidFill>
                  <a:srgbClr val="16212E"/>
                </a:solidFill>
                <a:latin typeface="Consolas" pitchFamily="34" charset="0"/>
                <a:ea typeface="Consolas" pitchFamily="34" charset="-122"/>
                <a:cs typeface="Consolas" pitchFamily="34" charset="-120"/>
              </a:rPr>
              <a:t>29 February  ·  month and quarter ends  ·  zero and maximum values</a:t>
            </a:r>
            <a:endParaRPr lang="en-US" sz="1000" dirty="0"/>
          </a:p>
        </p:txBody>
      </p:sp>
      <p:sp>
        <p:nvSpPr>
          <p:cNvPr id="27" name="Shape 25"/>
          <p:cNvSpPr/>
          <p:nvPr/>
        </p:nvSpPr>
        <p:spPr>
          <a:xfrm>
            <a:off x="6035040" y="3529584"/>
            <a:ext cx="237744" cy="237744"/>
          </a:xfrm>
          <a:prstGeom prst="downArrow">
            <a:avLst/>
          </a:prstGeom>
          <a:solidFill>
            <a:srgbClr val="D5DCE3"/>
          </a:solidFill>
          <a:ln w="12700">
            <a:solidFill>
              <a:srgbClr val="D5DCE3"/>
            </a:solidFill>
            <a:prstDash val="solid"/>
          </a:ln>
        </p:spPr>
      </p:sp>
      <p:sp>
        <p:nvSpPr>
          <p:cNvPr id="28" name="Shape 26"/>
          <p:cNvSpPr/>
          <p:nvPr/>
        </p:nvSpPr>
        <p:spPr>
          <a:xfrm>
            <a:off x="566928" y="3913632"/>
            <a:ext cx="11057839" cy="1024128"/>
          </a:xfrm>
          <a:prstGeom prst="roundRect">
            <a:avLst>
              <a:gd name="adj" fmla="val 5357"/>
            </a:avLst>
          </a:prstGeom>
          <a:solidFill>
            <a:srgbClr val="EDF1F5"/>
          </a:solidFill>
          <a:ln w="12700">
            <a:solidFill>
              <a:srgbClr val="EDF1F5"/>
            </a:solidFill>
            <a:prstDash val="solid"/>
          </a:ln>
        </p:spPr>
      </p:sp>
      <p:sp>
        <p:nvSpPr>
          <p:cNvPr id="29" name="Text 27"/>
          <p:cNvSpPr/>
          <p:nvPr/>
        </p:nvSpPr>
        <p:spPr>
          <a:xfrm>
            <a:off x="841248" y="4041648"/>
            <a:ext cx="4206240" cy="274320"/>
          </a:xfrm>
          <a:prstGeom prst="rect">
            <a:avLst/>
          </a:prstGeom>
          <a:noFill/>
          <a:ln/>
        </p:spPr>
        <p:txBody>
          <a:bodyPr wrap="square" lIns="0" tIns="0" rIns="0" bIns="0" rtlCol="0" anchor="ctr"/>
          <a:lstStyle/>
          <a:p>
            <a:pPr indent="0" marL="0">
              <a:buNone/>
            </a:pPr>
            <a:r>
              <a:rPr lang="en-US" sz="1350" b="1" dirty="0">
                <a:solidFill>
                  <a:srgbClr val="0E2033"/>
                </a:solidFill>
                <a:latin typeface="Calibri" pitchFamily="34" charset="0"/>
                <a:ea typeface="Calibri" pitchFamily="34" charset="-122"/>
                <a:cs typeface="Calibri" pitchFamily="34" charset="-120"/>
              </a:rPr>
              <a:t>4 · Execute and compare, three ways</a:t>
            </a:r>
            <a:endParaRPr lang="en-US" sz="1350" dirty="0"/>
          </a:p>
        </p:txBody>
      </p:sp>
      <p:sp>
        <p:nvSpPr>
          <p:cNvPr id="30" name="Text 28"/>
          <p:cNvSpPr/>
          <p:nvPr/>
        </p:nvSpPr>
        <p:spPr>
          <a:xfrm>
            <a:off x="841248" y="4334256"/>
            <a:ext cx="4206240" cy="256032"/>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same input, three outputs</a:t>
            </a:r>
            <a:endParaRPr lang="en-US" sz="1050" dirty="0"/>
          </a:p>
        </p:txBody>
      </p:sp>
      <p:sp>
        <p:nvSpPr>
          <p:cNvPr id="31" name="Shape 29"/>
          <p:cNvSpPr/>
          <p:nvPr/>
        </p:nvSpPr>
        <p:spPr>
          <a:xfrm>
            <a:off x="4754880" y="4096512"/>
            <a:ext cx="2157984" cy="658368"/>
          </a:xfrm>
          <a:prstGeom prst="roundRect">
            <a:avLst>
              <a:gd name="adj" fmla="val 8333"/>
            </a:avLst>
          </a:prstGeom>
          <a:solidFill>
            <a:srgbClr val="FFFFFF"/>
          </a:solidFill>
          <a:ln w="12700">
            <a:solidFill>
              <a:srgbClr val="FFFFFF"/>
            </a:solidFill>
            <a:prstDash val="solid"/>
          </a:ln>
        </p:spPr>
      </p:sp>
      <p:sp>
        <p:nvSpPr>
          <p:cNvPr id="32" name="Text 30"/>
          <p:cNvSpPr/>
          <p:nvPr/>
        </p:nvSpPr>
        <p:spPr>
          <a:xfrm>
            <a:off x="4754880" y="4169664"/>
            <a:ext cx="2157984"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Legacy COBOL</a:t>
            </a:r>
            <a:endParaRPr lang="en-US" sz="1150" dirty="0"/>
          </a:p>
        </p:txBody>
      </p:sp>
      <p:sp>
        <p:nvSpPr>
          <p:cNvPr id="33" name="Text 31"/>
          <p:cNvSpPr/>
          <p:nvPr/>
        </p:nvSpPr>
        <p:spPr>
          <a:xfrm>
            <a:off x="4754880"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GnuCOBOL, the oracle</a:t>
            </a:r>
            <a:endParaRPr lang="en-US" sz="950" dirty="0"/>
          </a:p>
        </p:txBody>
      </p:sp>
      <p:sp>
        <p:nvSpPr>
          <p:cNvPr id="34" name="Shape 32"/>
          <p:cNvSpPr/>
          <p:nvPr/>
        </p:nvSpPr>
        <p:spPr>
          <a:xfrm>
            <a:off x="7059168" y="4096512"/>
            <a:ext cx="2157984" cy="658368"/>
          </a:xfrm>
          <a:prstGeom prst="roundRect">
            <a:avLst>
              <a:gd name="adj" fmla="val 8333"/>
            </a:avLst>
          </a:prstGeom>
          <a:solidFill>
            <a:srgbClr val="FFFFFF"/>
          </a:solidFill>
          <a:ln w="12700">
            <a:solidFill>
              <a:srgbClr val="FFFFFF"/>
            </a:solidFill>
            <a:prstDash val="solid"/>
          </a:ln>
        </p:spPr>
      </p:sp>
      <p:sp>
        <p:nvSpPr>
          <p:cNvPr id="35" name="Text 33"/>
          <p:cNvSpPr/>
          <p:nvPr/>
        </p:nvSpPr>
        <p:spPr>
          <a:xfrm>
            <a:off x="7059168" y="4169664"/>
            <a:ext cx="2157984" cy="237744"/>
          </a:xfrm>
          <a:prstGeom prst="rect">
            <a:avLst/>
          </a:prstGeom>
          <a:noFill/>
          <a:ln/>
        </p:spPr>
        <p:txBody>
          <a:bodyPr wrap="square" lIns="0" tIns="0" rIns="0" bIns="0" rtlCol="0" anchor="ctr"/>
          <a:lstStyle/>
          <a:p>
            <a:pPr algn="ctr" indent="0" marL="0">
              <a:buNone/>
            </a:pPr>
            <a:r>
              <a:rPr lang="en-US" sz="1150" b="1" dirty="0">
                <a:solidFill>
                  <a:srgbClr val="0E2033"/>
                </a:solidFill>
                <a:latin typeface="Calibri" pitchFamily="34" charset="0"/>
                <a:ea typeface="Calibri" pitchFamily="34" charset="-122"/>
                <a:cs typeface="Calibri" pitchFamily="34" charset="-120"/>
              </a:rPr>
              <a:t>Reimplementation</a:t>
            </a:r>
            <a:endParaRPr lang="en-US" sz="1150" dirty="0"/>
          </a:p>
        </p:txBody>
      </p:sp>
      <p:sp>
        <p:nvSpPr>
          <p:cNvPr id="36" name="Text 34"/>
          <p:cNvSpPr/>
          <p:nvPr/>
        </p:nvSpPr>
        <p:spPr>
          <a:xfrm>
            <a:off x="7059168"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generated Java, untrusted</a:t>
            </a:r>
            <a:endParaRPr lang="en-US" sz="950" dirty="0"/>
          </a:p>
        </p:txBody>
      </p:sp>
      <p:sp>
        <p:nvSpPr>
          <p:cNvPr id="37" name="Shape 35"/>
          <p:cNvSpPr/>
          <p:nvPr/>
        </p:nvSpPr>
        <p:spPr>
          <a:xfrm>
            <a:off x="9363456" y="4096512"/>
            <a:ext cx="2157984" cy="658368"/>
          </a:xfrm>
          <a:prstGeom prst="roundRect">
            <a:avLst>
              <a:gd name="adj" fmla="val 8333"/>
            </a:avLst>
          </a:prstGeom>
          <a:solidFill>
            <a:srgbClr val="FFFFFF"/>
          </a:solidFill>
          <a:ln w="12700">
            <a:solidFill>
              <a:srgbClr val="FFFFFF"/>
            </a:solidFill>
            <a:prstDash val="solid"/>
          </a:ln>
        </p:spPr>
      </p:sp>
      <p:sp>
        <p:nvSpPr>
          <p:cNvPr id="38" name="Text 36"/>
          <p:cNvSpPr/>
          <p:nvPr/>
        </p:nvSpPr>
        <p:spPr>
          <a:xfrm>
            <a:off x="9363456" y="4169664"/>
            <a:ext cx="2157984" cy="237744"/>
          </a:xfrm>
          <a:prstGeom prst="rect">
            <a:avLst/>
          </a:prstGeom>
          <a:noFill/>
          <a:ln/>
        </p:spPr>
        <p:txBody>
          <a:bodyPr wrap="square" lIns="0" tIns="0" rIns="0" bIns="0" rtlCol="0" anchor="ctr"/>
          <a:lstStyle/>
          <a:p>
            <a:pPr algn="ctr" indent="0" marL="0">
              <a:buNone/>
            </a:pPr>
            <a:r>
              <a:rPr lang="en-US" sz="1150" b="1" dirty="0">
                <a:solidFill>
                  <a:srgbClr val="B07A16"/>
                </a:solidFill>
                <a:latin typeface="Calibri" pitchFamily="34" charset="0"/>
                <a:ea typeface="Calibri" pitchFamily="34" charset="-122"/>
                <a:cs typeface="Calibri" pitchFamily="34" charset="-120"/>
              </a:rPr>
              <a:t>RBI Direction</a:t>
            </a:r>
            <a:endParaRPr lang="en-US" sz="1150" dirty="0"/>
          </a:p>
        </p:txBody>
      </p:sp>
      <p:sp>
        <p:nvSpPr>
          <p:cNvPr id="39" name="Text 37"/>
          <p:cNvSpPr/>
          <p:nvPr/>
        </p:nvSpPr>
        <p:spPr>
          <a:xfrm>
            <a:off x="9363456" y="4407408"/>
            <a:ext cx="2157984" cy="219456"/>
          </a:xfrm>
          <a:prstGeom prst="rect">
            <a:avLst/>
          </a:prstGeom>
          <a:noFill/>
          <a:ln/>
        </p:spPr>
        <p:txBody>
          <a:bodyPr wrap="square" lIns="0" tIns="0" rIns="0" bIns="0" rtlCol="0" anchor="ctr"/>
          <a:lstStyle/>
          <a:p>
            <a:pPr algn="ctr" indent="0" marL="0">
              <a:buNone/>
            </a:pPr>
            <a:r>
              <a:rPr lang="en-US" sz="950" dirty="0">
                <a:solidFill>
                  <a:srgbClr val="6B7785"/>
                </a:solidFill>
                <a:latin typeface="Calibri" pitchFamily="34" charset="0"/>
                <a:ea typeface="Calibri" pitchFamily="34" charset="-122"/>
                <a:cs typeface="Calibri" pitchFamily="34" charset="-120"/>
              </a:rPr>
              <a:t>the third reference</a:t>
            </a:r>
            <a:endParaRPr lang="en-US" sz="950" dirty="0"/>
          </a:p>
        </p:txBody>
      </p:sp>
      <p:sp>
        <p:nvSpPr>
          <p:cNvPr id="40" name="Shape 38"/>
          <p:cNvSpPr/>
          <p:nvPr/>
        </p:nvSpPr>
        <p:spPr>
          <a:xfrm>
            <a:off x="6035040" y="4937760"/>
            <a:ext cx="237744" cy="219456"/>
          </a:xfrm>
          <a:prstGeom prst="downArrow">
            <a:avLst/>
          </a:prstGeom>
          <a:solidFill>
            <a:srgbClr val="D5DCE3"/>
          </a:solidFill>
          <a:ln w="12700">
            <a:solidFill>
              <a:srgbClr val="D5DCE3"/>
            </a:solidFill>
            <a:prstDash val="solid"/>
          </a:ln>
        </p:spPr>
      </p:sp>
      <p:sp>
        <p:nvSpPr>
          <p:cNvPr id="41" name="Shape 39"/>
          <p:cNvSpPr/>
          <p:nvPr/>
        </p:nvSpPr>
        <p:spPr>
          <a:xfrm>
            <a:off x="566928" y="5394960"/>
            <a:ext cx="2670048" cy="713232"/>
          </a:xfrm>
          <a:prstGeom prst="roundRect">
            <a:avLst>
              <a:gd name="adj" fmla="val 7692"/>
            </a:avLst>
          </a:prstGeom>
          <a:solidFill>
            <a:srgbClr val="EDF1F5"/>
          </a:solidFill>
          <a:ln w="12700">
            <a:solidFill>
              <a:srgbClr val="EDF1F5"/>
            </a:solidFill>
            <a:prstDash val="solid"/>
          </a:ln>
        </p:spPr>
      </p:sp>
      <p:sp>
        <p:nvSpPr>
          <p:cNvPr id="42" name="Text 40"/>
          <p:cNvSpPr/>
          <p:nvPr/>
        </p:nvSpPr>
        <p:spPr>
          <a:xfrm>
            <a:off x="713232"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Rule coverage</a:t>
            </a:r>
            <a:endParaRPr lang="en-US" sz="1250" dirty="0"/>
          </a:p>
        </p:txBody>
      </p:sp>
      <p:sp>
        <p:nvSpPr>
          <p:cNvPr id="43" name="Text 41"/>
          <p:cNvSpPr/>
          <p:nvPr/>
        </p:nvSpPr>
        <p:spPr>
          <a:xfrm>
            <a:off x="713232"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which rules the tests reached</a:t>
            </a:r>
            <a:endParaRPr lang="en-US" sz="1000" dirty="0"/>
          </a:p>
        </p:txBody>
      </p:sp>
      <p:sp>
        <p:nvSpPr>
          <p:cNvPr id="44" name="Shape 42"/>
          <p:cNvSpPr/>
          <p:nvPr/>
        </p:nvSpPr>
        <p:spPr>
          <a:xfrm>
            <a:off x="3374136" y="5394960"/>
            <a:ext cx="2670048" cy="713232"/>
          </a:xfrm>
          <a:prstGeom prst="roundRect">
            <a:avLst>
              <a:gd name="adj" fmla="val 7692"/>
            </a:avLst>
          </a:prstGeom>
          <a:solidFill>
            <a:srgbClr val="EDF1F5"/>
          </a:solidFill>
          <a:ln w="12700">
            <a:solidFill>
              <a:srgbClr val="EDF1F5"/>
            </a:solidFill>
            <a:prstDash val="solid"/>
          </a:ln>
        </p:spPr>
      </p:sp>
      <p:sp>
        <p:nvSpPr>
          <p:cNvPr id="45" name="Text 43"/>
          <p:cNvSpPr/>
          <p:nvPr/>
        </p:nvSpPr>
        <p:spPr>
          <a:xfrm>
            <a:off x="3520440"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Mutation score</a:t>
            </a:r>
            <a:endParaRPr lang="en-US" sz="1250" dirty="0"/>
          </a:p>
        </p:txBody>
      </p:sp>
      <p:sp>
        <p:nvSpPr>
          <p:cNvPr id="46" name="Text 44"/>
          <p:cNvSpPr/>
          <p:nvPr/>
        </p:nvSpPr>
        <p:spPr>
          <a:xfrm>
            <a:off x="3520440"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how strong is this claim?</a:t>
            </a:r>
            <a:endParaRPr lang="en-US" sz="1000" dirty="0"/>
          </a:p>
        </p:txBody>
      </p:sp>
      <p:sp>
        <p:nvSpPr>
          <p:cNvPr id="47" name="Shape 45"/>
          <p:cNvSpPr/>
          <p:nvPr/>
        </p:nvSpPr>
        <p:spPr>
          <a:xfrm>
            <a:off x="6181344" y="5394960"/>
            <a:ext cx="2670048" cy="713232"/>
          </a:xfrm>
          <a:prstGeom prst="roundRect">
            <a:avLst>
              <a:gd name="adj" fmla="val 7692"/>
            </a:avLst>
          </a:prstGeom>
          <a:solidFill>
            <a:srgbClr val="EDF1F5"/>
          </a:solidFill>
          <a:ln w="12700">
            <a:solidFill>
              <a:srgbClr val="EDF1F5"/>
            </a:solidFill>
            <a:prstDash val="solid"/>
          </a:ln>
        </p:spPr>
      </p:sp>
      <p:sp>
        <p:nvSpPr>
          <p:cNvPr id="48" name="Text 46"/>
          <p:cNvSpPr/>
          <p:nvPr/>
        </p:nvSpPr>
        <p:spPr>
          <a:xfrm>
            <a:off x="6327648"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Compliance findings</a:t>
            </a:r>
            <a:endParaRPr lang="en-US" sz="1250" dirty="0"/>
          </a:p>
        </p:txBody>
      </p:sp>
      <p:sp>
        <p:nvSpPr>
          <p:cNvPr id="49" name="Text 47"/>
          <p:cNvSpPr/>
          <p:nvPr/>
        </p:nvSpPr>
        <p:spPr>
          <a:xfrm>
            <a:off x="6327648"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legacy against the regulator</a:t>
            </a:r>
            <a:endParaRPr lang="en-US" sz="1000" dirty="0"/>
          </a:p>
        </p:txBody>
      </p:sp>
      <p:sp>
        <p:nvSpPr>
          <p:cNvPr id="50" name="Shape 48"/>
          <p:cNvSpPr/>
          <p:nvPr/>
        </p:nvSpPr>
        <p:spPr>
          <a:xfrm>
            <a:off x="8988552" y="5394960"/>
            <a:ext cx="2670048" cy="713232"/>
          </a:xfrm>
          <a:prstGeom prst="roundRect">
            <a:avLst>
              <a:gd name="adj" fmla="val 7692"/>
            </a:avLst>
          </a:prstGeom>
          <a:solidFill>
            <a:srgbClr val="EDF1F5"/>
          </a:solidFill>
          <a:ln w="12700">
            <a:solidFill>
              <a:srgbClr val="EDF1F5"/>
            </a:solidFill>
            <a:prstDash val="solid"/>
          </a:ln>
        </p:spPr>
      </p:sp>
      <p:sp>
        <p:nvSpPr>
          <p:cNvPr id="51" name="Text 49"/>
          <p:cNvSpPr/>
          <p:nvPr/>
        </p:nvSpPr>
        <p:spPr>
          <a:xfrm>
            <a:off x="9134856" y="5486400"/>
            <a:ext cx="2377440" cy="256032"/>
          </a:xfrm>
          <a:prstGeom prst="rect">
            <a:avLst/>
          </a:prstGeom>
          <a:noFill/>
          <a:ln/>
        </p:spPr>
        <p:txBody>
          <a:bodyPr wrap="square" lIns="0" tIns="0" rIns="0" bIns="0" rtlCol="0" anchor="ctr"/>
          <a:lstStyle/>
          <a:p>
            <a:pPr algn="ctr" indent="0" marL="0">
              <a:buNone/>
            </a:pPr>
            <a:r>
              <a:rPr lang="en-US" sz="1250" b="1" dirty="0">
                <a:solidFill>
                  <a:srgbClr val="0E2033"/>
                </a:solidFill>
                <a:latin typeface="Calibri" pitchFamily="34" charset="0"/>
                <a:ea typeface="Calibri" pitchFamily="34" charset="-122"/>
                <a:cs typeface="Calibri" pitchFamily="34" charset="-120"/>
              </a:rPr>
              <a:t>Evidence bundle</a:t>
            </a:r>
            <a:endParaRPr lang="en-US" sz="1250" dirty="0"/>
          </a:p>
        </p:txBody>
      </p:sp>
      <p:sp>
        <p:nvSpPr>
          <p:cNvPr id="52" name="Text 50"/>
          <p:cNvSpPr/>
          <p:nvPr/>
        </p:nvSpPr>
        <p:spPr>
          <a:xfrm>
            <a:off x="9134856" y="5742432"/>
            <a:ext cx="2377440" cy="256032"/>
          </a:xfrm>
          <a:prstGeom prst="rect">
            <a:avLst/>
          </a:prstGeom>
          <a:noFill/>
          <a:ln/>
        </p:spPr>
        <p:txBody>
          <a:bodyPr wrap="square" lIns="0" tIns="0" rIns="0" bIns="0" rtlCol="0" anchor="ctr"/>
          <a:lstStyle/>
          <a:p>
            <a:pPr algn="ctr" indent="0" marL="0">
              <a:buNone/>
            </a:pPr>
            <a:r>
              <a:rPr lang="en-US" sz="1000" dirty="0">
                <a:solidFill>
                  <a:srgbClr val="6B7785"/>
                </a:solidFill>
                <a:latin typeface="Calibri" pitchFamily="34" charset="0"/>
                <a:ea typeface="Calibri" pitchFamily="34" charset="-122"/>
                <a:cs typeface="Calibri" pitchFamily="34" charset="-120"/>
              </a:rPr>
              <a:t>spec · tests · signed claim</a:t>
            </a:r>
            <a:endParaRPr lang="en-US" sz="1000" dirty="0"/>
          </a:p>
        </p:txBody>
      </p:sp>
      <p:sp>
        <p:nvSpPr>
          <p:cNvPr id="53" name="Text 51"/>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Titles in amber are the two bounded LLM calls; everything else is deterministic. Deterministic orchestration matches agentic accuracy at up to 3.5× lower token cost (arXiv 2605.09894).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WHAT MAKES IT DIFFERENT</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Three things nobody else does</a:t>
            </a:r>
            <a:endParaRPr lang="en-US" sz="3100" dirty="0"/>
          </a:p>
        </p:txBody>
      </p:sp>
      <p:sp>
        <p:nvSpPr>
          <p:cNvPr id="4" name="Text 2"/>
          <p:cNvSpPr/>
          <p:nvPr/>
        </p:nvSpPr>
        <p:spPr>
          <a:xfrm>
            <a:off x="566928" y="1444752"/>
            <a:ext cx="11057839" cy="365760"/>
          </a:xfrm>
          <a:prstGeom prst="rect">
            <a:avLst/>
          </a:prstGeom>
          <a:noFill/>
          <a:ln/>
        </p:spPr>
        <p:txBody>
          <a:bodyPr wrap="square" lIns="0" tIns="0" rIns="0" bIns="0" rtlCol="0" anchor="ctr"/>
          <a:lstStyle/>
          <a:p>
            <a:pPr indent="0" marL="0">
              <a:buNone/>
            </a:pPr>
            <a:r>
              <a:rPr lang="en-US" sz="1300" dirty="0">
                <a:solidFill>
                  <a:srgbClr val="16212E"/>
                </a:solidFill>
                <a:latin typeface="Calibri" pitchFamily="34" charset="0"/>
                <a:ea typeface="Calibri" pitchFamily="34" charset="-122"/>
                <a:cs typeface="Calibri" pitchFamily="34" charset="-120"/>
              </a:rPr>
              <a:t>The differential mechanism itself is prior art. IBM, AWS, Mechanical Orchard and a paper published five days ago all ship a version of it, and we say so. These three are ours.</a:t>
            </a:r>
            <a:endParaRPr lang="en-US" sz="1300" dirty="0"/>
          </a:p>
        </p:txBody>
      </p:sp>
      <p:sp>
        <p:nvSpPr>
          <p:cNvPr id="5" name="Shape 3"/>
          <p:cNvSpPr/>
          <p:nvPr/>
        </p:nvSpPr>
        <p:spPr>
          <a:xfrm>
            <a:off x="566928" y="1938528"/>
            <a:ext cx="3566160" cy="3840480"/>
          </a:xfrm>
          <a:prstGeom prst="roundRect">
            <a:avLst>
              <a:gd name="adj" fmla="val 1538"/>
            </a:avLst>
          </a:prstGeom>
          <a:solidFill>
            <a:srgbClr val="EDF1F5"/>
          </a:solidFill>
          <a:ln w="12700">
            <a:solidFill>
              <a:srgbClr val="EDF1F5"/>
            </a:solidFill>
            <a:prstDash val="solid"/>
          </a:ln>
        </p:spPr>
      </p:sp>
      <p:sp>
        <p:nvSpPr>
          <p:cNvPr id="6" name="Shape 4"/>
          <p:cNvSpPr/>
          <p:nvPr/>
        </p:nvSpPr>
        <p:spPr>
          <a:xfrm>
            <a:off x="804672" y="2121408"/>
            <a:ext cx="420624" cy="420624"/>
          </a:xfrm>
          <a:prstGeom prst="ellipse">
            <a:avLst/>
          </a:prstGeom>
          <a:solidFill>
            <a:srgbClr val="B07A16"/>
          </a:solidFill>
          <a:ln w="12700">
            <a:solidFill>
              <a:srgbClr val="B07A16"/>
            </a:solidFill>
            <a:prstDash val="solid"/>
          </a:ln>
        </p:spPr>
      </p:sp>
      <p:sp>
        <p:nvSpPr>
          <p:cNvPr id="7" name="Text 5"/>
          <p:cNvSpPr/>
          <p:nvPr/>
        </p:nvSpPr>
        <p:spPr>
          <a:xfrm>
            <a:off x="804672" y="21214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p:nvPr/>
        </p:nvSpPr>
        <p:spPr>
          <a:xfrm>
            <a:off x="1353312" y="2103120"/>
            <a:ext cx="2560320" cy="512064"/>
          </a:xfrm>
          <a:prstGeom prst="rect">
            <a:avLst/>
          </a:prstGeom>
          <a:noFill/>
          <a:ln/>
        </p:spPr>
        <p:txBody>
          <a:bodyPr wrap="square" lIns="0" tIns="0" rIns="0" bIns="0" rtlCol="0" anchor="ctr"/>
          <a:lstStyle/>
          <a:p>
            <a:pPr indent="0" marL="0">
              <a:lnSpc>
                <a:spcPts val="1900"/>
              </a:lnSpc>
              <a:buNone/>
            </a:pPr>
            <a:r>
              <a:rPr lang="en-US" sz="1550" b="1" dirty="0">
                <a:solidFill>
                  <a:srgbClr val="0E2033"/>
                </a:solidFill>
                <a:latin typeface="Cambria" pitchFamily="34" charset="0"/>
                <a:ea typeface="Cambria" pitchFamily="34" charset="-122"/>
                <a:cs typeface="Cambria" pitchFamily="34" charset="-120"/>
              </a:rPr>
              <a:t>We check the legacy</a:t>
            </a:r>
            <a:endParaRPr lang="en-US" sz="1550" dirty="0"/>
          </a:p>
          <a:p>
            <a:pPr indent="0" marL="0">
              <a:lnSpc>
                <a:spcPts val="1900"/>
              </a:lnSpc>
              <a:buNone/>
            </a:pPr>
            <a:r>
              <a:rPr lang="en-US" sz="1550" b="1" dirty="0">
                <a:solidFill>
                  <a:srgbClr val="0E2033"/>
                </a:solidFill>
                <a:latin typeface="Cambria" pitchFamily="34" charset="0"/>
                <a:ea typeface="Cambria" pitchFamily="34" charset="-122"/>
                <a:cs typeface="Cambria" pitchFamily="34" charset="-120"/>
              </a:rPr>
              <a:t>against the regulator</a:t>
            </a:r>
            <a:endParaRPr lang="en-US" sz="1550" dirty="0"/>
          </a:p>
        </p:txBody>
      </p:sp>
      <p:sp>
        <p:nvSpPr>
          <p:cNvPr id="9" name="Text 7"/>
          <p:cNvSpPr/>
          <p:nvPr/>
        </p:nvSpPr>
        <p:spPr>
          <a:xfrm>
            <a:off x="804672" y="2743200"/>
            <a:ext cx="3090672" cy="786384"/>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Every tool treats the legacy as correct by definition. A program written in 1987 can breach a Direction issued decades later, so we add a third reference.</a:t>
            </a:r>
            <a:endParaRPr lang="en-US" sz="1050" dirty="0"/>
          </a:p>
        </p:txBody>
      </p:sp>
      <p:sp>
        <p:nvSpPr>
          <p:cNvPr id="10" name="Shape 8"/>
          <p:cNvSpPr/>
          <p:nvPr/>
        </p:nvSpPr>
        <p:spPr>
          <a:xfrm>
            <a:off x="804672" y="3602736"/>
            <a:ext cx="3090672" cy="384048"/>
          </a:xfrm>
          <a:prstGeom prst="roundRect">
            <a:avLst>
              <a:gd name="adj" fmla="val 14286"/>
            </a:avLst>
          </a:prstGeom>
          <a:solidFill>
            <a:srgbClr val="FFFFFF"/>
          </a:solidFill>
          <a:ln w="12700">
            <a:solidFill>
              <a:srgbClr val="FFFFFF"/>
            </a:solidFill>
            <a:prstDash val="solid"/>
          </a:ln>
        </p:spPr>
      </p:sp>
      <p:sp>
        <p:nvSpPr>
          <p:cNvPr id="11" name="Text 9"/>
          <p:cNvSpPr/>
          <p:nvPr/>
        </p:nvSpPr>
        <p:spPr>
          <a:xfrm>
            <a:off x="914400" y="3602736"/>
            <a:ext cx="1371600" cy="384048"/>
          </a:xfrm>
          <a:prstGeom prst="rect">
            <a:avLst/>
          </a:prstGeom>
          <a:noFill/>
          <a:ln/>
        </p:spPr>
        <p:txBody>
          <a:bodyPr wrap="square" lIns="0" tIns="0" rIns="0" bIns="0" rtlCol="0" anchor="ctr"/>
          <a:lstStyle/>
          <a:p>
            <a:pPr indent="0" marL="0">
              <a:buNone/>
            </a:pPr>
            <a:r>
              <a:rPr lang="en-US" sz="1000" b="1" dirty="0">
                <a:solidFill>
                  <a:srgbClr val="6B7785"/>
                </a:solidFill>
                <a:latin typeface="Consolas" pitchFamily="34" charset="0"/>
                <a:ea typeface="Consolas" pitchFamily="34" charset="-122"/>
                <a:cs typeface="Consolas" pitchFamily="34" charset="-120"/>
              </a:rPr>
              <a:t>L = R = Reg</a:t>
            </a:r>
            <a:endParaRPr lang="en-US" sz="1000" dirty="0"/>
          </a:p>
        </p:txBody>
      </p:sp>
      <p:sp>
        <p:nvSpPr>
          <p:cNvPr id="12" name="Text 10"/>
          <p:cNvSpPr/>
          <p:nvPr/>
        </p:nvSpPr>
        <p:spPr>
          <a:xfrm>
            <a:off x="2304288" y="3602736"/>
            <a:ext cx="1700784" cy="384048"/>
          </a:xfrm>
          <a:prstGeom prst="rect">
            <a:avLst/>
          </a:prstGeom>
          <a:noFill/>
          <a:ln/>
        </p:spPr>
        <p:txBody>
          <a:bodyPr wrap="square" lIns="0" tIns="0" rIns="0" bIns="0" rtlCol="0" anchor="ctr"/>
          <a:lstStyle/>
          <a:p>
            <a:pPr indent="0" marL="0">
              <a:buNone/>
            </a:pPr>
            <a:r>
              <a:rPr lang="en-US" sz="1050" dirty="0">
                <a:solidFill>
                  <a:srgbClr val="16212E"/>
                </a:solidFill>
                <a:latin typeface="Calibri" pitchFamily="34" charset="0"/>
                <a:ea typeface="Calibri" pitchFamily="34" charset="-122"/>
                <a:cs typeface="Calibri" pitchFamily="34" charset="-120"/>
              </a:rPr>
              <a:t>verified compliant</a:t>
            </a:r>
            <a:endParaRPr lang="en-US" sz="1050" dirty="0"/>
          </a:p>
        </p:txBody>
      </p:sp>
      <p:sp>
        <p:nvSpPr>
          <p:cNvPr id="13" name="Shape 11"/>
          <p:cNvSpPr/>
          <p:nvPr/>
        </p:nvSpPr>
        <p:spPr>
          <a:xfrm>
            <a:off x="804672" y="4059936"/>
            <a:ext cx="3090672" cy="384048"/>
          </a:xfrm>
          <a:prstGeom prst="roundRect">
            <a:avLst>
              <a:gd name="adj" fmla="val 14286"/>
            </a:avLst>
          </a:prstGeom>
          <a:solidFill>
            <a:srgbClr val="FFFFFF"/>
          </a:solidFill>
          <a:ln w="12700">
            <a:solidFill>
              <a:srgbClr val="FFFFFF"/>
            </a:solidFill>
            <a:prstDash val="solid"/>
          </a:ln>
        </p:spPr>
      </p:sp>
      <p:sp>
        <p:nvSpPr>
          <p:cNvPr id="14" name="Text 12"/>
          <p:cNvSpPr/>
          <p:nvPr/>
        </p:nvSpPr>
        <p:spPr>
          <a:xfrm>
            <a:off x="914400" y="4059936"/>
            <a:ext cx="1371600" cy="384048"/>
          </a:xfrm>
          <a:prstGeom prst="rect">
            <a:avLst/>
          </a:prstGeom>
          <a:noFill/>
          <a:ln/>
        </p:spPr>
        <p:txBody>
          <a:bodyPr wrap="square" lIns="0" tIns="0" rIns="0" bIns="0" rtlCol="0" anchor="ctr"/>
          <a:lstStyle/>
          <a:p>
            <a:pPr indent="0" marL="0">
              <a:buNone/>
            </a:pPr>
            <a:r>
              <a:rPr lang="en-US" sz="1000" b="1" dirty="0">
                <a:solidFill>
                  <a:srgbClr val="6B7785"/>
                </a:solidFill>
                <a:latin typeface="Consolas" pitchFamily="34" charset="0"/>
                <a:ea typeface="Consolas" pitchFamily="34" charset="-122"/>
                <a:cs typeface="Consolas" pitchFamily="34" charset="-120"/>
              </a:rPr>
              <a:t>L ≠ R</a:t>
            </a:r>
            <a:endParaRPr lang="en-US" sz="1000" dirty="0"/>
          </a:p>
        </p:txBody>
      </p:sp>
      <p:sp>
        <p:nvSpPr>
          <p:cNvPr id="15" name="Text 13"/>
          <p:cNvSpPr/>
          <p:nvPr/>
        </p:nvSpPr>
        <p:spPr>
          <a:xfrm>
            <a:off x="2304288" y="4059936"/>
            <a:ext cx="1700784" cy="384048"/>
          </a:xfrm>
          <a:prstGeom prst="rect">
            <a:avLst/>
          </a:prstGeom>
          <a:noFill/>
          <a:ln/>
        </p:spPr>
        <p:txBody>
          <a:bodyPr wrap="square" lIns="0" tIns="0" rIns="0" bIns="0" rtlCol="0" anchor="ctr"/>
          <a:lstStyle/>
          <a:p>
            <a:pPr indent="0" marL="0">
              <a:buNone/>
            </a:pPr>
            <a:r>
              <a:rPr lang="en-US" sz="1050" dirty="0">
                <a:solidFill>
                  <a:srgbClr val="16212E"/>
                </a:solidFill>
                <a:latin typeface="Calibri" pitchFamily="34" charset="0"/>
                <a:ea typeface="Calibri" pitchFamily="34" charset="-122"/>
                <a:cs typeface="Calibri" pitchFamily="34" charset="-120"/>
              </a:rPr>
              <a:t>translation defect</a:t>
            </a:r>
            <a:endParaRPr lang="en-US" sz="1050" dirty="0"/>
          </a:p>
        </p:txBody>
      </p:sp>
      <p:sp>
        <p:nvSpPr>
          <p:cNvPr id="16" name="Shape 14"/>
          <p:cNvSpPr/>
          <p:nvPr/>
        </p:nvSpPr>
        <p:spPr>
          <a:xfrm>
            <a:off x="804672" y="4517136"/>
            <a:ext cx="3090672" cy="384048"/>
          </a:xfrm>
          <a:prstGeom prst="roundRect">
            <a:avLst>
              <a:gd name="adj" fmla="val 14286"/>
            </a:avLst>
          </a:prstGeom>
          <a:solidFill>
            <a:srgbClr val="FFFFFF"/>
          </a:solidFill>
          <a:ln w="12700">
            <a:solidFill>
              <a:srgbClr val="FFFFFF"/>
            </a:solidFill>
            <a:prstDash val="solid"/>
          </a:ln>
        </p:spPr>
      </p:sp>
      <p:sp>
        <p:nvSpPr>
          <p:cNvPr id="17" name="Text 15"/>
          <p:cNvSpPr/>
          <p:nvPr/>
        </p:nvSpPr>
        <p:spPr>
          <a:xfrm>
            <a:off x="914400" y="4517136"/>
            <a:ext cx="1371600" cy="384048"/>
          </a:xfrm>
          <a:prstGeom prst="rect">
            <a:avLst/>
          </a:prstGeom>
          <a:noFill/>
          <a:ln/>
        </p:spPr>
        <p:txBody>
          <a:bodyPr wrap="square" lIns="0" tIns="0" rIns="0" bIns="0" rtlCol="0" anchor="ctr"/>
          <a:lstStyle/>
          <a:p>
            <a:pPr indent="0" marL="0">
              <a:buNone/>
            </a:pPr>
            <a:r>
              <a:rPr lang="en-US" sz="1000" b="1" dirty="0">
                <a:solidFill>
                  <a:srgbClr val="B07A16"/>
                </a:solidFill>
                <a:latin typeface="Consolas" pitchFamily="34" charset="0"/>
                <a:ea typeface="Consolas" pitchFamily="34" charset="-122"/>
                <a:cs typeface="Consolas" pitchFamily="34" charset="-120"/>
              </a:rPr>
              <a:t>L = R ≠ Reg</a:t>
            </a:r>
            <a:endParaRPr lang="en-US" sz="1000" dirty="0"/>
          </a:p>
        </p:txBody>
      </p:sp>
      <p:sp>
        <p:nvSpPr>
          <p:cNvPr id="18" name="Text 16"/>
          <p:cNvSpPr/>
          <p:nvPr/>
        </p:nvSpPr>
        <p:spPr>
          <a:xfrm>
            <a:off x="2304288" y="4517136"/>
            <a:ext cx="1700784" cy="384048"/>
          </a:xfrm>
          <a:prstGeom prst="rect">
            <a:avLst/>
          </a:prstGeom>
          <a:noFill/>
          <a:ln/>
        </p:spPr>
        <p:txBody>
          <a:bodyPr wrap="square" lIns="0" tIns="0" rIns="0" bIns="0" rtlCol="0" anchor="ctr"/>
          <a:lstStyle/>
          <a:p>
            <a:pPr indent="0" marL="0">
              <a:buNone/>
            </a:pPr>
            <a:r>
              <a:rPr lang="en-US" sz="1050" b="1" dirty="0">
                <a:solidFill>
                  <a:srgbClr val="B07A16"/>
                </a:solidFill>
                <a:latin typeface="Calibri" pitchFamily="34" charset="0"/>
                <a:ea typeface="Calibri" pitchFamily="34" charset="-122"/>
                <a:cs typeface="Calibri" pitchFamily="34" charset="-120"/>
              </a:rPr>
              <a:t>inherited breach</a:t>
            </a:r>
            <a:endParaRPr lang="en-US" sz="1050" dirty="0"/>
          </a:p>
        </p:txBody>
      </p:sp>
      <p:sp>
        <p:nvSpPr>
          <p:cNvPr id="19" name="Shape 17"/>
          <p:cNvSpPr/>
          <p:nvPr/>
        </p:nvSpPr>
        <p:spPr>
          <a:xfrm>
            <a:off x="804672" y="4974336"/>
            <a:ext cx="3090672" cy="384048"/>
          </a:xfrm>
          <a:prstGeom prst="roundRect">
            <a:avLst>
              <a:gd name="adj" fmla="val 14286"/>
            </a:avLst>
          </a:prstGeom>
          <a:solidFill>
            <a:srgbClr val="FFFFFF"/>
          </a:solidFill>
          <a:ln w="12700">
            <a:solidFill>
              <a:srgbClr val="FFFFFF"/>
            </a:solidFill>
            <a:prstDash val="solid"/>
          </a:ln>
        </p:spPr>
      </p:sp>
      <p:sp>
        <p:nvSpPr>
          <p:cNvPr id="20" name="Text 18"/>
          <p:cNvSpPr/>
          <p:nvPr/>
        </p:nvSpPr>
        <p:spPr>
          <a:xfrm>
            <a:off x="914400" y="4974336"/>
            <a:ext cx="1371600" cy="384048"/>
          </a:xfrm>
          <a:prstGeom prst="rect">
            <a:avLst/>
          </a:prstGeom>
          <a:noFill/>
          <a:ln/>
        </p:spPr>
        <p:txBody>
          <a:bodyPr wrap="square" lIns="0" tIns="0" rIns="0" bIns="0" rtlCol="0" anchor="ctr"/>
          <a:lstStyle/>
          <a:p>
            <a:pPr indent="0" marL="0">
              <a:buNone/>
            </a:pPr>
            <a:r>
              <a:rPr lang="en-US" sz="1000" b="1" dirty="0">
                <a:solidFill>
                  <a:srgbClr val="6B7785"/>
                </a:solidFill>
                <a:latin typeface="Consolas" pitchFamily="34" charset="0"/>
                <a:ea typeface="Consolas" pitchFamily="34" charset="-122"/>
                <a:cs typeface="Consolas" pitchFamily="34" charset="-120"/>
              </a:rPr>
              <a:t>L ≠ R = Reg</a:t>
            </a:r>
            <a:endParaRPr lang="en-US" sz="1000" dirty="0"/>
          </a:p>
        </p:txBody>
      </p:sp>
      <p:sp>
        <p:nvSpPr>
          <p:cNvPr id="21" name="Text 19"/>
          <p:cNvSpPr/>
          <p:nvPr/>
        </p:nvSpPr>
        <p:spPr>
          <a:xfrm>
            <a:off x="2304288" y="4974336"/>
            <a:ext cx="1700784" cy="384048"/>
          </a:xfrm>
          <a:prstGeom prst="rect">
            <a:avLst/>
          </a:prstGeom>
          <a:noFill/>
          <a:ln/>
        </p:spPr>
        <p:txBody>
          <a:bodyPr wrap="square" lIns="0" tIns="0" rIns="0" bIns="0" rtlCol="0" anchor="ctr"/>
          <a:lstStyle/>
          <a:p>
            <a:pPr indent="0" marL="0">
              <a:buNone/>
            </a:pPr>
            <a:r>
              <a:rPr lang="en-US" sz="1050" dirty="0">
                <a:solidFill>
                  <a:srgbClr val="16212E"/>
                </a:solidFill>
                <a:latin typeface="Calibri" pitchFamily="34" charset="0"/>
                <a:ea typeface="Calibri" pitchFamily="34" charset="-122"/>
                <a:cs typeface="Calibri" pitchFamily="34" charset="-120"/>
              </a:rPr>
              <a:t>silent correction</a:t>
            </a:r>
            <a:endParaRPr lang="en-US" sz="1050" dirty="0"/>
          </a:p>
        </p:txBody>
      </p:sp>
      <p:sp>
        <p:nvSpPr>
          <p:cNvPr id="22" name="Text 20"/>
          <p:cNvSpPr/>
          <p:nvPr/>
        </p:nvSpPr>
        <p:spPr>
          <a:xfrm>
            <a:off x="804672" y="5468112"/>
            <a:ext cx="3090672" cy="256032"/>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Only the third row needs a regulator. No other tool can see it.</a:t>
            </a:r>
            <a:endParaRPr lang="en-US" sz="950" dirty="0"/>
          </a:p>
        </p:txBody>
      </p:sp>
      <p:sp>
        <p:nvSpPr>
          <p:cNvPr id="23" name="Shape 21"/>
          <p:cNvSpPr/>
          <p:nvPr/>
        </p:nvSpPr>
        <p:spPr>
          <a:xfrm>
            <a:off x="4315968" y="1938528"/>
            <a:ext cx="3566160" cy="3840480"/>
          </a:xfrm>
          <a:prstGeom prst="roundRect">
            <a:avLst>
              <a:gd name="adj" fmla="val 1538"/>
            </a:avLst>
          </a:prstGeom>
          <a:solidFill>
            <a:srgbClr val="EDF1F5"/>
          </a:solidFill>
          <a:ln w="12700">
            <a:solidFill>
              <a:srgbClr val="EDF1F5"/>
            </a:solidFill>
            <a:prstDash val="solid"/>
          </a:ln>
        </p:spPr>
      </p:sp>
      <p:sp>
        <p:nvSpPr>
          <p:cNvPr id="24" name="Shape 22"/>
          <p:cNvSpPr/>
          <p:nvPr/>
        </p:nvSpPr>
        <p:spPr>
          <a:xfrm>
            <a:off x="4553712" y="2121408"/>
            <a:ext cx="420624" cy="420624"/>
          </a:xfrm>
          <a:prstGeom prst="ellipse">
            <a:avLst/>
          </a:prstGeom>
          <a:solidFill>
            <a:srgbClr val="6B7785"/>
          </a:solidFill>
          <a:ln w="12700">
            <a:solidFill>
              <a:srgbClr val="6B7785"/>
            </a:solidFill>
            <a:prstDash val="solid"/>
          </a:ln>
        </p:spPr>
      </p:sp>
      <p:sp>
        <p:nvSpPr>
          <p:cNvPr id="25" name="Text 23"/>
          <p:cNvSpPr/>
          <p:nvPr/>
        </p:nvSpPr>
        <p:spPr>
          <a:xfrm>
            <a:off x="4553712" y="21214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26" name="Text 24"/>
          <p:cNvSpPr/>
          <p:nvPr/>
        </p:nvSpPr>
        <p:spPr>
          <a:xfrm>
            <a:off x="5102352" y="2103120"/>
            <a:ext cx="2560320" cy="512064"/>
          </a:xfrm>
          <a:prstGeom prst="rect">
            <a:avLst/>
          </a:prstGeom>
          <a:noFill/>
          <a:ln/>
        </p:spPr>
        <p:txBody>
          <a:bodyPr wrap="square" lIns="0" tIns="0" rIns="0" bIns="0" rtlCol="0" anchor="ctr"/>
          <a:lstStyle/>
          <a:p>
            <a:pPr indent="0" marL="0">
              <a:lnSpc>
                <a:spcPts val="1900"/>
              </a:lnSpc>
              <a:buNone/>
            </a:pPr>
            <a:r>
              <a:rPr lang="en-US" sz="1550" b="1" dirty="0">
                <a:solidFill>
                  <a:srgbClr val="0E2033"/>
                </a:solidFill>
                <a:latin typeface="Cambria" pitchFamily="34" charset="0"/>
                <a:ea typeface="Cambria" pitchFamily="34" charset="-122"/>
                <a:cs typeface="Cambria" pitchFamily="34" charset="-120"/>
              </a:rPr>
              <a:t>A result for every rule,</a:t>
            </a:r>
            <a:endParaRPr lang="en-US" sz="1550" dirty="0"/>
          </a:p>
          <a:p>
            <a:pPr indent="0" marL="0">
              <a:lnSpc>
                <a:spcPts val="1900"/>
              </a:lnSpc>
              <a:buNone/>
            </a:pPr>
            <a:r>
              <a:rPr lang="en-US" sz="1550" b="1" dirty="0">
                <a:solidFill>
                  <a:srgbClr val="0E2033"/>
                </a:solidFill>
                <a:latin typeface="Cambria" pitchFamily="34" charset="0"/>
                <a:ea typeface="Cambria" pitchFamily="34" charset="-122"/>
                <a:cs typeface="Cambria" pitchFamily="34" charset="-120"/>
              </a:rPr>
              <a:t>not every test case</a:t>
            </a:r>
            <a:endParaRPr lang="en-US" sz="1550" dirty="0"/>
          </a:p>
        </p:txBody>
      </p:sp>
      <p:sp>
        <p:nvSpPr>
          <p:cNvPr id="27" name="Text 25"/>
          <p:cNvSpPr/>
          <p:nvPr/>
        </p:nvSpPr>
        <p:spPr>
          <a:xfrm>
            <a:off x="4553712" y="2743200"/>
            <a:ext cx="3090672" cy="64008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Executing a line is not testing the rule it encodes. A rule counts as confirmed only when all three checks hold.</a:t>
            </a:r>
            <a:endParaRPr lang="en-US" sz="1050" dirty="0"/>
          </a:p>
        </p:txBody>
      </p:sp>
      <p:sp>
        <p:nvSpPr>
          <p:cNvPr id="28" name="Shape 26"/>
          <p:cNvSpPr/>
          <p:nvPr/>
        </p:nvSpPr>
        <p:spPr>
          <a:xfrm>
            <a:off x="4553712" y="3456432"/>
            <a:ext cx="3090672" cy="475488"/>
          </a:xfrm>
          <a:prstGeom prst="roundRect">
            <a:avLst>
              <a:gd name="adj" fmla="val 11538"/>
            </a:avLst>
          </a:prstGeom>
          <a:solidFill>
            <a:srgbClr val="FFFFFF"/>
          </a:solidFill>
          <a:ln w="12700">
            <a:solidFill>
              <a:srgbClr val="FFFFFF"/>
            </a:solidFill>
            <a:prstDash val="solid"/>
          </a:ln>
        </p:spPr>
      </p:sp>
      <p:sp>
        <p:nvSpPr>
          <p:cNvPr id="29" name="Shape 27"/>
          <p:cNvSpPr/>
          <p:nvPr/>
        </p:nvSpPr>
        <p:spPr>
          <a:xfrm>
            <a:off x="4681728" y="3557016"/>
            <a:ext cx="274320" cy="274320"/>
          </a:xfrm>
          <a:prstGeom prst="ellipse">
            <a:avLst/>
          </a:prstGeom>
          <a:solidFill>
            <a:srgbClr val="6B7785"/>
          </a:solidFill>
          <a:ln w="12700">
            <a:solidFill>
              <a:srgbClr val="6B7785"/>
            </a:solidFill>
            <a:prstDash val="solid"/>
          </a:ln>
        </p:spPr>
      </p:sp>
      <p:sp>
        <p:nvSpPr>
          <p:cNvPr id="30" name="Text 28"/>
          <p:cNvSpPr/>
          <p:nvPr/>
        </p:nvSpPr>
        <p:spPr>
          <a:xfrm>
            <a:off x="4681728" y="355701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9"/>
          <p:cNvSpPr/>
          <p:nvPr/>
        </p:nvSpPr>
        <p:spPr>
          <a:xfrm>
            <a:off x="5047488" y="3483864"/>
            <a:ext cx="2651760" cy="219456"/>
          </a:xfrm>
          <a:prstGeom prst="rect">
            <a:avLst/>
          </a:prstGeom>
          <a:noFill/>
          <a:ln/>
        </p:spPr>
        <p:txBody>
          <a:bodyPr wrap="square" lIns="0" tIns="0" rIns="0" bIns="0" rtlCol="0" anchor="ctr"/>
          <a:lstStyle/>
          <a:p>
            <a:pPr indent="0" marL="0">
              <a:buNone/>
            </a:pPr>
            <a:r>
              <a:rPr lang="en-US" sz="1100" b="1" dirty="0">
                <a:solidFill>
                  <a:srgbClr val="0E2033"/>
                </a:solidFill>
                <a:latin typeface="Calibri" pitchFamily="34" charset="0"/>
                <a:ea typeface="Calibri" pitchFamily="34" charset="-122"/>
                <a:cs typeface="Calibri" pitchFamily="34" charset="-120"/>
              </a:rPr>
              <a:t>Reached</a:t>
            </a:r>
            <a:endParaRPr lang="en-US" sz="1100" dirty="0"/>
          </a:p>
        </p:txBody>
      </p:sp>
      <p:sp>
        <p:nvSpPr>
          <p:cNvPr id="32" name="Text 30"/>
          <p:cNvSpPr/>
          <p:nvPr/>
        </p:nvSpPr>
        <p:spPr>
          <a:xfrm>
            <a:off x="5047488" y="3694176"/>
            <a:ext cx="2651760" cy="201168"/>
          </a:xfrm>
          <a:prstGeom prst="rect">
            <a:avLst/>
          </a:prstGeom>
          <a:noFill/>
          <a:ln/>
        </p:spPr>
        <p:txBody>
          <a:bodyPr wrap="square" lIns="0" tIns="0" rIns="0" bIns="0" rtlCol="0" anchor="ctr"/>
          <a:lstStyle/>
          <a:p>
            <a:pPr indent="0" marL="0">
              <a:buNone/>
            </a:pPr>
            <a:r>
              <a:rPr lang="en-US" sz="950" dirty="0">
                <a:solidFill>
                  <a:srgbClr val="6B7785"/>
                </a:solidFill>
                <a:latin typeface="Calibri" pitchFamily="34" charset="0"/>
                <a:ea typeface="Calibri" pitchFamily="34" charset="-122"/>
                <a:cs typeface="Calibri" pitchFamily="34" charset="-120"/>
              </a:rPr>
              <a:t>the rule's lines ran</a:t>
            </a:r>
            <a:endParaRPr lang="en-US" sz="950" dirty="0"/>
          </a:p>
        </p:txBody>
      </p:sp>
      <p:sp>
        <p:nvSpPr>
          <p:cNvPr id="33" name="Shape 31"/>
          <p:cNvSpPr/>
          <p:nvPr/>
        </p:nvSpPr>
        <p:spPr>
          <a:xfrm>
            <a:off x="4553712" y="4005072"/>
            <a:ext cx="3090672" cy="475488"/>
          </a:xfrm>
          <a:prstGeom prst="roundRect">
            <a:avLst>
              <a:gd name="adj" fmla="val 11538"/>
            </a:avLst>
          </a:prstGeom>
          <a:solidFill>
            <a:srgbClr val="FFFFFF"/>
          </a:solidFill>
          <a:ln w="12700">
            <a:solidFill>
              <a:srgbClr val="FFFFFF"/>
            </a:solidFill>
            <a:prstDash val="solid"/>
          </a:ln>
        </p:spPr>
      </p:sp>
      <p:sp>
        <p:nvSpPr>
          <p:cNvPr id="34" name="Shape 32"/>
          <p:cNvSpPr/>
          <p:nvPr/>
        </p:nvSpPr>
        <p:spPr>
          <a:xfrm>
            <a:off x="4681728" y="4105656"/>
            <a:ext cx="274320" cy="274320"/>
          </a:xfrm>
          <a:prstGeom prst="ellipse">
            <a:avLst/>
          </a:prstGeom>
          <a:solidFill>
            <a:srgbClr val="B07A16"/>
          </a:solidFill>
          <a:ln w="12700">
            <a:solidFill>
              <a:srgbClr val="B07A16"/>
            </a:solidFill>
            <a:prstDash val="solid"/>
          </a:ln>
        </p:spPr>
      </p:sp>
      <p:sp>
        <p:nvSpPr>
          <p:cNvPr id="35" name="Text 33"/>
          <p:cNvSpPr/>
          <p:nvPr/>
        </p:nvSpPr>
        <p:spPr>
          <a:xfrm>
            <a:off x="4681728" y="41056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4"/>
          <p:cNvSpPr/>
          <p:nvPr/>
        </p:nvSpPr>
        <p:spPr>
          <a:xfrm>
            <a:off x="5047488" y="4032504"/>
            <a:ext cx="2651760" cy="219456"/>
          </a:xfrm>
          <a:prstGeom prst="rect">
            <a:avLst/>
          </a:prstGeom>
          <a:noFill/>
          <a:ln/>
        </p:spPr>
        <p:txBody>
          <a:bodyPr wrap="square" lIns="0" tIns="0" rIns="0" bIns="0" rtlCol="0" anchor="ctr"/>
          <a:lstStyle/>
          <a:p>
            <a:pPr indent="0" marL="0">
              <a:buNone/>
            </a:pPr>
            <a:r>
              <a:rPr lang="en-US" sz="1100" b="1" dirty="0">
                <a:solidFill>
                  <a:srgbClr val="B07A16"/>
                </a:solidFill>
                <a:latin typeface="Calibri" pitchFamily="34" charset="0"/>
                <a:ea typeface="Calibri" pitchFamily="34" charset="-122"/>
                <a:cs typeface="Calibri" pitchFamily="34" charset="-120"/>
              </a:rPr>
              <a:t>Discriminating</a:t>
            </a:r>
            <a:endParaRPr lang="en-US" sz="1100" dirty="0"/>
          </a:p>
        </p:txBody>
      </p:sp>
      <p:sp>
        <p:nvSpPr>
          <p:cNvPr id="37" name="Text 35"/>
          <p:cNvSpPr/>
          <p:nvPr/>
        </p:nvSpPr>
        <p:spPr>
          <a:xfrm>
            <a:off x="5047488" y="4242816"/>
            <a:ext cx="2651760" cy="201168"/>
          </a:xfrm>
          <a:prstGeom prst="rect">
            <a:avLst/>
          </a:prstGeom>
          <a:noFill/>
          <a:ln/>
        </p:spPr>
        <p:txBody>
          <a:bodyPr wrap="square" lIns="0" tIns="0" rIns="0" bIns="0" rtlCol="0" anchor="ctr"/>
          <a:lstStyle/>
          <a:p>
            <a:pPr indent="0" marL="0">
              <a:buNone/>
            </a:pPr>
            <a:r>
              <a:rPr lang="en-US" sz="950" dirty="0">
                <a:solidFill>
                  <a:srgbClr val="6B7785"/>
                </a:solidFill>
                <a:latin typeface="Calibri" pitchFamily="34" charset="0"/>
                <a:ea typeface="Calibri" pitchFamily="34" charset="-122"/>
                <a:cs typeface="Calibri" pitchFamily="34" charset="-120"/>
              </a:rPr>
              <a:t>the boundary changed the output</a:t>
            </a:r>
            <a:endParaRPr lang="en-US" sz="950" dirty="0"/>
          </a:p>
        </p:txBody>
      </p:sp>
      <p:sp>
        <p:nvSpPr>
          <p:cNvPr id="38" name="Shape 36"/>
          <p:cNvSpPr/>
          <p:nvPr/>
        </p:nvSpPr>
        <p:spPr>
          <a:xfrm>
            <a:off x="4553712" y="4553712"/>
            <a:ext cx="3090672" cy="475488"/>
          </a:xfrm>
          <a:prstGeom prst="roundRect">
            <a:avLst>
              <a:gd name="adj" fmla="val 11538"/>
            </a:avLst>
          </a:prstGeom>
          <a:solidFill>
            <a:srgbClr val="FFFFFF"/>
          </a:solidFill>
          <a:ln w="12700">
            <a:solidFill>
              <a:srgbClr val="FFFFFF"/>
            </a:solidFill>
            <a:prstDash val="solid"/>
          </a:ln>
        </p:spPr>
      </p:sp>
      <p:sp>
        <p:nvSpPr>
          <p:cNvPr id="39" name="Shape 37"/>
          <p:cNvSpPr/>
          <p:nvPr/>
        </p:nvSpPr>
        <p:spPr>
          <a:xfrm>
            <a:off x="4681728" y="4654296"/>
            <a:ext cx="274320" cy="274320"/>
          </a:xfrm>
          <a:prstGeom prst="ellipse">
            <a:avLst/>
          </a:prstGeom>
          <a:solidFill>
            <a:srgbClr val="6B7785"/>
          </a:solidFill>
          <a:ln w="12700">
            <a:solidFill>
              <a:srgbClr val="6B7785"/>
            </a:solidFill>
            <a:prstDash val="solid"/>
          </a:ln>
        </p:spPr>
      </p:sp>
      <p:sp>
        <p:nvSpPr>
          <p:cNvPr id="40" name="Text 38"/>
          <p:cNvSpPr/>
          <p:nvPr/>
        </p:nvSpPr>
        <p:spPr>
          <a:xfrm>
            <a:off x="4681728" y="46542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1" name="Text 39"/>
          <p:cNvSpPr/>
          <p:nvPr/>
        </p:nvSpPr>
        <p:spPr>
          <a:xfrm>
            <a:off x="5047488" y="4581144"/>
            <a:ext cx="2651760" cy="219456"/>
          </a:xfrm>
          <a:prstGeom prst="rect">
            <a:avLst/>
          </a:prstGeom>
          <a:noFill/>
          <a:ln/>
        </p:spPr>
        <p:txBody>
          <a:bodyPr wrap="square" lIns="0" tIns="0" rIns="0" bIns="0" rtlCol="0" anchor="ctr"/>
          <a:lstStyle/>
          <a:p>
            <a:pPr indent="0" marL="0">
              <a:buNone/>
            </a:pPr>
            <a:r>
              <a:rPr lang="en-US" sz="1100" b="1" dirty="0">
                <a:solidFill>
                  <a:srgbClr val="0E2033"/>
                </a:solidFill>
                <a:latin typeface="Calibri" pitchFamily="34" charset="0"/>
                <a:ea typeface="Calibri" pitchFamily="34" charset="-122"/>
                <a:cs typeface="Calibri" pitchFamily="34" charset="-120"/>
              </a:rPr>
              <a:t>Agreed</a:t>
            </a:r>
            <a:endParaRPr lang="en-US" sz="1100" dirty="0"/>
          </a:p>
        </p:txBody>
      </p:sp>
      <p:sp>
        <p:nvSpPr>
          <p:cNvPr id="42" name="Text 40"/>
          <p:cNvSpPr/>
          <p:nvPr/>
        </p:nvSpPr>
        <p:spPr>
          <a:xfrm>
            <a:off x="5047488" y="4791456"/>
            <a:ext cx="2651760" cy="201168"/>
          </a:xfrm>
          <a:prstGeom prst="rect">
            <a:avLst/>
          </a:prstGeom>
          <a:noFill/>
          <a:ln/>
        </p:spPr>
        <p:txBody>
          <a:bodyPr wrap="square" lIns="0" tIns="0" rIns="0" bIns="0" rtlCol="0" anchor="ctr"/>
          <a:lstStyle/>
          <a:p>
            <a:pPr indent="0" marL="0">
              <a:buNone/>
            </a:pPr>
            <a:r>
              <a:rPr lang="en-US" sz="950" dirty="0">
                <a:solidFill>
                  <a:srgbClr val="6B7785"/>
                </a:solidFill>
                <a:latin typeface="Calibri" pitchFamily="34" charset="0"/>
                <a:ea typeface="Calibri" pitchFamily="34" charset="-122"/>
                <a:cs typeface="Calibri" pitchFamily="34" charset="-120"/>
              </a:rPr>
              <a:t>the rewrite matched every time</a:t>
            </a:r>
            <a:endParaRPr lang="en-US" sz="950" dirty="0"/>
          </a:p>
        </p:txBody>
      </p:sp>
      <p:sp>
        <p:nvSpPr>
          <p:cNvPr id="43" name="Text 41"/>
          <p:cNvSpPr/>
          <p:nvPr/>
        </p:nvSpPr>
        <p:spPr>
          <a:xfrm>
            <a:off x="4553712" y="5175504"/>
            <a:ext cx="3090672" cy="402336"/>
          </a:xfrm>
          <a:prstGeom prst="rect">
            <a:avLst/>
          </a:prstGeom>
          <a:noFill/>
          <a:ln/>
        </p:spPr>
        <p:txBody>
          <a:bodyPr wrap="square" lIns="0" tIns="0" rIns="0" bIns="0" rtlCol="0" anchor="ctr"/>
          <a:lstStyle/>
          <a:p>
            <a:pPr indent="0" marL="0">
              <a:lnSpc>
                <a:spcPts val="1300"/>
              </a:lnSpc>
              <a:buNone/>
            </a:pPr>
            <a:r>
              <a:rPr lang="en-US" sz="950" i="1" dirty="0">
                <a:solidFill>
                  <a:srgbClr val="6B7785"/>
                </a:solidFill>
                <a:latin typeface="Calibri" pitchFamily="34" charset="0"/>
                <a:ea typeface="Calibri" pitchFamily="34" charset="-122"/>
                <a:cs typeface="Calibri" pitchFamily="34" charset="-120"/>
              </a:rPr>
              <a:t>Check 2 is the one that catches our own extraction inventing a rule that is not in the program.</a:t>
            </a:r>
            <a:endParaRPr lang="en-US" sz="950" dirty="0"/>
          </a:p>
        </p:txBody>
      </p:sp>
      <p:sp>
        <p:nvSpPr>
          <p:cNvPr id="44" name="Shape 42"/>
          <p:cNvSpPr/>
          <p:nvPr/>
        </p:nvSpPr>
        <p:spPr>
          <a:xfrm>
            <a:off x="8065008" y="1938528"/>
            <a:ext cx="3566160" cy="3840480"/>
          </a:xfrm>
          <a:prstGeom prst="roundRect">
            <a:avLst>
              <a:gd name="adj" fmla="val 1538"/>
            </a:avLst>
          </a:prstGeom>
          <a:solidFill>
            <a:srgbClr val="EDF1F5"/>
          </a:solidFill>
          <a:ln w="12700">
            <a:solidFill>
              <a:srgbClr val="EDF1F5"/>
            </a:solidFill>
            <a:prstDash val="solid"/>
          </a:ln>
        </p:spPr>
      </p:sp>
      <p:sp>
        <p:nvSpPr>
          <p:cNvPr id="45" name="Shape 43"/>
          <p:cNvSpPr/>
          <p:nvPr/>
        </p:nvSpPr>
        <p:spPr>
          <a:xfrm>
            <a:off x="8302752" y="2121408"/>
            <a:ext cx="420624" cy="420624"/>
          </a:xfrm>
          <a:prstGeom prst="ellipse">
            <a:avLst/>
          </a:prstGeom>
          <a:solidFill>
            <a:srgbClr val="6B7785"/>
          </a:solidFill>
          <a:ln w="12700">
            <a:solidFill>
              <a:srgbClr val="6B7785"/>
            </a:solidFill>
            <a:prstDash val="solid"/>
          </a:ln>
        </p:spPr>
      </p:sp>
      <p:sp>
        <p:nvSpPr>
          <p:cNvPr id="46" name="Text 44"/>
          <p:cNvSpPr/>
          <p:nvPr/>
        </p:nvSpPr>
        <p:spPr>
          <a:xfrm>
            <a:off x="8302752" y="21214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47" name="Text 45"/>
          <p:cNvSpPr/>
          <p:nvPr/>
        </p:nvSpPr>
        <p:spPr>
          <a:xfrm>
            <a:off x="8851392" y="2176272"/>
            <a:ext cx="2560320" cy="365760"/>
          </a:xfrm>
          <a:prstGeom prst="rect">
            <a:avLst/>
          </a:prstGeom>
          <a:noFill/>
          <a:ln/>
        </p:spPr>
        <p:txBody>
          <a:bodyPr wrap="square" lIns="0" tIns="0" rIns="0" bIns="0" rtlCol="0" anchor="ctr"/>
          <a:lstStyle/>
          <a:p>
            <a:pPr indent="0" marL="0">
              <a:buNone/>
            </a:pPr>
            <a:r>
              <a:rPr lang="en-US" sz="1550" b="1" dirty="0">
                <a:solidFill>
                  <a:srgbClr val="0E2033"/>
                </a:solidFill>
                <a:latin typeface="Cambria" pitchFamily="34" charset="0"/>
                <a:ea typeface="Cambria" pitchFamily="34" charset="-122"/>
                <a:cs typeface="Cambria" pitchFamily="34" charset="-120"/>
              </a:rPr>
              <a:t>We test our own tests</a:t>
            </a:r>
            <a:endParaRPr lang="en-US" sz="1550" dirty="0"/>
          </a:p>
        </p:txBody>
      </p:sp>
      <p:sp>
        <p:nvSpPr>
          <p:cNvPr id="48" name="Text 46"/>
          <p:cNvSpPr/>
          <p:nvPr/>
        </p:nvSpPr>
        <p:spPr>
          <a:xfrm>
            <a:off x="8302752" y="2743200"/>
            <a:ext cx="3090672" cy="640080"/>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"Everything passed" proves nothing unless the inputs could have caught a failure. So we break the legacy on purpose.</a:t>
            </a:r>
            <a:endParaRPr lang="en-US" sz="1050" dirty="0"/>
          </a:p>
        </p:txBody>
      </p:sp>
      <p:sp>
        <p:nvSpPr>
          <p:cNvPr id="49" name="Shape 47"/>
          <p:cNvSpPr/>
          <p:nvPr/>
        </p:nvSpPr>
        <p:spPr>
          <a:xfrm>
            <a:off x="8302752" y="3456432"/>
            <a:ext cx="3090672" cy="676656"/>
          </a:xfrm>
          <a:prstGeom prst="roundRect">
            <a:avLst>
              <a:gd name="adj" fmla="val 8108"/>
            </a:avLst>
          </a:prstGeom>
          <a:solidFill>
            <a:srgbClr val="FFFFFF"/>
          </a:solidFill>
          <a:ln w="12700">
            <a:solidFill>
              <a:srgbClr val="FFFFFF"/>
            </a:solidFill>
            <a:prstDash val="solid"/>
          </a:ln>
        </p:spPr>
      </p:sp>
      <p:sp>
        <p:nvSpPr>
          <p:cNvPr id="50" name="Text 48"/>
          <p:cNvSpPr/>
          <p:nvPr/>
        </p:nvSpPr>
        <p:spPr>
          <a:xfrm>
            <a:off x="8302752" y="3511296"/>
            <a:ext cx="3090672" cy="219456"/>
          </a:xfrm>
          <a:prstGeom prst="rect">
            <a:avLst/>
          </a:prstGeom>
          <a:noFill/>
          <a:ln/>
        </p:spPr>
        <p:txBody>
          <a:bodyPr wrap="square" lIns="0" tIns="0" rIns="0" bIns="0" rtlCol="0" anchor="ctr"/>
          <a:lstStyle/>
          <a:p>
            <a:pPr algn="ctr" indent="0" marL="0">
              <a:buNone/>
            </a:pPr>
            <a:r>
              <a:rPr lang="en-US" sz="1050" b="1" dirty="0">
                <a:solidFill>
                  <a:srgbClr val="B07A16"/>
                </a:solidFill>
                <a:latin typeface="Calibri" pitchFamily="34" charset="0"/>
                <a:ea typeface="Calibri" pitchFamily="34" charset="-122"/>
                <a:cs typeface="Calibri" pitchFamily="34" charset="-120"/>
              </a:rPr>
              <a:t>Inject a deliberate defect</a:t>
            </a:r>
            <a:endParaRPr lang="en-US" sz="1050" dirty="0"/>
          </a:p>
        </p:txBody>
      </p:sp>
      <p:sp>
        <p:nvSpPr>
          <p:cNvPr id="51" name="Text 49"/>
          <p:cNvSpPr/>
          <p:nvPr/>
        </p:nvSpPr>
        <p:spPr>
          <a:xfrm>
            <a:off x="8339328" y="3730752"/>
            <a:ext cx="3017520" cy="365760"/>
          </a:xfrm>
          <a:prstGeom prst="rect">
            <a:avLst/>
          </a:prstGeom>
          <a:noFill/>
          <a:ln/>
        </p:spPr>
        <p:txBody>
          <a:bodyPr wrap="square" lIns="0" tIns="0" rIns="0" bIns="0" rtlCol="0" anchor="ctr"/>
          <a:lstStyle/>
          <a:p>
            <a:pPr algn="ctr" indent="0" marL="0">
              <a:lnSpc>
                <a:spcPts val="1200"/>
              </a:lnSpc>
              <a:buNone/>
            </a:pPr>
            <a:r>
              <a:rPr lang="en-US" sz="850" dirty="0">
                <a:solidFill>
                  <a:srgbClr val="16212E"/>
                </a:solidFill>
                <a:latin typeface="Consolas" pitchFamily="34" charset="0"/>
                <a:ea typeface="Consolas" pitchFamily="34" charset="-122"/>
                <a:cs typeface="Consolas" pitchFamily="34" charset="-120"/>
              </a:rPr>
              <a:t>100000 → 100001  ·  &gt; → &gt;=</a:t>
            </a:r>
            <a:endParaRPr lang="en-US" sz="850" dirty="0"/>
          </a:p>
          <a:p>
            <a:pPr algn="ctr" indent="0" marL="0">
              <a:lnSpc>
                <a:spcPts val="1200"/>
              </a:lnSpc>
              <a:buNone/>
            </a:pPr>
            <a:r>
              <a:rPr lang="en-US" sz="850" dirty="0">
                <a:solidFill>
                  <a:srgbClr val="16212E"/>
                </a:solidFill>
                <a:latin typeface="Consolas" pitchFamily="34" charset="0"/>
                <a:ea typeface="Consolas" pitchFamily="34" charset="-122"/>
                <a:cs typeface="Consolas" pitchFamily="34" charset="-120"/>
              </a:rPr>
              <a:t>delete ROUNDED  ·  360 → 365</a:t>
            </a:r>
            <a:endParaRPr lang="en-US" sz="850" dirty="0"/>
          </a:p>
        </p:txBody>
      </p:sp>
      <p:sp>
        <p:nvSpPr>
          <p:cNvPr id="52" name="Shape 50"/>
          <p:cNvSpPr/>
          <p:nvPr/>
        </p:nvSpPr>
        <p:spPr>
          <a:xfrm>
            <a:off x="9729216" y="4169664"/>
            <a:ext cx="237744" cy="182880"/>
          </a:xfrm>
          <a:prstGeom prst="downArrow">
            <a:avLst/>
          </a:prstGeom>
          <a:solidFill>
            <a:srgbClr val="D5DCE3"/>
          </a:solidFill>
          <a:ln w="12700">
            <a:solidFill>
              <a:srgbClr val="D5DCE3"/>
            </a:solidFill>
            <a:prstDash val="solid"/>
          </a:ln>
        </p:spPr>
      </p:sp>
      <p:sp>
        <p:nvSpPr>
          <p:cNvPr id="53" name="Shape 51"/>
          <p:cNvSpPr/>
          <p:nvPr/>
        </p:nvSpPr>
        <p:spPr>
          <a:xfrm>
            <a:off x="8302752" y="4425696"/>
            <a:ext cx="3090672" cy="402336"/>
          </a:xfrm>
          <a:prstGeom prst="roundRect">
            <a:avLst>
              <a:gd name="adj" fmla="val 13636"/>
            </a:avLst>
          </a:prstGeom>
          <a:solidFill>
            <a:srgbClr val="FFFFFF"/>
          </a:solidFill>
          <a:ln w="12700">
            <a:solidFill>
              <a:srgbClr val="FFFFFF"/>
            </a:solidFill>
            <a:prstDash val="solid"/>
          </a:ln>
        </p:spPr>
      </p:sp>
      <p:sp>
        <p:nvSpPr>
          <p:cNvPr id="54" name="Text 52"/>
          <p:cNvSpPr/>
          <p:nvPr/>
        </p:nvSpPr>
        <p:spPr>
          <a:xfrm>
            <a:off x="8302752" y="4425696"/>
            <a:ext cx="3090672" cy="402336"/>
          </a:xfrm>
          <a:prstGeom prst="rect">
            <a:avLst/>
          </a:prstGeom>
          <a:noFill/>
          <a:ln/>
        </p:spPr>
        <p:txBody>
          <a:bodyPr wrap="square" lIns="0" tIns="0" rIns="0" bIns="0" rtlCol="0" anchor="ctr"/>
          <a:lstStyle/>
          <a:p>
            <a:pPr algn="ctr" indent="0" marL="0">
              <a:buNone/>
            </a:pPr>
            <a:r>
              <a:rPr lang="en-US" sz="1050" b="1" dirty="0">
                <a:solidFill>
                  <a:srgbClr val="0E2033"/>
                </a:solidFill>
                <a:latin typeface="Calibri" pitchFamily="34" charset="0"/>
                <a:ea typeface="Calibri" pitchFamily="34" charset="-122"/>
                <a:cs typeface="Calibri" pitchFamily="34" charset="-120"/>
              </a:rPr>
              <a:t>Re-run the same input corpus</a:t>
            </a:r>
            <a:endParaRPr lang="en-US" sz="1050" dirty="0"/>
          </a:p>
        </p:txBody>
      </p:sp>
      <p:sp>
        <p:nvSpPr>
          <p:cNvPr id="55" name="Shape 53"/>
          <p:cNvSpPr/>
          <p:nvPr/>
        </p:nvSpPr>
        <p:spPr>
          <a:xfrm>
            <a:off x="8302752" y="4974336"/>
            <a:ext cx="1508760" cy="548640"/>
          </a:xfrm>
          <a:prstGeom prst="roundRect">
            <a:avLst>
              <a:gd name="adj" fmla="val 10000"/>
            </a:avLst>
          </a:prstGeom>
          <a:solidFill>
            <a:srgbClr val="FFFFFF"/>
          </a:solidFill>
          <a:ln w="12700">
            <a:solidFill>
              <a:srgbClr val="FFFFFF"/>
            </a:solidFill>
            <a:prstDash val="solid"/>
          </a:ln>
        </p:spPr>
      </p:sp>
      <p:sp>
        <p:nvSpPr>
          <p:cNvPr id="56" name="Text 54"/>
          <p:cNvSpPr/>
          <p:nvPr/>
        </p:nvSpPr>
        <p:spPr>
          <a:xfrm>
            <a:off x="8302752" y="5029200"/>
            <a:ext cx="1508760" cy="219456"/>
          </a:xfrm>
          <a:prstGeom prst="rect">
            <a:avLst/>
          </a:prstGeom>
          <a:noFill/>
          <a:ln/>
        </p:spPr>
        <p:txBody>
          <a:bodyPr wrap="square" lIns="0" tIns="0" rIns="0" bIns="0" rtlCol="0" anchor="ctr"/>
          <a:lstStyle/>
          <a:p>
            <a:pPr algn="ctr" indent="0" marL="0">
              <a:buNone/>
            </a:pPr>
            <a:r>
              <a:rPr lang="en-US" sz="1050" b="1" dirty="0">
                <a:solidFill>
                  <a:srgbClr val="0E2033"/>
                </a:solidFill>
                <a:latin typeface="Calibri" pitchFamily="34" charset="0"/>
                <a:ea typeface="Calibri" pitchFamily="34" charset="-122"/>
                <a:cs typeface="Calibri" pitchFamily="34" charset="-120"/>
              </a:rPr>
              <a:t>Caught</a:t>
            </a:r>
            <a:endParaRPr lang="en-US" sz="1050" dirty="0"/>
          </a:p>
        </p:txBody>
      </p:sp>
      <p:sp>
        <p:nvSpPr>
          <p:cNvPr id="57" name="Text 55"/>
          <p:cNvSpPr/>
          <p:nvPr/>
        </p:nvSpPr>
        <p:spPr>
          <a:xfrm>
            <a:off x="8302752" y="5239512"/>
            <a:ext cx="1508760" cy="219456"/>
          </a:xfrm>
          <a:prstGeom prst="rect">
            <a:avLst/>
          </a:prstGeom>
          <a:noFill/>
          <a:ln/>
        </p:spPr>
        <p:txBody>
          <a:bodyPr wrap="square" lIns="0" tIns="0" rIns="0" bIns="0" rtlCol="0" anchor="ctr"/>
          <a:lstStyle/>
          <a:p>
            <a:pPr algn="ctr" indent="0" marL="0">
              <a:buNone/>
            </a:pPr>
            <a:r>
              <a:rPr lang="en-US" sz="900" dirty="0">
                <a:solidFill>
                  <a:srgbClr val="6B7785"/>
                </a:solidFill>
                <a:latin typeface="Calibri" pitchFamily="34" charset="0"/>
                <a:ea typeface="Calibri" pitchFamily="34" charset="-122"/>
                <a:cs typeface="Calibri" pitchFamily="34" charset="-120"/>
              </a:rPr>
              <a:t>the claim stands</a:t>
            </a:r>
            <a:endParaRPr lang="en-US" sz="900" dirty="0"/>
          </a:p>
        </p:txBody>
      </p:sp>
      <p:sp>
        <p:nvSpPr>
          <p:cNvPr id="58" name="Shape 56"/>
          <p:cNvSpPr/>
          <p:nvPr/>
        </p:nvSpPr>
        <p:spPr>
          <a:xfrm>
            <a:off x="9921240" y="4974336"/>
            <a:ext cx="1508760" cy="548640"/>
          </a:xfrm>
          <a:prstGeom prst="roundRect">
            <a:avLst>
              <a:gd name="adj" fmla="val 10000"/>
            </a:avLst>
          </a:prstGeom>
          <a:solidFill>
            <a:srgbClr val="FFFFFF"/>
          </a:solidFill>
          <a:ln w="12700">
            <a:solidFill>
              <a:srgbClr val="FFFFFF"/>
            </a:solidFill>
            <a:prstDash val="solid"/>
          </a:ln>
        </p:spPr>
      </p:sp>
      <p:sp>
        <p:nvSpPr>
          <p:cNvPr id="59" name="Text 57"/>
          <p:cNvSpPr/>
          <p:nvPr/>
        </p:nvSpPr>
        <p:spPr>
          <a:xfrm>
            <a:off x="9921240" y="5029200"/>
            <a:ext cx="1508760" cy="219456"/>
          </a:xfrm>
          <a:prstGeom prst="rect">
            <a:avLst/>
          </a:prstGeom>
          <a:noFill/>
          <a:ln/>
        </p:spPr>
        <p:txBody>
          <a:bodyPr wrap="square" lIns="0" tIns="0" rIns="0" bIns="0" rtlCol="0" anchor="ctr"/>
          <a:lstStyle/>
          <a:p>
            <a:pPr algn="ctr" indent="0" marL="0">
              <a:buNone/>
            </a:pPr>
            <a:r>
              <a:rPr lang="en-US" sz="1050" b="1" dirty="0">
                <a:solidFill>
                  <a:srgbClr val="0E2033"/>
                </a:solidFill>
                <a:latin typeface="Calibri" pitchFamily="34" charset="0"/>
                <a:ea typeface="Calibri" pitchFamily="34" charset="-122"/>
                <a:cs typeface="Calibri" pitchFamily="34" charset="-120"/>
              </a:rPr>
              <a:t>Missed</a:t>
            </a:r>
            <a:endParaRPr lang="en-US" sz="1050" dirty="0"/>
          </a:p>
        </p:txBody>
      </p:sp>
      <p:sp>
        <p:nvSpPr>
          <p:cNvPr id="60" name="Text 58"/>
          <p:cNvSpPr/>
          <p:nvPr/>
        </p:nvSpPr>
        <p:spPr>
          <a:xfrm>
            <a:off x="9921240" y="5239512"/>
            <a:ext cx="1508760" cy="219456"/>
          </a:xfrm>
          <a:prstGeom prst="rect">
            <a:avLst/>
          </a:prstGeom>
          <a:noFill/>
          <a:ln/>
        </p:spPr>
        <p:txBody>
          <a:bodyPr wrap="square" lIns="0" tIns="0" rIns="0" bIns="0" rtlCol="0" anchor="ctr"/>
          <a:lstStyle/>
          <a:p>
            <a:pPr algn="ctr" indent="0" marL="0">
              <a:buNone/>
            </a:pPr>
            <a:r>
              <a:rPr lang="en-US" sz="900" dirty="0">
                <a:solidFill>
                  <a:srgbClr val="6B7785"/>
                </a:solidFill>
                <a:latin typeface="Calibri" pitchFamily="34" charset="0"/>
                <a:ea typeface="Calibri" pitchFamily="34" charset="-122"/>
                <a:cs typeface="Calibri" pitchFamily="34" charset="-120"/>
              </a:rPr>
              <a:t>we do not claim it</a:t>
            </a:r>
            <a:endParaRPr lang="en-US" sz="900" dirty="0"/>
          </a:p>
        </p:txBody>
      </p:sp>
      <p:sp>
        <p:nvSpPr>
          <p:cNvPr id="61" name="Text 59"/>
          <p:cNvSpPr/>
          <p:nvPr/>
        </p:nvSpPr>
        <p:spPr>
          <a:xfrm>
            <a:off x="8302752" y="5577840"/>
            <a:ext cx="3090672" cy="237744"/>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The equivalence claim ships with its own strength score.</a:t>
            </a:r>
            <a:endParaRPr lang="en-US" sz="950" dirty="0"/>
          </a:p>
        </p:txBody>
      </p:sp>
      <p:sp>
        <p:nvSpPr>
          <p:cNvPr id="62" name="Text 6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Checked against Locksmith (arXiv 2607.28271), AgentModernize (arXiv 2605.17535) and the shipping vendor tools. None reports per-rule results, scores its own corpus, or consults a regulator.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FEASIBILITY &amp; SCOPE</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Narrow by design, and buildable now</a:t>
            </a:r>
            <a:endParaRPr lang="en-US" sz="3100" dirty="0"/>
          </a:p>
        </p:txBody>
      </p:sp>
      <p:sp>
        <p:nvSpPr>
          <p:cNvPr id="4" name="Shape 2"/>
          <p:cNvSpPr/>
          <p:nvPr/>
        </p:nvSpPr>
        <p:spPr>
          <a:xfrm>
            <a:off x="566928" y="1463040"/>
            <a:ext cx="5440680" cy="2048256"/>
          </a:xfrm>
          <a:prstGeom prst="roundRect">
            <a:avLst>
              <a:gd name="adj" fmla="val 2679"/>
            </a:avLst>
          </a:prstGeom>
          <a:solidFill>
            <a:srgbClr val="EDF1F5"/>
          </a:solidFill>
          <a:ln w="12700">
            <a:solidFill>
              <a:srgbClr val="EDF1F5"/>
            </a:solidFill>
            <a:prstDash val="solid"/>
          </a:ln>
        </p:spPr>
      </p:sp>
      <p:sp>
        <p:nvSpPr>
          <p:cNvPr id="5" name="Text 3"/>
          <p:cNvSpPr/>
          <p:nvPr/>
        </p:nvSpPr>
        <p:spPr>
          <a:xfrm>
            <a:off x="822960" y="1591056"/>
            <a:ext cx="4928616" cy="274320"/>
          </a:xfrm>
          <a:prstGeom prst="rect">
            <a:avLst/>
          </a:prstGeom>
          <a:noFill/>
          <a:ln/>
        </p:spPr>
        <p:txBody>
          <a:bodyPr wrap="square" lIns="0" tIns="0" rIns="0" bIns="0" rtlCol="0" anchor="ctr"/>
          <a:lstStyle/>
          <a:p>
            <a:pPr indent="0" marL="0">
              <a:buNone/>
            </a:pPr>
            <a:r>
              <a:rPr lang="en-US" sz="1400" b="1" dirty="0">
                <a:solidFill>
                  <a:srgbClr val="B07A16"/>
                </a:solidFill>
                <a:latin typeface="Calibri" pitchFamily="34" charset="0"/>
                <a:ea typeface="Calibri" pitchFamily="34" charset="-122"/>
                <a:cs typeface="Calibri" pitchFamily="34" charset="-120"/>
              </a:rPr>
              <a:t>In scope</a:t>
            </a:r>
            <a:endParaRPr lang="en-US" sz="1400" dirty="0"/>
          </a:p>
        </p:txBody>
      </p:sp>
      <p:sp>
        <p:nvSpPr>
          <p:cNvPr id="6" name="Text 4"/>
          <p:cNvSpPr/>
          <p:nvPr/>
        </p:nvSpPr>
        <p:spPr>
          <a:xfrm>
            <a:off x="822960" y="1920240"/>
            <a:ext cx="4928616" cy="14630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COBOL, compiled and executed via GnuCOBOL — free, open source, runs on a laptop</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Retail banking interest accrual</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Pure computation: input in, output out</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Third-party COBOL, including AWS's own CardDemo sample</a:t>
            </a:r>
            <a:endParaRPr lang="en-US" sz="1150" dirty="0"/>
          </a:p>
        </p:txBody>
      </p:sp>
      <p:sp>
        <p:nvSpPr>
          <p:cNvPr id="7" name="Shape 5"/>
          <p:cNvSpPr/>
          <p:nvPr/>
        </p:nvSpPr>
        <p:spPr>
          <a:xfrm>
            <a:off x="6199632" y="1463040"/>
            <a:ext cx="5422392" cy="2048256"/>
          </a:xfrm>
          <a:prstGeom prst="roundRect">
            <a:avLst>
              <a:gd name="adj" fmla="val 2679"/>
            </a:avLst>
          </a:prstGeom>
          <a:solidFill>
            <a:srgbClr val="EDF1F5"/>
          </a:solidFill>
          <a:ln w="12700">
            <a:solidFill>
              <a:srgbClr val="EDF1F5"/>
            </a:solidFill>
            <a:prstDash val="solid"/>
          </a:ln>
        </p:spPr>
      </p:sp>
      <p:sp>
        <p:nvSpPr>
          <p:cNvPr id="8" name="Text 6"/>
          <p:cNvSpPr/>
          <p:nvPr/>
        </p:nvSpPr>
        <p:spPr>
          <a:xfrm>
            <a:off x="6455664" y="1591056"/>
            <a:ext cx="4910328" cy="274320"/>
          </a:xfrm>
          <a:prstGeom prst="rect">
            <a:avLst/>
          </a:prstGeom>
          <a:noFill/>
          <a:ln/>
        </p:spPr>
        <p:txBody>
          <a:bodyPr wrap="square" lIns="0" tIns="0" rIns="0" bIns="0" rtlCol="0" anchor="ctr"/>
          <a:lstStyle/>
          <a:p>
            <a:pPr indent="0" marL="0">
              <a:buNone/>
            </a:pPr>
            <a:r>
              <a:rPr lang="en-US" sz="1400" b="1" dirty="0">
                <a:solidFill>
                  <a:srgbClr val="0E2033"/>
                </a:solidFill>
                <a:latin typeface="Calibri" pitchFamily="34" charset="0"/>
                <a:ea typeface="Calibri" pitchFamily="34" charset="-122"/>
                <a:cs typeface="Calibri" pitchFamily="34" charset="-120"/>
              </a:rPr>
              <a:t>Out of scope, and detected rather than ignored</a:t>
            </a:r>
            <a:endParaRPr lang="en-US" sz="1400" dirty="0"/>
          </a:p>
        </p:txBody>
      </p:sp>
      <p:sp>
        <p:nvSpPr>
          <p:cNvPr id="9" name="Text 7"/>
          <p:cNvSpPr/>
          <p:nvPr/>
        </p:nvSpPr>
        <p:spPr>
          <a:xfrm>
            <a:off x="6455664" y="1920240"/>
            <a:ext cx="4910328" cy="10058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CICS screens and JCL orchestration</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Database-coupled programs</a:t>
            </a:r>
            <a:endParaRPr lang="en-US" sz="1150" dirty="0"/>
          </a:p>
          <a:p>
            <a:pPr marL="342900" indent="-342900">
              <a:lnSpc>
                <a:spcPts val="1500"/>
              </a:lnSpc>
              <a:spcAft>
                <a:spcPts val="700"/>
              </a:spcAft>
              <a:buSzPct val="100000"/>
              <a:buChar char="•"/>
            </a:pPr>
            <a:r>
              <a:rPr lang="en-US" sz="1150" dirty="0">
                <a:solidFill>
                  <a:srgbClr val="16212E"/>
                </a:solidFill>
                <a:latin typeface="Calibri" pitchFamily="34" charset="0"/>
                <a:ea typeface="Calibri" pitchFamily="34" charset="-122"/>
                <a:cs typeface="Calibri" pitchFamily="34" charset="-120"/>
              </a:rPr>
              <a:t>Anything non-deterministic — system clocks, randomness, external state</a:t>
            </a:r>
            <a:endParaRPr lang="en-US" sz="1150" dirty="0"/>
          </a:p>
        </p:txBody>
      </p:sp>
      <p:sp>
        <p:nvSpPr>
          <p:cNvPr id="10" name="Text 8"/>
          <p:cNvSpPr/>
          <p:nvPr/>
        </p:nvSpPr>
        <p:spPr>
          <a:xfrm>
            <a:off x="6455664" y="2926080"/>
            <a:ext cx="4910328" cy="475488"/>
          </a:xfrm>
          <a:prstGeom prst="rect">
            <a:avLst/>
          </a:prstGeom>
          <a:noFill/>
          <a:ln/>
        </p:spPr>
        <p:txBody>
          <a:bodyPr wrap="square" lIns="0" tIns="0" rIns="0" bIns="0" rtlCol="0" anchor="ctr"/>
          <a:lstStyle/>
          <a:p>
            <a:pPr indent="0" marL="0">
              <a:lnSpc>
                <a:spcPts val="1400"/>
              </a:lnSpc>
              <a:buNone/>
            </a:pPr>
            <a:r>
              <a:rPr lang="en-US" sz="1050" i="1" dirty="0">
                <a:solidFill>
                  <a:srgbClr val="6B7785"/>
                </a:solidFill>
                <a:latin typeface="Calibri" pitchFamily="34" charset="0"/>
                <a:ea typeface="Calibri" pitchFamily="34" charset="-122"/>
                <a:cs typeface="Calibri" pitchFamily="34" charset="-120"/>
              </a:rPr>
              <a:t>Differential testing compares outputs for equality, so non-determinism makes the verdict meaningless. The tool refuses these at intake, with a reason.</a:t>
            </a:r>
            <a:endParaRPr lang="en-US" sz="1050" dirty="0"/>
          </a:p>
        </p:txBody>
      </p:sp>
      <p:sp>
        <p:nvSpPr>
          <p:cNvPr id="11" name="Text 9"/>
          <p:cNvSpPr/>
          <p:nvPr/>
        </p:nvSpPr>
        <p:spPr>
          <a:xfrm>
            <a:off x="566928" y="3712464"/>
            <a:ext cx="11057839" cy="310896"/>
          </a:xfrm>
          <a:prstGeom prst="rect">
            <a:avLst/>
          </a:prstGeom>
          <a:noFill/>
          <a:ln/>
        </p:spPr>
        <p:txBody>
          <a:bodyPr wrap="square" lIns="0" tIns="0" rIns="0" bIns="0" rtlCol="0" anchor="ctr"/>
          <a:lstStyle/>
          <a:p>
            <a:pPr indent="0" marL="0">
              <a:buNone/>
            </a:pPr>
            <a:r>
              <a:rPr lang="en-US" sz="1800" b="1" dirty="0">
                <a:solidFill>
                  <a:srgbClr val="16212E"/>
                </a:solidFill>
                <a:latin typeface="Cambria" pitchFamily="34" charset="0"/>
                <a:ea typeface="Cambria" pitchFamily="34" charset="-122"/>
                <a:cs typeface="Cambria" pitchFamily="34" charset="-120"/>
              </a:rPr>
              <a:t>Build stages — the spine first, the novelty protected</a:t>
            </a:r>
            <a:endParaRPr lang="en-US" sz="1800" dirty="0"/>
          </a:p>
        </p:txBody>
      </p:sp>
      <p:sp>
        <p:nvSpPr>
          <p:cNvPr id="12" name="Shape 10"/>
          <p:cNvSpPr/>
          <p:nvPr/>
        </p:nvSpPr>
        <p:spPr>
          <a:xfrm>
            <a:off x="566928" y="4114800"/>
            <a:ext cx="2670048" cy="1463040"/>
          </a:xfrm>
          <a:prstGeom prst="roundRect">
            <a:avLst>
              <a:gd name="adj" fmla="val 3750"/>
            </a:avLst>
          </a:prstGeom>
          <a:solidFill>
            <a:srgbClr val="EDF1F5"/>
          </a:solidFill>
          <a:ln w="12700">
            <a:solidFill>
              <a:srgbClr val="EDF1F5"/>
            </a:solidFill>
            <a:prstDash val="solid"/>
          </a:ln>
        </p:spPr>
      </p:sp>
      <p:sp>
        <p:nvSpPr>
          <p:cNvPr id="13" name="Shape 11"/>
          <p:cNvSpPr/>
          <p:nvPr/>
        </p:nvSpPr>
        <p:spPr>
          <a:xfrm>
            <a:off x="768096" y="4261104"/>
            <a:ext cx="384048" cy="384048"/>
          </a:xfrm>
          <a:prstGeom prst="ellipse">
            <a:avLst/>
          </a:prstGeom>
          <a:solidFill>
            <a:srgbClr val="6B7785"/>
          </a:solidFill>
          <a:ln w="12700">
            <a:solidFill>
              <a:srgbClr val="6B7785"/>
            </a:solidFill>
            <a:prstDash val="solid"/>
          </a:ln>
        </p:spPr>
      </p:sp>
      <p:sp>
        <p:nvSpPr>
          <p:cNvPr id="14" name="Text 12"/>
          <p:cNvSpPr/>
          <p:nvPr/>
        </p:nvSpPr>
        <p:spPr>
          <a:xfrm>
            <a:off x="768096"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15" name="Text 13"/>
          <p:cNvSpPr/>
          <p:nvPr/>
        </p:nvSpPr>
        <p:spPr>
          <a:xfrm>
            <a:off x="1243584" y="4279392"/>
            <a:ext cx="1828800" cy="310896"/>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Differential harness</a:t>
            </a:r>
            <a:endParaRPr lang="en-US" sz="1200" dirty="0"/>
          </a:p>
        </p:txBody>
      </p:sp>
      <p:sp>
        <p:nvSpPr>
          <p:cNvPr id="16" name="Text 14"/>
          <p:cNvSpPr/>
          <p:nvPr/>
        </p:nvSpPr>
        <p:spPr>
          <a:xfrm>
            <a:off x="768096" y="4736592"/>
            <a:ext cx="2286000" cy="74980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GnuCOBOL compiles and runs; diff two implementations across an input list.</a:t>
            </a:r>
            <a:endParaRPr lang="en-US" sz="1050" dirty="0"/>
          </a:p>
        </p:txBody>
      </p:sp>
      <p:sp>
        <p:nvSpPr>
          <p:cNvPr id="17" name="Shape 15"/>
          <p:cNvSpPr/>
          <p:nvPr/>
        </p:nvSpPr>
        <p:spPr>
          <a:xfrm>
            <a:off x="3374136" y="4114800"/>
            <a:ext cx="2670048" cy="1463040"/>
          </a:xfrm>
          <a:prstGeom prst="roundRect">
            <a:avLst>
              <a:gd name="adj" fmla="val 3750"/>
            </a:avLst>
          </a:prstGeom>
          <a:solidFill>
            <a:srgbClr val="EDF1F5"/>
          </a:solidFill>
          <a:ln w="12700">
            <a:solidFill>
              <a:srgbClr val="EDF1F5"/>
            </a:solidFill>
            <a:prstDash val="solid"/>
          </a:ln>
        </p:spPr>
      </p:sp>
      <p:sp>
        <p:nvSpPr>
          <p:cNvPr id="18" name="Shape 16"/>
          <p:cNvSpPr/>
          <p:nvPr/>
        </p:nvSpPr>
        <p:spPr>
          <a:xfrm>
            <a:off x="3575304" y="4261104"/>
            <a:ext cx="384048" cy="384048"/>
          </a:xfrm>
          <a:prstGeom prst="ellipse">
            <a:avLst/>
          </a:prstGeom>
          <a:solidFill>
            <a:srgbClr val="6B7785"/>
          </a:solidFill>
          <a:ln w="12700">
            <a:solidFill>
              <a:srgbClr val="6B7785"/>
            </a:solidFill>
            <a:prstDash val="solid"/>
          </a:ln>
        </p:spPr>
      </p:sp>
      <p:sp>
        <p:nvSpPr>
          <p:cNvPr id="19" name="Text 17"/>
          <p:cNvSpPr/>
          <p:nvPr/>
        </p:nvSpPr>
        <p:spPr>
          <a:xfrm>
            <a:off x="3575304"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20" name="Text 18"/>
          <p:cNvSpPr/>
          <p:nvPr/>
        </p:nvSpPr>
        <p:spPr>
          <a:xfrm>
            <a:off x="4050792" y="4279392"/>
            <a:ext cx="1828800" cy="310896"/>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Rules and boundaries</a:t>
            </a:r>
            <a:endParaRPr lang="en-US" sz="1200" dirty="0"/>
          </a:p>
        </p:txBody>
      </p:sp>
      <p:sp>
        <p:nvSpPr>
          <p:cNvPr id="21" name="Text 19"/>
          <p:cNvSpPr/>
          <p:nvPr/>
        </p:nvSpPr>
        <p:spPr>
          <a:xfrm>
            <a:off x="3575304" y="4736592"/>
            <a:ext cx="2286000" cy="74980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Slice, extract with line citations, derive boundary inputs from the rules.</a:t>
            </a:r>
            <a:endParaRPr lang="en-US" sz="1050" dirty="0"/>
          </a:p>
        </p:txBody>
      </p:sp>
      <p:sp>
        <p:nvSpPr>
          <p:cNvPr id="22" name="Shape 20"/>
          <p:cNvSpPr/>
          <p:nvPr/>
        </p:nvSpPr>
        <p:spPr>
          <a:xfrm>
            <a:off x="6181344" y="4114800"/>
            <a:ext cx="2670048" cy="1463040"/>
          </a:xfrm>
          <a:prstGeom prst="roundRect">
            <a:avLst>
              <a:gd name="adj" fmla="val 3750"/>
            </a:avLst>
          </a:prstGeom>
          <a:solidFill>
            <a:srgbClr val="EDF1F5"/>
          </a:solidFill>
          <a:ln w="12700">
            <a:solidFill>
              <a:srgbClr val="EDF1F5"/>
            </a:solidFill>
            <a:prstDash val="solid"/>
          </a:ln>
        </p:spPr>
      </p:sp>
      <p:sp>
        <p:nvSpPr>
          <p:cNvPr id="23" name="Shape 21"/>
          <p:cNvSpPr/>
          <p:nvPr/>
        </p:nvSpPr>
        <p:spPr>
          <a:xfrm>
            <a:off x="6382512" y="4261104"/>
            <a:ext cx="384048" cy="384048"/>
          </a:xfrm>
          <a:prstGeom prst="ellipse">
            <a:avLst/>
          </a:prstGeom>
          <a:solidFill>
            <a:srgbClr val="6B7785"/>
          </a:solidFill>
          <a:ln w="12700">
            <a:solidFill>
              <a:srgbClr val="6B7785"/>
            </a:solidFill>
            <a:prstDash val="solid"/>
          </a:ln>
        </p:spPr>
      </p:sp>
      <p:sp>
        <p:nvSpPr>
          <p:cNvPr id="24" name="Text 22"/>
          <p:cNvSpPr/>
          <p:nvPr/>
        </p:nvSpPr>
        <p:spPr>
          <a:xfrm>
            <a:off x="6382512"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5" name="Text 23"/>
          <p:cNvSpPr/>
          <p:nvPr/>
        </p:nvSpPr>
        <p:spPr>
          <a:xfrm>
            <a:off x="6858000" y="4279392"/>
            <a:ext cx="1828800" cy="310896"/>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Per-rule results</a:t>
            </a:r>
            <a:endParaRPr lang="en-US" sz="1200" dirty="0"/>
          </a:p>
        </p:txBody>
      </p:sp>
      <p:sp>
        <p:nvSpPr>
          <p:cNvPr id="26" name="Text 24"/>
          <p:cNvSpPr/>
          <p:nvPr/>
        </p:nvSpPr>
        <p:spPr>
          <a:xfrm>
            <a:off x="6382512" y="4736592"/>
            <a:ext cx="2286000" cy="74980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Coverage mapped back to rules, including the ones we could not confirm.</a:t>
            </a:r>
            <a:endParaRPr lang="en-US" sz="1050" dirty="0"/>
          </a:p>
        </p:txBody>
      </p:sp>
      <p:sp>
        <p:nvSpPr>
          <p:cNvPr id="27" name="Shape 25"/>
          <p:cNvSpPr/>
          <p:nvPr/>
        </p:nvSpPr>
        <p:spPr>
          <a:xfrm>
            <a:off x="8988552" y="4114800"/>
            <a:ext cx="2670048" cy="1463040"/>
          </a:xfrm>
          <a:prstGeom prst="roundRect">
            <a:avLst>
              <a:gd name="adj" fmla="val 3750"/>
            </a:avLst>
          </a:prstGeom>
          <a:solidFill>
            <a:srgbClr val="EDF1F5"/>
          </a:solidFill>
          <a:ln w="12700">
            <a:solidFill>
              <a:srgbClr val="EDF1F5"/>
            </a:solidFill>
            <a:prstDash val="solid"/>
          </a:ln>
        </p:spPr>
      </p:sp>
      <p:sp>
        <p:nvSpPr>
          <p:cNvPr id="28" name="Shape 26"/>
          <p:cNvSpPr/>
          <p:nvPr/>
        </p:nvSpPr>
        <p:spPr>
          <a:xfrm>
            <a:off x="9189720" y="4261104"/>
            <a:ext cx="384048" cy="384048"/>
          </a:xfrm>
          <a:prstGeom prst="ellipse">
            <a:avLst/>
          </a:prstGeom>
          <a:solidFill>
            <a:srgbClr val="B07A16"/>
          </a:solidFill>
          <a:ln w="12700">
            <a:solidFill>
              <a:srgbClr val="B07A16"/>
            </a:solidFill>
            <a:prstDash val="solid"/>
          </a:ln>
        </p:spPr>
      </p:sp>
      <p:sp>
        <p:nvSpPr>
          <p:cNvPr id="29" name="Text 27"/>
          <p:cNvSpPr/>
          <p:nvPr/>
        </p:nvSpPr>
        <p:spPr>
          <a:xfrm>
            <a:off x="9189720"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30" name="Text 28"/>
          <p:cNvSpPr/>
          <p:nvPr/>
        </p:nvSpPr>
        <p:spPr>
          <a:xfrm>
            <a:off x="9665208" y="4279392"/>
            <a:ext cx="1828800" cy="310896"/>
          </a:xfrm>
          <a:prstGeom prst="rect">
            <a:avLst/>
          </a:prstGeom>
          <a:noFill/>
          <a:ln/>
        </p:spPr>
        <p:txBody>
          <a:bodyPr wrap="square" lIns="0" tIns="0" rIns="0" bIns="0" rtlCol="0" anchor="ctr"/>
          <a:lstStyle/>
          <a:p>
            <a:pPr indent="0" marL="0">
              <a:buNone/>
            </a:pPr>
            <a:r>
              <a:rPr lang="en-US" sz="1200" b="1" dirty="0">
                <a:solidFill>
                  <a:srgbClr val="0E2033"/>
                </a:solidFill>
                <a:latin typeface="Calibri" pitchFamily="34" charset="0"/>
                <a:ea typeface="Calibri" pitchFamily="34" charset="-122"/>
                <a:cs typeface="Calibri" pitchFamily="34" charset="-120"/>
              </a:rPr>
              <a:t>Regulation and mutation</a:t>
            </a:r>
            <a:endParaRPr lang="en-US" sz="1200" dirty="0"/>
          </a:p>
        </p:txBody>
      </p:sp>
      <p:sp>
        <p:nvSpPr>
          <p:cNvPr id="31" name="Text 29"/>
          <p:cNvSpPr/>
          <p:nvPr/>
        </p:nvSpPr>
        <p:spPr>
          <a:xfrm>
            <a:off x="9189720" y="4736592"/>
            <a:ext cx="2286000" cy="74980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The RBI reference model, then fault injection to score the corpus.</a:t>
            </a:r>
            <a:endParaRPr lang="en-US" sz="1050" dirty="0"/>
          </a:p>
        </p:txBody>
      </p:sp>
      <p:sp>
        <p:nvSpPr>
          <p:cNvPr id="32" name="Text 30"/>
          <p:cNvSpPr/>
          <p:nvPr/>
        </p:nvSpPr>
        <p:spPr>
          <a:xfrm>
            <a:off x="566928" y="5724144"/>
            <a:ext cx="11057839" cy="402336"/>
          </a:xfrm>
          <a:prstGeom prst="rect">
            <a:avLst/>
          </a:prstGeom>
          <a:noFill/>
          <a:ln/>
        </p:spPr>
        <p:txBody>
          <a:bodyPr wrap="square" lIns="0" tIns="0" rIns="0" bIns="0" rtlCol="0" anchor="ctr"/>
          <a:lstStyle/>
          <a:p>
            <a:pPr indent="0" marL="0">
              <a:lnSpc>
                <a:spcPts val="1600"/>
              </a:lnSpc>
              <a:buNone/>
            </a:pPr>
            <a:r>
              <a:rPr lang="en-US" sz="1200" i="1" dirty="0">
                <a:solidFill>
                  <a:srgbClr val="0E2033"/>
                </a:solidFill>
                <a:latin typeface="Calibri" pitchFamily="34" charset="0"/>
                <a:ea typeface="Calibri" pitchFamily="34" charset="-122"/>
                <a:cs typeface="Calibri" pitchFamily="34" charset="-120"/>
              </a:rPr>
              <a:t>Known limitation, stated up front: input-generation quality caps everything. We can only confirm rules our inputs reach — which is exactly why stage 04 scores the corpus instead of trusting it.</a:t>
            </a:r>
            <a:endParaRPr lang="en-US" sz="1200" dirty="0"/>
          </a:p>
        </p:txBody>
      </p:sp>
      <p:sp>
        <p:nvSpPr>
          <p:cNvPr id="33" name="Text 31"/>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GnuCOBOL passes 9,700 of 9,748 NIST COBOL-85 conformance tests, though the project does not claim to be a Standard Conforming implementation. The method is compiler-agnostic: a bank points it at its own compiler.</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IMPACT</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Three artifacts the bank never had</a:t>
            </a:r>
            <a:endParaRPr lang="en-US" sz="3100" dirty="0"/>
          </a:p>
        </p:txBody>
      </p:sp>
      <p:sp>
        <p:nvSpPr>
          <p:cNvPr id="4" name="Shape 2"/>
          <p:cNvSpPr/>
          <p:nvPr/>
        </p:nvSpPr>
        <p:spPr>
          <a:xfrm>
            <a:off x="566928" y="1463040"/>
            <a:ext cx="2670048" cy="1042416"/>
          </a:xfrm>
          <a:prstGeom prst="roundRect">
            <a:avLst>
              <a:gd name="adj" fmla="val 5263"/>
            </a:avLst>
          </a:prstGeom>
          <a:solidFill>
            <a:srgbClr val="EDF1F5"/>
          </a:solidFill>
          <a:ln w="12700">
            <a:solidFill>
              <a:srgbClr val="EDF1F5"/>
            </a:solidFill>
            <a:prstDash val="solid"/>
          </a:ln>
        </p:spPr>
      </p:sp>
      <p:sp>
        <p:nvSpPr>
          <p:cNvPr id="5" name="Text 3"/>
          <p:cNvSpPr/>
          <p:nvPr/>
        </p:nvSpPr>
        <p:spPr>
          <a:xfrm>
            <a:off x="768096" y="1517904"/>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47</a:t>
            </a:r>
            <a:endParaRPr lang="en-US" sz="3400" dirty="0"/>
          </a:p>
        </p:txBody>
      </p:sp>
      <p:sp>
        <p:nvSpPr>
          <p:cNvPr id="6" name="Text 4"/>
          <p:cNvSpPr/>
          <p:nvPr/>
        </p:nvSpPr>
        <p:spPr>
          <a:xfrm>
            <a:off x="768096" y="2084832"/>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business rules extracted</a:t>
            </a:r>
            <a:endParaRPr lang="en-US" sz="1100" dirty="0"/>
          </a:p>
        </p:txBody>
      </p:sp>
      <p:sp>
        <p:nvSpPr>
          <p:cNvPr id="7" name="Shape 5"/>
          <p:cNvSpPr/>
          <p:nvPr/>
        </p:nvSpPr>
        <p:spPr>
          <a:xfrm>
            <a:off x="3374136" y="1463040"/>
            <a:ext cx="2670048" cy="1042416"/>
          </a:xfrm>
          <a:prstGeom prst="roundRect">
            <a:avLst>
              <a:gd name="adj" fmla="val 5263"/>
            </a:avLst>
          </a:prstGeom>
          <a:solidFill>
            <a:srgbClr val="EDF1F5"/>
          </a:solidFill>
          <a:ln w="12700">
            <a:solidFill>
              <a:srgbClr val="EDF1F5"/>
            </a:solidFill>
            <a:prstDash val="solid"/>
          </a:ln>
        </p:spPr>
      </p:sp>
      <p:sp>
        <p:nvSpPr>
          <p:cNvPr id="8" name="Text 6"/>
          <p:cNvSpPr/>
          <p:nvPr/>
        </p:nvSpPr>
        <p:spPr>
          <a:xfrm>
            <a:off x="3575304" y="1517904"/>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31</a:t>
            </a:r>
            <a:endParaRPr lang="en-US" sz="3400" dirty="0"/>
          </a:p>
        </p:txBody>
      </p:sp>
      <p:sp>
        <p:nvSpPr>
          <p:cNvPr id="9" name="Text 7"/>
          <p:cNvSpPr/>
          <p:nvPr/>
        </p:nvSpPr>
        <p:spPr>
          <a:xfrm>
            <a:off x="3575304" y="2084832"/>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confirmed by execution</a:t>
            </a:r>
            <a:endParaRPr lang="en-US" sz="1100" dirty="0"/>
          </a:p>
        </p:txBody>
      </p:sp>
      <p:sp>
        <p:nvSpPr>
          <p:cNvPr id="10" name="Shape 8"/>
          <p:cNvSpPr/>
          <p:nvPr/>
        </p:nvSpPr>
        <p:spPr>
          <a:xfrm>
            <a:off x="6181344" y="1463040"/>
            <a:ext cx="2670048" cy="1042416"/>
          </a:xfrm>
          <a:prstGeom prst="roundRect">
            <a:avLst>
              <a:gd name="adj" fmla="val 5263"/>
            </a:avLst>
          </a:prstGeom>
          <a:solidFill>
            <a:srgbClr val="EDF1F5"/>
          </a:solidFill>
          <a:ln w="12700">
            <a:solidFill>
              <a:srgbClr val="EDF1F5"/>
            </a:solidFill>
            <a:prstDash val="solid"/>
          </a:ln>
        </p:spPr>
      </p:sp>
      <p:sp>
        <p:nvSpPr>
          <p:cNvPr id="11" name="Text 9"/>
          <p:cNvSpPr/>
          <p:nvPr/>
        </p:nvSpPr>
        <p:spPr>
          <a:xfrm>
            <a:off x="6382512" y="1517904"/>
            <a:ext cx="2267712" cy="566928"/>
          </a:xfrm>
          <a:prstGeom prst="rect">
            <a:avLst/>
          </a:prstGeom>
          <a:noFill/>
          <a:ln/>
        </p:spPr>
        <p:txBody>
          <a:bodyPr wrap="square" lIns="0" tIns="0" rIns="0" bIns="0" rtlCol="0" anchor="ctr"/>
          <a:lstStyle/>
          <a:p>
            <a:pPr indent="0" marL="0">
              <a:buNone/>
            </a:pPr>
            <a:r>
              <a:rPr lang="en-US" sz="3400" b="1" dirty="0">
                <a:solidFill>
                  <a:srgbClr val="B07A16"/>
                </a:solidFill>
                <a:latin typeface="Cambria" pitchFamily="34" charset="0"/>
                <a:ea typeface="Cambria" pitchFamily="34" charset="-122"/>
                <a:cs typeface="Cambria" pitchFamily="34" charset="-120"/>
              </a:rPr>
              <a:t>16</a:t>
            </a:r>
            <a:endParaRPr lang="en-US" sz="3400" dirty="0"/>
          </a:p>
        </p:txBody>
      </p:sp>
      <p:sp>
        <p:nvSpPr>
          <p:cNvPr id="12" name="Text 10"/>
          <p:cNvSpPr/>
          <p:nvPr/>
        </p:nvSpPr>
        <p:spPr>
          <a:xfrm>
            <a:off x="6382512" y="2084832"/>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not confirmed, and named</a:t>
            </a:r>
            <a:endParaRPr lang="en-US" sz="1100" dirty="0"/>
          </a:p>
        </p:txBody>
      </p:sp>
      <p:sp>
        <p:nvSpPr>
          <p:cNvPr id="13" name="Shape 11"/>
          <p:cNvSpPr/>
          <p:nvPr/>
        </p:nvSpPr>
        <p:spPr>
          <a:xfrm>
            <a:off x="8988552" y="1463040"/>
            <a:ext cx="2670048" cy="1042416"/>
          </a:xfrm>
          <a:prstGeom prst="roundRect">
            <a:avLst>
              <a:gd name="adj" fmla="val 5263"/>
            </a:avLst>
          </a:prstGeom>
          <a:solidFill>
            <a:srgbClr val="EDF1F5"/>
          </a:solidFill>
          <a:ln w="12700">
            <a:solidFill>
              <a:srgbClr val="EDF1F5"/>
            </a:solidFill>
            <a:prstDash val="solid"/>
          </a:ln>
        </p:spPr>
      </p:sp>
      <p:sp>
        <p:nvSpPr>
          <p:cNvPr id="14" name="Text 12"/>
          <p:cNvSpPr/>
          <p:nvPr/>
        </p:nvSpPr>
        <p:spPr>
          <a:xfrm>
            <a:off x="9189720" y="1517904"/>
            <a:ext cx="2267712" cy="566928"/>
          </a:xfrm>
          <a:prstGeom prst="rect">
            <a:avLst/>
          </a:prstGeom>
          <a:noFill/>
          <a:ln/>
        </p:spPr>
        <p:txBody>
          <a:bodyPr wrap="square" lIns="0" tIns="0" rIns="0" bIns="0" rtlCol="0" anchor="ctr"/>
          <a:lstStyle/>
          <a:p>
            <a:pPr indent="0" marL="0">
              <a:buNone/>
            </a:pPr>
            <a:r>
              <a:rPr lang="en-US" sz="3400" b="1" dirty="0">
                <a:solidFill>
                  <a:srgbClr val="0E2033"/>
                </a:solidFill>
                <a:latin typeface="Cambria" pitchFamily="34" charset="0"/>
                <a:ea typeface="Cambria" pitchFamily="34" charset="-122"/>
                <a:cs typeface="Cambria" pitchFamily="34" charset="-120"/>
              </a:rPr>
              <a:t>94%</a:t>
            </a:r>
            <a:endParaRPr lang="en-US" sz="3400" dirty="0"/>
          </a:p>
        </p:txBody>
      </p:sp>
      <p:sp>
        <p:nvSpPr>
          <p:cNvPr id="15" name="Text 13"/>
          <p:cNvSpPr/>
          <p:nvPr/>
        </p:nvSpPr>
        <p:spPr>
          <a:xfrm>
            <a:off x="9189720" y="2084832"/>
            <a:ext cx="2267712" cy="347472"/>
          </a:xfrm>
          <a:prstGeom prst="rect">
            <a:avLst/>
          </a:prstGeom>
          <a:noFill/>
          <a:ln/>
        </p:spPr>
        <p:txBody>
          <a:bodyPr wrap="square" lIns="0" tIns="0" rIns="0" bIns="0" rtlCol="0" anchor="ctr"/>
          <a:lstStyle/>
          <a:p>
            <a:pPr indent="0" marL="0">
              <a:buNone/>
            </a:pPr>
            <a:r>
              <a:rPr lang="en-US" sz="1100" dirty="0">
                <a:solidFill>
                  <a:srgbClr val="16212E"/>
                </a:solidFill>
                <a:latin typeface="Calibri" pitchFamily="34" charset="0"/>
                <a:ea typeface="Calibri" pitchFamily="34" charset="-122"/>
                <a:cs typeface="Calibri" pitchFamily="34" charset="-120"/>
              </a:rPr>
              <a:t>mutation kill rate</a:t>
            </a:r>
            <a:endParaRPr lang="en-US" sz="1100" dirty="0"/>
          </a:p>
        </p:txBody>
      </p:sp>
      <p:sp>
        <p:nvSpPr>
          <p:cNvPr id="16" name="Shape 14"/>
          <p:cNvSpPr/>
          <p:nvPr/>
        </p:nvSpPr>
        <p:spPr>
          <a:xfrm>
            <a:off x="566928" y="2651760"/>
            <a:ext cx="5614416" cy="1316736"/>
          </a:xfrm>
          <a:prstGeom prst="roundRect">
            <a:avLst>
              <a:gd name="adj" fmla="val 4167"/>
            </a:avLst>
          </a:prstGeom>
          <a:solidFill>
            <a:srgbClr val="EDF1F5"/>
          </a:solidFill>
          <a:ln w="12700">
            <a:solidFill>
              <a:srgbClr val="EDF1F5"/>
            </a:solidFill>
            <a:prstDash val="solid"/>
          </a:ln>
        </p:spPr>
      </p:sp>
      <p:sp>
        <p:nvSpPr>
          <p:cNvPr id="17" name="Text 15"/>
          <p:cNvSpPr/>
          <p:nvPr/>
        </p:nvSpPr>
        <p:spPr>
          <a:xfrm>
            <a:off x="786384" y="2743200"/>
            <a:ext cx="5175504" cy="219456"/>
          </a:xfrm>
          <a:prstGeom prst="rect">
            <a:avLst/>
          </a:prstGeom>
          <a:noFill/>
          <a:ln/>
        </p:spPr>
        <p:txBody>
          <a:bodyPr wrap="square" lIns="0" tIns="0" rIns="0" bIns="0" rtlCol="0" anchor="ctr"/>
          <a:lstStyle/>
          <a:p>
            <a:pPr indent="0" marL="0">
              <a:buNone/>
            </a:pPr>
            <a:r>
              <a:rPr lang="en-US" sz="950" b="1" spc="140" kern="0" dirty="0">
                <a:solidFill>
                  <a:srgbClr val="6B7785"/>
                </a:solidFill>
                <a:latin typeface="Calibri" pitchFamily="34" charset="0"/>
                <a:ea typeface="Calibri" pitchFamily="34" charset="-122"/>
                <a:cs typeface="Calibri" pitchFamily="34" charset="-120"/>
              </a:rPr>
              <a:t>DIVERGENCE, MINIMISED TO ONE CASE</a:t>
            </a:r>
            <a:endParaRPr lang="en-US" sz="950" dirty="0"/>
          </a:p>
        </p:txBody>
      </p:sp>
      <p:sp>
        <p:nvSpPr>
          <p:cNvPr id="18" name="Text 16"/>
          <p:cNvSpPr/>
          <p:nvPr/>
        </p:nvSpPr>
        <p:spPr>
          <a:xfrm>
            <a:off x="786384" y="2980944"/>
            <a:ext cx="5175504" cy="237744"/>
          </a:xfrm>
          <a:prstGeom prst="rect">
            <a:avLst/>
          </a:prstGeom>
          <a:noFill/>
          <a:ln/>
        </p:spPr>
        <p:txBody>
          <a:bodyPr wrap="square" lIns="0" tIns="0" rIns="0" bIns="0" rtlCol="0" anchor="ctr"/>
          <a:lstStyle/>
          <a:p>
            <a:pPr indent="0" marL="0">
              <a:buNone/>
            </a:pPr>
            <a:r>
              <a:rPr lang="en-US" sz="1100" dirty="0">
                <a:solidFill>
                  <a:srgbClr val="16212E"/>
                </a:solidFill>
                <a:latin typeface="Consolas" pitchFamily="34" charset="0"/>
                <a:ea typeface="Consolas" pitchFamily="34" charset="-122"/>
                <a:cs typeface="Consolas" pitchFamily="34" charset="-120"/>
              </a:rPr>
              <a:t>balance ₹1,00,000.00 · 12 days · 3.5%</a:t>
            </a:r>
            <a:endParaRPr lang="en-US" sz="1100" dirty="0"/>
          </a:p>
        </p:txBody>
      </p:sp>
      <p:sp>
        <p:nvSpPr>
          <p:cNvPr id="19" name="Text 17"/>
          <p:cNvSpPr/>
          <p:nvPr/>
        </p:nvSpPr>
        <p:spPr>
          <a:xfrm>
            <a:off x="786384" y="3218688"/>
            <a:ext cx="5175504" cy="256032"/>
          </a:xfrm>
          <a:prstGeom prst="rect">
            <a:avLst/>
          </a:prstGeom>
          <a:noFill/>
          <a:ln/>
        </p:spPr>
        <p:txBody>
          <a:bodyPr wrap="square" lIns="0" tIns="0" rIns="0" bIns="0" rtlCol="0" anchor="ctr"/>
          <a:lstStyle/>
          <a:p>
            <a:pPr indent="0" marL="0">
              <a:buNone/>
            </a:pPr>
            <a:r>
              <a:rPr lang="en-US" sz="1200" b="1" dirty="0">
                <a:solidFill>
                  <a:srgbClr val="0E2033"/>
                </a:solidFill>
                <a:latin typeface="Consolas" pitchFamily="34" charset="0"/>
                <a:ea typeface="Consolas" pitchFamily="34" charset="-122"/>
                <a:cs typeface="Consolas" pitchFamily="34" charset="-120"/>
              </a:rPr>
              <a:t>legacy → ₹115        rewrite → ₹116</a:t>
            </a:r>
            <a:endParaRPr lang="en-US" sz="1200" dirty="0"/>
          </a:p>
        </p:txBody>
      </p:sp>
      <p:sp>
        <p:nvSpPr>
          <p:cNvPr id="20" name="Text 18"/>
          <p:cNvSpPr/>
          <p:nvPr/>
        </p:nvSpPr>
        <p:spPr>
          <a:xfrm>
            <a:off x="786384" y="3493008"/>
            <a:ext cx="5175504" cy="402336"/>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Rule R-07, line 214. The Java uses HALF_UP; the COBOL truncates at the PIC boundary.</a:t>
            </a:r>
            <a:endParaRPr lang="en-US" sz="1050" dirty="0"/>
          </a:p>
        </p:txBody>
      </p:sp>
      <p:sp>
        <p:nvSpPr>
          <p:cNvPr id="21" name="Shape 19"/>
          <p:cNvSpPr/>
          <p:nvPr/>
        </p:nvSpPr>
        <p:spPr>
          <a:xfrm>
            <a:off x="6345936" y="2651760"/>
            <a:ext cx="5614416" cy="1316736"/>
          </a:xfrm>
          <a:prstGeom prst="roundRect">
            <a:avLst>
              <a:gd name="adj" fmla="val 4167"/>
            </a:avLst>
          </a:prstGeom>
          <a:solidFill>
            <a:srgbClr val="EDF1F5"/>
          </a:solidFill>
          <a:ln w="12700">
            <a:solidFill>
              <a:srgbClr val="EDF1F5"/>
            </a:solidFill>
            <a:prstDash val="solid"/>
          </a:ln>
        </p:spPr>
      </p:sp>
      <p:sp>
        <p:nvSpPr>
          <p:cNvPr id="22" name="Text 20"/>
          <p:cNvSpPr/>
          <p:nvPr/>
        </p:nvSpPr>
        <p:spPr>
          <a:xfrm>
            <a:off x="6565392" y="2743200"/>
            <a:ext cx="5175504" cy="219456"/>
          </a:xfrm>
          <a:prstGeom prst="rect">
            <a:avLst/>
          </a:prstGeom>
          <a:noFill/>
          <a:ln/>
        </p:spPr>
        <p:txBody>
          <a:bodyPr wrap="square" lIns="0" tIns="0" rIns="0" bIns="0" rtlCol="0" anchor="ctr"/>
          <a:lstStyle/>
          <a:p>
            <a:pPr indent="0" marL="0">
              <a:buNone/>
            </a:pPr>
            <a:r>
              <a:rPr lang="en-US" sz="950" b="1" spc="140" kern="0" dirty="0">
                <a:solidFill>
                  <a:srgbClr val="B07A16"/>
                </a:solidFill>
                <a:latin typeface="Calibri" pitchFamily="34" charset="0"/>
                <a:ea typeface="Calibri" pitchFamily="34" charset="-122"/>
                <a:cs typeface="Calibri" pitchFamily="34" charset="-120"/>
              </a:rPr>
              <a:t>COMPLIANCE FINDING, NEEDS THE THIRD REFERENCE</a:t>
            </a:r>
            <a:endParaRPr lang="en-US" sz="950" dirty="0"/>
          </a:p>
        </p:txBody>
      </p:sp>
      <p:sp>
        <p:nvSpPr>
          <p:cNvPr id="23" name="Text 21"/>
          <p:cNvSpPr/>
          <p:nvPr/>
        </p:nvSpPr>
        <p:spPr>
          <a:xfrm>
            <a:off x="6565392" y="2980944"/>
            <a:ext cx="5175504" cy="237744"/>
          </a:xfrm>
          <a:prstGeom prst="rect">
            <a:avLst/>
          </a:prstGeom>
          <a:noFill/>
          <a:ln/>
        </p:spPr>
        <p:txBody>
          <a:bodyPr wrap="square" lIns="0" tIns="0" rIns="0" bIns="0" rtlCol="0" anchor="ctr"/>
          <a:lstStyle/>
          <a:p>
            <a:pPr indent="0" marL="0">
              <a:buNone/>
            </a:pPr>
            <a:r>
              <a:rPr lang="en-US" sz="1150" b="1" dirty="0">
                <a:solidFill>
                  <a:srgbClr val="16212E"/>
                </a:solidFill>
                <a:latin typeface="Calibri" pitchFamily="34" charset="0"/>
                <a:ea typeface="Calibri" pitchFamily="34" charset="-122"/>
                <a:cs typeface="Calibri" pitchFamily="34" charset="-120"/>
              </a:rPr>
              <a:t>Legacy and rewrite agree. Both round to two decimals.</a:t>
            </a:r>
            <a:endParaRPr lang="en-US" sz="1150" dirty="0"/>
          </a:p>
        </p:txBody>
      </p:sp>
      <p:sp>
        <p:nvSpPr>
          <p:cNvPr id="24" name="Text 22"/>
          <p:cNvSpPr/>
          <p:nvPr/>
        </p:nvSpPr>
        <p:spPr>
          <a:xfrm>
            <a:off x="6565392" y="3236976"/>
            <a:ext cx="5175504" cy="237744"/>
          </a:xfrm>
          <a:prstGeom prst="rect">
            <a:avLst/>
          </a:prstGeom>
          <a:noFill/>
          <a:ln/>
        </p:spPr>
        <p:txBody>
          <a:bodyPr wrap="square" lIns="0" tIns="0" rIns="0" bIns="0" rtlCol="0" anchor="ctr"/>
          <a:lstStyle/>
          <a:p>
            <a:pPr indent="0" marL="0">
              <a:buNone/>
            </a:pPr>
            <a:r>
              <a:rPr lang="en-US" sz="1150" b="1" dirty="0">
                <a:solidFill>
                  <a:srgbClr val="B07A16"/>
                </a:solidFill>
                <a:latin typeface="Calibri" pitchFamily="34" charset="0"/>
                <a:ea typeface="Calibri" pitchFamily="34" charset="-122"/>
                <a:cs typeface="Calibri" pitchFamily="34" charset="-120"/>
              </a:rPr>
              <a:t>RBI clause 4(f) requires rounding to the nearest rupee.</a:t>
            </a:r>
            <a:endParaRPr lang="en-US" sz="1150" dirty="0"/>
          </a:p>
        </p:txBody>
      </p:sp>
      <p:sp>
        <p:nvSpPr>
          <p:cNvPr id="25" name="Text 23"/>
          <p:cNvSpPr/>
          <p:nvPr/>
        </p:nvSpPr>
        <p:spPr>
          <a:xfrm>
            <a:off x="6565392" y="3493008"/>
            <a:ext cx="5175504" cy="402336"/>
          </a:xfrm>
          <a:prstGeom prst="rect">
            <a:avLst/>
          </a:prstGeom>
          <a:noFill/>
          <a:ln/>
        </p:spPr>
        <p:txBody>
          <a:bodyPr wrap="square" lIns="0" tIns="0" rIns="0" bIns="0" rtlCol="0" anchor="ctr"/>
          <a:lstStyle/>
          <a:p>
            <a:pPr indent="0" marL="0">
              <a:lnSpc>
                <a:spcPts val="1400"/>
              </a:lnSpc>
              <a:buNone/>
            </a:pPr>
            <a:r>
              <a:rPr lang="en-US" sz="1050" dirty="0">
                <a:solidFill>
                  <a:srgbClr val="16212E"/>
                </a:solidFill>
                <a:latin typeface="Calibri" pitchFamily="34" charset="0"/>
                <a:ea typeface="Calibri" pitchFamily="34" charset="-122"/>
                <a:cs typeface="Calibri" pitchFamily="34" charset="-120"/>
              </a:rPr>
              <a:t>Not a migration defect. It has been running for forty years, and warrants a compliance review.</a:t>
            </a:r>
            <a:endParaRPr lang="en-US" sz="1050" dirty="0"/>
          </a:p>
        </p:txBody>
      </p:sp>
      <p:sp>
        <p:nvSpPr>
          <p:cNvPr id="26" name="Shape 24"/>
          <p:cNvSpPr/>
          <p:nvPr/>
        </p:nvSpPr>
        <p:spPr>
          <a:xfrm>
            <a:off x="566928" y="4133088"/>
            <a:ext cx="3566160" cy="914400"/>
          </a:xfrm>
          <a:prstGeom prst="roundRect">
            <a:avLst>
              <a:gd name="adj" fmla="val 6000"/>
            </a:avLst>
          </a:prstGeom>
          <a:solidFill>
            <a:srgbClr val="EDF1F5"/>
          </a:solidFill>
          <a:ln w="12700">
            <a:solidFill>
              <a:srgbClr val="EDF1F5"/>
            </a:solidFill>
            <a:prstDash val="solid"/>
          </a:ln>
        </p:spPr>
      </p:sp>
      <p:sp>
        <p:nvSpPr>
          <p:cNvPr id="27" name="Text 25"/>
          <p:cNvSpPr/>
          <p:nvPr/>
        </p:nvSpPr>
        <p:spPr>
          <a:xfrm>
            <a:off x="786384" y="4224528"/>
            <a:ext cx="3127248" cy="256032"/>
          </a:xfrm>
          <a:prstGeom prst="rect">
            <a:avLst/>
          </a:prstGeom>
          <a:noFill/>
          <a:ln/>
        </p:spPr>
        <p:txBody>
          <a:bodyPr wrap="square" lIns="0" tIns="0" rIns="0" bIns="0" rtlCol="0" anchor="ctr"/>
          <a:lstStyle/>
          <a:p>
            <a:pPr indent="0" marL="0">
              <a:buNone/>
            </a:pPr>
            <a:r>
              <a:rPr lang="en-US" sz="1250" b="1" dirty="0">
                <a:solidFill>
                  <a:srgbClr val="0E2033"/>
                </a:solidFill>
                <a:latin typeface="Calibri" pitchFamily="34" charset="0"/>
                <a:ea typeface="Calibri" pitchFamily="34" charset="-122"/>
                <a:cs typeface="Calibri" pitchFamily="34" charset="-120"/>
              </a:rPr>
              <a:t>A specification</a:t>
            </a:r>
            <a:endParaRPr lang="en-US" sz="1250" dirty="0"/>
          </a:p>
        </p:txBody>
      </p:sp>
      <p:sp>
        <p:nvSpPr>
          <p:cNvPr id="28" name="Text 26"/>
          <p:cNvSpPr/>
          <p:nvPr/>
        </p:nvSpPr>
        <p:spPr>
          <a:xfrm>
            <a:off x="786384" y="4480560"/>
            <a:ext cx="3127248" cy="47548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Readable, traceable documentation for a system that never had any.</a:t>
            </a:r>
            <a:endParaRPr lang="en-US" sz="1050" dirty="0"/>
          </a:p>
        </p:txBody>
      </p:sp>
      <p:sp>
        <p:nvSpPr>
          <p:cNvPr id="29" name="Shape 27"/>
          <p:cNvSpPr/>
          <p:nvPr/>
        </p:nvSpPr>
        <p:spPr>
          <a:xfrm>
            <a:off x="4315968" y="4133088"/>
            <a:ext cx="3566160" cy="914400"/>
          </a:xfrm>
          <a:prstGeom prst="roundRect">
            <a:avLst>
              <a:gd name="adj" fmla="val 6000"/>
            </a:avLst>
          </a:prstGeom>
          <a:solidFill>
            <a:srgbClr val="EDF1F5"/>
          </a:solidFill>
          <a:ln w="12700">
            <a:solidFill>
              <a:srgbClr val="EDF1F5"/>
            </a:solidFill>
            <a:prstDash val="solid"/>
          </a:ln>
        </p:spPr>
      </p:sp>
      <p:sp>
        <p:nvSpPr>
          <p:cNvPr id="30" name="Text 28"/>
          <p:cNvSpPr/>
          <p:nvPr/>
        </p:nvSpPr>
        <p:spPr>
          <a:xfrm>
            <a:off x="4535424" y="4224528"/>
            <a:ext cx="3127248" cy="256032"/>
          </a:xfrm>
          <a:prstGeom prst="rect">
            <a:avLst/>
          </a:prstGeom>
          <a:noFill/>
          <a:ln/>
        </p:spPr>
        <p:txBody>
          <a:bodyPr wrap="square" lIns="0" tIns="0" rIns="0" bIns="0" rtlCol="0" anchor="ctr"/>
          <a:lstStyle/>
          <a:p>
            <a:pPr indent="0" marL="0">
              <a:buNone/>
            </a:pPr>
            <a:r>
              <a:rPr lang="en-US" sz="1250" b="1" dirty="0">
                <a:solidFill>
                  <a:srgbClr val="0E2033"/>
                </a:solidFill>
                <a:latin typeface="Calibri" pitchFamily="34" charset="0"/>
                <a:ea typeface="Calibri" pitchFamily="34" charset="-122"/>
                <a:cs typeface="Calibri" pitchFamily="34" charset="-120"/>
              </a:rPr>
              <a:t>A regression suite</a:t>
            </a:r>
            <a:endParaRPr lang="en-US" sz="1250" dirty="0"/>
          </a:p>
        </p:txBody>
      </p:sp>
      <p:sp>
        <p:nvSpPr>
          <p:cNvPr id="31" name="Text 29"/>
          <p:cNvSpPr/>
          <p:nvPr/>
        </p:nvSpPr>
        <p:spPr>
          <a:xfrm>
            <a:off x="4535424" y="4480560"/>
            <a:ext cx="3127248" cy="47548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Thousands of input–output pairs, retained permanently by the institution.</a:t>
            </a:r>
            <a:endParaRPr lang="en-US" sz="1050" dirty="0"/>
          </a:p>
        </p:txBody>
      </p:sp>
      <p:sp>
        <p:nvSpPr>
          <p:cNvPr id="32" name="Shape 30"/>
          <p:cNvSpPr/>
          <p:nvPr/>
        </p:nvSpPr>
        <p:spPr>
          <a:xfrm>
            <a:off x="8065008" y="4133088"/>
            <a:ext cx="3566160" cy="914400"/>
          </a:xfrm>
          <a:prstGeom prst="roundRect">
            <a:avLst>
              <a:gd name="adj" fmla="val 6000"/>
            </a:avLst>
          </a:prstGeom>
          <a:solidFill>
            <a:srgbClr val="EDF1F5"/>
          </a:solidFill>
          <a:ln w="12700">
            <a:solidFill>
              <a:srgbClr val="EDF1F5"/>
            </a:solidFill>
            <a:prstDash val="solid"/>
          </a:ln>
        </p:spPr>
      </p:sp>
      <p:sp>
        <p:nvSpPr>
          <p:cNvPr id="33" name="Text 31"/>
          <p:cNvSpPr/>
          <p:nvPr/>
        </p:nvSpPr>
        <p:spPr>
          <a:xfrm>
            <a:off x="8284464" y="4224528"/>
            <a:ext cx="3127248" cy="256032"/>
          </a:xfrm>
          <a:prstGeom prst="rect">
            <a:avLst/>
          </a:prstGeom>
          <a:noFill/>
          <a:ln/>
        </p:spPr>
        <p:txBody>
          <a:bodyPr wrap="square" lIns="0" tIns="0" rIns="0" bIns="0" rtlCol="0" anchor="ctr"/>
          <a:lstStyle/>
          <a:p>
            <a:pPr indent="0" marL="0">
              <a:buNone/>
            </a:pPr>
            <a:r>
              <a:rPr lang="en-US" sz="1250" b="1" dirty="0">
                <a:solidFill>
                  <a:srgbClr val="0E2033"/>
                </a:solidFill>
                <a:latin typeface="Calibri" pitchFamily="34" charset="0"/>
                <a:ea typeface="Calibri" pitchFamily="34" charset="-122"/>
                <a:cs typeface="Calibri" pitchFamily="34" charset="-120"/>
              </a:rPr>
              <a:t>An equivalence claim</a:t>
            </a:r>
            <a:endParaRPr lang="en-US" sz="1250" dirty="0"/>
          </a:p>
        </p:txBody>
      </p:sp>
      <p:sp>
        <p:nvSpPr>
          <p:cNvPr id="34" name="Text 32"/>
          <p:cNvSpPr/>
          <p:nvPr/>
        </p:nvSpPr>
        <p:spPr>
          <a:xfrm>
            <a:off x="8284464" y="4480560"/>
            <a:ext cx="3127248" cy="475488"/>
          </a:xfrm>
          <a:prstGeom prst="rect">
            <a:avLst/>
          </a:prstGeom>
          <a:noFill/>
          <a:ln/>
        </p:spPr>
        <p:txBody>
          <a:bodyPr wrap="square" lIns="0" tIns="0" rIns="0" bIns="0" rtlCol="0" anchor="ctr"/>
          <a:lstStyle/>
          <a:p>
            <a:pPr indent="0" marL="0">
              <a:lnSpc>
                <a:spcPts val="1400"/>
              </a:lnSpc>
              <a:buNone/>
            </a:pPr>
            <a:r>
              <a:rPr lang="en-US" sz="1050" dirty="0">
                <a:solidFill>
                  <a:srgbClr val="6B7785"/>
                </a:solidFill>
                <a:latin typeface="Calibri" pitchFamily="34" charset="0"/>
                <a:ea typeface="Calibri" pitchFamily="34" charset="-122"/>
                <a:cs typeface="Calibri" pitchFamily="34" charset="-120"/>
              </a:rPr>
              <a:t>Evidence-backed, with its own strength score. The artifact someone can sign.</a:t>
            </a:r>
            <a:endParaRPr lang="en-US" sz="1050" dirty="0"/>
          </a:p>
        </p:txBody>
      </p:sp>
      <p:sp>
        <p:nvSpPr>
          <p:cNvPr id="35" name="Shape 33"/>
          <p:cNvSpPr/>
          <p:nvPr/>
        </p:nvSpPr>
        <p:spPr>
          <a:xfrm>
            <a:off x="566928" y="5212080"/>
            <a:ext cx="11057839" cy="969264"/>
          </a:xfrm>
          <a:prstGeom prst="roundRect">
            <a:avLst>
              <a:gd name="adj" fmla="val 5660"/>
            </a:avLst>
          </a:prstGeom>
          <a:solidFill>
            <a:srgbClr val="0E2033"/>
          </a:solidFill>
          <a:ln w="12700">
            <a:solidFill>
              <a:srgbClr val="0E2033"/>
            </a:solidFill>
            <a:prstDash val="solid"/>
          </a:ln>
        </p:spPr>
      </p:sp>
      <p:sp>
        <p:nvSpPr>
          <p:cNvPr id="36" name="Text 34"/>
          <p:cNvSpPr/>
          <p:nvPr/>
        </p:nvSpPr>
        <p:spPr>
          <a:xfrm>
            <a:off x="877824" y="5303520"/>
            <a:ext cx="10436047"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first two hold their value even if the migration is never approved.</a:t>
            </a:r>
            <a:endParaRPr lang="en-US" sz="1700" dirty="0"/>
          </a:p>
        </p:txBody>
      </p:sp>
      <p:sp>
        <p:nvSpPr>
          <p:cNvPr id="37" name="Text 35"/>
          <p:cNvSpPr/>
          <p:nvPr/>
        </p:nvSpPr>
        <p:spPr>
          <a:xfrm>
            <a:off x="877824" y="5614416"/>
            <a:ext cx="10436047" cy="457200"/>
          </a:xfrm>
          <a:prstGeom prst="rect">
            <a:avLst/>
          </a:prstGeom>
          <a:noFill/>
          <a:ln/>
        </p:spPr>
        <p:txBody>
          <a:bodyPr wrap="square" lIns="0" tIns="0" rIns="0" bIns="0" rtlCol="0" anchor="ctr"/>
          <a:lstStyle/>
          <a:p>
            <a:pPr indent="0" marL="0">
              <a:lnSpc>
                <a:spcPts val="1600"/>
              </a:lnSpc>
              <a:buNone/>
            </a:pPr>
            <a:r>
              <a:rPr lang="en-US" sz="1200" dirty="0">
                <a:solidFill>
                  <a:srgbClr val="C3D2DF"/>
                </a:solidFill>
                <a:latin typeface="Calibri" pitchFamily="34" charset="0"/>
                <a:ea typeface="Calibri" pitchFamily="34" charset="-122"/>
                <a:cs typeface="Calibri" pitchFamily="34" charset="-120"/>
              </a:rPr>
              <a:t>A bank that has deferred this decision for a decade ends up with documentation and tests for a system it previously could not touch. That is what makes the modernisation programme scopeable, and therefore fundable.</a:t>
            </a:r>
            <a:endParaRPr lang="en-US" sz="1200" dirty="0"/>
          </a:p>
        </p:txBody>
      </p:sp>
      <p:sp>
        <p:nvSpPr>
          <p:cNvPr id="38" name="Text 36"/>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Figures illustrative, for a savings-interest accrual program.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65760"/>
            <a:ext cx="11057839" cy="237744"/>
          </a:xfrm>
          <a:prstGeom prst="rect">
            <a:avLst/>
          </a:prstGeom>
          <a:noFill/>
          <a:ln/>
        </p:spPr>
        <p:txBody>
          <a:bodyPr wrap="square" lIns="0" tIns="0" rIns="0" bIns="0" rtlCol="0" anchor="ctr"/>
          <a:lstStyle/>
          <a:p>
            <a:pPr indent="0" marL="0">
              <a:buNone/>
            </a:pPr>
            <a:r>
              <a:rPr lang="en-US" sz="1050" b="1" spc="260" kern="0" dirty="0">
                <a:solidFill>
                  <a:srgbClr val="6B7785"/>
                </a:solidFill>
                <a:latin typeface="Calibri" pitchFamily="34" charset="0"/>
                <a:ea typeface="Calibri" pitchFamily="34" charset="-122"/>
                <a:cs typeface="Calibri" pitchFamily="34" charset="-120"/>
              </a:rPr>
              <a:t>REFERENCES</a:t>
            </a:r>
            <a:endParaRPr lang="en-US" sz="1050" dirty="0"/>
          </a:p>
        </p:txBody>
      </p:sp>
      <p:sp>
        <p:nvSpPr>
          <p:cNvPr id="3" name="Text 1"/>
          <p:cNvSpPr/>
          <p:nvPr/>
        </p:nvSpPr>
        <p:spPr>
          <a:xfrm>
            <a:off x="566928" y="640080"/>
            <a:ext cx="11057839" cy="640080"/>
          </a:xfrm>
          <a:prstGeom prst="rect">
            <a:avLst/>
          </a:prstGeom>
          <a:noFill/>
          <a:ln/>
        </p:spPr>
        <p:txBody>
          <a:bodyPr wrap="square" lIns="0" tIns="0" rIns="0" bIns="0" rtlCol="0" anchor="t"/>
          <a:lstStyle/>
          <a:p>
            <a:pPr indent="0" marL="0">
              <a:buNone/>
            </a:pPr>
            <a:r>
              <a:rPr lang="en-US" sz="3100" b="1" dirty="0">
                <a:solidFill>
                  <a:srgbClr val="16212E"/>
                </a:solidFill>
                <a:latin typeface="Cambria" pitchFamily="34" charset="0"/>
                <a:ea typeface="Cambria" pitchFamily="34" charset="-122"/>
                <a:cs typeface="Cambria" pitchFamily="34" charset="-120"/>
              </a:rPr>
              <a:t>Sources</a:t>
            </a:r>
            <a:endParaRPr lang="en-US" sz="3100" dirty="0"/>
          </a:p>
        </p:txBody>
      </p:sp>
      <p:sp>
        <p:nvSpPr>
          <p:cNvPr id="4" name="Text 2"/>
          <p:cNvSpPr/>
          <p:nvPr/>
        </p:nvSpPr>
        <p:spPr>
          <a:xfrm>
            <a:off x="566928" y="1426464"/>
            <a:ext cx="5440680" cy="237744"/>
          </a:xfrm>
          <a:prstGeom prst="rect">
            <a:avLst/>
          </a:prstGeom>
          <a:noFill/>
          <a:ln/>
        </p:spPr>
        <p:txBody>
          <a:bodyPr wrap="square" lIns="0" tIns="0" rIns="0" bIns="0" rtlCol="0" anchor="ctr"/>
          <a:lstStyle/>
          <a:p>
            <a:pPr indent="0" marL="0">
              <a:buNone/>
            </a:pPr>
            <a:r>
              <a:rPr lang="en-US" sz="1000" b="1" spc="160" kern="0" dirty="0">
                <a:solidFill>
                  <a:srgbClr val="B07A16"/>
                </a:solidFill>
                <a:latin typeface="Calibri" pitchFamily="34" charset="0"/>
                <a:ea typeface="Calibri" pitchFamily="34" charset="-122"/>
                <a:cs typeface="Calibri" pitchFamily="34" charset="-120"/>
              </a:rPr>
              <a:t>PEER-REVIEWED AND PREPRINTS</a:t>
            </a:r>
            <a:endParaRPr lang="en-US" sz="1000" dirty="0"/>
          </a:p>
        </p:txBody>
      </p:sp>
      <p:sp>
        <p:nvSpPr>
          <p:cNvPr id="5" name="Text 3"/>
          <p:cNvSpPr/>
          <p:nvPr/>
        </p:nvSpPr>
        <p:spPr>
          <a:xfrm>
            <a:off x="566928" y="1773936"/>
            <a:ext cx="5440680" cy="2871216"/>
          </a:xfrm>
          <a:prstGeom prst="rect">
            <a:avLst/>
          </a:prstGeom>
          <a:noFill/>
          <a:ln/>
        </p:spPr>
        <p:txBody>
          <a:bodyPr wrap="square" lIns="0" tIns="0" rIns="0" bIns="0" rtlCol="0" anchor="t"/>
          <a:lstStyle/>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Hans, S. et al. (2025).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Automated Testing of COBOL to Java Transformation. arXiv:2504.10548.</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Pan, R. et al. (2024).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Lost in Translation: A Study of Bugs Introduced by LLMs while Translating Code. ICSE 2024, arXiv:2308.03109.</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Ahmed, S. N. &amp; Galib, M. (2026).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AgentModernize: Preserving Business Logic in Legacy Modernization. arXiv:2605.17535.</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Ferenczi, A. et al. (2026).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Agentic Method for Deterministic Validation of Legacy Code Migration. arXiv:2607.28271.</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Shah, S. et al. (2025).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A-COBREX: Identifying Business Rules in COBOL Programs. ICSE 2025, Demonstrations.</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B S, C. &amp; Chimalakonda, S. (2025).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LLM vs Rule-Based: the COBRAIN Tool. EASE 2025, doi:10.1145/3756681.3756982.</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Lwin, N. O. &amp; Kumar, R. (2026).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Deterministic vs LLM-Controlled Orchestration for COBOL-to-Python Modernization. arXiv:2605.09894.</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Barr, E. T. et al. (2015).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The Oracle Problem in Software Testing: A Survey. IEEE TSE 41(5), 507–525.</a:t>
            </a:r>
            <a:endParaRPr lang="en-US" sz="1000" dirty="0"/>
          </a:p>
        </p:txBody>
      </p:sp>
      <p:sp>
        <p:nvSpPr>
          <p:cNvPr id="6" name="Text 4"/>
          <p:cNvSpPr/>
          <p:nvPr/>
        </p:nvSpPr>
        <p:spPr>
          <a:xfrm>
            <a:off x="6199632" y="1426464"/>
            <a:ext cx="5440680" cy="237744"/>
          </a:xfrm>
          <a:prstGeom prst="rect">
            <a:avLst/>
          </a:prstGeom>
          <a:noFill/>
          <a:ln/>
        </p:spPr>
        <p:txBody>
          <a:bodyPr wrap="square" lIns="0" tIns="0" rIns="0" bIns="0" rtlCol="0" anchor="ctr"/>
          <a:lstStyle/>
          <a:p>
            <a:pPr indent="0" marL="0">
              <a:buNone/>
            </a:pPr>
            <a:r>
              <a:rPr lang="en-US" sz="1000" b="1" spc="160" kern="0" dirty="0">
                <a:solidFill>
                  <a:srgbClr val="B07A16"/>
                </a:solidFill>
                <a:latin typeface="Calibri" pitchFamily="34" charset="0"/>
                <a:ea typeface="Calibri" pitchFamily="34" charset="-122"/>
                <a:cs typeface="Calibri" pitchFamily="34" charset="-120"/>
              </a:rPr>
              <a:t>REGULATORY AND SUPERVISORY</a:t>
            </a:r>
            <a:endParaRPr lang="en-US" sz="1000" dirty="0"/>
          </a:p>
        </p:txBody>
      </p:sp>
      <p:sp>
        <p:nvSpPr>
          <p:cNvPr id="7" name="Text 5"/>
          <p:cNvSpPr/>
          <p:nvPr/>
        </p:nvSpPr>
        <p:spPr>
          <a:xfrm>
            <a:off x="6199632" y="1773936"/>
            <a:ext cx="5440680" cy="1133856"/>
          </a:xfrm>
          <a:prstGeom prst="rect">
            <a:avLst/>
          </a:prstGeom>
          <a:noFill/>
          <a:ln/>
        </p:spPr>
        <p:txBody>
          <a:bodyPr wrap="square" lIns="0" tIns="0" rIns="0" bIns="0" rtlCol="0" anchor="t"/>
          <a:lstStyle/>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Reserve Bank of India (2016, upd. 2024).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Master Direction — Interest Rate on Deposits Directions. Clauses 4(f), 6(a), 6(a)(1)–(2).</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Reserve Bank of India (2023).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Master Direction on Information Technology Governance, Risk, Controls and Assurance Practices.</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Financial Conduct Authority (2022).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TSB fined £48.65m for operational resilience failings.</a:t>
            </a:r>
            <a:endParaRPr lang="en-US" sz="1000" dirty="0"/>
          </a:p>
        </p:txBody>
      </p:sp>
      <p:sp>
        <p:nvSpPr>
          <p:cNvPr id="8" name="Text 6"/>
          <p:cNvSpPr/>
          <p:nvPr/>
        </p:nvSpPr>
        <p:spPr>
          <a:xfrm>
            <a:off x="6199632" y="3127248"/>
            <a:ext cx="5440680" cy="237744"/>
          </a:xfrm>
          <a:prstGeom prst="rect">
            <a:avLst/>
          </a:prstGeom>
          <a:noFill/>
          <a:ln/>
        </p:spPr>
        <p:txBody>
          <a:bodyPr wrap="square" lIns="0" tIns="0" rIns="0" bIns="0" rtlCol="0" anchor="ctr"/>
          <a:lstStyle/>
          <a:p>
            <a:pPr indent="0" marL="0">
              <a:buNone/>
            </a:pPr>
            <a:r>
              <a:rPr lang="en-US" sz="1000" b="1" spc="160" kern="0" dirty="0">
                <a:solidFill>
                  <a:srgbClr val="B07A16"/>
                </a:solidFill>
                <a:latin typeface="Calibri" pitchFamily="34" charset="0"/>
                <a:ea typeface="Calibri" pitchFamily="34" charset="-122"/>
                <a:cs typeface="Calibri" pitchFamily="34" charset="-120"/>
              </a:rPr>
              <a:t>INDUSTRY AND MARKET</a:t>
            </a:r>
            <a:endParaRPr lang="en-US" sz="1000" dirty="0"/>
          </a:p>
        </p:txBody>
      </p:sp>
      <p:sp>
        <p:nvSpPr>
          <p:cNvPr id="9" name="Text 7"/>
          <p:cNvSpPr/>
          <p:nvPr/>
        </p:nvSpPr>
        <p:spPr>
          <a:xfrm>
            <a:off x="6199632" y="3474720"/>
            <a:ext cx="5440680" cy="1481328"/>
          </a:xfrm>
          <a:prstGeom prst="rect">
            <a:avLst/>
          </a:prstGeom>
          <a:noFill/>
          <a:ln/>
        </p:spPr>
        <p:txBody>
          <a:bodyPr wrap="square" lIns="0" tIns="0" rIns="0" bIns="0" rtlCol="0" anchor="t"/>
          <a:lstStyle/>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Boston Consulting Group (2024).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Cloud-based Core Transformations, via Business Standard.</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IBM.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watsonx Code Assistant for Z — Validation Assistant documentation.</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Amazon Web Services (2025).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AWS Transform for mainframe, generally available.</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Mechanical Orchard.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Imogen platform — generate-validate loop.</a:t>
            </a:r>
            <a:endParaRPr lang="en-US" sz="1000" dirty="0"/>
          </a:p>
        </p:txBody>
      </p:sp>
      <p:sp>
        <p:nvSpPr>
          <p:cNvPr id="10" name="Text 8"/>
          <p:cNvSpPr/>
          <p:nvPr/>
        </p:nvSpPr>
        <p:spPr>
          <a:xfrm>
            <a:off x="6199632" y="4736592"/>
            <a:ext cx="5440680" cy="237744"/>
          </a:xfrm>
          <a:prstGeom prst="rect">
            <a:avLst/>
          </a:prstGeom>
          <a:noFill/>
          <a:ln/>
        </p:spPr>
        <p:txBody>
          <a:bodyPr wrap="square" lIns="0" tIns="0" rIns="0" bIns="0" rtlCol="0" anchor="ctr"/>
          <a:lstStyle/>
          <a:p>
            <a:pPr indent="0" marL="0">
              <a:buNone/>
            </a:pPr>
            <a:r>
              <a:rPr lang="en-US" sz="1000" b="1" spc="160" kern="0" dirty="0">
                <a:solidFill>
                  <a:srgbClr val="B07A16"/>
                </a:solidFill>
                <a:latin typeface="Calibri" pitchFamily="34" charset="0"/>
                <a:ea typeface="Calibri" pitchFamily="34" charset="-122"/>
                <a:cs typeface="Calibri" pitchFamily="34" charset="-120"/>
              </a:rPr>
              <a:t>TOOLS AND STANDARDS</a:t>
            </a:r>
            <a:endParaRPr lang="en-US" sz="1000" dirty="0"/>
          </a:p>
        </p:txBody>
      </p:sp>
      <p:sp>
        <p:nvSpPr>
          <p:cNvPr id="11" name="Text 9"/>
          <p:cNvSpPr/>
          <p:nvPr/>
        </p:nvSpPr>
        <p:spPr>
          <a:xfrm>
            <a:off x="6199632" y="5084064"/>
            <a:ext cx="5440680" cy="1133856"/>
          </a:xfrm>
          <a:prstGeom prst="rect">
            <a:avLst/>
          </a:prstGeom>
          <a:noFill/>
          <a:ln/>
        </p:spPr>
        <p:txBody>
          <a:bodyPr wrap="square" lIns="0" tIns="0" rIns="0" bIns="0" rtlCol="0" anchor="t"/>
          <a:lstStyle/>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GnuCOBOL Project.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GnuCOBOL compiler, GPL/LGPL. NIST COBOL-85: 9,700 of 9,748.</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Wolf, U.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ProLeap COBOL Parser, MIT licence.</a:t>
            </a:r>
            <a:endParaRPr lang="en-US" sz="1000" dirty="0"/>
          </a:p>
          <a:p>
            <a:pPr indent="0" marL="0">
              <a:lnSpc>
                <a:spcPts val="1400"/>
              </a:lnSpc>
              <a:spcAft>
                <a:spcPts val="500"/>
              </a:spcAft>
              <a:buNone/>
            </a:pPr>
            <a:r>
              <a:rPr lang="en-US" sz="1000" b="1" dirty="0">
                <a:solidFill>
                  <a:srgbClr val="16212E"/>
                </a:solidFill>
                <a:latin typeface="Calibri" pitchFamily="34" charset="0"/>
                <a:ea typeface="Calibri" pitchFamily="34" charset="-122"/>
                <a:cs typeface="Calibri" pitchFamily="34" charset="-120"/>
              </a:rPr>
              <a:t>NIST (1992).  </a:t>
            </a:r>
            <a:pPr indent="0" marL="0">
              <a:lnSpc>
                <a:spcPts val="1400"/>
              </a:lnSpc>
              <a:spcAft>
                <a:spcPts val="500"/>
              </a:spcAft>
              <a:buNone/>
            </a:pPr>
            <a:r>
              <a:rPr lang="en-US" sz="1000" dirty="0">
                <a:solidFill>
                  <a:srgbClr val="6B7785"/>
                </a:solidFill>
                <a:latin typeface="Calibri" pitchFamily="34" charset="0"/>
                <a:ea typeface="Calibri" pitchFamily="34" charset="-122"/>
                <a:cs typeface="Calibri" pitchFamily="34" charset="-120"/>
              </a:rPr>
              <a:t>COBOL Compiler Validation System, CCVS85.</a:t>
            </a:r>
            <a:endParaRPr lang="en-US" sz="1000" dirty="0"/>
          </a:p>
        </p:txBody>
      </p:sp>
      <p:sp>
        <p:nvSpPr>
          <p:cNvPr id="12" name="Text 10"/>
          <p:cNvSpPr/>
          <p:nvPr/>
        </p:nvSpPr>
        <p:spPr>
          <a:xfrm>
            <a:off x="566928" y="6327648"/>
            <a:ext cx="11057839" cy="292608"/>
          </a:xfrm>
          <a:prstGeom prst="rect">
            <a:avLst/>
          </a:prstGeom>
          <a:noFill/>
          <a:ln/>
        </p:spPr>
        <p:txBody>
          <a:bodyPr wrap="square" lIns="0" tIns="0" rIns="0" bIns="0" rtlCol="0" anchor="ctr"/>
          <a:lstStyle/>
          <a:p>
            <a:pPr indent="0" marL="0">
              <a:lnSpc>
                <a:spcPts val="1200"/>
              </a:lnSpc>
              <a:buNone/>
            </a:pPr>
            <a:r>
              <a:rPr lang="en-US" sz="950" i="1" dirty="0">
                <a:solidFill>
                  <a:srgbClr val="6B7785"/>
                </a:solidFill>
                <a:latin typeface="Calibri" pitchFamily="34" charset="0"/>
                <a:ea typeface="Calibri" pitchFamily="34" charset="-122"/>
                <a:cs typeface="Calibri" pitchFamily="34" charset="-120"/>
              </a:rPr>
              <a:t>Full annotated bibliography, with a confidence rating per source and a record of which claims were independently re-verified, is in the research dossier accompanying this submission.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Odisha University of Technology and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Banking Modernisation Platform</dc:title>
  <dc:subject>PptxGenJS Presentation</dc:subject>
  <dc:creator>Team StudyEdge</dc:creator>
  <cp:lastModifiedBy>Team StudyEdge</cp:lastModifiedBy>
  <cp:revision>1</cp:revision>
  <dcterms:created xsi:type="dcterms:W3CDTF">2026-08-03T22:15:17Z</dcterms:created>
  <dcterms:modified xsi:type="dcterms:W3CDTF">2026-08-03T22:15:17Z</dcterms:modified>
</cp:coreProperties>
</file>