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line: every bank in this country wants off COBOL. Almost none of them have managed it. The reason is not what most people assume.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the scene concretely. This is not a hypothetical - it is the default state of core banking in India.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Pre-empt the obvious objection: isn't this solved? Yes - the solved half is the half nobody was stuck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crux of the whole pitch. If the audience takes one thing away, it is this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clear the inaction is rational. That reframes the problem as ours to solve, not theirs to be braver about.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three layers quickly. Signal that step 3 is where the real work is, then spend the next slide there.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Slow down here. This is the slide that separates us from every other submission. Say plainly: our system assumes the AI is wrong and proves it anyway.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Expect the question: how do you know the model did not hallucinate? This slide is the answer, and we raise it before the jury does.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Juries reward teams that name their boundary. State the non-determinism limitation out loud rather than waiting to be caught by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last line and stop. Do not add a thank-you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63440" cy="6858000"/>
          </a:xfrm>
          <a:prstGeom prst="rect">
            <a:avLst/>
          </a:prstGeom>
          <a:solidFill>
            <a:srgbClr val="1E2B4A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85800" y="13716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27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and finance technology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187452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Nurture</a:t>
            </a:r>
            <a:endParaRPr lang="en-US" sz="26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Hackathon 2026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85800" y="5120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StudyEdge  ·  OUTR, Bhubaneswar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349240" y="1520000"/>
            <a:ext cx="630936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Legacy Banking</a:t>
            </a:r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Modernisation Platform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349240" y="279000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27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Proving the rewrite behaves exactly like the original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349240" y="3430000"/>
            <a:ext cx="5943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migration fails on verification, not translation. We make behavioural equivalence something a bank can actually prove.</a:t>
            </a:r>
            <a:endParaRPr lang="en-US" sz="1450" dirty="0"/>
          </a:p>
        </p:txBody>
      </p:sp>
      <p:sp>
        <p:nvSpPr>
          <p:cNvPr id="9" name="Text Roster"/>
          <p:cNvSpPr txBox="1"/>
          <p:nvPr/>
        </p:nvSpPr>
        <p:spPr>
          <a:xfrm>
            <a:off x="685800" y="5486400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000" b="0">
                <a:solidFill>
                  <a:srgbClr val="78859C"/>
                </a:solidFill>
                <a:latin typeface="Calibri"/>
              </a:rPr>
              <a:t>Tamanna Panda (team lead)  ·  Swayam Subhankar Sahoo</a:t>
            </a:r>
          </a:p>
          <a:p>
            <a:pPr>
              <a:lnSpc>
                <a:spcPct val="125000"/>
              </a:lnSpc>
            </a:pPr>
            <a:r>
              <a:rPr sz="1000" b="0">
                <a:solidFill>
                  <a:srgbClr val="78859C"/>
                </a:solidFill>
                <a:latin typeface="Calibri"/>
              </a:rPr>
              <a:t>Adyasha Das  ·  Soumyajit Sarkar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27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SITUATION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2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bank wants to leave COBOL. Why hasn't it?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383280" cy="2651760"/>
          </a:xfrm>
          <a:prstGeom prst="roundRect">
            <a:avLst>
              <a:gd name="adj" fmla="val 4138"/>
            </a:avLst>
          </a:prstGeom>
          <a:solidFill>
            <a:srgbClr val="EEF1F6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01168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E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1987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960120" y="29260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interest engine written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0120" y="33832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66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authors have long since retired.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43400" y="1783080"/>
            <a:ext cx="3383280" cy="2651760"/>
          </a:xfrm>
          <a:prstGeom prst="roundRect">
            <a:avLst>
              <a:gd name="adj" fmla="val 4138"/>
            </a:avLst>
          </a:prstGeom>
          <a:solidFill>
            <a:srgbClr val="EEF1F6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01168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E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~200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Undocumented modifications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63440" y="33832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66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one a fix for a real production incident.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46720" y="1783080"/>
            <a:ext cx="3383280" cy="2651760"/>
          </a:xfrm>
          <a:prstGeom prst="roundRect">
            <a:avLst>
              <a:gd name="adj" fmla="val 4138"/>
            </a:avLst>
          </a:prstGeom>
          <a:solidFill>
            <a:srgbClr val="EEF1F6"/>
          </a:solidFill>
          <a:ln/>
        </p:spPr>
      </p:sp>
      <p:sp>
        <p:nvSpPr>
          <p:cNvPr id="13" name="Text 11"/>
          <p:cNvSpPr/>
          <p:nvPr/>
        </p:nvSpPr>
        <p:spPr>
          <a:xfrm>
            <a:off x="8366760" y="201168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E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600" dirty="0"/>
          </a:p>
        </p:txBody>
      </p:sp>
      <p:sp>
        <p:nvSpPr>
          <p:cNvPr id="14" name="Text 12"/>
          <p:cNvSpPr/>
          <p:nvPr/>
        </p:nvSpPr>
        <p:spPr>
          <a:xfrm>
            <a:off x="8366760" y="29260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specifications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66760" y="33832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66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states what the program is meant to do.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800600"/>
            <a:ext cx="10744200" cy="1188720"/>
          </a:xfrm>
          <a:prstGeom prst="roundRect">
            <a:avLst>
              <a:gd name="adj" fmla="val 9231"/>
            </a:avLst>
          </a:prstGeom>
          <a:solidFill>
            <a:srgbClr val="1E2B4A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50292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migration has been on the roadmap for eleven years. Every year it is deferred. Nobody in the organisation is being irrational.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27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MISDIAGNOSIS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2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Everyone thinks this is a translation problem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120640" cy="3108960"/>
          </a:xfrm>
          <a:prstGeom prst="roundRect">
            <a:avLst>
              <a:gd name="adj" fmla="val 3529"/>
            </a:avLst>
          </a:prstGeom>
          <a:solidFill>
            <a:srgbClr val="F7E8E7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084832"/>
            <a:ext cx="310896" cy="310896"/>
          </a:xfrm>
          <a:prstGeom prst="ellipse">
            <a:avLst/>
          </a:prstGeom>
          <a:solidFill>
            <a:srgbClr val="9E2B25"/>
          </a:solidFill>
          <a:ln/>
        </p:spPr>
      </p:sp>
      <p:sp>
        <p:nvSpPr>
          <p:cNvPr id="6" name="Text 4"/>
          <p:cNvSpPr/>
          <p:nvPr/>
        </p:nvSpPr>
        <p:spPr>
          <a:xfrm>
            <a:off x="1417320" y="206654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E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market builds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0120" y="2606040"/>
            <a:ext cx="4480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2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Transpilers that convert COBOL to Java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2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models that rewrite code on request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2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Refactoring and code-generation platforms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4114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E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part already works.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263640" y="1783080"/>
            <a:ext cx="5120640" cy="3108960"/>
          </a:xfrm>
          <a:prstGeom prst="roundRect">
            <a:avLst>
              <a:gd name="adj" fmla="val 3529"/>
            </a:avLst>
          </a:prstGeom>
          <a:solidFill>
            <a:srgbClr val="EEF1F6"/>
          </a:solidFill>
          <a:ln/>
        </p:spPr>
      </p:sp>
      <p:sp>
        <p:nvSpPr>
          <p:cNvPr id="10" name="Shape 8"/>
          <p:cNvSpPr/>
          <p:nvPr/>
        </p:nvSpPr>
        <p:spPr>
          <a:xfrm>
            <a:off x="6583680" y="2084832"/>
            <a:ext cx="310896" cy="310896"/>
          </a:xfrm>
          <a:prstGeom prst="ellipse">
            <a:avLst/>
          </a:prstGeom>
          <a:solidFill>
            <a:srgbClr val="1E2B4A"/>
          </a:solidFill>
          <a:ln/>
        </p:spPr>
      </p:sp>
      <p:sp>
        <p:nvSpPr>
          <p:cNvPr id="11" name="Text 9"/>
          <p:cNvSpPr/>
          <p:nvPr/>
        </p:nvSpPr>
        <p:spPr>
          <a:xfrm>
            <a:off x="7040880" y="206654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still blocks the migration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83680" y="2606040"/>
            <a:ext cx="4480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12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output compiles. It passes the tests you wrote. Nobody can tell you whether it behaves the same as the system it replaces.</a:t>
            </a:r>
            <a:endParaRPr lang="en-US" sz="1450" dirty="0"/>
          </a:p>
          <a:p>
            <a:pPr indent="0" marL="0">
              <a:lnSpc>
                <a:spcPts val="2200"/>
              </a:lnSpc>
              <a:buNone/>
            </a:pPr>
            <a:endParaRPr lang="en-US" sz="14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12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it does not ship.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40080" y="5257800"/>
            <a:ext cx="1074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C272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Generating the new code was never the hard part.</a:t>
            </a:r>
            <a:endParaRPr lang="en-US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27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PROBLEM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specification was never written down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6583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1600" dirty="0">
                <a:solidFill>
                  <a:srgbClr val="C4C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 accrual conventions. Rounding behaviour on the third decimal. Leap-year handling. Accounts opened on the 31st. Two hundred edge cases patched in over four decades, each in response to a real incident, none of them documented.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52044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E9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 those rules live today?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4069080"/>
            <a:ext cx="6583680" cy="1371600"/>
          </a:xfrm>
          <a:prstGeom prst="roundRect">
            <a:avLst>
              <a:gd name="adj" fmla="val 8000"/>
            </a:avLst>
          </a:prstGeom>
          <a:solidFill>
            <a:srgbClr val="C2721A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434340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17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Nowhere. The code is the specification.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7635240" y="1691640"/>
            <a:ext cx="3886200" cy="3749040"/>
          </a:xfrm>
          <a:prstGeom prst="roundRect">
            <a:avLst>
              <a:gd name="adj" fmla="val 2927"/>
            </a:avLst>
          </a:prstGeom>
          <a:solidFill>
            <a:srgbClr val="1E2B4A"/>
          </a:solidFill>
          <a:ln/>
        </p:spPr>
      </p:sp>
      <p:sp>
        <p:nvSpPr>
          <p:cNvPr id="9" name="Text 7"/>
          <p:cNvSpPr/>
          <p:nvPr/>
        </p:nvSpPr>
        <p:spPr>
          <a:xfrm>
            <a:off x="7955280" y="196596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27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way to learn a rule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955280" y="251460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source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955280" y="28346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4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thousand lines, no comments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955280" y="347472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program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955280" y="379476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4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what it actually does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955280" y="443484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someone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7955280" y="47548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4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retired in 2009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27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NOBODY RISKS IT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2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tolerance for error is zero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4937760" cy="2286000"/>
          </a:xfrm>
          <a:prstGeom prst="roundRect">
            <a:avLst>
              <a:gd name="adj" fmla="val 4800"/>
            </a:avLst>
          </a:prstGeom>
          <a:solidFill>
            <a:srgbClr val="121A2B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210312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C272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paisa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1005840" y="306324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C4C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divergence, across millions of accounts, is a reportable regulatory event — not a bug.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080760" y="1828800"/>
            <a:ext cx="5303520" cy="658368"/>
          </a:xfrm>
          <a:prstGeom prst="roundRect">
            <a:avLst>
              <a:gd name="adj" fmla="val 13889"/>
            </a:avLst>
          </a:prstGeom>
          <a:solidFill>
            <a:srgbClr val="EEF1F6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0" y="190195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Rounding drift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00800" y="216712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6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Silent, compounding, discovered at audit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80760" y="2624328"/>
            <a:ext cx="5303520" cy="658368"/>
          </a:xfrm>
          <a:prstGeom prst="roundRect">
            <a:avLst>
              <a:gd name="adj" fmla="val 13889"/>
            </a:avLst>
          </a:prstGeom>
          <a:solidFill>
            <a:srgbClr val="EEF1F6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26974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boundary handling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00800" y="296265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6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Loans mature on the wrong day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80760" y="3419856"/>
            <a:ext cx="5303520" cy="658368"/>
          </a:xfrm>
          <a:prstGeom prst="roundRect">
            <a:avLst>
              <a:gd name="adj" fmla="val 13889"/>
            </a:avLst>
          </a:prstGeom>
          <a:solidFill>
            <a:srgbClr val="EEF1F6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349300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logic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400800" y="375818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6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rate applied to a whole tier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526280"/>
            <a:ext cx="10744200" cy="1417320"/>
          </a:xfrm>
          <a:prstGeom prst="roundRect">
            <a:avLst>
              <a:gd name="adj" fmla="val 7742"/>
            </a:avLst>
          </a:prstGeom>
          <a:solidFill>
            <a:srgbClr val="FBEEDC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48006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5A3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institution keeps running software it cannot safely change. Multiply that decision across thousands of institutions and the modernisation backlog is measured in decades, not quarters.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27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2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Treat modernisation as a verification problem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383280" cy="3063240"/>
          </a:xfrm>
          <a:prstGeom prst="roundRect">
            <a:avLst>
              <a:gd name="adj" fmla="val 3582"/>
            </a:avLst>
          </a:prstGeom>
          <a:solidFill>
            <a:srgbClr val="EEF1F6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0116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60120" y="25146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60120" y="3108960"/>
            <a:ext cx="2743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66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Decompose the legacy source and state each unit's business rules in plain language — every rule traced to the lines that produce it.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43400" y="1783080"/>
            <a:ext cx="3383280" cy="3063240"/>
          </a:xfrm>
          <a:prstGeom prst="roundRect">
            <a:avLst>
              <a:gd name="adj" fmla="val 3582"/>
            </a:avLst>
          </a:prstGeom>
          <a:solidFill>
            <a:srgbClr val="EEF1F6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0116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663440" y="25146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Reimplement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663440" y="3108960"/>
            <a:ext cx="2743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66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the modern equivalent. This is the commodity step, and the least interesting part of what we build.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46720" y="1783080"/>
            <a:ext cx="3383280" cy="3063240"/>
          </a:xfrm>
          <a:prstGeom prst="roundRect">
            <a:avLst>
              <a:gd name="adj" fmla="val 3582"/>
            </a:avLst>
          </a:prstGeom>
          <a:solidFill>
            <a:srgbClr val="E2EFEC"/>
          </a:solidFill>
          <a:ln/>
        </p:spPr>
      </p:sp>
      <p:sp>
        <p:nvSpPr>
          <p:cNvPr id="13" name="Text 11"/>
          <p:cNvSpPr/>
          <p:nvPr/>
        </p:nvSpPr>
        <p:spPr>
          <a:xfrm>
            <a:off x="8366760" y="20116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6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366760" y="25146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366760" y="3108960"/>
            <a:ext cx="2743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66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boundary-targeting inputs, execute both programs on every one, and diff the outputs. Divergences are reported as reproducible cases.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5074920"/>
            <a:ext cx="10744200" cy="1051560"/>
          </a:xfrm>
          <a:prstGeom prst="roundRect">
            <a:avLst>
              <a:gd name="adj" fmla="val 10435"/>
            </a:avLst>
          </a:prstGeom>
          <a:solidFill>
            <a:srgbClr val="121A2B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528523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alone is not the deliverable. A confidently stated wrong rule is more dangerous than no rule at all.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27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IDEA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legacy system is its own correctness oracle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744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C4C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normally requires knowing the right answer in advance. Here, the program being replaced already defines the right answer — by running. Ground truth is free.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697480"/>
            <a:ext cx="3383280" cy="1051560"/>
          </a:xfrm>
          <a:prstGeom prst="roundRect">
            <a:avLst>
              <a:gd name="adj" fmla="val 8696"/>
            </a:avLst>
          </a:prstGeom>
          <a:solidFill>
            <a:srgbClr val="1E2B4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8803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program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2004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compiled and executed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43400" y="2697480"/>
            <a:ext cx="3383280" cy="1051560"/>
          </a:xfrm>
          <a:prstGeom prst="roundRect">
            <a:avLst>
              <a:gd name="adj" fmla="val 8696"/>
            </a:avLst>
          </a:prstGeom>
          <a:solidFill>
            <a:srgbClr val="1E2B4A"/>
          </a:solidFill>
          <a:ln/>
        </p:spPr>
      </p:sp>
      <p:sp>
        <p:nvSpPr>
          <p:cNvPr id="9" name="Text 7"/>
          <p:cNvSpPr/>
          <p:nvPr/>
        </p:nvSpPr>
        <p:spPr>
          <a:xfrm>
            <a:off x="4617720" y="28803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input corpus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617720" y="32004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boundaries the rules imply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046720" y="2697480"/>
            <a:ext cx="3383280" cy="1051560"/>
          </a:xfrm>
          <a:prstGeom prst="roundRect">
            <a:avLst>
              <a:gd name="adj" fmla="val 8696"/>
            </a:avLst>
          </a:prstGeom>
          <a:solidFill>
            <a:srgbClr val="1E2B4A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8803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Reimplementation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321040" y="32004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compiled and executed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069080"/>
            <a:ext cx="10744200" cy="1691640"/>
          </a:xfrm>
          <a:prstGeom prst="roundRect">
            <a:avLst>
              <a:gd name="adj" fmla="val 6486"/>
            </a:avLst>
          </a:prstGeom>
          <a:solidFill>
            <a:srgbClr val="C2721A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29768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17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mismatch is a reproducible finding, not a confidence score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05840" y="47548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2A170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Given a balance of 9,999.995 on a leap-year accrual, the legacy program returns 1042.50 and the reimplementation returns 1042.51.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27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HONESTY AS A FEATURE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2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report coverage instead of assuming it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120640" cy="2331720"/>
          </a:xfrm>
          <a:prstGeom prst="roundRect">
            <a:avLst>
              <a:gd name="adj" fmla="val 4706"/>
            </a:avLst>
          </a:prstGeom>
          <a:solidFill>
            <a:srgbClr val="E2EFEC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121408"/>
            <a:ext cx="310896" cy="310896"/>
          </a:xfrm>
          <a:prstGeom prst="ellipse">
            <a:avLst/>
          </a:prstGeom>
          <a:solidFill>
            <a:srgbClr val="12695C"/>
          </a:solidFill>
          <a:ln/>
        </p:spPr>
      </p:sp>
      <p:sp>
        <p:nvSpPr>
          <p:cNvPr id="6" name="Text 4"/>
          <p:cNvSpPr/>
          <p:nvPr/>
        </p:nvSpPr>
        <p:spPr>
          <a:xfrm>
            <a:off x="1417320" y="208483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6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Verified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2651760"/>
            <a:ext cx="448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2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by execution. The input corpus exercised this rule and both programs agreed on every case.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63640" y="1828800"/>
            <a:ext cx="5120640" cy="2331720"/>
          </a:xfrm>
          <a:prstGeom prst="roundRect">
            <a:avLst>
              <a:gd name="adj" fmla="val 4706"/>
            </a:avLst>
          </a:prstGeom>
          <a:solidFill>
            <a:srgbClr val="FBEEDC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0" y="2121408"/>
            <a:ext cx="310896" cy="310896"/>
          </a:xfrm>
          <a:prstGeom prst="ellipse">
            <a:avLst/>
          </a:prstGeom>
          <a:solidFill>
            <a:srgbClr val="C2721A"/>
          </a:solidFill>
          <a:ln/>
        </p:spPr>
      </p:sp>
      <p:sp>
        <p:nvSpPr>
          <p:cNvPr id="10" name="Text 8"/>
          <p:cNvSpPr/>
          <p:nvPr/>
        </p:nvSpPr>
        <p:spPr>
          <a:xfrm>
            <a:off x="7040880" y="208483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272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Unproven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583680" y="2651760"/>
            <a:ext cx="448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2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but never exercised. Flagged explicitly rather than silently trusted, so the gap is visible to the reviewer.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4526280"/>
            <a:ext cx="10744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566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 makes review cheap. Every rule carries a pointer to the exact lines that produce it, so an engineer confirms a claim by reading three lines instead of four thousand.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27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AND FEASIBILITY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2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Deliberately narrow, and genuinely buildable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120640" cy="731520"/>
          </a:xfrm>
          <a:prstGeom prst="roundRect">
            <a:avLst>
              <a:gd name="adj" fmla="val 12500"/>
            </a:avLst>
          </a:prstGeom>
          <a:solidFill>
            <a:srgbClr val="E2EFEC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920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960120" y="22128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COBOL, compiled and run via GnuCOBOL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697480"/>
            <a:ext cx="5120640" cy="731520"/>
          </a:xfrm>
          <a:prstGeom prst="roundRect">
            <a:avLst>
              <a:gd name="adj" fmla="val 12500"/>
            </a:avLst>
          </a:prstGeom>
          <a:solidFill>
            <a:srgbClr val="E2EFEC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788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60120" y="3081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banking interest accrual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566160"/>
            <a:ext cx="5120640" cy="731520"/>
          </a:xfrm>
          <a:prstGeom prst="roundRect">
            <a:avLst>
              <a:gd name="adj" fmla="val 12500"/>
            </a:avLst>
          </a:prstGeom>
          <a:solidFill>
            <a:srgbClr val="E2EFEC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657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shape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60120" y="39502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computation — input in, output out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63640" y="1828800"/>
            <a:ext cx="5120640" cy="2514600"/>
          </a:xfrm>
          <a:prstGeom prst="roundRect">
            <a:avLst>
              <a:gd name="adj" fmla="val 4364"/>
            </a:avLst>
          </a:prstGeom>
          <a:solidFill>
            <a:srgbClr val="EEF1F6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0" y="20574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Explicitly out of scope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83680" y="2560320"/>
            <a:ext cx="4480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2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Whole-system migration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2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CICS screens and JCL orchestration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2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Database-coupled programs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2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Non-deterministic logic — clocks, randomness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663440"/>
            <a:ext cx="10744200" cy="1234440"/>
          </a:xfrm>
          <a:prstGeom prst="roundRect">
            <a:avLst>
              <a:gd name="adj" fmla="val 8889"/>
            </a:avLst>
          </a:prstGeom>
          <a:solidFill>
            <a:srgbClr val="1E2B4A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48920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GnuCOBOL is free and runs on Linux, so the harness executes both sides for real on a laptop. Nothing here is hand-waved. Narrow scope is a design decision, not a limitation we hope nobody notices.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27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artifacts the institution keeps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383280" cy="2377440"/>
          </a:xfrm>
          <a:prstGeom prst="roundRect">
            <a:avLst>
              <a:gd name="adj" fmla="val 4615"/>
            </a:avLst>
          </a:prstGeom>
          <a:solidFill>
            <a:srgbClr val="1E2B4A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01168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C272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specification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60120" y="2788920"/>
            <a:ext cx="2743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C4C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Readable, traceable documentation for a system that never had any.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343400" y="1737360"/>
            <a:ext cx="3383280" cy="2377440"/>
          </a:xfrm>
          <a:prstGeom prst="roundRect">
            <a:avLst>
              <a:gd name="adj" fmla="val 4615"/>
            </a:avLst>
          </a:prstGeom>
          <a:solidFill>
            <a:srgbClr val="1E2B4A"/>
          </a:solidFill>
          <a:ln/>
        </p:spPr>
      </p:sp>
      <p:sp>
        <p:nvSpPr>
          <p:cNvPr id="8" name="Text 6"/>
          <p:cNvSpPr/>
          <p:nvPr/>
        </p:nvSpPr>
        <p:spPr>
          <a:xfrm>
            <a:off x="4663440" y="201168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C272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regression suite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4663440" y="2788920"/>
            <a:ext cx="2743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C4C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input–output pairs, retained permanently.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046720" y="1737360"/>
            <a:ext cx="3383280" cy="2377440"/>
          </a:xfrm>
          <a:prstGeom prst="roundRect">
            <a:avLst>
              <a:gd name="adj" fmla="val 4615"/>
            </a:avLst>
          </a:prstGeom>
          <a:solidFill>
            <a:srgbClr val="1E2B4A"/>
          </a:solidFill>
          <a:ln/>
        </p:spPr>
      </p:sp>
      <p:sp>
        <p:nvSpPr>
          <p:cNvPr id="11" name="Text 9"/>
          <p:cNvSpPr/>
          <p:nvPr/>
        </p:nvSpPr>
        <p:spPr>
          <a:xfrm>
            <a:off x="8366760" y="201168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C272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equivalence claim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8366760" y="2788920"/>
            <a:ext cx="2743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C4C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Evidence-backed, and the thing someone can actually sign.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4389120"/>
            <a:ext cx="10744200" cy="914400"/>
          </a:xfrm>
          <a:prstGeom prst="roundRect">
            <a:avLst>
              <a:gd name="adj" fmla="val 12000"/>
            </a:avLst>
          </a:prstGeom>
          <a:solidFill>
            <a:srgbClr val="1B263F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457200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two hold their value even if the migration is never approved. The bank ends up with documentation and tests for a system it previously could not touch.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40080" y="5577840"/>
            <a:ext cx="10744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272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Everyone else will tell you their AI works. We built the mechanism that catches ours being wrong.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Legacy Banking Modernisation Platform</dc:title>
  <dc:subject>PptxGenJS Presentation</dc:subject>
  <dc:creator>PptxGenJS</dc:creator>
  <cp:lastModifiedBy>PptxGenJS</cp:lastModifiedBy>
  <cp:revision>1</cp:revision>
  <dcterms:created xsi:type="dcterms:W3CDTF">2026-08-03T16:26:32Z</dcterms:created>
  <dcterms:modified xsi:type="dcterms:W3CDTF">2026-08-03T16:26:32Z</dcterms:modified>
</cp:coreProperties>
</file>