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480560" cy="6858000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13716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E894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BANKING AND FINANCE TECHNOLOGY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58368" y="178308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Nurture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Hackathon 2026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58368" y="4572000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StudyEdge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58368" y="491947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496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OUTR, Bhubaneswar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58368" y="5413248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8496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Tamanna Panda (team lead)  ·  Swayam Subhankar Sahoo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8496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Adyasha Das  ·  Soumyajit Sarkar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983480" y="1572768"/>
            <a:ext cx="66751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Legacy Banking</a:t>
            </a:r>
            <a:endParaRPr lang="en-US" sz="4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Modernisation Platform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983480" y="324612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89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Proving the rewrite behaves exactly like the original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983480" y="3886200"/>
            <a:ext cx="6126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C6C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migration fails on verification, not translation. We make behavioural equivalence something a bank can actually prove.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83480" y="5806440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8496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COBOL   ·   GnuCOBOL   ·   differential verification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E894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1 — THE PROBLEM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Forty years of undocumented change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1572768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9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4,000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234086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of COBOL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263347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496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one savings-interest engine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407664" y="1572768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9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1987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3407664" y="234086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it was written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407664" y="263347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496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authors retired long ago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175248" y="1572768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9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≈200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6175248" y="234086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modifications since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175248" y="263347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496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a fix for a real incident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942832" y="1572768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9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8942832" y="234086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of specification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942832" y="263347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496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states what it should do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40080" y="3456432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tolerance for error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640080" y="3877056"/>
            <a:ext cx="5989320" cy="548640"/>
          </a:xfrm>
          <a:prstGeom prst="roundRect">
            <a:avLst>
              <a:gd name="adj" fmla="val 11667"/>
            </a:avLst>
          </a:prstGeom>
          <a:solidFill>
            <a:srgbClr val="16233A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395935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Rounding drift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063240" y="395935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496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silent, compounding, discovered at audit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4535424"/>
            <a:ext cx="5989320" cy="548640"/>
          </a:xfrm>
          <a:prstGeom prst="roundRect">
            <a:avLst>
              <a:gd name="adj" fmla="val 11667"/>
            </a:avLst>
          </a:prstGeom>
          <a:solidFill>
            <a:srgbClr val="16233A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461772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boundaries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3063240" y="461772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496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loans mature on the wrong day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40080" y="5193792"/>
            <a:ext cx="5989320" cy="548640"/>
          </a:xfrm>
          <a:prstGeom prst="roundRect">
            <a:avLst>
              <a:gd name="adj" fmla="val 11667"/>
            </a:avLst>
          </a:prstGeom>
          <a:solidFill>
            <a:srgbClr val="16233A"/>
          </a:solidFill>
          <a:ln/>
        </p:spPr>
      </p:sp>
      <p:sp>
        <p:nvSpPr>
          <p:cNvPr id="24" name="Text 22"/>
          <p:cNvSpPr/>
          <p:nvPr/>
        </p:nvSpPr>
        <p:spPr>
          <a:xfrm>
            <a:off x="868680" y="527608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logic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3063240" y="5276088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496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rate applied to an entire tier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949440" y="3456432"/>
            <a:ext cx="4599432" cy="2395728"/>
          </a:xfrm>
          <a:prstGeom prst="roundRect">
            <a:avLst>
              <a:gd name="adj" fmla="val 2672"/>
            </a:avLst>
          </a:prstGeom>
          <a:solidFill>
            <a:srgbClr val="1B2B47"/>
          </a:solidFill>
          <a:ln/>
        </p:spPr>
      </p:sp>
      <p:sp>
        <p:nvSpPr>
          <p:cNvPr id="27" name="Text 25"/>
          <p:cNvSpPr/>
          <p:nvPr/>
        </p:nvSpPr>
        <p:spPr>
          <a:xfrm>
            <a:off x="7223760" y="3675888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9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paisa</a:t>
            </a:r>
            <a:endParaRPr lang="en-US" sz="3600" dirty="0"/>
          </a:p>
        </p:txBody>
      </p:sp>
      <p:sp>
        <p:nvSpPr>
          <p:cNvPr id="28" name="Text 26"/>
          <p:cNvSpPr/>
          <p:nvPr/>
        </p:nvSpPr>
        <p:spPr>
          <a:xfrm>
            <a:off x="7223760" y="4370832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6C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divergence, across millions of accounts, is a reportable regulatory event — not a bug report.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7223760" y="5193792"/>
            <a:ext cx="4160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i="1" dirty="0">
                <a:solidFill>
                  <a:srgbClr val="8496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bank keeps running software it cannot safely change. Nobody is being irrational.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0080" y="645566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Banking Modernisation Platform  ·  StudyEdge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0634472" y="645566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6B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E894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1 — THE PROBLEM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Everyone thinks this is a translation problem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627632"/>
            <a:ext cx="5440680" cy="3291840"/>
          </a:xfrm>
          <a:prstGeom prst="roundRect">
            <a:avLst>
              <a:gd name="adj" fmla="val 1944"/>
            </a:avLst>
          </a:prstGeom>
          <a:solidFill>
            <a:srgbClr val="16233A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883664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B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 — already solved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340864"/>
            <a:ext cx="4892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5BB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6C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transpilers have converted COBOL to Java for decades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14400" y="2999232"/>
            <a:ext cx="4892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5BB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6C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models rewrite code on request, reasonably well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14400" y="3657600"/>
            <a:ext cx="4892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5BB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6C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Refactoring and code-generation platforms are a mature market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14400" y="4407408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496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half was never the blocker.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64808" y="1627632"/>
            <a:ext cx="5440680" cy="3291840"/>
          </a:xfrm>
          <a:prstGeom prst="roundRect">
            <a:avLst>
              <a:gd name="adj" fmla="val 1944"/>
            </a:avLst>
          </a:prstGeom>
          <a:solidFill>
            <a:srgbClr val="1B2B47"/>
          </a:solidFill>
          <a:ln/>
        </p:spPr>
      </p:sp>
      <p:sp>
        <p:nvSpPr>
          <p:cNvPr id="11" name="Text 9"/>
          <p:cNvSpPr/>
          <p:nvPr/>
        </p:nvSpPr>
        <p:spPr>
          <a:xfrm>
            <a:off x="6739128" y="1883664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9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— the missing half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739128" y="2340864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E89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6C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rewrite compiles. It passes the tests the team wrote.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739128" y="3118104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E89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6C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can say whether it behaves like the system it replaces — because nobody knows what that system does.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739128" y="3895344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E89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6C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rewrite does not ship, and the backlog is measured in decades.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0080" y="5285232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bottleneck is proof, not production. </a:t>
            </a:r>
            <a:pPr algn="l" indent="0" marL="0">
              <a:buNone/>
            </a:pPr>
            <a:r>
              <a:rPr lang="en-US" sz="1700" dirty="0">
                <a:solidFill>
                  <a:srgbClr val="E89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That is the half nobody has built — and the half we build.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40080" y="645566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Banking Modernisation Platform  ·  StudyEdge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0634472" y="645566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6B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E894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1 — THE PROBLEM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specification was never written down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C6C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Accrual conventions. Rounding on the third decimal. Leap years. Accounts opened on the 31st. Two hundred fixes for real incidents — none of them documented anywhere.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40080" y="2971800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496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where do those rules live today?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40080" y="3346704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Nowhere.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397764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9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code is the specification.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40080" y="470916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8496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ways to learn a rule: read 4,000 undocumented lines, run the program and watch it, or ask someone who retired in 2009.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537960" y="1645920"/>
            <a:ext cx="5010912" cy="3200400"/>
          </a:xfrm>
          <a:prstGeom prst="roundRect">
            <a:avLst>
              <a:gd name="adj" fmla="val 2000"/>
            </a:avLst>
          </a:prstGeom>
          <a:solidFill>
            <a:srgbClr val="0A111E"/>
          </a:solidFill>
          <a:ln/>
        </p:spPr>
      </p:sp>
      <p:sp>
        <p:nvSpPr>
          <p:cNvPr id="10" name="Text 8"/>
          <p:cNvSpPr/>
          <p:nvPr/>
        </p:nvSpPr>
        <p:spPr>
          <a:xfrm>
            <a:off x="6812280" y="1847088"/>
            <a:ext cx="4462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496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ACCRUAL.CBL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12280" y="2231136"/>
            <a:ext cx="446227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6CF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COMPUTE WS-INT </a:t>
            </a:r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E894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ROUNDED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6CF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6CF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WS-PRIN * WS-RATE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6CF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* WS-DAYS / 36500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6CF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6CF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WS-DOM &gt; 28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6CF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PERFORM MONTH-END-FIX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37960" y="5029200"/>
            <a:ext cx="50109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496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word — </a:t>
            </a:r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E894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ROUNDED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496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decides how a few hundred crore of interest is settled. It is documented nowhere but here.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40080" y="645566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Banking Modernisation Platform  ·  StudyEdge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0634472" y="645566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6B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E894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1 — THE STAKES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is not one bank's problem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627632"/>
            <a:ext cx="3429000" cy="1965960"/>
          </a:xfrm>
          <a:prstGeom prst="roundRect">
            <a:avLst>
              <a:gd name="adj" fmla="val 3256"/>
            </a:avLst>
          </a:prstGeom>
          <a:solidFill>
            <a:srgbClr val="16233A"/>
          </a:solidFill>
          <a:ln/>
        </p:spPr>
      </p:sp>
      <p:sp>
        <p:nvSpPr>
          <p:cNvPr id="5" name="Text 3"/>
          <p:cNvSpPr/>
          <p:nvPr/>
        </p:nvSpPr>
        <p:spPr>
          <a:xfrm>
            <a:off x="896112" y="1828800"/>
            <a:ext cx="29169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220B+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96112" y="2560320"/>
            <a:ext cx="29169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C6C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of COBOL still in production worldwide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96112" y="3163824"/>
            <a:ext cx="2916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estimates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379976" y="1627632"/>
            <a:ext cx="3429000" cy="1965960"/>
          </a:xfrm>
          <a:prstGeom prst="roundRect">
            <a:avLst>
              <a:gd name="adj" fmla="val 3256"/>
            </a:avLst>
          </a:prstGeom>
          <a:solidFill>
            <a:srgbClr val="16233A"/>
          </a:solidFill>
          <a:ln/>
        </p:spPr>
      </p:sp>
      <p:sp>
        <p:nvSpPr>
          <p:cNvPr id="9" name="Text 7"/>
          <p:cNvSpPr/>
          <p:nvPr/>
        </p:nvSpPr>
        <p:spPr>
          <a:xfrm>
            <a:off x="4636008" y="1828800"/>
            <a:ext cx="29169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43%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4636008" y="2560320"/>
            <a:ext cx="29169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C6C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banking systems run on COBOL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636008" y="3163824"/>
            <a:ext cx="2916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widely cited industry figure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119872" y="1627632"/>
            <a:ext cx="3429000" cy="1965960"/>
          </a:xfrm>
          <a:prstGeom prst="roundRect">
            <a:avLst>
              <a:gd name="adj" fmla="val 3256"/>
            </a:avLst>
          </a:prstGeom>
          <a:solidFill>
            <a:srgbClr val="16233A"/>
          </a:solidFill>
          <a:ln/>
        </p:spPr>
      </p:sp>
      <p:sp>
        <p:nvSpPr>
          <p:cNvPr id="13" name="Text 11"/>
          <p:cNvSpPr/>
          <p:nvPr/>
        </p:nvSpPr>
        <p:spPr>
          <a:xfrm>
            <a:off x="8375904" y="1828800"/>
            <a:ext cx="29169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95%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8375904" y="2560320"/>
            <a:ext cx="29169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C6C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ATM transactions touch COBOL somewhere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375904" y="3163824"/>
            <a:ext cx="2916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their path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40080" y="3931920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C6C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banks, insurers and public-sector institutions sit squarely in this picture — running core engines their original authors no longer maintain, under a regulator with zero tolerance for divergence.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051560"/>
          </a:xfrm>
          <a:prstGeom prst="roundRect">
            <a:avLst>
              <a:gd name="adj" fmla="val 6087"/>
            </a:avLst>
          </a:prstGeom>
          <a:solidFill>
            <a:srgbClr val="1B2B47"/>
          </a:solidFill>
          <a:ln/>
        </p:spPr>
      </p:sp>
      <p:sp>
        <p:nvSpPr>
          <p:cNvPr id="18" name="Text 16"/>
          <p:cNvSpPr/>
          <p:nvPr/>
        </p:nvSpPr>
        <p:spPr>
          <a:xfrm>
            <a:off x="960120" y="4983480"/>
            <a:ext cx="102687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E89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now:  </a:t>
            </a:r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6C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models finally make rule extraction cheap — but unverified. Every vendor is shipping the translator. We ship the </a:t>
            </a:r>
            <a:pPr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layer</a:t>
            </a:r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6C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that lets a bank say yes to any of them.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40080" y="645566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Banking Modernisation Platform  ·  StudyEdge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0634472" y="645566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6B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E894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2 — THE SOLUTION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Treat modernisation as a verification problem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364992" cy="3017520"/>
          </a:xfrm>
          <a:prstGeom prst="roundRect">
            <a:avLst>
              <a:gd name="adj" fmla="val 2121"/>
            </a:avLst>
          </a:prstGeom>
          <a:solidFill>
            <a:srgbClr val="16233A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965960"/>
            <a:ext cx="566928" cy="566928"/>
          </a:xfrm>
          <a:prstGeom prst="ellipse">
            <a:avLst/>
          </a:prstGeom>
          <a:solidFill>
            <a:srgbClr val="E8942E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9659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2697480"/>
            <a:ext cx="2816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Extract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3154680"/>
            <a:ext cx="281635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6C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Decompose the legacy source into functional units and state each unit's business rules in plain language — every rule traced to the exact lines that produce it.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032504" y="3081528"/>
            <a:ext cx="365760" cy="237744"/>
          </a:xfrm>
          <a:prstGeom prst="rightArrow">
            <a:avLst/>
          </a:prstGeom>
          <a:solidFill>
            <a:srgbClr val="2E4062"/>
          </a:solidFill>
          <a:ln/>
        </p:spPr>
      </p:sp>
      <p:sp>
        <p:nvSpPr>
          <p:cNvPr id="10" name="Shape 8"/>
          <p:cNvSpPr/>
          <p:nvPr/>
        </p:nvSpPr>
        <p:spPr>
          <a:xfrm>
            <a:off x="4416552" y="1691640"/>
            <a:ext cx="3364992" cy="3017520"/>
          </a:xfrm>
          <a:prstGeom prst="roundRect">
            <a:avLst>
              <a:gd name="adj" fmla="val 2121"/>
            </a:avLst>
          </a:prstGeom>
          <a:solidFill>
            <a:srgbClr val="16233A"/>
          </a:solidFill>
          <a:ln/>
        </p:spPr>
      </p:sp>
      <p:sp>
        <p:nvSpPr>
          <p:cNvPr id="11" name="Shape 9"/>
          <p:cNvSpPr/>
          <p:nvPr/>
        </p:nvSpPr>
        <p:spPr>
          <a:xfrm>
            <a:off x="4690872" y="1965960"/>
            <a:ext cx="566928" cy="566928"/>
          </a:xfrm>
          <a:prstGeom prst="ellipse">
            <a:avLst/>
          </a:prstGeom>
          <a:solidFill>
            <a:srgbClr val="E8942E"/>
          </a:solidFill>
          <a:ln/>
        </p:spPr>
      </p:sp>
      <p:sp>
        <p:nvSpPr>
          <p:cNvPr id="12" name="Text 10"/>
          <p:cNvSpPr/>
          <p:nvPr/>
        </p:nvSpPr>
        <p:spPr>
          <a:xfrm>
            <a:off x="4690872" y="19659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90872" y="2697480"/>
            <a:ext cx="2816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Reimplement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690872" y="3154680"/>
            <a:ext cx="281635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6C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the modern equivalent. Deliberately the commodity step — the least interesting part of the system.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808976" y="3081528"/>
            <a:ext cx="365760" cy="237744"/>
          </a:xfrm>
          <a:prstGeom prst="rightArrow">
            <a:avLst/>
          </a:prstGeom>
          <a:solidFill>
            <a:srgbClr val="2E4062"/>
          </a:solidFill>
          <a:ln/>
        </p:spPr>
      </p:sp>
      <p:sp>
        <p:nvSpPr>
          <p:cNvPr id="16" name="Shape 14"/>
          <p:cNvSpPr/>
          <p:nvPr/>
        </p:nvSpPr>
        <p:spPr>
          <a:xfrm>
            <a:off x="8193024" y="1691640"/>
            <a:ext cx="3364992" cy="3017520"/>
          </a:xfrm>
          <a:prstGeom prst="roundRect">
            <a:avLst>
              <a:gd name="adj" fmla="val 2121"/>
            </a:avLst>
          </a:prstGeom>
          <a:solidFill>
            <a:srgbClr val="1B2B47"/>
          </a:solidFill>
          <a:ln/>
        </p:spPr>
      </p:sp>
      <p:sp>
        <p:nvSpPr>
          <p:cNvPr id="17" name="Shape 15"/>
          <p:cNvSpPr/>
          <p:nvPr/>
        </p:nvSpPr>
        <p:spPr>
          <a:xfrm>
            <a:off x="8467344" y="1965960"/>
            <a:ext cx="566928" cy="566928"/>
          </a:xfrm>
          <a:prstGeom prst="ellipse">
            <a:avLst/>
          </a:prstGeom>
          <a:solidFill>
            <a:srgbClr val="E8942E"/>
          </a:solidFill>
          <a:ln/>
        </p:spPr>
      </p:sp>
      <p:sp>
        <p:nvSpPr>
          <p:cNvPr id="18" name="Text 16"/>
          <p:cNvSpPr/>
          <p:nvPr/>
        </p:nvSpPr>
        <p:spPr>
          <a:xfrm>
            <a:off x="8467344" y="19659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467344" y="2697480"/>
            <a:ext cx="2816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Verify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467344" y="3154680"/>
            <a:ext cx="281635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6C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boundary-targeting inputs, execute both programs on every one, and diff the outputs. Divergences come back as concrete failing cases.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40080" y="5074920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alone is not the deliverable. </a:t>
            </a:r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8496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confidently stated wrong rule is more dangerous than no rule at all — which is why step 03 exists.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40080" y="645566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Banking Modernisation Platform  ·  StudyEdge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0634472" y="645566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6B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E894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2 — THE KEY IDEA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legacy system is its own correctness oracle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1572768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6C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normally requires knowing the right answer in advance. Here, the program being replaced already defines it — by running. Ground truth comes free from the thing being retired.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898648"/>
            <a:ext cx="2286000" cy="603504"/>
          </a:xfrm>
          <a:prstGeom prst="roundRect">
            <a:avLst>
              <a:gd name="adj" fmla="val 10606"/>
            </a:avLst>
          </a:prstGeom>
          <a:solidFill>
            <a:srgbClr val="16233A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2962656"/>
            <a:ext cx="1956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corpus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04672" y="3218688"/>
            <a:ext cx="1956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496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boundary cases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520440" y="2395728"/>
            <a:ext cx="2286000" cy="603504"/>
          </a:xfrm>
          <a:prstGeom prst="roundRect">
            <a:avLst>
              <a:gd name="adj" fmla="val 10606"/>
            </a:avLst>
          </a:prstGeom>
          <a:solidFill>
            <a:srgbClr val="1B2B47"/>
          </a:solidFill>
          <a:ln/>
        </p:spPr>
      </p:sp>
      <p:sp>
        <p:nvSpPr>
          <p:cNvPr id="9" name="Text 7"/>
          <p:cNvSpPr/>
          <p:nvPr/>
        </p:nvSpPr>
        <p:spPr>
          <a:xfrm>
            <a:off x="3685032" y="2459736"/>
            <a:ext cx="1956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BB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program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685032" y="2715768"/>
            <a:ext cx="1956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496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ground truth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520440" y="3401568"/>
            <a:ext cx="2286000" cy="603504"/>
          </a:xfrm>
          <a:prstGeom prst="roundRect">
            <a:avLst>
              <a:gd name="adj" fmla="val 10606"/>
            </a:avLst>
          </a:prstGeom>
          <a:solidFill>
            <a:srgbClr val="1B2B47"/>
          </a:solidFill>
          <a:ln/>
        </p:spPr>
      </p:sp>
      <p:sp>
        <p:nvSpPr>
          <p:cNvPr id="12" name="Text 10"/>
          <p:cNvSpPr/>
          <p:nvPr/>
        </p:nvSpPr>
        <p:spPr>
          <a:xfrm>
            <a:off x="3685032" y="3465576"/>
            <a:ext cx="1956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9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Reimplementation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685032" y="3721608"/>
            <a:ext cx="1956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496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under test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400800" y="2898648"/>
            <a:ext cx="2286000" cy="603504"/>
          </a:xfrm>
          <a:prstGeom prst="roundRect">
            <a:avLst>
              <a:gd name="adj" fmla="val 10606"/>
            </a:avLst>
          </a:prstGeom>
          <a:solidFill>
            <a:srgbClr val="16233A"/>
          </a:solidFill>
          <a:ln/>
        </p:spPr>
      </p:sp>
      <p:sp>
        <p:nvSpPr>
          <p:cNvPr id="15" name="Text 13"/>
          <p:cNvSpPr/>
          <p:nvPr/>
        </p:nvSpPr>
        <p:spPr>
          <a:xfrm>
            <a:off x="6565392" y="2962656"/>
            <a:ext cx="1956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565392" y="3218688"/>
            <a:ext cx="1956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496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exact compare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9281160" y="2898648"/>
            <a:ext cx="2286000" cy="603504"/>
          </a:xfrm>
          <a:prstGeom prst="roundRect">
            <a:avLst>
              <a:gd name="adj" fmla="val 10606"/>
            </a:avLst>
          </a:prstGeom>
          <a:solidFill>
            <a:srgbClr val="16233A"/>
          </a:solidFill>
          <a:ln/>
        </p:spPr>
      </p:sp>
      <p:sp>
        <p:nvSpPr>
          <p:cNvPr id="18" name="Text 16"/>
          <p:cNvSpPr/>
          <p:nvPr/>
        </p:nvSpPr>
        <p:spPr>
          <a:xfrm>
            <a:off x="9445752" y="2962656"/>
            <a:ext cx="1956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445752" y="3218688"/>
            <a:ext cx="1956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496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 / fail per case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035808" y="3081528"/>
            <a:ext cx="365760" cy="237744"/>
          </a:xfrm>
          <a:prstGeom prst="rightArrow">
            <a:avLst/>
          </a:prstGeom>
          <a:solidFill>
            <a:srgbClr val="2E4062"/>
          </a:solidFill>
          <a:ln/>
        </p:spPr>
      </p:sp>
      <p:sp>
        <p:nvSpPr>
          <p:cNvPr id="21" name="Shape 19"/>
          <p:cNvSpPr/>
          <p:nvPr/>
        </p:nvSpPr>
        <p:spPr>
          <a:xfrm>
            <a:off x="5916168" y="3081528"/>
            <a:ext cx="365760" cy="237744"/>
          </a:xfrm>
          <a:prstGeom prst="rightArrow">
            <a:avLst/>
          </a:prstGeom>
          <a:solidFill>
            <a:srgbClr val="2E4062"/>
          </a:solidFill>
          <a:ln/>
        </p:spPr>
      </p:sp>
      <p:sp>
        <p:nvSpPr>
          <p:cNvPr id="22" name="Shape 20"/>
          <p:cNvSpPr/>
          <p:nvPr/>
        </p:nvSpPr>
        <p:spPr>
          <a:xfrm>
            <a:off x="8796528" y="3081528"/>
            <a:ext cx="365760" cy="237744"/>
          </a:xfrm>
          <a:prstGeom prst="rightArrow">
            <a:avLst/>
          </a:prstGeom>
          <a:solidFill>
            <a:srgbClr val="2E4062"/>
          </a:solidFill>
          <a:ln/>
        </p:spPr>
      </p:sp>
      <p:sp>
        <p:nvSpPr>
          <p:cNvPr id="23" name="Shape 21"/>
          <p:cNvSpPr/>
          <p:nvPr/>
        </p:nvSpPr>
        <p:spPr>
          <a:xfrm>
            <a:off x="640080" y="4572000"/>
            <a:ext cx="10908792" cy="960120"/>
          </a:xfrm>
          <a:prstGeom prst="roundRect">
            <a:avLst>
              <a:gd name="adj" fmla="val 6667"/>
            </a:avLst>
          </a:prstGeom>
          <a:solidFill>
            <a:srgbClr val="0A111E"/>
          </a:solidFill>
          <a:ln/>
        </p:spPr>
      </p:sp>
      <p:sp>
        <p:nvSpPr>
          <p:cNvPr id="24" name="Text 22"/>
          <p:cNvSpPr/>
          <p:nvPr/>
        </p:nvSpPr>
        <p:spPr>
          <a:xfrm>
            <a:off x="960120" y="4791456"/>
            <a:ext cx="10268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6CF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balance 9,999.995 · leap-year accrual   →   legacy </a:t>
            </a:r>
            <a:pPr indent="0" marL="0">
              <a:buNone/>
            </a:pPr>
            <a:r>
              <a:rPr lang="en-US" sz="1300" b="1" dirty="0">
                <a:solidFill>
                  <a:srgbClr val="5BBD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1042.50</a:t>
            </a:r>
            <a:pPr indent="0" marL="0">
              <a:buNone/>
            </a:pPr>
            <a:r>
              <a:rPr lang="en-US" sz="1300" dirty="0">
                <a:solidFill>
                  <a:srgbClr val="C6CF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vs   rewrite </a:t>
            </a:r>
            <a:pPr indent="0" marL="0">
              <a:buNone/>
            </a:pPr>
            <a:r>
              <a:rPr lang="en-US" sz="1300" b="1" dirty="0">
                <a:solidFill>
                  <a:srgbClr val="E257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1042.51</a:t>
            </a:r>
            <a:pPr indent="0" marL="0">
              <a:buNone/>
            </a:pPr>
            <a:r>
              <a:rPr lang="en-US" sz="1300" dirty="0">
                <a:solidFill>
                  <a:srgbClr val="C6CF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→   </a:t>
            </a:r>
            <a:pPr indent="0" marL="0">
              <a:buNone/>
            </a:pPr>
            <a:r>
              <a:rPr lang="en-US" sz="1300" b="1" dirty="0">
                <a:solidFill>
                  <a:srgbClr val="E894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MISMATCH — reproducible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0080" y="5742432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496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mismatch is a specific failing case an engineer can act on in a minute — not a warning, not a probability, not a confidence score.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40080" y="645566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Banking Modernisation Platform  ·  StudyEdge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0634472" y="645566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6B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E894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2 — WHAT MAKES IT MORE THAN A SUMMARY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Comprehension and testing audit each other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074920" cy="3063240"/>
          </a:xfrm>
          <a:prstGeom prst="roundRect">
            <a:avLst>
              <a:gd name="adj" fmla="val 2090"/>
            </a:avLst>
          </a:prstGeom>
          <a:solidFill>
            <a:srgbClr val="16233A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929384"/>
            <a:ext cx="4526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sharpens testing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4526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6C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 rule: balances below ₹10,000 accrue at 3.5%, above at 4%.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6C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input generator now knows ₹10,000 is a boundary — and fires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14400" y="352044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94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9,999   ·   10,000   ·   10,001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73952" y="1691640"/>
            <a:ext cx="5074920" cy="3063240"/>
          </a:xfrm>
          <a:prstGeom prst="roundRect">
            <a:avLst>
              <a:gd name="adj" fmla="val 2090"/>
            </a:avLst>
          </a:prstGeom>
          <a:solidFill>
            <a:srgbClr val="1B2B47"/>
          </a:solidFill>
          <a:ln/>
        </p:spPr>
      </p:sp>
      <p:sp>
        <p:nvSpPr>
          <p:cNvPr id="9" name="Text 7"/>
          <p:cNvSpPr/>
          <p:nvPr/>
        </p:nvSpPr>
        <p:spPr>
          <a:xfrm>
            <a:off x="6748272" y="1929384"/>
            <a:ext cx="4526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audits extraction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748272" y="2377440"/>
            <a:ext cx="4526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6C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execution contradicts a stated rule, the rule is wrong — the model lied, and the lie is caught before an engineer builds on it. It goes back for re-extraction.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748272" y="3886200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E89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rule reaches the final spec unaudited.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788152" y="2651760"/>
            <a:ext cx="612648" cy="274320"/>
          </a:xfrm>
          <a:prstGeom prst="rightArrow">
            <a:avLst/>
          </a:prstGeom>
          <a:solidFill>
            <a:srgbClr val="2E4062"/>
          </a:solidFill>
          <a:ln/>
        </p:spPr>
      </p:sp>
      <p:sp>
        <p:nvSpPr>
          <p:cNvPr id="13" name="Shape 11"/>
          <p:cNvSpPr/>
          <p:nvPr/>
        </p:nvSpPr>
        <p:spPr>
          <a:xfrm>
            <a:off x="5788152" y="3520440"/>
            <a:ext cx="612648" cy="274320"/>
          </a:xfrm>
          <a:prstGeom prst="leftArrow">
            <a:avLst/>
          </a:prstGeom>
          <a:solidFill>
            <a:srgbClr val="2E4062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5074920"/>
            <a:ext cx="109087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half works alone. </a:t>
            </a:r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8496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reciprocity is what separates the system from “a language model reads your code.”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40080" y="645566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Banking Modernisation Platform  ·  StudyEdge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0634472" y="645566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6B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E894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3 — FEASIBILITY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demo: real execution, on a laptop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709928"/>
            <a:ext cx="457200" cy="457200"/>
          </a:xfrm>
          <a:prstGeom prst="ellipse">
            <a:avLst/>
          </a:prstGeom>
          <a:solidFill>
            <a:srgbClr val="E8942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709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1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325880" y="1691640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 and run the original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325880" y="2002536"/>
            <a:ext cx="5577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8496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ACCRUAL.CBL under GnuCOBOL — free, open source, no mainframe required.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2734056"/>
            <a:ext cx="457200" cy="457200"/>
          </a:xfrm>
          <a:prstGeom prst="ellipse">
            <a:avLst/>
          </a:prstGeom>
          <a:solidFill>
            <a:srgbClr val="E8942E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7340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1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325880" y="2715768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the specification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325880" y="3026664"/>
            <a:ext cx="5577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8496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business rule in plain language, each pointing at the lines that produce it.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3758184"/>
            <a:ext cx="457200" cy="457200"/>
          </a:xfrm>
          <a:prstGeom prst="ellipse">
            <a:avLst/>
          </a:prstGeom>
          <a:solidFill>
            <a:srgbClr val="E8942E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758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1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325880" y="3739896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Reimplement in Java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325880" y="4050792"/>
            <a:ext cx="5577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8496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commodity step — generated, then held to account.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4782312"/>
            <a:ext cx="457200" cy="457200"/>
          </a:xfrm>
          <a:prstGeom prst="ellipse">
            <a:avLst/>
          </a:prstGeom>
          <a:solidFill>
            <a:srgbClr val="E8942E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7823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1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325880" y="4764024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5,000 boundary-targeted cases at both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325880" y="5074920"/>
            <a:ext cx="5577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8496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 every output. Publish the equivalence report.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406640" y="1691640"/>
            <a:ext cx="4142232" cy="3657600"/>
          </a:xfrm>
          <a:prstGeom prst="roundRect">
            <a:avLst>
              <a:gd name="adj" fmla="val 1750"/>
            </a:avLst>
          </a:prstGeom>
          <a:solidFill>
            <a:srgbClr val="0A111E"/>
          </a:solidFill>
          <a:ln/>
        </p:spPr>
      </p:sp>
      <p:sp>
        <p:nvSpPr>
          <p:cNvPr id="21" name="Text 19"/>
          <p:cNvSpPr/>
          <p:nvPr/>
        </p:nvSpPr>
        <p:spPr>
          <a:xfrm>
            <a:off x="7680960" y="1920240"/>
            <a:ext cx="3593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496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EQUIVALENCE REPORT — ACCRUAL.CBL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680960" y="2331720"/>
            <a:ext cx="2770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6CF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 </a:t>
            </a:r>
            <a:pPr indent="0" marL="0">
              <a:buNone/>
            </a:pPr>
            <a:r>
              <a:rPr lang="en-US" sz="1200" dirty="0">
                <a:solidFill>
                  <a:srgbClr val="C6CF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Rules extracted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451592" y="233172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C6CF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47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680960" y="2898648"/>
            <a:ext cx="2770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BD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 </a:t>
            </a:r>
            <a:pPr indent="0" marL="0">
              <a:buNone/>
            </a:pPr>
            <a:r>
              <a:rPr lang="en-US" sz="1200" dirty="0">
                <a:solidFill>
                  <a:srgbClr val="C6CF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Verified by execution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451592" y="2898648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5BBD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41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680960" y="3465576"/>
            <a:ext cx="2770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94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 </a:t>
            </a:r>
            <a:pPr indent="0" marL="0">
              <a:buNone/>
            </a:pPr>
            <a:r>
              <a:rPr lang="en-US" sz="1200" dirty="0">
                <a:solidFill>
                  <a:srgbClr val="C6CF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Unproven — flagged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451592" y="3465576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E894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680960" y="4032504"/>
            <a:ext cx="2770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57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 </a:t>
            </a:r>
            <a:pPr indent="0" marL="0">
              <a:buNone/>
            </a:pPr>
            <a:r>
              <a:rPr lang="en-US" sz="1200" dirty="0">
                <a:solidFill>
                  <a:srgbClr val="C6CF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Behavioural mismatches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451592" y="4032504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E257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7680960" y="4846320"/>
            <a:ext cx="3593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B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5,000 cases · both sides executed · illustrative output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40080" y="5806440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9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is hand-waved: both programs genuinely compile, run and get diffed — live.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40080" y="645566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Banking Modernisation Platform  ·  StudyEdge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0634472" y="645566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6B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E894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3 — SCOPE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Narrow by design, honest by default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scope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40080" y="2029968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94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Language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423160" y="2029968"/>
            <a:ext cx="3703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6C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COBOL, compiled and run via GnuCOBOL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542032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94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Domain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423160" y="2542032"/>
            <a:ext cx="3703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6C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banking interest accrual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3054096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94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Program shape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423160" y="3054096"/>
            <a:ext cx="3703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6C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computation — input in, output out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376732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Explicitly out of scope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40080" y="413308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9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</a:t>
            </a:r>
            <a:pPr indent="0" marL="0">
              <a:buNone/>
            </a:pPr>
            <a:r>
              <a:rPr lang="en-US" sz="1200" dirty="0">
                <a:solidFill>
                  <a:srgbClr val="8496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Whole-system migration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4517136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9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</a:t>
            </a:r>
            <a:pPr indent="0" marL="0">
              <a:buNone/>
            </a:pPr>
            <a:r>
              <a:rPr lang="en-US" sz="1200" dirty="0">
                <a:solidFill>
                  <a:srgbClr val="8496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CICS screens and JCL orchestration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4901184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9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</a:t>
            </a:r>
            <a:pPr indent="0" marL="0">
              <a:buNone/>
            </a:pPr>
            <a:r>
              <a:rPr lang="en-US" sz="1200" dirty="0">
                <a:solidFill>
                  <a:srgbClr val="8496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Database-coupled programs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528523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9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</a:t>
            </a:r>
            <a:pPr indent="0" marL="0">
              <a:buNone/>
            </a:pPr>
            <a:r>
              <a:rPr lang="en-US" sz="1200" dirty="0">
                <a:solidFill>
                  <a:srgbClr val="8496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Non-deterministic logic — clocks, randomness, external state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583680" y="1645920"/>
            <a:ext cx="4965192" cy="1170432"/>
          </a:xfrm>
          <a:prstGeom prst="roundRect">
            <a:avLst>
              <a:gd name="adj" fmla="val 5469"/>
            </a:avLst>
          </a:prstGeom>
          <a:solidFill>
            <a:srgbClr val="16233A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0" y="1810512"/>
            <a:ext cx="4416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B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858000" y="2103120"/>
            <a:ext cx="4416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496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by execution — the corpus exercised this rule and both programs agreed on every case.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583680" y="2962656"/>
            <a:ext cx="4965192" cy="1170432"/>
          </a:xfrm>
          <a:prstGeom prst="roundRect">
            <a:avLst>
              <a:gd name="adj" fmla="val 5469"/>
            </a:avLst>
          </a:prstGeom>
          <a:solidFill>
            <a:srgbClr val="16233A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0" y="3127248"/>
            <a:ext cx="4416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9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Unproven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858000" y="3419856"/>
            <a:ext cx="4416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496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 but never exercised — flagged explicitly rather than silently trusted, so the gap stays visible.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583680" y="4279392"/>
            <a:ext cx="4965192" cy="1481328"/>
          </a:xfrm>
          <a:prstGeom prst="roundRect">
            <a:avLst>
              <a:gd name="adj" fmla="val 4321"/>
            </a:avLst>
          </a:prstGeom>
          <a:solidFill>
            <a:srgbClr val="1B2B47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0" y="4462272"/>
            <a:ext cx="4416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894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KNOWN LIMITATION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58000" y="4754880"/>
            <a:ext cx="4416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6C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quality caps everything — naive random inputs never find a rounding bug. The reciprocal loop is where the engineering effort goes.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40080" y="5870448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Differential testing breaks on non-determinism — those programs are excluded by design, not by omission.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40080" y="645566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Banking Modernisation Platform  ·  StudyEdge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0634472" y="645566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6B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E894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4 — OUTCOME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artifacts the institution keeps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3520440" cy="1600200"/>
          </a:xfrm>
          <a:prstGeom prst="roundRect">
            <a:avLst>
              <a:gd name="adj" fmla="val 4000"/>
            </a:avLst>
          </a:prstGeom>
          <a:solidFill>
            <a:srgbClr val="16233A"/>
          </a:solidFill>
          <a:ln/>
        </p:spPr>
      </p:sp>
      <p:sp>
        <p:nvSpPr>
          <p:cNvPr id="5" name="Text 3"/>
          <p:cNvSpPr/>
          <p:nvPr/>
        </p:nvSpPr>
        <p:spPr>
          <a:xfrm>
            <a:off x="896112" y="1847088"/>
            <a:ext cx="3008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E89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specification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896112" y="2231136"/>
            <a:ext cx="30083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6C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Readable, traceable documentation for a system that never had any.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34256" y="1645920"/>
            <a:ext cx="3520440" cy="1600200"/>
          </a:xfrm>
          <a:prstGeom prst="roundRect">
            <a:avLst>
              <a:gd name="adj" fmla="val 4000"/>
            </a:avLst>
          </a:prstGeom>
          <a:solidFill>
            <a:srgbClr val="16233A"/>
          </a:solidFill>
          <a:ln/>
        </p:spPr>
      </p:sp>
      <p:sp>
        <p:nvSpPr>
          <p:cNvPr id="8" name="Text 6"/>
          <p:cNvSpPr/>
          <p:nvPr/>
        </p:nvSpPr>
        <p:spPr>
          <a:xfrm>
            <a:off x="4590288" y="1847088"/>
            <a:ext cx="3008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E89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regression suite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4590288" y="2231136"/>
            <a:ext cx="30083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6C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Thousands of input–output pairs, retained permanently by the institution.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028432" y="1645920"/>
            <a:ext cx="3520440" cy="1600200"/>
          </a:xfrm>
          <a:prstGeom prst="roundRect">
            <a:avLst>
              <a:gd name="adj" fmla="val 4000"/>
            </a:avLst>
          </a:prstGeom>
          <a:solidFill>
            <a:srgbClr val="16233A"/>
          </a:solidFill>
          <a:ln/>
        </p:spPr>
      </p:sp>
      <p:sp>
        <p:nvSpPr>
          <p:cNvPr id="11" name="Text 9"/>
          <p:cNvSpPr/>
          <p:nvPr/>
        </p:nvSpPr>
        <p:spPr>
          <a:xfrm>
            <a:off x="8284464" y="1847088"/>
            <a:ext cx="3008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E89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equivalence claim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8284464" y="2231136"/>
            <a:ext cx="30083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6C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Evidence-backed — the artifact someone can actually sign.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40080" y="3456432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8496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two hold their value even if the migration is never approved — the bank ends up with documentation and tests for a system it previously could not touch.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40080" y="4224528"/>
            <a:ext cx="10908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goes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40080" y="4626864"/>
            <a:ext cx="3364992" cy="1143000"/>
          </a:xfrm>
          <a:prstGeom prst="roundRect">
            <a:avLst>
              <a:gd name="adj" fmla="val 5600"/>
            </a:avLst>
          </a:prstGeom>
          <a:solidFill>
            <a:srgbClr val="1B2B47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" y="4791456"/>
            <a:ext cx="2852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894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HACKATHON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96112" y="5065776"/>
            <a:ext cx="28529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6C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prototype — accrual-class programs, end-to-end on a laptop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025646" y="5084064"/>
            <a:ext cx="365760" cy="237744"/>
          </a:xfrm>
          <a:prstGeom prst="rightArrow">
            <a:avLst/>
          </a:prstGeom>
          <a:solidFill>
            <a:srgbClr val="2E4062"/>
          </a:solidFill>
          <a:ln/>
        </p:spPr>
      </p:sp>
      <p:sp>
        <p:nvSpPr>
          <p:cNvPr id="19" name="Shape 17"/>
          <p:cNvSpPr/>
          <p:nvPr/>
        </p:nvSpPr>
        <p:spPr>
          <a:xfrm>
            <a:off x="4411980" y="4626864"/>
            <a:ext cx="3364992" cy="1143000"/>
          </a:xfrm>
          <a:prstGeom prst="roundRect">
            <a:avLst>
              <a:gd name="adj" fmla="val 5600"/>
            </a:avLst>
          </a:prstGeom>
          <a:solidFill>
            <a:srgbClr val="16233A"/>
          </a:solidFill>
          <a:ln/>
        </p:spPr>
      </p:sp>
      <p:sp>
        <p:nvSpPr>
          <p:cNvPr id="20" name="Text 18"/>
          <p:cNvSpPr/>
          <p:nvPr/>
        </p:nvSpPr>
        <p:spPr>
          <a:xfrm>
            <a:off x="4668012" y="4791456"/>
            <a:ext cx="2852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894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PILOT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668012" y="5065776"/>
            <a:ext cx="28529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6C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real module, inside one bank's firewall, against its own COBOL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797546" y="5084064"/>
            <a:ext cx="365760" cy="237744"/>
          </a:xfrm>
          <a:prstGeom prst="rightArrow">
            <a:avLst/>
          </a:prstGeom>
          <a:solidFill>
            <a:srgbClr val="2E4062"/>
          </a:solidFill>
          <a:ln/>
        </p:spPr>
      </p:sp>
      <p:sp>
        <p:nvSpPr>
          <p:cNvPr id="23" name="Shape 21"/>
          <p:cNvSpPr/>
          <p:nvPr/>
        </p:nvSpPr>
        <p:spPr>
          <a:xfrm>
            <a:off x="8183880" y="4626864"/>
            <a:ext cx="3364992" cy="1143000"/>
          </a:xfrm>
          <a:prstGeom prst="roundRect">
            <a:avLst>
              <a:gd name="adj" fmla="val 5600"/>
            </a:avLst>
          </a:prstGeom>
          <a:solidFill>
            <a:srgbClr val="16233A"/>
          </a:solidFill>
          <a:ln/>
        </p:spPr>
      </p:sp>
      <p:sp>
        <p:nvSpPr>
          <p:cNvPr id="24" name="Text 22"/>
          <p:cNvSpPr/>
          <p:nvPr/>
        </p:nvSpPr>
        <p:spPr>
          <a:xfrm>
            <a:off x="8439912" y="4791456"/>
            <a:ext cx="2852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894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439912" y="5065776"/>
            <a:ext cx="28529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6C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Fleet-wide equivalence reports an auditor can sign off 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0080" y="645566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Banking Modernisation Platform  ·  StudyEdge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0634472" y="645566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6B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554480"/>
            <a:ext cx="109087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Everyone else will tell you their AI works.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2212848"/>
            <a:ext cx="109087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9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built the mechanism that catches ours being wrong.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306324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496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states the rules. Execution keeps it honest. The bank gets proof either way.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4114800"/>
            <a:ext cx="2606040" cy="1005840"/>
          </a:xfrm>
          <a:prstGeom prst="roundRect">
            <a:avLst>
              <a:gd name="adj" fmla="val 6364"/>
            </a:avLst>
          </a:prstGeom>
          <a:solidFill>
            <a:srgbClr val="16233A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4334256"/>
            <a:ext cx="2203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Tamanna Panda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41248" y="4681728"/>
            <a:ext cx="2203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9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 (AIML)  ·  team lead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407664" y="4114800"/>
            <a:ext cx="2606040" cy="1005840"/>
          </a:xfrm>
          <a:prstGeom prst="roundRect">
            <a:avLst>
              <a:gd name="adj" fmla="val 6364"/>
            </a:avLst>
          </a:prstGeom>
          <a:solidFill>
            <a:srgbClr val="16233A"/>
          </a:solidFill>
          <a:ln/>
        </p:spPr>
      </p:sp>
      <p:sp>
        <p:nvSpPr>
          <p:cNvPr id="9" name="Text 7"/>
          <p:cNvSpPr/>
          <p:nvPr/>
        </p:nvSpPr>
        <p:spPr>
          <a:xfrm>
            <a:off x="3608832" y="4334256"/>
            <a:ext cx="2203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Swayam Subhankar Sahoo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608832" y="4681728"/>
            <a:ext cx="2203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496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75248" y="4114800"/>
            <a:ext cx="2606040" cy="1005840"/>
          </a:xfrm>
          <a:prstGeom prst="roundRect">
            <a:avLst>
              <a:gd name="adj" fmla="val 6364"/>
            </a:avLst>
          </a:prstGeom>
          <a:solidFill>
            <a:srgbClr val="16233A"/>
          </a:solidFill>
          <a:ln/>
        </p:spPr>
      </p:sp>
      <p:sp>
        <p:nvSpPr>
          <p:cNvPr id="12" name="Text 10"/>
          <p:cNvSpPr/>
          <p:nvPr/>
        </p:nvSpPr>
        <p:spPr>
          <a:xfrm>
            <a:off x="6376416" y="4334256"/>
            <a:ext cx="2203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Adyasha Das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376416" y="4681728"/>
            <a:ext cx="2203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496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942832" y="4114800"/>
            <a:ext cx="2606040" cy="1005840"/>
          </a:xfrm>
          <a:prstGeom prst="roundRect">
            <a:avLst>
              <a:gd name="adj" fmla="val 6364"/>
            </a:avLst>
          </a:prstGeom>
          <a:solidFill>
            <a:srgbClr val="16233A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0" y="4334256"/>
            <a:ext cx="2203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Soumyajit Sarkar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9144000" y="4681728"/>
            <a:ext cx="2203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496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Mechanical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40080" y="589788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Team StudyEdge  ·  OUTR, Bhubaneswar  ·  Digital Nurture Hackathon 2026  ·  Banking and Finance Technology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Legacy Banking Modernisation Platform</dc:title>
  <dc:subject>PptxGenJS Presentation</dc:subject>
  <dc:creator>Team StudyEdge</dc:creator>
  <cp:lastModifiedBy>Team StudyEdge</cp:lastModifiedBy>
  <cp:revision>1</cp:revision>
  <dcterms:created xsi:type="dcterms:W3CDTF">2026-08-03T19:29:17Z</dcterms:created>
  <dcterms:modified xsi:type="dcterms:W3CDTF">2026-08-03T19:29:17Z</dcterms:modified>
</cp:coreProperties>
</file>