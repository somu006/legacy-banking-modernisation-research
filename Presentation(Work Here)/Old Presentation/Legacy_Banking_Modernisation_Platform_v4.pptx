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everyone proves the rewrite matches the legacy; we also ask whether the legacy matches the regulator, and we report the answer per business rule.
Scope note if asked: COBOL interest-accrual programs executed via GnuCOBOL. Whole-system migration is out of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1.9 million customer figure often quoted for TSB is press reporting (The Register, IEEE Spectrum), not the FCA. The FCA's own wording is 'a significant proportion of its 5.2 million customers' — that is what is on the slide.
The HDFC example is the one that matters for an Indian audience: an IT failure froze the bank's product roadmap for over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generous to the incumbents. If a Cognizant judge works in mainframe modernisation, claiming to have invented differential verification would lose the room in one sentence. Agreeing with them first buys the right to make a narrower, defensible claim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IBM quote is verbatim from the paper's abstract — verified word-for-word. It is the strongest single line available, because it is a vendor writing about its own commercial product.
Do not paraphrase it as 'IBM says its product does not work.' The paper's point is that validation is necessary. That is our point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91.2% / under-20% pair is the sharpest argument we have and it comes from someone else's paper. AgentModernize captured 91.2% of gold-standard rules but its Behavioural Equivalence Rate was 9.4%, 8.1% and 19.4% across three models, with baselines at 0.0%.
If pressed: BER is measured against gold-standard test cases, which is a demanding definition. Say so — it is still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is a deterministic pipeline with LLM calls confined to two bounded points. That is not a simplification — a 2026 controlled study (arXiv 2605.09894) found deterministic orchestration matches agentic accuracy while reducing token consumption by up to 3.5x, with better worst-case robustness.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claim in the deck and it survived a deliberate falsification pass. Verified: Locksmith (arXiv 2607.28271) has no regulatory checks; AgentModernize has none; EvolveWare markets rule extraction for auditors but is static documentation with no execution.
Likely reason nobody built it: a migration product that tells you your current system is non-compliant is selling a problem its customer did not ask about. A student project has no such constraint.
Honest framing: we say 'this warrants a compliance review', never 'this is a breach'. The model covers arithmetic conventions, not commercial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about the novelty here — it was narrowed by our own verification pass. Rule-level reporting exists in the literature. What we could not find anywhere: requiring the boundary to be behaviourally live, and issuing a refutation verdict on rules the system extracted itself with no ground truth available.
Wording discipline: REFUTED means 'contradicted by the evidence we have', never 'false'. Always show the counterexample.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the hardest question we will get: 'everything passed, so what?'
Caveat to volunteer if pressed: equivalent mutants — a mutation that genuinely does not change behaviour cannot be killed by anyone and inflates the miss rate. With textual operators on numeric constants it is rarer than usual.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order in the live demo: the refuted rule is the moment the room understands the thesis — an AI system catching its own AI lying, with a reproducible counterexample. The compliance finding is the moment a banker starts caring.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Locksmith: arXiv 2607.28271, published 30 July 2026, five days before we compiled this. Same spine — legacy as oracle, both targets off-mainframe, parity gate, 91.90% branch coverage. We would rather they heard it from us. Verified against the paper: no business-rule verdicts, no regulatory checks, and its mutations are parity-preserving for path exploration — the opposite of injecting faults to test corpus adequacy.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Known limitation to volunteer: input generation quality caps everything. We can only verify rules we reach — which is exactly why stage 04's mutation scoring exists.
On CardDemo: CBACT04C.cbl is an interest calculator but reads four VSAM files and calls FUNCTION CURRENT-DATE, so our own intake gate refuses it. We use that as the refusal demo and lift the arithmetic into a pure unit for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coverage table, not on a promise. The line that lands is: 'these eleven, we could not prove — and we are telling you which ones.'
Do not use the old closing line ('everyone else assumes their AI is right'). It is true of the other teams in the room and false of the market, and a Cognizant judge who works in mainframe modernisation will know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033"/>
        </a:solidFill>
      </p:bgPr>
    </p:bg>
    <p:spTree>
      <p:nvGrpSpPr>
        <p:cNvPr id="1" name=""/>
        <p:cNvGrpSpPr/>
        <p:nvPr/>
      </p:nvGrpSpPr>
      <p:grpSpPr>
        <a:xfrm>
          <a:off x="0" y="0"/>
          <a:ext cx="0" cy="0"/>
          <a:chOff x="0" y="0"/>
          <a:chExt cx="0" cy="0"/>
        </a:xfrm>
      </p:grpSpPr>
      <p:sp>
        <p:nvSpPr>
          <p:cNvPr id="2" name="Text 0"/>
          <p:cNvSpPr/>
          <p:nvPr/>
        </p:nvSpPr>
        <p:spPr>
          <a:xfrm>
            <a:off x="566928" y="566928"/>
            <a:ext cx="11057839" cy="274320"/>
          </a:xfrm>
          <a:prstGeom prst="rect">
            <a:avLst/>
          </a:prstGeom>
          <a:noFill/>
          <a:ln/>
        </p:spPr>
        <p:txBody>
          <a:bodyPr wrap="square" lIns="0" tIns="0" rIns="0" bIns="0" rtlCol="0" anchor="ctr"/>
          <a:lstStyle/>
          <a:p>
            <a:pPr indent="0" marL="0">
              <a:buNone/>
            </a:pPr>
            <a:r>
              <a:rPr lang="en-US" sz="1100" b="1" spc="240" kern="0" dirty="0">
                <a:solidFill>
                  <a:srgbClr val="8FA7BD"/>
                </a:solidFill>
                <a:latin typeface="Calibri" pitchFamily="34" charset="0"/>
                <a:ea typeface="Calibri" pitchFamily="34" charset="-122"/>
                <a:cs typeface="Calibri" pitchFamily="34" charset="-120"/>
              </a:rPr>
              <a:t>DIGITAL NURTURE HACKATHON 2026   ·   BANKING AND FINANCE TECHNOLOGY</a:t>
            </a:r>
            <a:endParaRPr lang="en-US" sz="1100" dirty="0"/>
          </a:p>
        </p:txBody>
      </p:sp>
      <p:sp>
        <p:nvSpPr>
          <p:cNvPr id="3" name="Text 1"/>
          <p:cNvSpPr/>
          <p:nvPr/>
        </p:nvSpPr>
        <p:spPr>
          <a:xfrm>
            <a:off x="566928" y="1417320"/>
            <a:ext cx="9601200" cy="841248"/>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Legacy Banking</a:t>
            </a:r>
            <a:endParaRPr lang="en-US" sz="4800" dirty="0"/>
          </a:p>
        </p:txBody>
      </p:sp>
      <p:sp>
        <p:nvSpPr>
          <p:cNvPr id="4" name="Text 2"/>
          <p:cNvSpPr/>
          <p:nvPr/>
        </p:nvSpPr>
        <p:spPr>
          <a:xfrm>
            <a:off x="566928" y="2212848"/>
            <a:ext cx="9601200" cy="841248"/>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Modernisation Platform</a:t>
            </a:r>
            <a:endParaRPr lang="en-US" sz="4800" dirty="0"/>
          </a:p>
        </p:txBody>
      </p:sp>
      <p:sp>
        <p:nvSpPr>
          <p:cNvPr id="5" name="Text 3"/>
          <p:cNvSpPr/>
          <p:nvPr/>
        </p:nvSpPr>
        <p:spPr>
          <a:xfrm>
            <a:off x="566928" y="3163824"/>
            <a:ext cx="9601200" cy="384048"/>
          </a:xfrm>
          <a:prstGeom prst="rect">
            <a:avLst/>
          </a:prstGeom>
          <a:noFill/>
          <a:ln/>
        </p:spPr>
        <p:txBody>
          <a:bodyPr wrap="square" lIns="0" tIns="0" rIns="0" bIns="0" rtlCol="0" anchor="ctr"/>
          <a:lstStyle/>
          <a:p>
            <a:pPr indent="0" marL="0">
              <a:buNone/>
            </a:pPr>
            <a:r>
              <a:rPr lang="en-US" sz="1900" i="1" dirty="0">
                <a:solidFill>
                  <a:srgbClr val="C8891B"/>
                </a:solidFill>
                <a:latin typeface="Calibri" pitchFamily="34" charset="0"/>
                <a:ea typeface="Calibri" pitchFamily="34" charset="-122"/>
                <a:cs typeface="Calibri" pitchFamily="34" charset="-120"/>
              </a:rPr>
              <a:t>Proving the rewrite behaves exactly like the original</a:t>
            </a:r>
            <a:endParaRPr lang="en-US" sz="1900" dirty="0"/>
          </a:p>
        </p:txBody>
      </p:sp>
      <p:sp>
        <p:nvSpPr>
          <p:cNvPr id="6" name="Text 4"/>
          <p:cNvSpPr/>
          <p:nvPr/>
        </p:nvSpPr>
        <p:spPr>
          <a:xfrm>
            <a:off x="566928" y="3712464"/>
            <a:ext cx="8778240" cy="658368"/>
          </a:xfrm>
          <a:prstGeom prst="rect">
            <a:avLst/>
          </a:prstGeom>
          <a:noFill/>
          <a:ln/>
        </p:spPr>
        <p:txBody>
          <a:bodyPr wrap="square" lIns="0" tIns="0" rIns="0" bIns="0" rtlCol="0" anchor="ctr"/>
          <a:lstStyle/>
          <a:p>
            <a:pPr indent="0" marL="0">
              <a:lnSpc>
                <a:spcPts val="2100"/>
              </a:lnSpc>
              <a:buNone/>
            </a:pPr>
            <a:r>
              <a:rPr lang="en-US" sz="1350" dirty="0">
                <a:solidFill>
                  <a:srgbClr val="C3D2DF"/>
                </a:solidFill>
                <a:latin typeface="Calibri" pitchFamily="34" charset="0"/>
                <a:ea typeface="Calibri" pitchFamily="34" charset="-122"/>
                <a:cs typeface="Calibri" pitchFamily="34" charset="-120"/>
              </a:rPr>
              <a:t>Legacy migration fails on verification, not translation. We make behavioural equivalence something a bank can prove — and we check the answer against the regulator.</a:t>
            </a:r>
            <a:endParaRPr lang="en-US" sz="1350" dirty="0"/>
          </a:p>
        </p:txBody>
      </p:sp>
      <p:sp>
        <p:nvSpPr>
          <p:cNvPr id="7" name="Shape 5"/>
          <p:cNvSpPr/>
          <p:nvPr/>
        </p:nvSpPr>
        <p:spPr>
          <a:xfrm>
            <a:off x="566928" y="4828032"/>
            <a:ext cx="3840480" cy="0"/>
          </a:xfrm>
          <a:prstGeom prst="line">
            <a:avLst/>
          </a:prstGeom>
          <a:noFill/>
          <a:ln w="12700">
            <a:solidFill>
              <a:srgbClr val="3A5470"/>
            </a:solidFill>
            <a:prstDash val="solid"/>
          </a:ln>
        </p:spPr>
      </p:sp>
      <p:sp>
        <p:nvSpPr>
          <p:cNvPr id="8" name="Text 6"/>
          <p:cNvSpPr/>
          <p:nvPr/>
        </p:nvSpPr>
        <p:spPr>
          <a:xfrm>
            <a:off x="566928" y="4992624"/>
            <a:ext cx="5669280" cy="29260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Team StudyEdge</a:t>
            </a:r>
            <a:endParaRPr lang="en-US" sz="1600" dirty="0"/>
          </a:p>
        </p:txBody>
      </p:sp>
      <p:sp>
        <p:nvSpPr>
          <p:cNvPr id="9" name="Text 7"/>
          <p:cNvSpPr/>
          <p:nvPr/>
        </p:nvSpPr>
        <p:spPr>
          <a:xfrm>
            <a:off x="566928" y="5303520"/>
            <a:ext cx="6035040" cy="256032"/>
          </a:xfrm>
          <a:prstGeom prst="rect">
            <a:avLst/>
          </a:prstGeom>
          <a:noFill/>
          <a:ln/>
        </p:spPr>
        <p:txBody>
          <a:bodyPr wrap="square" lIns="0" tIns="0" rIns="0" bIns="0" rtlCol="0" anchor="ctr"/>
          <a:lstStyle/>
          <a:p>
            <a:pPr indent="0" marL="0">
              <a:buNone/>
            </a:pPr>
            <a:r>
              <a:rPr lang="en-US" sz="1150" dirty="0">
                <a:solidFill>
                  <a:srgbClr val="8FA7BD"/>
                </a:solidFill>
                <a:latin typeface="Calibri" pitchFamily="34" charset="0"/>
                <a:ea typeface="Calibri" pitchFamily="34" charset="-122"/>
                <a:cs typeface="Calibri" pitchFamily="34" charset="-120"/>
              </a:rPr>
              <a:t>Odisha University of Technology and Research, Bhubaneswar</a:t>
            </a:r>
            <a:endParaRPr lang="en-US" sz="1150" dirty="0"/>
          </a:p>
        </p:txBody>
      </p:sp>
      <p:sp>
        <p:nvSpPr>
          <p:cNvPr id="10" name="Text 8"/>
          <p:cNvSpPr/>
          <p:nvPr/>
        </p:nvSpPr>
        <p:spPr>
          <a:xfrm>
            <a:off x="566928" y="5596128"/>
            <a:ext cx="7863840" cy="256032"/>
          </a:xfrm>
          <a:prstGeom prst="rect">
            <a:avLst/>
          </a:prstGeom>
          <a:noFill/>
          <a:ln/>
        </p:spPr>
        <p:txBody>
          <a:bodyPr wrap="square" lIns="0" tIns="0" rIns="0" bIns="0" rtlCol="0" anchor="ctr"/>
          <a:lstStyle/>
          <a:p>
            <a:pPr indent="0" marL="0">
              <a:buNone/>
            </a:pPr>
            <a:r>
              <a:rPr lang="en-US" sz="1100" dirty="0">
                <a:solidFill>
                  <a:srgbClr val="8FA7BD"/>
                </a:solidFill>
                <a:latin typeface="Calibri" pitchFamily="34" charset="0"/>
                <a:ea typeface="Calibri" pitchFamily="34" charset="-122"/>
                <a:cs typeface="Calibri" pitchFamily="34" charset="-120"/>
              </a:rPr>
              <a:t>Tamanna Panda  ·  Swayam Subhankar Sahoo  ·  Adyasha Das  ·  Soumyajit Sarkar</a:t>
            </a:r>
            <a:endParaRPr lang="en-US" sz="1100" dirty="0"/>
          </a:p>
        </p:txBody>
      </p:sp>
      <p:sp>
        <p:nvSpPr>
          <p:cNvPr id="11" name="Shape 9"/>
          <p:cNvSpPr/>
          <p:nvPr/>
        </p:nvSpPr>
        <p:spPr>
          <a:xfrm>
            <a:off x="10195560" y="1600200"/>
            <a:ext cx="1481328" cy="493776"/>
          </a:xfrm>
          <a:prstGeom prst="roundRect">
            <a:avLst>
              <a:gd name="adj" fmla="val 48148"/>
            </a:avLst>
          </a:prstGeom>
          <a:solidFill>
            <a:srgbClr val="2E7D5B"/>
          </a:solidFill>
          <a:ln w="12700">
            <a:solidFill>
              <a:srgbClr val="2E7D5B"/>
            </a:solidFill>
            <a:prstDash val="solid"/>
          </a:ln>
        </p:spPr>
      </p:sp>
      <p:sp>
        <p:nvSpPr>
          <p:cNvPr id="12" name="Text 10"/>
          <p:cNvSpPr/>
          <p:nvPr/>
        </p:nvSpPr>
        <p:spPr>
          <a:xfrm>
            <a:off x="10195560" y="1600200"/>
            <a:ext cx="1481328" cy="49377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PROVEN</a:t>
            </a:r>
            <a:endParaRPr lang="en-US" sz="1050" dirty="0"/>
          </a:p>
        </p:txBody>
      </p:sp>
      <p:sp>
        <p:nvSpPr>
          <p:cNvPr id="13" name="Shape 11"/>
          <p:cNvSpPr/>
          <p:nvPr/>
        </p:nvSpPr>
        <p:spPr>
          <a:xfrm>
            <a:off x="10195560" y="2304288"/>
            <a:ext cx="1481328" cy="493776"/>
          </a:xfrm>
          <a:prstGeom prst="roundRect">
            <a:avLst>
              <a:gd name="adj" fmla="val 48148"/>
            </a:avLst>
          </a:prstGeom>
          <a:solidFill>
            <a:srgbClr val="C8891B"/>
          </a:solidFill>
          <a:ln w="12700">
            <a:solidFill>
              <a:srgbClr val="C8891B"/>
            </a:solidFill>
            <a:prstDash val="solid"/>
          </a:ln>
        </p:spPr>
      </p:sp>
      <p:sp>
        <p:nvSpPr>
          <p:cNvPr id="14" name="Text 12"/>
          <p:cNvSpPr/>
          <p:nvPr/>
        </p:nvSpPr>
        <p:spPr>
          <a:xfrm>
            <a:off x="10195560" y="2304288"/>
            <a:ext cx="1481328" cy="49377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UNPROVEN</a:t>
            </a:r>
            <a:endParaRPr lang="en-US" sz="1050" dirty="0"/>
          </a:p>
        </p:txBody>
      </p:sp>
      <p:sp>
        <p:nvSpPr>
          <p:cNvPr id="15" name="Shape 13"/>
          <p:cNvSpPr/>
          <p:nvPr/>
        </p:nvSpPr>
        <p:spPr>
          <a:xfrm>
            <a:off x="10195560" y="3008376"/>
            <a:ext cx="1481328" cy="493776"/>
          </a:xfrm>
          <a:prstGeom prst="roundRect">
            <a:avLst>
              <a:gd name="adj" fmla="val 48148"/>
            </a:avLst>
          </a:prstGeom>
          <a:solidFill>
            <a:srgbClr val="B23C2A"/>
          </a:solidFill>
          <a:ln w="12700">
            <a:solidFill>
              <a:srgbClr val="B23C2A"/>
            </a:solidFill>
            <a:prstDash val="solid"/>
          </a:ln>
        </p:spPr>
      </p:sp>
      <p:sp>
        <p:nvSpPr>
          <p:cNvPr id="16" name="Text 14"/>
          <p:cNvSpPr/>
          <p:nvPr/>
        </p:nvSpPr>
        <p:spPr>
          <a:xfrm>
            <a:off x="10195560" y="3008376"/>
            <a:ext cx="1481328" cy="49377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REFUTED</a:t>
            </a:r>
            <a:endParaRPr lang="en-US" sz="1050" dirty="0"/>
          </a:p>
        </p:txBody>
      </p:sp>
      <p:sp>
        <p:nvSpPr>
          <p:cNvPr id="17" name="Text 15"/>
          <p:cNvSpPr/>
          <p:nvPr/>
        </p:nvSpPr>
        <p:spPr>
          <a:xfrm>
            <a:off x="9144000" y="3611880"/>
            <a:ext cx="2532888" cy="274320"/>
          </a:xfrm>
          <a:prstGeom prst="rect">
            <a:avLst/>
          </a:prstGeom>
          <a:noFill/>
          <a:ln/>
        </p:spPr>
        <p:txBody>
          <a:bodyPr wrap="square" lIns="0" tIns="0" rIns="0" bIns="0" rtlCol="0" anchor="ctr"/>
          <a:lstStyle/>
          <a:p>
            <a:pPr algn="ctr" indent="0" marL="0">
              <a:buNone/>
            </a:pPr>
            <a:r>
              <a:rPr lang="en-US" sz="1000" i="1" dirty="0">
                <a:solidFill>
                  <a:srgbClr val="8FA7BD"/>
                </a:solidFill>
                <a:latin typeface="Calibri" pitchFamily="34" charset="0"/>
                <a:ea typeface="Calibri" pitchFamily="34" charset="-122"/>
                <a:cs typeface="Calibri" pitchFamily="34" charset="-120"/>
              </a:rPr>
              <a:t>a verdict per business rule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THE SITUATION</a:t>
            </a:r>
            <a:endParaRPr lang="en-US" sz="1050" dirty="0"/>
          </a:p>
        </p:txBody>
      </p:sp>
      <p:sp>
        <p:nvSpPr>
          <p:cNvPr id="3" name="Text 1"/>
          <p:cNvSpPr/>
          <p:nvPr/>
        </p:nvSpPr>
        <p:spPr>
          <a:xfrm>
            <a:off x="566928" y="658368"/>
            <a:ext cx="11057839" cy="658368"/>
          </a:xfrm>
          <a:prstGeom prst="rect">
            <a:avLst/>
          </a:prstGeom>
          <a:noFill/>
          <a:ln/>
        </p:spPr>
        <p:txBody>
          <a:bodyPr wrap="square" lIns="0" tIns="0" rIns="0" bIns="0" rtlCol="0" anchor="t"/>
          <a:lstStyle/>
          <a:p>
            <a:pPr indent="0" marL="0">
              <a:buNone/>
            </a:pPr>
            <a:r>
              <a:rPr lang="en-US" sz="3200" b="1" dirty="0">
                <a:solidFill>
                  <a:srgbClr val="16212E"/>
                </a:solidFill>
                <a:latin typeface="Cambria" pitchFamily="34" charset="0"/>
                <a:ea typeface="Cambria" pitchFamily="34" charset="-122"/>
                <a:cs typeface="Cambria" pitchFamily="34" charset="-120"/>
              </a:rPr>
              <a:t>India's banks run on code nobody can safely change</a:t>
            </a:r>
            <a:endParaRPr lang="en-US" sz="3200" dirty="0"/>
          </a:p>
        </p:txBody>
      </p:sp>
      <p:sp>
        <p:nvSpPr>
          <p:cNvPr id="4" name="Shape 2"/>
          <p:cNvSpPr/>
          <p:nvPr/>
        </p:nvSpPr>
        <p:spPr>
          <a:xfrm>
            <a:off x="566928" y="1536192"/>
            <a:ext cx="2670048" cy="1700784"/>
          </a:xfrm>
          <a:prstGeom prst="roundRect">
            <a:avLst>
              <a:gd name="adj" fmla="val 3226"/>
            </a:avLst>
          </a:prstGeom>
          <a:solidFill>
            <a:srgbClr val="F1F4F7"/>
          </a:solidFill>
          <a:ln w="12700">
            <a:solidFill>
              <a:srgbClr val="F1F4F7"/>
            </a:solidFill>
            <a:prstDash val="solid"/>
          </a:ln>
          <a:effectLst>
            <a:outerShdw sx="100000" sy="100000" kx="0" ky="0" algn="bl" rotWithShape="0" blurRad="101600" dist="12700" dir="5400000">
              <a:srgbClr val="8A94A0">
                <a:alpha val="18000"/>
              </a:srgbClr>
            </a:outerShdw>
          </a:effectLst>
        </p:spPr>
      </p:sp>
      <p:sp>
        <p:nvSpPr>
          <p:cNvPr id="5" name="Text 3"/>
          <p:cNvSpPr/>
          <p:nvPr/>
        </p:nvSpPr>
        <p:spPr>
          <a:xfrm>
            <a:off x="768096" y="1645920"/>
            <a:ext cx="2267712" cy="658368"/>
          </a:xfrm>
          <a:prstGeom prst="rect">
            <a:avLst/>
          </a:prstGeom>
          <a:noFill/>
          <a:ln/>
        </p:spPr>
        <p:txBody>
          <a:bodyPr wrap="square" lIns="0" tIns="0" rIns="0" bIns="0" rtlCol="0" anchor="ctr"/>
          <a:lstStyle/>
          <a:p>
            <a:pPr indent="0" marL="0">
              <a:buNone/>
            </a:pPr>
            <a:r>
              <a:rPr lang="en-US" sz="4200" b="1" dirty="0">
                <a:solidFill>
                  <a:srgbClr val="0E2033"/>
                </a:solidFill>
                <a:latin typeface="Cambria" pitchFamily="34" charset="0"/>
                <a:ea typeface="Cambria" pitchFamily="34" charset="-122"/>
                <a:cs typeface="Cambria" pitchFamily="34" charset="-120"/>
              </a:rPr>
              <a:t>92</a:t>
            </a:r>
            <a:endParaRPr lang="en-US" sz="4200" dirty="0"/>
          </a:p>
        </p:txBody>
      </p:sp>
      <p:sp>
        <p:nvSpPr>
          <p:cNvPr id="6" name="Text 4"/>
          <p:cNvSpPr/>
          <p:nvPr/>
        </p:nvSpPr>
        <p:spPr>
          <a:xfrm>
            <a:off x="768096" y="2304288"/>
            <a:ext cx="2267712" cy="237744"/>
          </a:xfrm>
          <a:prstGeom prst="rect">
            <a:avLst/>
          </a:prstGeom>
          <a:noFill/>
          <a:ln/>
        </p:spPr>
        <p:txBody>
          <a:bodyPr wrap="square" lIns="0" tIns="0" rIns="0" bIns="0" rtlCol="0" anchor="ctr"/>
          <a:lstStyle/>
          <a:p>
            <a:pPr indent="0" marL="0">
              <a:buNone/>
            </a:pPr>
            <a:r>
              <a:rPr lang="en-US" sz="1150" b="1" dirty="0">
                <a:solidFill>
                  <a:srgbClr val="C8891B"/>
                </a:solidFill>
                <a:latin typeface="Calibri" pitchFamily="34" charset="0"/>
                <a:ea typeface="Calibri" pitchFamily="34" charset="-122"/>
                <a:cs typeface="Calibri" pitchFamily="34" charset="-120"/>
              </a:rPr>
              <a:t>of the top 100</a:t>
            </a:r>
            <a:endParaRPr lang="en-US" sz="1150" dirty="0"/>
          </a:p>
        </p:txBody>
      </p:sp>
      <p:sp>
        <p:nvSpPr>
          <p:cNvPr id="7" name="Text 5"/>
          <p:cNvSpPr/>
          <p:nvPr/>
        </p:nvSpPr>
        <p:spPr>
          <a:xfrm>
            <a:off x="768096" y="2560320"/>
            <a:ext cx="2267712" cy="566928"/>
          </a:xfrm>
          <a:prstGeom prst="rect">
            <a:avLst/>
          </a:prstGeom>
          <a:noFill/>
          <a:ln/>
        </p:spPr>
        <p:txBody>
          <a:bodyPr wrap="square" lIns="0" tIns="0" rIns="0" bIns="0" rtlCol="0" anchor="ctr"/>
          <a:lstStyle/>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banks worldwide run on</a:t>
            </a:r>
            <a:endParaRPr lang="en-US" sz="1100" dirty="0"/>
          </a:p>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IBM mainframes</a:t>
            </a:r>
            <a:endParaRPr lang="en-US" sz="1100" dirty="0"/>
          </a:p>
        </p:txBody>
      </p:sp>
      <p:sp>
        <p:nvSpPr>
          <p:cNvPr id="8" name="Shape 6"/>
          <p:cNvSpPr/>
          <p:nvPr/>
        </p:nvSpPr>
        <p:spPr>
          <a:xfrm>
            <a:off x="3374136" y="1536192"/>
            <a:ext cx="2670048" cy="1700784"/>
          </a:xfrm>
          <a:prstGeom prst="roundRect">
            <a:avLst>
              <a:gd name="adj" fmla="val 3226"/>
            </a:avLst>
          </a:prstGeom>
          <a:solidFill>
            <a:srgbClr val="F1F4F7"/>
          </a:solidFill>
          <a:ln w="12700">
            <a:solidFill>
              <a:srgbClr val="F1F4F7"/>
            </a:solidFill>
            <a:prstDash val="solid"/>
          </a:ln>
          <a:effectLst>
            <a:outerShdw sx="100000" sy="100000" kx="0" ky="0" algn="bl" rotWithShape="0" blurRad="101600" dist="12700" dir="5400000">
              <a:srgbClr val="8A94A0">
                <a:alpha val="18000"/>
              </a:srgbClr>
            </a:outerShdw>
          </a:effectLst>
        </p:spPr>
      </p:sp>
      <p:sp>
        <p:nvSpPr>
          <p:cNvPr id="9" name="Text 7"/>
          <p:cNvSpPr/>
          <p:nvPr/>
        </p:nvSpPr>
        <p:spPr>
          <a:xfrm>
            <a:off x="3575304" y="1645920"/>
            <a:ext cx="2267712" cy="658368"/>
          </a:xfrm>
          <a:prstGeom prst="rect">
            <a:avLst/>
          </a:prstGeom>
          <a:noFill/>
          <a:ln/>
        </p:spPr>
        <p:txBody>
          <a:bodyPr wrap="square" lIns="0" tIns="0" rIns="0" bIns="0" rtlCol="0" anchor="ctr"/>
          <a:lstStyle/>
          <a:p>
            <a:pPr indent="0" marL="0">
              <a:buNone/>
            </a:pPr>
            <a:r>
              <a:rPr lang="en-US" sz="4200" b="1" dirty="0">
                <a:solidFill>
                  <a:srgbClr val="0E2033"/>
                </a:solidFill>
                <a:latin typeface="Cambria" pitchFamily="34" charset="0"/>
                <a:ea typeface="Cambria" pitchFamily="34" charset="-122"/>
                <a:cs typeface="Cambria" pitchFamily="34" charset="-120"/>
              </a:rPr>
              <a:t>40%+</a:t>
            </a:r>
            <a:endParaRPr lang="en-US" sz="4200" dirty="0"/>
          </a:p>
        </p:txBody>
      </p:sp>
      <p:sp>
        <p:nvSpPr>
          <p:cNvPr id="10" name="Text 8"/>
          <p:cNvSpPr/>
          <p:nvPr/>
        </p:nvSpPr>
        <p:spPr>
          <a:xfrm>
            <a:off x="3575304" y="2304288"/>
            <a:ext cx="2267712" cy="237744"/>
          </a:xfrm>
          <a:prstGeom prst="rect">
            <a:avLst/>
          </a:prstGeom>
          <a:noFill/>
          <a:ln/>
        </p:spPr>
        <p:txBody>
          <a:bodyPr wrap="square" lIns="0" tIns="0" rIns="0" bIns="0" rtlCol="0" anchor="ctr"/>
          <a:lstStyle/>
          <a:p>
            <a:pPr indent="0" marL="0">
              <a:buNone/>
            </a:pPr>
            <a:r>
              <a:rPr lang="en-US" sz="1150" b="1" dirty="0">
                <a:solidFill>
                  <a:srgbClr val="C8891B"/>
                </a:solidFill>
                <a:latin typeface="Calibri" pitchFamily="34" charset="0"/>
                <a:ea typeface="Calibri" pitchFamily="34" charset="-122"/>
                <a:cs typeface="Calibri" pitchFamily="34" charset="-120"/>
              </a:rPr>
              <a:t>of banking systems</a:t>
            </a:r>
            <a:endParaRPr lang="en-US" sz="1150" dirty="0"/>
          </a:p>
        </p:txBody>
      </p:sp>
      <p:sp>
        <p:nvSpPr>
          <p:cNvPr id="11" name="Text 9"/>
          <p:cNvSpPr/>
          <p:nvPr/>
        </p:nvSpPr>
        <p:spPr>
          <a:xfrm>
            <a:off x="3575304" y="2560320"/>
            <a:ext cx="2267712" cy="566928"/>
          </a:xfrm>
          <a:prstGeom prst="rect">
            <a:avLst/>
          </a:prstGeom>
          <a:noFill/>
          <a:ln/>
        </p:spPr>
        <p:txBody>
          <a:bodyPr wrap="square" lIns="0" tIns="0" rIns="0" bIns="0" rtlCol="0" anchor="ctr"/>
          <a:lstStyle/>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still run COBOL written</a:t>
            </a:r>
            <a:endParaRPr lang="en-US" sz="1100" dirty="0"/>
          </a:p>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decades ago</a:t>
            </a:r>
            <a:endParaRPr lang="en-US" sz="1100" dirty="0"/>
          </a:p>
        </p:txBody>
      </p:sp>
      <p:sp>
        <p:nvSpPr>
          <p:cNvPr id="12" name="Shape 10"/>
          <p:cNvSpPr/>
          <p:nvPr/>
        </p:nvSpPr>
        <p:spPr>
          <a:xfrm>
            <a:off x="6181344" y="1536192"/>
            <a:ext cx="2670048" cy="1700784"/>
          </a:xfrm>
          <a:prstGeom prst="roundRect">
            <a:avLst>
              <a:gd name="adj" fmla="val 3226"/>
            </a:avLst>
          </a:prstGeom>
          <a:solidFill>
            <a:srgbClr val="F1F4F7"/>
          </a:solidFill>
          <a:ln w="12700">
            <a:solidFill>
              <a:srgbClr val="F1F4F7"/>
            </a:solidFill>
            <a:prstDash val="solid"/>
          </a:ln>
          <a:effectLst>
            <a:outerShdw sx="100000" sy="100000" kx="0" ky="0" algn="bl" rotWithShape="0" blurRad="101600" dist="12700" dir="5400000">
              <a:srgbClr val="8A94A0">
                <a:alpha val="18000"/>
              </a:srgbClr>
            </a:outerShdw>
          </a:effectLst>
        </p:spPr>
      </p:sp>
      <p:sp>
        <p:nvSpPr>
          <p:cNvPr id="13" name="Text 11"/>
          <p:cNvSpPr/>
          <p:nvPr/>
        </p:nvSpPr>
        <p:spPr>
          <a:xfrm>
            <a:off x="6382512" y="1645920"/>
            <a:ext cx="2267712" cy="658368"/>
          </a:xfrm>
          <a:prstGeom prst="rect">
            <a:avLst/>
          </a:prstGeom>
          <a:noFill/>
          <a:ln/>
        </p:spPr>
        <p:txBody>
          <a:bodyPr wrap="square" lIns="0" tIns="0" rIns="0" bIns="0" rtlCol="0" anchor="ctr"/>
          <a:lstStyle/>
          <a:p>
            <a:pPr indent="0" marL="0">
              <a:buNone/>
            </a:pPr>
            <a:r>
              <a:rPr lang="en-US" sz="4200" b="1" dirty="0">
                <a:solidFill>
                  <a:srgbClr val="0E2033"/>
                </a:solidFill>
                <a:latin typeface="Cambria" pitchFamily="34" charset="0"/>
                <a:ea typeface="Cambria" pitchFamily="34" charset="-122"/>
                <a:cs typeface="Cambria" pitchFamily="34" charset="-120"/>
              </a:rPr>
              <a:t>$1bn</a:t>
            </a:r>
            <a:endParaRPr lang="en-US" sz="4200" dirty="0"/>
          </a:p>
        </p:txBody>
      </p:sp>
      <p:sp>
        <p:nvSpPr>
          <p:cNvPr id="14" name="Text 12"/>
          <p:cNvSpPr/>
          <p:nvPr/>
        </p:nvSpPr>
        <p:spPr>
          <a:xfrm>
            <a:off x="6382512" y="2304288"/>
            <a:ext cx="2267712" cy="237744"/>
          </a:xfrm>
          <a:prstGeom prst="rect">
            <a:avLst/>
          </a:prstGeom>
          <a:noFill/>
          <a:ln/>
        </p:spPr>
        <p:txBody>
          <a:bodyPr wrap="square" lIns="0" tIns="0" rIns="0" bIns="0" rtlCol="0" anchor="ctr"/>
          <a:lstStyle/>
          <a:p>
            <a:pPr indent="0" marL="0">
              <a:buNone/>
            </a:pPr>
            <a:r>
              <a:rPr lang="en-US" sz="1150" b="1" dirty="0">
                <a:solidFill>
                  <a:srgbClr val="C8891B"/>
                </a:solidFill>
                <a:latin typeface="Calibri" pitchFamily="34" charset="0"/>
                <a:ea typeface="Calibri" pitchFamily="34" charset="-122"/>
                <a:cs typeface="Calibri" pitchFamily="34" charset="-120"/>
              </a:rPr>
              <a:t>over 5–10 years</a:t>
            </a:r>
            <a:endParaRPr lang="en-US" sz="1150" dirty="0"/>
          </a:p>
        </p:txBody>
      </p:sp>
      <p:sp>
        <p:nvSpPr>
          <p:cNvPr id="15" name="Text 13"/>
          <p:cNvSpPr/>
          <p:nvPr/>
        </p:nvSpPr>
        <p:spPr>
          <a:xfrm>
            <a:off x="6382512" y="2560320"/>
            <a:ext cx="2267712" cy="566928"/>
          </a:xfrm>
          <a:prstGeom prst="rect">
            <a:avLst/>
          </a:prstGeom>
          <a:noFill/>
          <a:ln/>
        </p:spPr>
        <p:txBody>
          <a:bodyPr wrap="square" lIns="0" tIns="0" rIns="0" bIns="0" rtlCol="0" anchor="ctr"/>
          <a:lstStyle/>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to upgrade Indian core</a:t>
            </a:r>
            <a:endParaRPr lang="en-US" sz="1100" dirty="0"/>
          </a:p>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banking systems (BCG)</a:t>
            </a:r>
            <a:endParaRPr lang="en-US" sz="1100" dirty="0"/>
          </a:p>
        </p:txBody>
      </p:sp>
      <p:sp>
        <p:nvSpPr>
          <p:cNvPr id="16" name="Shape 14"/>
          <p:cNvSpPr/>
          <p:nvPr/>
        </p:nvSpPr>
        <p:spPr>
          <a:xfrm>
            <a:off x="8988552" y="1536192"/>
            <a:ext cx="2670048" cy="1700784"/>
          </a:xfrm>
          <a:prstGeom prst="roundRect">
            <a:avLst>
              <a:gd name="adj" fmla="val 3226"/>
            </a:avLst>
          </a:prstGeom>
          <a:solidFill>
            <a:srgbClr val="F1F4F7"/>
          </a:solidFill>
          <a:ln w="12700">
            <a:solidFill>
              <a:srgbClr val="F1F4F7"/>
            </a:solidFill>
            <a:prstDash val="solid"/>
          </a:ln>
          <a:effectLst>
            <a:outerShdw sx="100000" sy="100000" kx="0" ky="0" algn="bl" rotWithShape="0" blurRad="101600" dist="12700" dir="5400000">
              <a:srgbClr val="8A94A0">
                <a:alpha val="18000"/>
              </a:srgbClr>
            </a:outerShdw>
          </a:effectLst>
        </p:spPr>
      </p:sp>
      <p:sp>
        <p:nvSpPr>
          <p:cNvPr id="17" name="Text 15"/>
          <p:cNvSpPr/>
          <p:nvPr/>
        </p:nvSpPr>
        <p:spPr>
          <a:xfrm>
            <a:off x="9189720" y="1645920"/>
            <a:ext cx="2267712" cy="658368"/>
          </a:xfrm>
          <a:prstGeom prst="rect">
            <a:avLst/>
          </a:prstGeom>
          <a:noFill/>
          <a:ln/>
        </p:spPr>
        <p:txBody>
          <a:bodyPr wrap="square" lIns="0" tIns="0" rIns="0" bIns="0" rtlCol="0" anchor="ctr"/>
          <a:lstStyle/>
          <a:p>
            <a:pPr indent="0" marL="0">
              <a:buNone/>
            </a:pPr>
            <a:r>
              <a:rPr lang="en-US" sz="4200" b="1" dirty="0">
                <a:solidFill>
                  <a:srgbClr val="0E2033"/>
                </a:solidFill>
                <a:latin typeface="Cambria" pitchFamily="34" charset="0"/>
                <a:ea typeface="Cambria" pitchFamily="34" charset="-122"/>
                <a:cs typeface="Cambria" pitchFamily="34" charset="-120"/>
              </a:rPr>
              <a:t>0</a:t>
            </a:r>
            <a:endParaRPr lang="en-US" sz="4200" dirty="0"/>
          </a:p>
        </p:txBody>
      </p:sp>
      <p:sp>
        <p:nvSpPr>
          <p:cNvPr id="18" name="Text 16"/>
          <p:cNvSpPr/>
          <p:nvPr/>
        </p:nvSpPr>
        <p:spPr>
          <a:xfrm>
            <a:off x="9189720" y="2304288"/>
            <a:ext cx="2267712" cy="237744"/>
          </a:xfrm>
          <a:prstGeom prst="rect">
            <a:avLst/>
          </a:prstGeom>
          <a:noFill/>
          <a:ln/>
        </p:spPr>
        <p:txBody>
          <a:bodyPr wrap="square" lIns="0" tIns="0" rIns="0" bIns="0" rtlCol="0" anchor="ctr"/>
          <a:lstStyle/>
          <a:p>
            <a:pPr indent="0" marL="0">
              <a:buNone/>
            </a:pPr>
            <a:r>
              <a:rPr lang="en-US" sz="1150" b="1" dirty="0">
                <a:solidFill>
                  <a:srgbClr val="C8891B"/>
                </a:solidFill>
                <a:latin typeface="Calibri" pitchFamily="34" charset="0"/>
                <a:ea typeface="Calibri" pitchFamily="34" charset="-122"/>
                <a:cs typeface="Calibri" pitchFamily="34" charset="-120"/>
              </a:rPr>
              <a:t>specifications</a:t>
            </a:r>
            <a:endParaRPr lang="en-US" sz="1150" dirty="0"/>
          </a:p>
        </p:txBody>
      </p:sp>
      <p:sp>
        <p:nvSpPr>
          <p:cNvPr id="19" name="Text 17"/>
          <p:cNvSpPr/>
          <p:nvPr/>
        </p:nvSpPr>
        <p:spPr>
          <a:xfrm>
            <a:off x="9189720" y="2560320"/>
            <a:ext cx="2267712" cy="566928"/>
          </a:xfrm>
          <a:prstGeom prst="rect">
            <a:avLst/>
          </a:prstGeom>
          <a:noFill/>
          <a:ln/>
        </p:spPr>
        <p:txBody>
          <a:bodyPr wrap="square" lIns="0" tIns="0" rIns="0" bIns="0" rtlCol="0" anchor="ctr"/>
          <a:lstStyle/>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state what those</a:t>
            </a:r>
            <a:endParaRPr lang="en-US" sz="1100" dirty="0"/>
          </a:p>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programs should do</a:t>
            </a:r>
            <a:endParaRPr lang="en-US" sz="1100" dirty="0"/>
          </a:p>
        </p:txBody>
      </p:sp>
      <p:sp>
        <p:nvSpPr>
          <p:cNvPr id="20" name="Text 18"/>
          <p:cNvSpPr/>
          <p:nvPr/>
        </p:nvSpPr>
        <p:spPr>
          <a:xfrm>
            <a:off x="566928" y="3438144"/>
            <a:ext cx="11057839" cy="310896"/>
          </a:xfrm>
          <a:prstGeom prst="rect">
            <a:avLst/>
          </a:prstGeom>
          <a:noFill/>
          <a:ln/>
        </p:spPr>
        <p:txBody>
          <a:bodyPr wrap="square" lIns="0" tIns="0" rIns="0" bIns="0" rtlCol="0" anchor="ctr"/>
          <a:lstStyle/>
          <a:p>
            <a:pPr indent="0" marL="0">
              <a:buNone/>
            </a:pPr>
            <a:r>
              <a:rPr lang="en-US" sz="1800" b="1" dirty="0">
                <a:solidFill>
                  <a:srgbClr val="16212E"/>
                </a:solidFill>
                <a:latin typeface="Cambria" pitchFamily="34" charset="0"/>
                <a:ea typeface="Cambria" pitchFamily="34" charset="-122"/>
                <a:cs typeface="Cambria" pitchFamily="34" charset="-120"/>
              </a:rPr>
              <a:t>When a bank guesses wrong, it is not an engineering incident</a:t>
            </a:r>
            <a:endParaRPr lang="en-US" sz="1800" dirty="0"/>
          </a:p>
        </p:txBody>
      </p:sp>
      <p:sp>
        <p:nvSpPr>
          <p:cNvPr id="21" name="Shape 19"/>
          <p:cNvSpPr/>
          <p:nvPr/>
        </p:nvSpPr>
        <p:spPr>
          <a:xfrm>
            <a:off x="566928" y="3840480"/>
            <a:ext cx="5614416" cy="1517904"/>
          </a:xfrm>
          <a:prstGeom prst="roundRect">
            <a:avLst>
              <a:gd name="adj" fmla="val 3614"/>
            </a:avLst>
          </a:prstGeom>
          <a:solidFill>
            <a:srgbClr val="FAEBE7"/>
          </a:solidFill>
          <a:ln w="12700">
            <a:solidFill>
              <a:srgbClr val="B23C2A"/>
            </a:solidFill>
            <a:prstDash val="solid"/>
          </a:ln>
          <a:effectLst>
            <a:outerShdw sx="100000" sy="100000" kx="0" ky="0" algn="bl" rotWithShape="0" blurRad="101600" dist="12700" dir="5400000">
              <a:srgbClr val="8A94A0">
                <a:alpha val="18000"/>
              </a:srgbClr>
            </a:outerShdw>
          </a:effectLst>
        </p:spPr>
      </p:sp>
      <p:sp>
        <p:nvSpPr>
          <p:cNvPr id="22" name="Text 20"/>
          <p:cNvSpPr/>
          <p:nvPr/>
        </p:nvSpPr>
        <p:spPr>
          <a:xfrm>
            <a:off x="804672" y="3986784"/>
            <a:ext cx="5138928" cy="274320"/>
          </a:xfrm>
          <a:prstGeom prst="rect">
            <a:avLst/>
          </a:prstGeom>
          <a:noFill/>
          <a:ln/>
        </p:spPr>
        <p:txBody>
          <a:bodyPr wrap="square" lIns="0" tIns="0" rIns="0" bIns="0" rtlCol="0" anchor="ctr"/>
          <a:lstStyle/>
          <a:p>
            <a:pPr indent="0" marL="0">
              <a:buNone/>
            </a:pPr>
            <a:r>
              <a:rPr lang="en-US" sz="1350" b="1" dirty="0">
                <a:solidFill>
                  <a:srgbClr val="B23C2A"/>
                </a:solidFill>
                <a:latin typeface="Calibri" pitchFamily="34" charset="0"/>
                <a:ea typeface="Calibri" pitchFamily="34" charset="-122"/>
                <a:cs typeface="Calibri" pitchFamily="34" charset="-120"/>
              </a:rPr>
              <a:t>TSB, United Kingdom — 2018</a:t>
            </a:r>
            <a:endParaRPr lang="en-US" sz="1350" dirty="0"/>
          </a:p>
        </p:txBody>
      </p:sp>
      <p:sp>
        <p:nvSpPr>
          <p:cNvPr id="23" name="Text 21"/>
          <p:cNvSpPr/>
          <p:nvPr/>
        </p:nvSpPr>
        <p:spPr>
          <a:xfrm>
            <a:off x="804672" y="4279392"/>
            <a:ext cx="5138928" cy="969264"/>
          </a:xfrm>
          <a:prstGeom prst="rect">
            <a:avLst/>
          </a:prstGeom>
          <a:noFill/>
          <a:ln/>
        </p:spPr>
        <p:txBody>
          <a:bodyPr wrap="square" lIns="0" tIns="0" rIns="0" bIns="0" rtlCol="0" anchor="ctr"/>
          <a:lstStyle/>
          <a:p>
            <a:pPr indent="0" marL="0">
              <a:lnSpc>
                <a:spcPts val="1600"/>
              </a:lnSpc>
              <a:buNone/>
            </a:pPr>
            <a:r>
              <a:rPr lang="en-US" sz="1150" dirty="0">
                <a:solidFill>
                  <a:srgbClr val="16212E"/>
                </a:solidFill>
                <a:latin typeface="Calibri" pitchFamily="34" charset="0"/>
                <a:ea typeface="Calibri" pitchFamily="34" charset="-122"/>
                <a:cs typeface="Calibri" pitchFamily="34" charset="-120"/>
              </a:rPr>
              <a:t>A core migration failed at cutover. The FCA and PRA fined TSB £48.65m for operational risk and governance failings; £32.7m was paid in customer redress. Business as usual did not return for eight months.</a:t>
            </a:r>
            <a:endParaRPr lang="en-US" sz="1150" dirty="0"/>
          </a:p>
        </p:txBody>
      </p:sp>
      <p:sp>
        <p:nvSpPr>
          <p:cNvPr id="24" name="Shape 22"/>
          <p:cNvSpPr/>
          <p:nvPr/>
        </p:nvSpPr>
        <p:spPr>
          <a:xfrm>
            <a:off x="6345936" y="3840480"/>
            <a:ext cx="5614416" cy="1517904"/>
          </a:xfrm>
          <a:prstGeom prst="roundRect">
            <a:avLst>
              <a:gd name="adj" fmla="val 3614"/>
            </a:avLst>
          </a:prstGeom>
          <a:solidFill>
            <a:srgbClr val="E8EEF4"/>
          </a:solidFill>
          <a:ln w="12700">
            <a:solidFill>
              <a:srgbClr val="36678F"/>
            </a:solidFill>
            <a:prstDash val="solid"/>
          </a:ln>
          <a:effectLst>
            <a:outerShdw sx="100000" sy="100000" kx="0" ky="0" algn="bl" rotWithShape="0" blurRad="101600" dist="12700" dir="5400000">
              <a:srgbClr val="8A94A0">
                <a:alpha val="18000"/>
              </a:srgbClr>
            </a:outerShdw>
          </a:effectLst>
        </p:spPr>
      </p:sp>
      <p:sp>
        <p:nvSpPr>
          <p:cNvPr id="25" name="Text 23"/>
          <p:cNvSpPr/>
          <p:nvPr/>
        </p:nvSpPr>
        <p:spPr>
          <a:xfrm>
            <a:off x="6583680" y="3986784"/>
            <a:ext cx="5138928" cy="274320"/>
          </a:xfrm>
          <a:prstGeom prst="rect">
            <a:avLst/>
          </a:prstGeom>
          <a:noFill/>
          <a:ln/>
        </p:spPr>
        <p:txBody>
          <a:bodyPr wrap="square" lIns="0" tIns="0" rIns="0" bIns="0" rtlCol="0" anchor="ctr"/>
          <a:lstStyle/>
          <a:p>
            <a:pPr indent="0" marL="0">
              <a:buNone/>
            </a:pPr>
            <a:r>
              <a:rPr lang="en-US" sz="1350" b="1" dirty="0">
                <a:solidFill>
                  <a:srgbClr val="36678F"/>
                </a:solidFill>
                <a:latin typeface="Calibri" pitchFamily="34" charset="0"/>
                <a:ea typeface="Calibri" pitchFamily="34" charset="-122"/>
                <a:cs typeface="Calibri" pitchFamily="34" charset="-120"/>
              </a:rPr>
              <a:t>HDFC Bank, India — 2020</a:t>
            </a:r>
            <a:endParaRPr lang="en-US" sz="1350" dirty="0"/>
          </a:p>
        </p:txBody>
      </p:sp>
      <p:sp>
        <p:nvSpPr>
          <p:cNvPr id="26" name="Text 24"/>
          <p:cNvSpPr/>
          <p:nvPr/>
        </p:nvSpPr>
        <p:spPr>
          <a:xfrm>
            <a:off x="6583680" y="4279392"/>
            <a:ext cx="5138928" cy="969264"/>
          </a:xfrm>
          <a:prstGeom prst="rect">
            <a:avLst/>
          </a:prstGeom>
          <a:noFill/>
          <a:ln/>
        </p:spPr>
        <p:txBody>
          <a:bodyPr wrap="square" lIns="0" tIns="0" rIns="0" bIns="0" rtlCol="0" anchor="ctr"/>
          <a:lstStyle/>
          <a:p>
            <a:pPr indent="0" marL="0">
              <a:lnSpc>
                <a:spcPts val="1600"/>
              </a:lnSpc>
              <a:buNone/>
            </a:pPr>
            <a:r>
              <a:rPr lang="en-US" sz="1150" dirty="0">
                <a:solidFill>
                  <a:srgbClr val="16212E"/>
                </a:solidFill>
                <a:latin typeface="Calibri" pitchFamily="34" charset="0"/>
                <a:ea typeface="Calibri" pitchFamily="34" charset="-122"/>
                <a:cs typeface="Calibri" pitchFamily="34" charset="-120"/>
              </a:rPr>
              <a:t>After repeated outages the RBI halted all Digital 2.0 launches and froze new credit-card issuance. The card restriction lifted only in August 2021; the digital freeze ran into 2022.</a:t>
            </a:r>
            <a:endParaRPr lang="en-US" sz="1150" dirty="0"/>
          </a:p>
        </p:txBody>
      </p:sp>
      <p:sp>
        <p:nvSpPr>
          <p:cNvPr id="27" name="Text 25"/>
          <p:cNvSpPr/>
          <p:nvPr/>
        </p:nvSpPr>
        <p:spPr>
          <a:xfrm>
            <a:off x="566928" y="5541264"/>
            <a:ext cx="11057839" cy="457200"/>
          </a:xfrm>
          <a:prstGeom prst="rect">
            <a:avLst/>
          </a:prstGeom>
          <a:noFill/>
          <a:ln/>
        </p:spPr>
        <p:txBody>
          <a:bodyPr wrap="square" lIns="0" tIns="0" rIns="0" bIns="0" rtlCol="0" anchor="ctr"/>
          <a:lstStyle/>
          <a:p>
            <a:pPr indent="0" marL="0">
              <a:lnSpc>
                <a:spcPts val="1800"/>
              </a:lnSpc>
              <a:buNone/>
            </a:pPr>
            <a:r>
              <a:rPr lang="en-US" sz="1300" i="1" dirty="0">
                <a:solidFill>
                  <a:srgbClr val="0E2033"/>
                </a:solidFill>
                <a:latin typeface="Calibri" pitchFamily="34" charset="0"/>
                <a:ea typeface="Calibri" pitchFamily="34" charset="-122"/>
                <a:cs typeface="Calibri" pitchFamily="34" charset="-120"/>
              </a:rPr>
              <a:t>A one-paisa divergence across millions of accounts is a reportable regulatory event, not a bug report. Refusing to touch the system is the correct decision under the bank's own risk framework.</a:t>
            </a:r>
            <a:endParaRPr lang="en-US" sz="1300" dirty="0"/>
          </a:p>
        </p:txBody>
      </p:sp>
      <p:sp>
        <p:nvSpPr>
          <p:cNvPr id="28" name="Text 26"/>
          <p:cNvSpPr/>
          <p:nvPr/>
        </p:nvSpPr>
        <p:spPr>
          <a:xfrm>
            <a:off x="566928" y="6345936"/>
            <a:ext cx="11057839" cy="274320"/>
          </a:xfrm>
          <a:prstGeom prst="rect">
            <a:avLst/>
          </a:prstGeom>
          <a:noFill/>
          <a:ln/>
        </p:spPr>
        <p:txBody>
          <a:bodyPr wrap="square" lIns="0" tIns="0" rIns="0" bIns="0" rtlCol="0" anchor="ctr"/>
          <a:lstStyle/>
          <a:p>
            <a:pPr indent="0" marL="0">
              <a:buNone/>
            </a:pPr>
            <a:r>
              <a:rPr lang="en-US" sz="950" i="1" dirty="0">
                <a:solidFill>
                  <a:srgbClr val="6B7785"/>
                </a:solidFill>
                <a:latin typeface="Calibri" pitchFamily="34" charset="0"/>
                <a:ea typeface="Calibri" pitchFamily="34" charset="-122"/>
                <a:cs typeface="Calibri" pitchFamily="34" charset="-120"/>
              </a:rPr>
              <a:t>Sources: FCA press release, Dec 2022 · BCG, Cloud-based Core Transformations, Aug 2024 · RBI supervisory action, Dec 2020. Full citations in the research dossier.</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THE MISDIAGNOSIS</a:t>
            </a:r>
            <a:endParaRPr lang="en-US" sz="1050" dirty="0"/>
          </a:p>
        </p:txBody>
      </p:sp>
      <p:sp>
        <p:nvSpPr>
          <p:cNvPr id="3" name="Text 1"/>
          <p:cNvSpPr/>
          <p:nvPr/>
        </p:nvSpPr>
        <p:spPr>
          <a:xfrm>
            <a:off x="566928" y="658368"/>
            <a:ext cx="11057839" cy="658368"/>
          </a:xfrm>
          <a:prstGeom prst="rect">
            <a:avLst/>
          </a:prstGeom>
          <a:noFill/>
          <a:ln/>
        </p:spPr>
        <p:txBody>
          <a:bodyPr wrap="square" lIns="0" tIns="0" rIns="0" bIns="0" rtlCol="0" anchor="t"/>
          <a:lstStyle/>
          <a:p>
            <a:pPr indent="0" marL="0">
              <a:buNone/>
            </a:pPr>
            <a:r>
              <a:rPr lang="en-US" sz="3200" b="1" dirty="0">
                <a:solidFill>
                  <a:srgbClr val="16212E"/>
                </a:solidFill>
                <a:latin typeface="Cambria" pitchFamily="34" charset="0"/>
                <a:ea typeface="Cambria" pitchFamily="34" charset="-122"/>
                <a:cs typeface="Cambria" pitchFamily="34" charset="-120"/>
              </a:rPr>
              <a:t>Everyone assumes this is a translation problem</a:t>
            </a:r>
            <a:endParaRPr lang="en-US" sz="3200" dirty="0"/>
          </a:p>
        </p:txBody>
      </p:sp>
      <p:sp>
        <p:nvSpPr>
          <p:cNvPr id="4" name="Shape 2"/>
          <p:cNvSpPr/>
          <p:nvPr/>
        </p:nvSpPr>
        <p:spPr>
          <a:xfrm>
            <a:off x="566928" y="1572768"/>
            <a:ext cx="5614416" cy="2743200"/>
          </a:xfrm>
          <a:prstGeom prst="roundRect">
            <a:avLst>
              <a:gd name="adj" fmla="val 2000"/>
            </a:avLst>
          </a:prstGeom>
          <a:solidFill>
            <a:srgbClr val="F1F4F7"/>
          </a:solidFill>
          <a:ln w="12700">
            <a:solidFill>
              <a:srgbClr val="F1F4F7"/>
            </a:solidFill>
            <a:prstDash val="solid"/>
          </a:ln>
          <a:effectLst>
            <a:outerShdw sx="100000" sy="100000" kx="0" ky="0" algn="bl" rotWithShape="0" blurRad="101600" dist="12700" dir="5400000">
              <a:srgbClr val="8A94A0">
                <a:alpha val="18000"/>
              </a:srgbClr>
            </a:outerShdw>
          </a:effectLst>
        </p:spPr>
      </p:sp>
      <p:sp>
        <p:nvSpPr>
          <p:cNvPr id="5" name="Text 3"/>
          <p:cNvSpPr/>
          <p:nvPr/>
        </p:nvSpPr>
        <p:spPr>
          <a:xfrm>
            <a:off x="841248" y="1773936"/>
            <a:ext cx="5065776" cy="292608"/>
          </a:xfrm>
          <a:prstGeom prst="rect">
            <a:avLst/>
          </a:prstGeom>
          <a:noFill/>
          <a:ln/>
        </p:spPr>
        <p:txBody>
          <a:bodyPr wrap="square" lIns="0" tIns="0" rIns="0" bIns="0" rtlCol="0" anchor="ctr"/>
          <a:lstStyle/>
          <a:p>
            <a:pPr indent="0" marL="0">
              <a:buNone/>
            </a:pPr>
            <a:r>
              <a:rPr lang="en-US" sz="1400" b="1" dirty="0">
                <a:solidFill>
                  <a:srgbClr val="2E7D5B"/>
                </a:solidFill>
                <a:latin typeface="Calibri" pitchFamily="34" charset="0"/>
                <a:ea typeface="Calibri" pitchFamily="34" charset="-122"/>
                <a:cs typeface="Calibri" pitchFamily="34" charset="-120"/>
              </a:rPr>
              <a:t>Already solved, and shipping</a:t>
            </a:r>
            <a:endParaRPr lang="en-US" sz="1400" dirty="0"/>
          </a:p>
        </p:txBody>
      </p:sp>
      <p:sp>
        <p:nvSpPr>
          <p:cNvPr id="6" name="Text 4"/>
          <p:cNvSpPr/>
          <p:nvPr/>
        </p:nvSpPr>
        <p:spPr>
          <a:xfrm>
            <a:off x="841248" y="2157984"/>
            <a:ext cx="5065776" cy="1463040"/>
          </a:xfrm>
          <a:prstGeom prst="rect">
            <a:avLst/>
          </a:prstGeom>
          <a:noFill/>
          <a:ln/>
        </p:spPr>
        <p:txBody>
          <a:bodyPr wrap="square" lIns="0" tIns="0" rIns="0" bIns="0" rtlCol="0" anchor="ctr"/>
          <a:lstStyle/>
          <a:p>
            <a:pPr marL="342900" indent="-342900">
              <a:lnSpc>
                <a:spcPts val="1600"/>
              </a:lnSpc>
              <a:spcAft>
                <a:spcPts val="800"/>
              </a:spcAft>
              <a:buSzPct val="100000"/>
              <a:buChar char="•"/>
            </a:pPr>
            <a:r>
              <a:rPr lang="en-US" sz="1200" dirty="0">
                <a:solidFill>
                  <a:srgbClr val="16212E"/>
                </a:solidFill>
                <a:latin typeface="Calibri" pitchFamily="34" charset="0"/>
                <a:ea typeface="Calibri" pitchFamily="34" charset="-122"/>
                <a:cs typeface="Calibri" pitchFamily="34" charset="-120"/>
              </a:rPr>
              <a:t>AWS Transform for mainframe — generally available since May 2025</a:t>
            </a:r>
            <a:endParaRPr lang="en-US" sz="1200" dirty="0"/>
          </a:p>
          <a:p>
            <a:pPr marL="342900" indent="-342900">
              <a:lnSpc>
                <a:spcPts val="1600"/>
              </a:lnSpc>
              <a:spcAft>
                <a:spcPts val="800"/>
              </a:spcAft>
              <a:buSzPct val="100000"/>
              <a:buChar char="•"/>
            </a:pPr>
            <a:r>
              <a:rPr lang="en-US" sz="1200" dirty="0">
                <a:solidFill>
                  <a:srgbClr val="16212E"/>
                </a:solidFill>
                <a:latin typeface="Calibri" pitchFamily="34" charset="0"/>
                <a:ea typeface="Calibri" pitchFamily="34" charset="-122"/>
                <a:cs typeface="Calibri" pitchFamily="34" charset="-120"/>
              </a:rPr>
              <a:t>IBM watsonx Code Assistant for Z — COBOL refactored to Java</a:t>
            </a:r>
            <a:endParaRPr lang="en-US" sz="1200" dirty="0"/>
          </a:p>
          <a:p>
            <a:pPr marL="342900" indent="-342900">
              <a:lnSpc>
                <a:spcPts val="1600"/>
              </a:lnSpc>
              <a:spcAft>
                <a:spcPts val="800"/>
              </a:spcAft>
              <a:buSzPct val="100000"/>
              <a:buChar char="•"/>
            </a:pPr>
            <a:r>
              <a:rPr lang="en-US" sz="1200" dirty="0">
                <a:solidFill>
                  <a:srgbClr val="16212E"/>
                </a:solidFill>
                <a:latin typeface="Calibri" pitchFamily="34" charset="0"/>
                <a:ea typeface="Calibri" pitchFamily="34" charset="-122"/>
                <a:cs typeface="Calibri" pitchFamily="34" charset="-120"/>
              </a:rPr>
              <a:t>TCS MasterCraft TransformPlus — automated COBOL-to-Java conversion</a:t>
            </a:r>
            <a:endParaRPr lang="en-US" sz="1200" dirty="0"/>
          </a:p>
          <a:p>
            <a:pPr marL="342900" indent="-342900">
              <a:lnSpc>
                <a:spcPts val="1600"/>
              </a:lnSpc>
              <a:spcAft>
                <a:spcPts val="800"/>
              </a:spcAft>
              <a:buSzPct val="100000"/>
              <a:buChar char="•"/>
            </a:pPr>
            <a:r>
              <a:rPr lang="en-US" sz="1200" dirty="0">
                <a:solidFill>
                  <a:srgbClr val="16212E"/>
                </a:solidFill>
                <a:latin typeface="Calibri" pitchFamily="34" charset="0"/>
                <a:ea typeface="Calibri" pitchFamily="34" charset="-122"/>
                <a:cs typeface="Calibri" pitchFamily="34" charset="-120"/>
              </a:rPr>
              <a:t>Cognizant modernisation accelerators — rules extracted, specs generated</a:t>
            </a:r>
            <a:endParaRPr lang="en-US" sz="1200" dirty="0"/>
          </a:p>
        </p:txBody>
      </p:sp>
      <p:sp>
        <p:nvSpPr>
          <p:cNvPr id="7" name="Text 5"/>
          <p:cNvSpPr/>
          <p:nvPr/>
        </p:nvSpPr>
        <p:spPr>
          <a:xfrm>
            <a:off x="841248" y="3712464"/>
            <a:ext cx="5065776" cy="457200"/>
          </a:xfrm>
          <a:prstGeom prst="rect">
            <a:avLst/>
          </a:prstGeom>
          <a:noFill/>
          <a:ln/>
        </p:spPr>
        <p:txBody>
          <a:bodyPr wrap="square" lIns="0" tIns="0" rIns="0" bIns="0" rtlCol="0" anchor="ctr"/>
          <a:lstStyle/>
          <a:p>
            <a:pPr indent="0" marL="0">
              <a:buNone/>
            </a:pPr>
            <a:r>
              <a:rPr lang="en-US" sz="1300" b="1" i="1" dirty="0">
                <a:solidFill>
                  <a:srgbClr val="0E2033"/>
                </a:solidFill>
                <a:latin typeface="Calibri" pitchFamily="34" charset="0"/>
                <a:ea typeface="Calibri" pitchFamily="34" charset="-122"/>
                <a:cs typeface="Calibri" pitchFamily="34" charset="-120"/>
              </a:rPr>
              <a:t>Generating the new code was never the hard part.</a:t>
            </a:r>
            <a:endParaRPr lang="en-US" sz="1300" dirty="0"/>
          </a:p>
        </p:txBody>
      </p:sp>
      <p:sp>
        <p:nvSpPr>
          <p:cNvPr id="8" name="Shape 6"/>
          <p:cNvSpPr/>
          <p:nvPr/>
        </p:nvSpPr>
        <p:spPr>
          <a:xfrm>
            <a:off x="6345936" y="1572768"/>
            <a:ext cx="5614416" cy="2743200"/>
          </a:xfrm>
          <a:prstGeom prst="roundRect">
            <a:avLst>
              <a:gd name="adj" fmla="val 2000"/>
            </a:avLst>
          </a:prstGeom>
          <a:solidFill>
            <a:srgbClr val="FAEBE7"/>
          </a:solidFill>
          <a:ln w="12700">
            <a:solidFill>
              <a:srgbClr val="B23C2A"/>
            </a:solidFill>
            <a:prstDash val="solid"/>
          </a:ln>
          <a:effectLst>
            <a:outerShdw sx="100000" sy="100000" kx="0" ky="0" algn="bl" rotWithShape="0" blurRad="101600" dist="12700" dir="5400000">
              <a:srgbClr val="8A94A0">
                <a:alpha val="18000"/>
              </a:srgbClr>
            </a:outerShdw>
          </a:effectLst>
        </p:spPr>
      </p:sp>
      <p:sp>
        <p:nvSpPr>
          <p:cNvPr id="9" name="Text 7"/>
          <p:cNvSpPr/>
          <p:nvPr/>
        </p:nvSpPr>
        <p:spPr>
          <a:xfrm>
            <a:off x="6620256" y="1773936"/>
            <a:ext cx="5065776" cy="292608"/>
          </a:xfrm>
          <a:prstGeom prst="rect">
            <a:avLst/>
          </a:prstGeom>
          <a:noFill/>
          <a:ln/>
        </p:spPr>
        <p:txBody>
          <a:bodyPr wrap="square" lIns="0" tIns="0" rIns="0" bIns="0" rtlCol="0" anchor="ctr"/>
          <a:lstStyle/>
          <a:p>
            <a:pPr indent="0" marL="0">
              <a:buNone/>
            </a:pPr>
            <a:r>
              <a:rPr lang="en-US" sz="1400" b="1" dirty="0">
                <a:solidFill>
                  <a:srgbClr val="B23C2A"/>
                </a:solidFill>
                <a:latin typeface="Calibri" pitchFamily="34" charset="0"/>
                <a:ea typeface="Calibri" pitchFamily="34" charset="-122"/>
                <a:cs typeface="Calibri" pitchFamily="34" charset="-120"/>
              </a:rPr>
              <a:t>Still blocking every migration</a:t>
            </a:r>
            <a:endParaRPr lang="en-US" sz="1400" dirty="0"/>
          </a:p>
        </p:txBody>
      </p:sp>
      <p:sp>
        <p:nvSpPr>
          <p:cNvPr id="10" name="Text 8"/>
          <p:cNvSpPr/>
          <p:nvPr/>
        </p:nvSpPr>
        <p:spPr>
          <a:xfrm>
            <a:off x="6620256" y="2157984"/>
            <a:ext cx="5065776" cy="1463040"/>
          </a:xfrm>
          <a:prstGeom prst="rect">
            <a:avLst/>
          </a:prstGeom>
          <a:noFill/>
          <a:ln/>
        </p:spPr>
        <p:txBody>
          <a:bodyPr wrap="square" lIns="0" tIns="0" rIns="0" bIns="0" rtlCol="0" anchor="ctr"/>
          <a:lstStyle/>
          <a:p>
            <a:pPr indent="0" marL="0">
              <a:lnSpc>
                <a:spcPts val="1700"/>
              </a:lnSpc>
              <a:buNone/>
            </a:pPr>
            <a:r>
              <a:rPr lang="en-US" sz="1200" dirty="0">
                <a:solidFill>
                  <a:srgbClr val="16212E"/>
                </a:solidFill>
                <a:latin typeface="Calibri" pitchFamily="34" charset="0"/>
                <a:ea typeface="Calibri" pitchFamily="34" charset="-122"/>
                <a:cs typeface="Calibri" pitchFamily="34" charset="-120"/>
              </a:rPr>
              <a:t>The generated code compiles. It passes the tests the team wrote. Should the bank deploy it?</a:t>
            </a:r>
            <a:endParaRPr lang="en-US" sz="1200" dirty="0"/>
          </a:p>
          <a:p>
            <a:pPr indent="0" marL="0">
              <a:lnSpc>
                <a:spcPts val="1700"/>
              </a:lnSpc>
              <a:buNone/>
            </a:pPr>
            <a:endParaRPr lang="en-US" sz="1200" dirty="0"/>
          </a:p>
          <a:p>
            <a:pPr indent="0" marL="0">
              <a:lnSpc>
                <a:spcPts val="1700"/>
              </a:lnSpc>
              <a:buNone/>
            </a:pPr>
            <a:r>
              <a:rPr lang="en-US" sz="1200" dirty="0">
                <a:solidFill>
                  <a:srgbClr val="16212E"/>
                </a:solidFill>
                <a:latin typeface="Calibri" pitchFamily="34" charset="0"/>
                <a:ea typeface="Calibri" pitchFamily="34" charset="-122"/>
                <a:cs typeface="Calibri" pitchFamily="34" charset="-120"/>
              </a:rPr>
              <a:t>Nobody can answer. No specification of the current behaviour exists, so nobody can show the new system does the same thing — and the tolerance for difference is zero.</a:t>
            </a:r>
            <a:endParaRPr lang="en-US" sz="1200" dirty="0"/>
          </a:p>
        </p:txBody>
      </p:sp>
      <p:sp>
        <p:nvSpPr>
          <p:cNvPr id="11" name="Text 9"/>
          <p:cNvSpPr/>
          <p:nvPr/>
        </p:nvSpPr>
        <p:spPr>
          <a:xfrm>
            <a:off x="6620256" y="3712464"/>
            <a:ext cx="5065776" cy="457200"/>
          </a:xfrm>
          <a:prstGeom prst="rect">
            <a:avLst/>
          </a:prstGeom>
          <a:noFill/>
          <a:ln/>
        </p:spPr>
        <p:txBody>
          <a:bodyPr wrap="square" lIns="0" tIns="0" rIns="0" bIns="0" rtlCol="0" anchor="ctr"/>
          <a:lstStyle/>
          <a:p>
            <a:pPr indent="0" marL="0">
              <a:buNone/>
            </a:pPr>
            <a:r>
              <a:rPr lang="en-US" sz="1300" b="1" i="1" dirty="0">
                <a:solidFill>
                  <a:srgbClr val="B23C2A"/>
                </a:solidFill>
                <a:latin typeface="Calibri" pitchFamily="34" charset="0"/>
                <a:ea typeface="Calibri" pitchFamily="34" charset="-122"/>
                <a:cs typeface="Calibri" pitchFamily="34" charset="-120"/>
              </a:rPr>
              <a:t>So it does not ship.</a:t>
            </a:r>
            <a:endParaRPr lang="en-US" sz="1300" dirty="0"/>
          </a:p>
        </p:txBody>
      </p:sp>
      <p:sp>
        <p:nvSpPr>
          <p:cNvPr id="12" name="Shape 10"/>
          <p:cNvSpPr/>
          <p:nvPr/>
        </p:nvSpPr>
        <p:spPr>
          <a:xfrm>
            <a:off x="566928" y="4535424"/>
            <a:ext cx="11057839" cy="1481328"/>
          </a:xfrm>
          <a:prstGeom prst="roundRect">
            <a:avLst>
              <a:gd name="adj" fmla="val 3704"/>
            </a:avLst>
          </a:prstGeom>
          <a:solidFill>
            <a:srgbClr val="0E2033"/>
          </a:solidFill>
          <a:ln w="12700">
            <a:solidFill>
              <a:srgbClr val="0E2033"/>
            </a:solidFill>
            <a:prstDash val="solid"/>
          </a:ln>
        </p:spPr>
      </p:sp>
      <p:sp>
        <p:nvSpPr>
          <p:cNvPr id="13" name="Text 11"/>
          <p:cNvSpPr/>
          <p:nvPr/>
        </p:nvSpPr>
        <p:spPr>
          <a:xfrm>
            <a:off x="877824" y="4700016"/>
            <a:ext cx="10436047" cy="402336"/>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The bottleneck is verification, not code generation.</a:t>
            </a:r>
            <a:endParaRPr lang="en-US" sz="2400" dirty="0"/>
          </a:p>
        </p:txBody>
      </p:sp>
      <p:sp>
        <p:nvSpPr>
          <p:cNvPr id="14" name="Text 12"/>
          <p:cNvSpPr/>
          <p:nvPr/>
        </p:nvSpPr>
        <p:spPr>
          <a:xfrm>
            <a:off x="877824" y="5175504"/>
            <a:ext cx="10436047" cy="640080"/>
          </a:xfrm>
          <a:prstGeom prst="rect">
            <a:avLst/>
          </a:prstGeom>
          <a:noFill/>
          <a:ln/>
        </p:spPr>
        <p:txBody>
          <a:bodyPr wrap="square" lIns="0" tIns="0" rIns="0" bIns="0" rtlCol="0" anchor="ctr"/>
          <a:lstStyle/>
          <a:p>
            <a:pPr indent="0" marL="0">
              <a:lnSpc>
                <a:spcPts val="1800"/>
              </a:lnSpc>
              <a:buNone/>
            </a:pPr>
            <a:r>
              <a:rPr lang="en-US" sz="1300" dirty="0">
                <a:solidFill>
                  <a:srgbClr val="C3D2DF"/>
                </a:solidFill>
                <a:latin typeface="Calibri" pitchFamily="34" charset="0"/>
                <a:ea typeface="Calibri" pitchFamily="34" charset="-122"/>
                <a:cs typeface="Calibri" pitchFamily="34" charset="-120"/>
              </a:rPr>
              <a:t>This is not a contrarian view. IBM, AWS and Mechanical Orchard have all converged on behavioural equivalence as the real deliverable. We agree with them — and then go one step further.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THE REAL PROBLEM</a:t>
            </a:r>
            <a:endParaRPr lang="en-US" sz="1050" dirty="0"/>
          </a:p>
        </p:txBody>
      </p:sp>
      <p:sp>
        <p:nvSpPr>
          <p:cNvPr id="3" name="Text 1"/>
          <p:cNvSpPr/>
          <p:nvPr/>
        </p:nvSpPr>
        <p:spPr>
          <a:xfrm>
            <a:off x="566928" y="658368"/>
            <a:ext cx="11057839" cy="658368"/>
          </a:xfrm>
          <a:prstGeom prst="rect">
            <a:avLst/>
          </a:prstGeom>
          <a:noFill/>
          <a:ln/>
        </p:spPr>
        <p:txBody>
          <a:bodyPr wrap="square" lIns="0" tIns="0" rIns="0" bIns="0" rtlCol="0" anchor="t"/>
          <a:lstStyle/>
          <a:p>
            <a:pPr indent="0" marL="0">
              <a:buNone/>
            </a:pPr>
            <a:r>
              <a:rPr lang="en-US" sz="3200" b="1" dirty="0">
                <a:solidFill>
                  <a:srgbClr val="16212E"/>
                </a:solidFill>
                <a:latin typeface="Cambria" pitchFamily="34" charset="0"/>
                <a:ea typeface="Cambria" pitchFamily="34" charset="-122"/>
                <a:cs typeface="Cambria" pitchFamily="34" charset="-120"/>
              </a:rPr>
              <a:t>The specification was never written down</a:t>
            </a:r>
            <a:endParaRPr lang="en-US" sz="3200" dirty="0"/>
          </a:p>
        </p:txBody>
      </p:sp>
      <p:sp>
        <p:nvSpPr>
          <p:cNvPr id="4" name="Text 2"/>
          <p:cNvSpPr/>
          <p:nvPr/>
        </p:nvSpPr>
        <p:spPr>
          <a:xfrm>
            <a:off x="566928" y="1517904"/>
            <a:ext cx="6583680" cy="786384"/>
          </a:xfrm>
          <a:prstGeom prst="rect">
            <a:avLst/>
          </a:prstGeom>
          <a:noFill/>
          <a:ln/>
        </p:spPr>
        <p:txBody>
          <a:bodyPr wrap="square" lIns="0" tIns="0" rIns="0" bIns="0" rtlCol="0" anchor="ctr"/>
          <a:lstStyle/>
          <a:p>
            <a:pPr indent="0" marL="0">
              <a:lnSpc>
                <a:spcPts val="2000"/>
              </a:lnSpc>
              <a:buNone/>
            </a:pPr>
            <a:r>
              <a:rPr lang="en-US" sz="1400" dirty="0">
                <a:solidFill>
                  <a:srgbClr val="16212E"/>
                </a:solidFill>
                <a:latin typeface="Calibri" pitchFamily="34" charset="0"/>
                <a:ea typeface="Calibri" pitchFamily="34" charset="-122"/>
                <a:cs typeface="Calibri" pitchFamily="34" charset="-120"/>
              </a:rPr>
              <a:t>Accrual conventions. Rounding on the third decimal. Leap years. Accounts opened on the 31st. Hundreds of edge cases, each one patched in over four decades as a response to something real.</a:t>
            </a:r>
            <a:endParaRPr lang="en-US" sz="1400" dirty="0"/>
          </a:p>
        </p:txBody>
      </p:sp>
      <p:sp>
        <p:nvSpPr>
          <p:cNvPr id="5" name="Text 3"/>
          <p:cNvSpPr/>
          <p:nvPr/>
        </p:nvSpPr>
        <p:spPr>
          <a:xfrm>
            <a:off x="566928" y="2359152"/>
            <a:ext cx="6583680" cy="310896"/>
          </a:xfrm>
          <a:prstGeom prst="rect">
            <a:avLst/>
          </a:prstGeom>
          <a:noFill/>
          <a:ln/>
        </p:spPr>
        <p:txBody>
          <a:bodyPr wrap="square" lIns="0" tIns="0" rIns="0" bIns="0" rtlCol="0" anchor="ctr"/>
          <a:lstStyle/>
          <a:p>
            <a:pPr indent="0" marL="0">
              <a:buNone/>
            </a:pPr>
            <a:r>
              <a:rPr lang="en-US" sz="1400" b="1" dirty="0">
                <a:solidFill>
                  <a:srgbClr val="6B7785"/>
                </a:solidFill>
                <a:latin typeface="Calibri" pitchFamily="34" charset="0"/>
                <a:ea typeface="Calibri" pitchFamily="34" charset="-122"/>
                <a:cs typeface="Calibri" pitchFamily="34" charset="-120"/>
              </a:rPr>
              <a:t>So where do those rules live today?</a:t>
            </a:r>
            <a:endParaRPr lang="en-US" sz="1400" dirty="0"/>
          </a:p>
        </p:txBody>
      </p:sp>
      <p:sp>
        <p:nvSpPr>
          <p:cNvPr id="6" name="Text 4"/>
          <p:cNvSpPr/>
          <p:nvPr/>
        </p:nvSpPr>
        <p:spPr>
          <a:xfrm>
            <a:off x="566928" y="2724912"/>
            <a:ext cx="6583680" cy="822960"/>
          </a:xfrm>
          <a:prstGeom prst="rect">
            <a:avLst/>
          </a:prstGeom>
          <a:noFill/>
          <a:ln/>
        </p:spPr>
        <p:txBody>
          <a:bodyPr wrap="square" lIns="0" tIns="0" rIns="0" bIns="0" rtlCol="0" anchor="ctr"/>
          <a:lstStyle/>
          <a:p>
            <a:pPr indent="0" marL="0">
              <a:lnSpc>
                <a:spcPts val="3400"/>
              </a:lnSpc>
              <a:buNone/>
            </a:pPr>
            <a:r>
              <a:rPr lang="en-US" sz="3000" b="1" dirty="0">
                <a:solidFill>
                  <a:srgbClr val="0E2033"/>
                </a:solidFill>
                <a:latin typeface="Cambria" pitchFamily="34" charset="0"/>
                <a:ea typeface="Cambria" pitchFamily="34" charset="-122"/>
                <a:cs typeface="Cambria" pitchFamily="34" charset="-120"/>
              </a:rPr>
              <a:t>Nowhere. The code is the specification.</a:t>
            </a:r>
            <a:endParaRPr lang="en-US" sz="3000" dirty="0"/>
          </a:p>
        </p:txBody>
      </p:sp>
      <p:sp>
        <p:nvSpPr>
          <p:cNvPr id="7" name="Text 5"/>
          <p:cNvSpPr/>
          <p:nvPr/>
        </p:nvSpPr>
        <p:spPr>
          <a:xfrm>
            <a:off x="566928" y="3621024"/>
            <a:ext cx="6583680" cy="640080"/>
          </a:xfrm>
          <a:prstGeom prst="rect">
            <a:avLst/>
          </a:prstGeom>
          <a:noFill/>
          <a:ln/>
        </p:spPr>
        <p:txBody>
          <a:bodyPr wrap="square" lIns="0" tIns="0" rIns="0" bIns="0" rtlCol="0" anchor="ctr"/>
          <a:lstStyle/>
          <a:p>
            <a:pPr indent="0" marL="0">
              <a:lnSpc>
                <a:spcPts val="1800"/>
              </a:lnSpc>
              <a:buNone/>
            </a:pPr>
            <a:r>
              <a:rPr lang="en-US" sz="1300" dirty="0">
                <a:solidFill>
                  <a:srgbClr val="6B7785"/>
                </a:solidFill>
                <a:latin typeface="Calibri" pitchFamily="34" charset="0"/>
                <a:ea typeface="Calibri" pitchFamily="34" charset="-122"/>
                <a:cs typeface="Calibri" pitchFamily="34" charset="-120"/>
              </a:rPr>
              <a:t>The engineers who made those changes have retired. The only ways to learn a rule are to read four thousand undocumented lines, or to run the program and watch what it does.</a:t>
            </a:r>
            <a:endParaRPr lang="en-US" sz="1300" dirty="0"/>
          </a:p>
        </p:txBody>
      </p:sp>
      <p:sp>
        <p:nvSpPr>
          <p:cNvPr id="8" name="Shape 6"/>
          <p:cNvSpPr/>
          <p:nvPr/>
        </p:nvSpPr>
        <p:spPr>
          <a:xfrm>
            <a:off x="7424928" y="1517904"/>
            <a:ext cx="4206240" cy="2743200"/>
          </a:xfrm>
          <a:prstGeom prst="roundRect">
            <a:avLst>
              <a:gd name="adj" fmla="val 2000"/>
            </a:avLst>
          </a:prstGeom>
          <a:solidFill>
            <a:srgbClr val="0E2033"/>
          </a:solidFill>
          <a:ln w="12700">
            <a:solidFill>
              <a:srgbClr val="0E2033"/>
            </a:solidFill>
            <a:prstDash val="solid"/>
          </a:ln>
        </p:spPr>
      </p:sp>
      <p:sp>
        <p:nvSpPr>
          <p:cNvPr id="9" name="Text 7"/>
          <p:cNvSpPr/>
          <p:nvPr/>
        </p:nvSpPr>
        <p:spPr>
          <a:xfrm>
            <a:off x="7644384" y="1682496"/>
            <a:ext cx="3767328" cy="237744"/>
          </a:xfrm>
          <a:prstGeom prst="rect">
            <a:avLst/>
          </a:prstGeom>
          <a:noFill/>
          <a:ln/>
        </p:spPr>
        <p:txBody>
          <a:bodyPr wrap="square" lIns="0" tIns="0" rIns="0" bIns="0" rtlCol="0" anchor="ctr"/>
          <a:lstStyle/>
          <a:p>
            <a:pPr indent="0" marL="0">
              <a:buNone/>
            </a:pPr>
            <a:r>
              <a:rPr lang="en-US" sz="1000" b="1" spc="180" kern="0" dirty="0">
                <a:solidFill>
                  <a:srgbClr val="7E93A8"/>
                </a:solidFill>
                <a:latin typeface="Calibri" pitchFamily="34" charset="0"/>
                <a:ea typeface="Calibri" pitchFamily="34" charset="-122"/>
                <a:cs typeface="Calibri" pitchFamily="34" charset="-120"/>
              </a:rPr>
              <a:t>ACCRUAL.CBL</a:t>
            </a:r>
            <a:endParaRPr lang="en-US" sz="1000" dirty="0"/>
          </a:p>
        </p:txBody>
      </p:sp>
      <p:sp>
        <p:nvSpPr>
          <p:cNvPr id="10" name="Text 8"/>
          <p:cNvSpPr/>
          <p:nvPr/>
        </p:nvSpPr>
        <p:spPr>
          <a:xfrm>
            <a:off x="7644384" y="2011680"/>
            <a:ext cx="3767328" cy="1463040"/>
          </a:xfrm>
          <a:prstGeom prst="rect">
            <a:avLst/>
          </a:prstGeom>
          <a:noFill/>
          <a:ln/>
        </p:spPr>
        <p:txBody>
          <a:bodyPr wrap="square" lIns="0" tIns="0" rIns="0" bIns="0" rtlCol="0" anchor="ctr"/>
          <a:lstStyle/>
          <a:p>
            <a:pPr indent="0" marL="0">
              <a:lnSpc>
                <a:spcPts val="2200"/>
              </a:lnSpc>
              <a:buNone/>
            </a:pPr>
            <a:r>
              <a:rPr lang="en-US" sz="1250" dirty="0">
                <a:solidFill>
                  <a:srgbClr val="C3D2DF"/>
                </a:solidFill>
                <a:latin typeface="Consolas" pitchFamily="34" charset="0"/>
                <a:ea typeface="Consolas" pitchFamily="34" charset="-122"/>
                <a:cs typeface="Consolas" pitchFamily="34" charset="-120"/>
              </a:rPr>
              <a:t>COMPUTE WS-INT </a:t>
            </a:r>
            <a:pPr indent="0" marL="0">
              <a:lnSpc>
                <a:spcPts val="2200"/>
              </a:lnSpc>
              <a:buNone/>
            </a:pPr>
            <a:r>
              <a:rPr lang="en-US" sz="1250" b="1" dirty="0">
                <a:solidFill>
                  <a:srgbClr val="C8891B"/>
                </a:solidFill>
                <a:latin typeface="Consolas" pitchFamily="34" charset="0"/>
                <a:ea typeface="Consolas" pitchFamily="34" charset="-122"/>
                <a:cs typeface="Consolas" pitchFamily="34" charset="-120"/>
              </a:rPr>
              <a:t>ROUNDED</a:t>
            </a:r>
            <a:pPr indent="0" marL="0">
              <a:lnSpc>
                <a:spcPts val="2200"/>
              </a:lnSpc>
              <a:buNone/>
            </a:pPr>
            <a:r>
              <a:rPr lang="en-US" sz="1250" dirty="0">
                <a:solidFill>
                  <a:srgbClr val="C3D2DF"/>
                </a:solidFill>
                <a:latin typeface="Consolas" pitchFamily="34" charset="0"/>
                <a:ea typeface="Consolas" pitchFamily="34" charset="-122"/>
                <a:cs typeface="Consolas" pitchFamily="34" charset="-120"/>
              </a:rPr>
              <a:t> =</a:t>
            </a:r>
            <a:endParaRPr lang="en-US" sz="1250" dirty="0"/>
          </a:p>
          <a:p>
            <a:pPr indent="0" marL="0">
              <a:lnSpc>
                <a:spcPts val="2200"/>
              </a:lnSpc>
              <a:buNone/>
            </a:pPr>
            <a:r>
              <a:rPr lang="en-US" sz="1250" dirty="0">
                <a:solidFill>
                  <a:srgbClr val="C3D2DF"/>
                </a:solidFill>
                <a:latin typeface="Consolas" pitchFamily="34" charset="0"/>
                <a:ea typeface="Consolas" pitchFamily="34" charset="-122"/>
                <a:cs typeface="Consolas" pitchFamily="34" charset="-120"/>
              </a:rPr>
              <a:t>    WS-PRIN * WS-RATE</a:t>
            </a:r>
            <a:endParaRPr lang="en-US" sz="1250" dirty="0"/>
          </a:p>
          <a:p>
            <a:pPr indent="0" marL="0">
              <a:lnSpc>
                <a:spcPts val="2200"/>
              </a:lnSpc>
              <a:buNone/>
            </a:pPr>
            <a:r>
              <a:rPr lang="en-US" sz="1250" dirty="0">
                <a:solidFill>
                  <a:srgbClr val="C3D2DF"/>
                </a:solidFill>
                <a:latin typeface="Consolas" pitchFamily="34" charset="0"/>
                <a:ea typeface="Consolas" pitchFamily="34" charset="-122"/>
                <a:cs typeface="Consolas" pitchFamily="34" charset="-120"/>
              </a:rPr>
              <a:t>    * WS-DAYS / 36500</a:t>
            </a:r>
            <a:endParaRPr lang="en-US" sz="1250" dirty="0"/>
          </a:p>
          <a:p>
            <a:pPr indent="0" marL="0">
              <a:lnSpc>
                <a:spcPts val="2200"/>
              </a:lnSpc>
              <a:buNone/>
            </a:pPr>
            <a:r>
              <a:rPr lang="en-US" sz="1250" dirty="0">
                <a:solidFill>
                  <a:srgbClr val="C3D2DF"/>
                </a:solidFill>
                <a:latin typeface="Consolas" pitchFamily="34" charset="0"/>
                <a:ea typeface="Consolas" pitchFamily="34" charset="-122"/>
                <a:cs typeface="Consolas" pitchFamily="34" charset="-120"/>
              </a:rPr>
              <a:t>IF WS-DOM &gt; 28</a:t>
            </a:r>
            <a:endParaRPr lang="en-US" sz="1250" dirty="0"/>
          </a:p>
          <a:p>
            <a:pPr indent="0" marL="0">
              <a:lnSpc>
                <a:spcPts val="2200"/>
              </a:lnSpc>
              <a:buNone/>
            </a:pPr>
            <a:r>
              <a:rPr lang="en-US" sz="1250" dirty="0">
                <a:solidFill>
                  <a:srgbClr val="C3D2DF"/>
                </a:solidFill>
                <a:latin typeface="Consolas" pitchFamily="34" charset="0"/>
                <a:ea typeface="Consolas" pitchFamily="34" charset="-122"/>
                <a:cs typeface="Consolas" pitchFamily="34" charset="-120"/>
              </a:rPr>
              <a:t>    PERFORM MONTH-END-FIX</a:t>
            </a:r>
            <a:endParaRPr lang="en-US" sz="1250" dirty="0"/>
          </a:p>
        </p:txBody>
      </p:sp>
      <p:sp>
        <p:nvSpPr>
          <p:cNvPr id="11" name="Text 9"/>
          <p:cNvSpPr/>
          <p:nvPr/>
        </p:nvSpPr>
        <p:spPr>
          <a:xfrm>
            <a:off x="7644384" y="3584448"/>
            <a:ext cx="3767328" cy="548640"/>
          </a:xfrm>
          <a:prstGeom prst="rect">
            <a:avLst/>
          </a:prstGeom>
          <a:noFill/>
          <a:ln/>
        </p:spPr>
        <p:txBody>
          <a:bodyPr wrap="square" lIns="0" tIns="0" rIns="0" bIns="0" rtlCol="0" anchor="ctr"/>
          <a:lstStyle/>
          <a:p>
            <a:pPr indent="0" marL="0">
              <a:lnSpc>
                <a:spcPts val="1500"/>
              </a:lnSpc>
              <a:buNone/>
            </a:pPr>
            <a:r>
              <a:rPr lang="en-US" sz="1100" i="1" dirty="0">
                <a:solidFill>
                  <a:srgbClr val="8FA7BD"/>
                </a:solidFill>
                <a:latin typeface="Calibri" pitchFamily="34" charset="0"/>
                <a:ea typeface="Calibri" pitchFamily="34" charset="-122"/>
                <a:cs typeface="Calibri" pitchFamily="34" charset="-120"/>
              </a:rPr>
              <a:t>One word. ROUNDED decides how a few hundred crore of interest settles — and it is documented nowhere.</a:t>
            </a:r>
            <a:endParaRPr lang="en-US" sz="1100" dirty="0"/>
          </a:p>
        </p:txBody>
      </p:sp>
      <p:sp>
        <p:nvSpPr>
          <p:cNvPr id="12" name="Shape 10"/>
          <p:cNvSpPr/>
          <p:nvPr/>
        </p:nvSpPr>
        <p:spPr>
          <a:xfrm>
            <a:off x="566928" y="4517136"/>
            <a:ext cx="11057839" cy="1371600"/>
          </a:xfrm>
          <a:prstGeom prst="roundRect">
            <a:avLst>
              <a:gd name="adj" fmla="val 4000"/>
            </a:avLst>
          </a:prstGeom>
          <a:solidFill>
            <a:srgbClr val="FBF2DF"/>
          </a:solidFill>
          <a:ln w="12700">
            <a:solidFill>
              <a:srgbClr val="C8891B"/>
            </a:solidFill>
            <a:prstDash val="solid"/>
          </a:ln>
          <a:effectLst>
            <a:outerShdw sx="100000" sy="100000" kx="0" ky="0" algn="bl" rotWithShape="0" blurRad="101600" dist="12700" dir="5400000">
              <a:srgbClr val="8A94A0">
                <a:alpha val="18000"/>
              </a:srgbClr>
            </a:outerShdw>
          </a:effectLst>
        </p:spPr>
      </p:sp>
      <p:sp>
        <p:nvSpPr>
          <p:cNvPr id="13" name="Text 11"/>
          <p:cNvSpPr/>
          <p:nvPr/>
        </p:nvSpPr>
        <p:spPr>
          <a:xfrm>
            <a:off x="877824" y="4681728"/>
            <a:ext cx="10436047" cy="384048"/>
          </a:xfrm>
          <a:prstGeom prst="rect">
            <a:avLst/>
          </a:prstGeom>
          <a:noFill/>
          <a:ln/>
        </p:spPr>
        <p:txBody>
          <a:bodyPr wrap="square" lIns="0" tIns="0" rIns="0" bIns="0" rtlCol="0" anchor="ctr"/>
          <a:lstStyle/>
          <a:p>
            <a:pPr indent="0" marL="0">
              <a:buNone/>
            </a:pPr>
            <a:r>
              <a:rPr lang="en-US" sz="1900" b="1" i="1" dirty="0">
                <a:solidFill>
                  <a:srgbClr val="7A5410"/>
                </a:solidFill>
                <a:latin typeface="Cambria" pitchFamily="34" charset="0"/>
                <a:ea typeface="Cambria" pitchFamily="34" charset="-122"/>
                <a:cs typeface="Cambria" pitchFamily="34" charset="-120"/>
              </a:rPr>
              <a:t>"the resulting code cannot be trusted to correctly translate the original code"</a:t>
            </a:r>
            <a:endParaRPr lang="en-US" sz="1900" dirty="0"/>
          </a:p>
        </p:txBody>
      </p:sp>
      <p:sp>
        <p:nvSpPr>
          <p:cNvPr id="14" name="Text 12"/>
          <p:cNvSpPr/>
          <p:nvPr/>
        </p:nvSpPr>
        <p:spPr>
          <a:xfrm>
            <a:off x="877824" y="5138928"/>
            <a:ext cx="10436047" cy="310896"/>
          </a:xfrm>
          <a:prstGeom prst="rect">
            <a:avLst/>
          </a:prstGeom>
          <a:noFill/>
          <a:ln/>
        </p:spPr>
        <p:txBody>
          <a:bodyPr wrap="square" lIns="0" tIns="0" rIns="0" bIns="0" rtlCol="0" anchor="ctr"/>
          <a:lstStyle/>
          <a:p>
            <a:pPr indent="0" marL="0">
              <a:buNone/>
            </a:pPr>
            <a:r>
              <a:rPr lang="en-US" sz="1200" dirty="0">
                <a:solidFill>
                  <a:srgbClr val="7A5410"/>
                </a:solidFill>
                <a:latin typeface="Calibri" pitchFamily="34" charset="0"/>
                <a:ea typeface="Calibri" pitchFamily="34" charset="-122"/>
                <a:cs typeface="Calibri" pitchFamily="34" charset="-120"/>
              </a:rPr>
              <a:t>IBM Research — writing about the testing framework for IBM's own watsonx Code Assistant for Z.  (arXiv:2504.10548)</a:t>
            </a:r>
            <a:endParaRPr lang="en-US" sz="1200" dirty="0"/>
          </a:p>
        </p:txBody>
      </p:sp>
      <p:sp>
        <p:nvSpPr>
          <p:cNvPr id="15" name="Text 13"/>
          <p:cNvSpPr/>
          <p:nvPr/>
        </p:nvSpPr>
        <p:spPr>
          <a:xfrm>
            <a:off x="877824" y="5449824"/>
            <a:ext cx="10436047" cy="310896"/>
          </a:xfrm>
          <a:prstGeom prst="rect">
            <a:avLst/>
          </a:prstGeom>
          <a:noFill/>
          <a:ln/>
        </p:spPr>
        <p:txBody>
          <a:bodyPr wrap="square" lIns="0" tIns="0" rIns="0" bIns="0" rtlCol="0" anchor="ctr"/>
          <a:lstStyle/>
          <a:p>
            <a:pPr indent="0" marL="0">
              <a:buNone/>
            </a:pPr>
            <a:r>
              <a:rPr lang="en-US" sz="1200" b="1" dirty="0">
                <a:solidFill>
                  <a:srgbClr val="7A5410"/>
                </a:solidFill>
                <a:latin typeface="Calibri" pitchFamily="34" charset="0"/>
                <a:ea typeface="Calibri" pitchFamily="34" charset="-122"/>
                <a:cs typeface="Calibri" pitchFamily="34" charset="-120"/>
              </a:rPr>
              <a:t>If the vendor cannot trust its own output without validation, no bank can. That is the gap we build for.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WHY THE OBVIOUS APPROACH FAILS</a:t>
            </a:r>
            <a:endParaRPr lang="en-US" sz="1050" dirty="0"/>
          </a:p>
        </p:txBody>
      </p:sp>
      <p:sp>
        <p:nvSpPr>
          <p:cNvPr id="3" name="Text 1"/>
          <p:cNvSpPr/>
          <p:nvPr/>
        </p:nvSpPr>
        <p:spPr>
          <a:xfrm>
            <a:off x="566928" y="658368"/>
            <a:ext cx="11057839" cy="658368"/>
          </a:xfrm>
          <a:prstGeom prst="rect">
            <a:avLst/>
          </a:prstGeom>
          <a:noFill/>
          <a:ln/>
        </p:spPr>
        <p:txBody>
          <a:bodyPr wrap="square" lIns="0" tIns="0" rIns="0" bIns="0" rtlCol="0" anchor="t"/>
          <a:lstStyle/>
          <a:p>
            <a:pPr indent="0" marL="0">
              <a:buNone/>
            </a:pPr>
            <a:r>
              <a:rPr lang="en-US" sz="3200" b="1" dirty="0">
                <a:solidFill>
                  <a:srgbClr val="16212E"/>
                </a:solidFill>
                <a:latin typeface="Cambria" pitchFamily="34" charset="0"/>
                <a:ea typeface="Cambria" pitchFamily="34" charset="-122"/>
                <a:cs typeface="Cambria" pitchFamily="34" charset="-120"/>
              </a:rPr>
              <a:t>Pointing an AI at the COBOL is not enough</a:t>
            </a:r>
            <a:endParaRPr lang="en-US" sz="3200" dirty="0"/>
          </a:p>
        </p:txBody>
      </p:sp>
      <p:sp>
        <p:nvSpPr>
          <p:cNvPr id="4" name="Text 2"/>
          <p:cNvSpPr/>
          <p:nvPr/>
        </p:nvSpPr>
        <p:spPr>
          <a:xfrm>
            <a:off x="566928" y="1517904"/>
            <a:ext cx="11057839" cy="548640"/>
          </a:xfrm>
          <a:prstGeom prst="rect">
            <a:avLst/>
          </a:prstGeom>
          <a:noFill/>
          <a:ln/>
        </p:spPr>
        <p:txBody>
          <a:bodyPr wrap="square" lIns="0" tIns="0" rIns="0" bIns="0" rtlCol="0" anchor="ctr"/>
          <a:lstStyle/>
          <a:p>
            <a:pPr indent="0" marL="0">
              <a:lnSpc>
                <a:spcPts val="2000"/>
              </a:lnSpc>
              <a:buNone/>
            </a:pPr>
            <a:r>
              <a:rPr lang="en-US" sz="1400" dirty="0">
                <a:solidFill>
                  <a:srgbClr val="16212E"/>
                </a:solidFill>
                <a:latin typeface="Calibri" pitchFamily="34" charset="0"/>
                <a:ea typeface="Calibri" pitchFamily="34" charset="-122"/>
                <a:cs typeface="Calibri" pitchFamily="34" charset="-120"/>
              </a:rPr>
              <a:t>The intuitive move is to ask a language model to explain the business rules. The output looks excellent — clean, confident, well organised. And a meaningful share of it is wrong.</a:t>
            </a:r>
            <a:endParaRPr lang="en-US" sz="1400" dirty="0"/>
          </a:p>
        </p:txBody>
      </p:sp>
      <p:sp>
        <p:nvSpPr>
          <p:cNvPr id="5" name="Shape 3"/>
          <p:cNvSpPr/>
          <p:nvPr/>
        </p:nvSpPr>
        <p:spPr>
          <a:xfrm>
            <a:off x="566928" y="2194560"/>
            <a:ext cx="3639312" cy="1883664"/>
          </a:xfrm>
          <a:prstGeom prst="roundRect">
            <a:avLst>
              <a:gd name="adj" fmla="val 2913"/>
            </a:avLst>
          </a:prstGeom>
          <a:solidFill>
            <a:srgbClr val="F1F4F7"/>
          </a:solidFill>
          <a:ln w="12700">
            <a:solidFill>
              <a:srgbClr val="F1F4F7"/>
            </a:solidFill>
            <a:prstDash val="solid"/>
          </a:ln>
          <a:effectLst>
            <a:outerShdw sx="100000" sy="100000" kx="0" ky="0" algn="bl" rotWithShape="0" blurRad="101600" dist="12700" dir="5400000">
              <a:srgbClr val="8A94A0">
                <a:alpha val="18000"/>
              </a:srgbClr>
            </a:outerShdw>
          </a:effectLst>
        </p:spPr>
      </p:sp>
      <p:sp>
        <p:nvSpPr>
          <p:cNvPr id="6" name="Text 4"/>
          <p:cNvSpPr/>
          <p:nvPr/>
        </p:nvSpPr>
        <p:spPr>
          <a:xfrm>
            <a:off x="804672" y="2322576"/>
            <a:ext cx="3163824" cy="749808"/>
          </a:xfrm>
          <a:prstGeom prst="rect">
            <a:avLst/>
          </a:prstGeom>
          <a:noFill/>
          <a:ln/>
        </p:spPr>
        <p:txBody>
          <a:bodyPr wrap="square" lIns="0" tIns="0" rIns="0" bIns="0" rtlCol="0" anchor="ctr"/>
          <a:lstStyle/>
          <a:p>
            <a:pPr indent="0" marL="0">
              <a:buNone/>
            </a:pPr>
            <a:r>
              <a:rPr lang="en-US" sz="4600" b="1" dirty="0">
                <a:solidFill>
                  <a:srgbClr val="C8891B"/>
                </a:solidFill>
                <a:latin typeface="Cambria" pitchFamily="34" charset="0"/>
                <a:ea typeface="Cambria" pitchFamily="34" charset="-122"/>
                <a:cs typeface="Cambria" pitchFamily="34" charset="-120"/>
              </a:rPr>
              <a:t>62%</a:t>
            </a:r>
            <a:endParaRPr lang="en-US" sz="4600" dirty="0"/>
          </a:p>
        </p:txBody>
      </p:sp>
      <p:sp>
        <p:nvSpPr>
          <p:cNvPr id="7" name="Text 5"/>
          <p:cNvSpPr/>
          <p:nvPr/>
        </p:nvSpPr>
        <p:spPr>
          <a:xfrm>
            <a:off x="804672" y="3090672"/>
            <a:ext cx="3163824" cy="548640"/>
          </a:xfrm>
          <a:prstGeom prst="rect">
            <a:avLst/>
          </a:prstGeom>
          <a:noFill/>
          <a:ln/>
        </p:spPr>
        <p:txBody>
          <a:bodyPr wrap="square" lIns="0" tIns="0" rIns="0" bIns="0" rtlCol="0" anchor="ctr"/>
          <a:lstStyle/>
          <a:p>
            <a:pPr indent="0" marL="0">
              <a:lnSpc>
                <a:spcPts val="1600"/>
              </a:lnSpc>
              <a:buNone/>
            </a:pPr>
            <a:r>
              <a:rPr lang="en-US" sz="1200" dirty="0">
                <a:solidFill>
                  <a:srgbClr val="16212E"/>
                </a:solidFill>
                <a:latin typeface="Calibri" pitchFamily="34" charset="0"/>
                <a:ea typeface="Calibri" pitchFamily="34" charset="-122"/>
                <a:cs typeface="Calibri" pitchFamily="34" charset="-120"/>
              </a:rPr>
              <a:t>precision of the best published</a:t>
            </a:r>
            <a:endParaRPr lang="en-US" sz="1200" dirty="0"/>
          </a:p>
          <a:p>
            <a:pPr indent="0" marL="0">
              <a:lnSpc>
                <a:spcPts val="1600"/>
              </a:lnSpc>
              <a:buNone/>
            </a:pPr>
            <a:r>
              <a:rPr lang="en-US" sz="1200" dirty="0">
                <a:solidFill>
                  <a:srgbClr val="16212E"/>
                </a:solidFill>
                <a:latin typeface="Calibri" pitchFamily="34" charset="0"/>
                <a:ea typeface="Calibri" pitchFamily="34" charset="-122"/>
                <a:cs typeface="Calibri" pitchFamily="34" charset="-120"/>
              </a:rPr>
              <a:t>COBOL rule extractor</a:t>
            </a:r>
            <a:endParaRPr lang="en-US" sz="1200" dirty="0"/>
          </a:p>
        </p:txBody>
      </p:sp>
      <p:sp>
        <p:nvSpPr>
          <p:cNvPr id="8" name="Text 6"/>
          <p:cNvSpPr/>
          <p:nvPr/>
        </p:nvSpPr>
        <p:spPr>
          <a:xfrm>
            <a:off x="804672" y="3657600"/>
            <a:ext cx="3163824" cy="256032"/>
          </a:xfrm>
          <a:prstGeom prst="rect">
            <a:avLst/>
          </a:prstGeom>
          <a:noFill/>
          <a:ln/>
        </p:spPr>
        <p:txBody>
          <a:bodyPr wrap="square" lIns="0" tIns="0" rIns="0" bIns="0" rtlCol="0" anchor="ctr"/>
          <a:lstStyle/>
          <a:p>
            <a:pPr indent="0" marL="0">
              <a:buNone/>
            </a:pPr>
            <a:r>
              <a:rPr lang="en-US" sz="1000" i="1" dirty="0">
                <a:solidFill>
                  <a:srgbClr val="6B7785"/>
                </a:solidFill>
                <a:latin typeface="Calibri" pitchFamily="34" charset="0"/>
                <a:ea typeface="Calibri" pitchFamily="34" charset="-122"/>
                <a:cs typeface="Calibri" pitchFamily="34" charset="-120"/>
              </a:rPr>
              <a:t>A-COBREX, ICSE 2025</a:t>
            </a:r>
            <a:endParaRPr lang="en-US" sz="1000" dirty="0"/>
          </a:p>
        </p:txBody>
      </p:sp>
      <p:sp>
        <p:nvSpPr>
          <p:cNvPr id="9" name="Shape 7"/>
          <p:cNvSpPr/>
          <p:nvPr/>
        </p:nvSpPr>
        <p:spPr>
          <a:xfrm>
            <a:off x="4389120" y="2194560"/>
            <a:ext cx="3639312" cy="1883664"/>
          </a:xfrm>
          <a:prstGeom prst="roundRect">
            <a:avLst>
              <a:gd name="adj" fmla="val 2913"/>
            </a:avLst>
          </a:prstGeom>
          <a:solidFill>
            <a:srgbClr val="F1F4F7"/>
          </a:solidFill>
          <a:ln w="12700">
            <a:solidFill>
              <a:srgbClr val="F1F4F7"/>
            </a:solidFill>
            <a:prstDash val="solid"/>
          </a:ln>
          <a:effectLst>
            <a:outerShdw sx="100000" sy="100000" kx="0" ky="0" algn="bl" rotWithShape="0" blurRad="101600" dist="12700" dir="5400000">
              <a:srgbClr val="8A94A0">
                <a:alpha val="18000"/>
              </a:srgbClr>
            </a:outerShdw>
          </a:effectLst>
        </p:spPr>
      </p:sp>
      <p:sp>
        <p:nvSpPr>
          <p:cNvPr id="10" name="Text 8"/>
          <p:cNvSpPr/>
          <p:nvPr/>
        </p:nvSpPr>
        <p:spPr>
          <a:xfrm>
            <a:off x="4626864" y="2322576"/>
            <a:ext cx="3163824" cy="749808"/>
          </a:xfrm>
          <a:prstGeom prst="rect">
            <a:avLst/>
          </a:prstGeom>
          <a:noFill/>
          <a:ln/>
        </p:spPr>
        <p:txBody>
          <a:bodyPr wrap="square" lIns="0" tIns="0" rIns="0" bIns="0" rtlCol="0" anchor="ctr"/>
          <a:lstStyle/>
          <a:p>
            <a:pPr indent="0" marL="0">
              <a:buNone/>
            </a:pPr>
            <a:r>
              <a:rPr lang="en-US" sz="4600" b="1" dirty="0">
                <a:solidFill>
                  <a:srgbClr val="2E7D5B"/>
                </a:solidFill>
                <a:latin typeface="Cambria" pitchFamily="34" charset="0"/>
                <a:ea typeface="Cambria" pitchFamily="34" charset="-122"/>
                <a:cs typeface="Cambria" pitchFamily="34" charset="-120"/>
              </a:rPr>
              <a:t>91.2%</a:t>
            </a:r>
            <a:endParaRPr lang="en-US" sz="4600" dirty="0"/>
          </a:p>
        </p:txBody>
      </p:sp>
      <p:sp>
        <p:nvSpPr>
          <p:cNvPr id="11" name="Text 9"/>
          <p:cNvSpPr/>
          <p:nvPr/>
        </p:nvSpPr>
        <p:spPr>
          <a:xfrm>
            <a:off x="4626864" y="3090672"/>
            <a:ext cx="3163824" cy="548640"/>
          </a:xfrm>
          <a:prstGeom prst="rect">
            <a:avLst/>
          </a:prstGeom>
          <a:noFill/>
          <a:ln/>
        </p:spPr>
        <p:txBody>
          <a:bodyPr wrap="square" lIns="0" tIns="0" rIns="0" bIns="0" rtlCol="0" anchor="ctr"/>
          <a:lstStyle/>
          <a:p>
            <a:pPr indent="0" marL="0">
              <a:lnSpc>
                <a:spcPts val="1600"/>
              </a:lnSpc>
              <a:buNone/>
            </a:pPr>
            <a:r>
              <a:rPr lang="en-US" sz="1200" dirty="0">
                <a:solidFill>
                  <a:srgbClr val="16212E"/>
                </a:solidFill>
                <a:latin typeface="Calibri" pitchFamily="34" charset="0"/>
                <a:ea typeface="Calibri" pitchFamily="34" charset="-122"/>
                <a:cs typeface="Calibri" pitchFamily="34" charset="-120"/>
              </a:rPr>
              <a:t>of business rules successfully</a:t>
            </a:r>
            <a:endParaRPr lang="en-US" sz="1200" dirty="0"/>
          </a:p>
          <a:p>
            <a:pPr indent="0" marL="0">
              <a:lnSpc>
                <a:spcPts val="1600"/>
              </a:lnSpc>
              <a:buNone/>
            </a:pPr>
            <a:r>
              <a:rPr lang="en-US" sz="1200" dirty="0">
                <a:solidFill>
                  <a:srgbClr val="16212E"/>
                </a:solidFill>
                <a:latin typeface="Calibri" pitchFamily="34" charset="0"/>
                <a:ea typeface="Calibri" pitchFamily="34" charset="-122"/>
                <a:cs typeface="Calibri" pitchFamily="34" charset="-120"/>
              </a:rPr>
              <a:t>extracted by a 2026 system</a:t>
            </a:r>
            <a:endParaRPr lang="en-US" sz="1200" dirty="0"/>
          </a:p>
        </p:txBody>
      </p:sp>
      <p:sp>
        <p:nvSpPr>
          <p:cNvPr id="12" name="Text 10"/>
          <p:cNvSpPr/>
          <p:nvPr/>
        </p:nvSpPr>
        <p:spPr>
          <a:xfrm>
            <a:off x="4626864" y="3657600"/>
            <a:ext cx="3163824" cy="256032"/>
          </a:xfrm>
          <a:prstGeom prst="rect">
            <a:avLst/>
          </a:prstGeom>
          <a:noFill/>
          <a:ln/>
        </p:spPr>
        <p:txBody>
          <a:bodyPr wrap="square" lIns="0" tIns="0" rIns="0" bIns="0" rtlCol="0" anchor="ctr"/>
          <a:lstStyle/>
          <a:p>
            <a:pPr indent="0" marL="0">
              <a:buNone/>
            </a:pPr>
            <a:r>
              <a:rPr lang="en-US" sz="1000" i="1" dirty="0">
                <a:solidFill>
                  <a:srgbClr val="6B7785"/>
                </a:solidFill>
                <a:latin typeface="Calibri" pitchFamily="34" charset="0"/>
                <a:ea typeface="Calibri" pitchFamily="34" charset="-122"/>
                <a:cs typeface="Calibri" pitchFamily="34" charset="-120"/>
              </a:rPr>
              <a:t>AgentModernize, arXiv 2605.17535</a:t>
            </a:r>
            <a:endParaRPr lang="en-US" sz="1000" dirty="0"/>
          </a:p>
        </p:txBody>
      </p:sp>
      <p:sp>
        <p:nvSpPr>
          <p:cNvPr id="13" name="Shape 11"/>
          <p:cNvSpPr/>
          <p:nvPr/>
        </p:nvSpPr>
        <p:spPr>
          <a:xfrm>
            <a:off x="8211312" y="2194560"/>
            <a:ext cx="3639312" cy="1883664"/>
          </a:xfrm>
          <a:prstGeom prst="roundRect">
            <a:avLst>
              <a:gd name="adj" fmla="val 2913"/>
            </a:avLst>
          </a:prstGeom>
          <a:solidFill>
            <a:srgbClr val="F1F4F7"/>
          </a:solidFill>
          <a:ln w="12700">
            <a:solidFill>
              <a:srgbClr val="F1F4F7"/>
            </a:solidFill>
            <a:prstDash val="solid"/>
          </a:ln>
          <a:effectLst>
            <a:outerShdw sx="100000" sy="100000" kx="0" ky="0" algn="bl" rotWithShape="0" blurRad="101600" dist="12700" dir="5400000">
              <a:srgbClr val="8A94A0">
                <a:alpha val="18000"/>
              </a:srgbClr>
            </a:outerShdw>
          </a:effectLst>
        </p:spPr>
      </p:sp>
      <p:sp>
        <p:nvSpPr>
          <p:cNvPr id="14" name="Text 12"/>
          <p:cNvSpPr/>
          <p:nvPr/>
        </p:nvSpPr>
        <p:spPr>
          <a:xfrm>
            <a:off x="8449056" y="2322576"/>
            <a:ext cx="3163824" cy="749808"/>
          </a:xfrm>
          <a:prstGeom prst="rect">
            <a:avLst/>
          </a:prstGeom>
          <a:noFill/>
          <a:ln/>
        </p:spPr>
        <p:txBody>
          <a:bodyPr wrap="square" lIns="0" tIns="0" rIns="0" bIns="0" rtlCol="0" anchor="ctr"/>
          <a:lstStyle/>
          <a:p>
            <a:pPr indent="0" marL="0">
              <a:buNone/>
            </a:pPr>
            <a:r>
              <a:rPr lang="en-US" sz="4600" b="1" dirty="0">
                <a:solidFill>
                  <a:srgbClr val="B23C2A"/>
                </a:solidFill>
                <a:latin typeface="Cambria" pitchFamily="34" charset="0"/>
                <a:ea typeface="Cambria" pitchFamily="34" charset="-122"/>
                <a:cs typeface="Cambria" pitchFamily="34" charset="-120"/>
              </a:rPr>
              <a:t>&lt;20%</a:t>
            </a:r>
            <a:endParaRPr lang="en-US" sz="4600" dirty="0"/>
          </a:p>
        </p:txBody>
      </p:sp>
      <p:sp>
        <p:nvSpPr>
          <p:cNvPr id="15" name="Text 13"/>
          <p:cNvSpPr/>
          <p:nvPr/>
        </p:nvSpPr>
        <p:spPr>
          <a:xfrm>
            <a:off x="8449056" y="3090672"/>
            <a:ext cx="3163824" cy="548640"/>
          </a:xfrm>
          <a:prstGeom prst="rect">
            <a:avLst/>
          </a:prstGeom>
          <a:noFill/>
          <a:ln/>
        </p:spPr>
        <p:txBody>
          <a:bodyPr wrap="square" lIns="0" tIns="0" rIns="0" bIns="0" rtlCol="0" anchor="ctr"/>
          <a:lstStyle/>
          <a:p>
            <a:pPr indent="0" marL="0">
              <a:lnSpc>
                <a:spcPts val="1600"/>
              </a:lnSpc>
              <a:buNone/>
            </a:pPr>
            <a:r>
              <a:rPr lang="en-US" sz="1200" dirty="0">
                <a:solidFill>
                  <a:srgbClr val="16212E"/>
                </a:solidFill>
                <a:latin typeface="Calibri" pitchFamily="34" charset="0"/>
                <a:ea typeface="Calibri" pitchFamily="34" charset="-122"/>
                <a:cs typeface="Calibri" pitchFamily="34" charset="-120"/>
              </a:rPr>
              <a:t>behavioural equivalence achieved</a:t>
            </a:r>
            <a:endParaRPr lang="en-US" sz="1200" dirty="0"/>
          </a:p>
          <a:p>
            <a:pPr indent="0" marL="0">
              <a:lnSpc>
                <a:spcPts val="1600"/>
              </a:lnSpc>
              <a:buNone/>
            </a:pPr>
            <a:r>
              <a:rPr lang="en-US" sz="1200" dirty="0">
                <a:solidFill>
                  <a:srgbClr val="16212E"/>
                </a:solidFill>
                <a:latin typeface="Calibri" pitchFamily="34" charset="0"/>
                <a:ea typeface="Calibri" pitchFamily="34" charset="-122"/>
                <a:cs typeface="Calibri" pitchFamily="34" charset="-120"/>
              </a:rPr>
              <a:t>by that same system</a:t>
            </a:r>
            <a:endParaRPr lang="en-US" sz="1200" dirty="0"/>
          </a:p>
        </p:txBody>
      </p:sp>
      <p:sp>
        <p:nvSpPr>
          <p:cNvPr id="16" name="Text 14"/>
          <p:cNvSpPr/>
          <p:nvPr/>
        </p:nvSpPr>
        <p:spPr>
          <a:xfrm>
            <a:off x="8449056" y="3657600"/>
            <a:ext cx="3163824" cy="256032"/>
          </a:xfrm>
          <a:prstGeom prst="rect">
            <a:avLst/>
          </a:prstGeom>
          <a:noFill/>
          <a:ln/>
        </p:spPr>
        <p:txBody>
          <a:bodyPr wrap="square" lIns="0" tIns="0" rIns="0" bIns="0" rtlCol="0" anchor="ctr"/>
          <a:lstStyle/>
          <a:p>
            <a:pPr indent="0" marL="0">
              <a:buNone/>
            </a:pPr>
            <a:r>
              <a:rPr lang="en-US" sz="1000" i="1" dirty="0">
                <a:solidFill>
                  <a:srgbClr val="6B7785"/>
                </a:solidFill>
                <a:latin typeface="Calibri" pitchFamily="34" charset="0"/>
                <a:ea typeface="Calibri" pitchFamily="34" charset="-122"/>
                <a:cs typeface="Calibri" pitchFamily="34" charset="-120"/>
              </a:rPr>
              <a:t>baselines scored 0.0%</a:t>
            </a:r>
            <a:endParaRPr lang="en-US" sz="1000" dirty="0"/>
          </a:p>
        </p:txBody>
      </p:sp>
      <p:sp>
        <p:nvSpPr>
          <p:cNvPr id="17" name="Shape 15"/>
          <p:cNvSpPr/>
          <p:nvPr/>
        </p:nvSpPr>
        <p:spPr>
          <a:xfrm>
            <a:off x="566928" y="4315968"/>
            <a:ext cx="11057839" cy="1700784"/>
          </a:xfrm>
          <a:prstGeom prst="roundRect">
            <a:avLst>
              <a:gd name="adj" fmla="val 3226"/>
            </a:avLst>
          </a:prstGeom>
          <a:solidFill>
            <a:srgbClr val="0E2033"/>
          </a:solidFill>
          <a:ln w="12700">
            <a:solidFill>
              <a:srgbClr val="0E2033"/>
            </a:solidFill>
            <a:prstDash val="solid"/>
          </a:ln>
        </p:spPr>
      </p:sp>
      <p:sp>
        <p:nvSpPr>
          <p:cNvPr id="18" name="Text 16"/>
          <p:cNvSpPr/>
          <p:nvPr/>
        </p:nvSpPr>
        <p:spPr>
          <a:xfrm>
            <a:off x="877824" y="4498848"/>
            <a:ext cx="10436047" cy="38404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Extraction works. Behavioural equivalence does not follow from it.</a:t>
            </a:r>
            <a:endParaRPr lang="en-US" sz="2300" dirty="0"/>
          </a:p>
        </p:txBody>
      </p:sp>
      <p:sp>
        <p:nvSpPr>
          <p:cNvPr id="19" name="Text 17"/>
          <p:cNvSpPr/>
          <p:nvPr/>
        </p:nvSpPr>
        <p:spPr>
          <a:xfrm>
            <a:off x="877824" y="4956048"/>
            <a:ext cx="10436047" cy="457200"/>
          </a:xfrm>
          <a:prstGeom prst="rect">
            <a:avLst/>
          </a:prstGeom>
          <a:noFill/>
          <a:ln/>
        </p:spPr>
        <p:txBody>
          <a:bodyPr wrap="square" lIns="0" tIns="0" rIns="0" bIns="0" rtlCol="0" anchor="ctr"/>
          <a:lstStyle/>
          <a:p>
            <a:pPr indent="0" marL="0">
              <a:lnSpc>
                <a:spcPts val="1800"/>
              </a:lnSpc>
              <a:buNone/>
            </a:pPr>
            <a:r>
              <a:rPr lang="en-US" sz="1300" dirty="0">
                <a:solidFill>
                  <a:srgbClr val="C3D2DF"/>
                </a:solidFill>
                <a:latin typeface="Calibri" pitchFamily="34" charset="0"/>
                <a:ea typeface="Calibri" pitchFamily="34" charset="-122"/>
                <a:cs typeface="Calibri" pitchFamily="34" charset="-120"/>
              </a:rPr>
              <a:t>A confidently stated wrong rule is more dangerous than no rule at all, because an engineer will build on it. Measured hallucination rates in code explanation run as high as 66%.</a:t>
            </a:r>
            <a:endParaRPr lang="en-US" sz="1300" dirty="0"/>
          </a:p>
        </p:txBody>
      </p:sp>
      <p:sp>
        <p:nvSpPr>
          <p:cNvPr id="20" name="Text 18"/>
          <p:cNvSpPr/>
          <p:nvPr/>
        </p:nvSpPr>
        <p:spPr>
          <a:xfrm>
            <a:off x="877824" y="5449824"/>
            <a:ext cx="10436047" cy="347472"/>
          </a:xfrm>
          <a:prstGeom prst="rect">
            <a:avLst/>
          </a:prstGeom>
          <a:noFill/>
          <a:ln/>
        </p:spPr>
        <p:txBody>
          <a:bodyPr wrap="square" lIns="0" tIns="0" rIns="0" bIns="0" rtlCol="0" anchor="ctr"/>
          <a:lstStyle/>
          <a:p>
            <a:pPr indent="0" marL="0">
              <a:buNone/>
            </a:pPr>
            <a:r>
              <a:rPr lang="en-US" sz="1400" b="1" dirty="0">
                <a:solidFill>
                  <a:srgbClr val="C8891B"/>
                </a:solidFill>
                <a:latin typeface="Calibri" pitchFamily="34" charset="0"/>
                <a:ea typeface="Calibri" pitchFamily="34" charset="-122"/>
                <a:cs typeface="Calibri" pitchFamily="34" charset="-120"/>
              </a:rPr>
              <a:t>So extraction cannot be the product. Verification has to be the product.</a:t>
            </a:r>
            <a:endParaRPr lang="en-US" sz="1400" dirty="0"/>
          </a:p>
        </p:txBody>
      </p:sp>
      <p:sp>
        <p:nvSpPr>
          <p:cNvPr id="21" name="Text 19"/>
          <p:cNvSpPr/>
          <p:nvPr/>
        </p:nvSpPr>
        <p:spPr>
          <a:xfrm>
            <a:off x="566928" y="6345936"/>
            <a:ext cx="11057839" cy="274320"/>
          </a:xfrm>
          <a:prstGeom prst="rect">
            <a:avLst/>
          </a:prstGeom>
          <a:noFill/>
          <a:ln/>
        </p:spPr>
        <p:txBody>
          <a:bodyPr wrap="square" lIns="0" tIns="0" rIns="0" bIns="0" rtlCol="0" anchor="ctr"/>
          <a:lstStyle/>
          <a:p>
            <a:pPr indent="0" marL="0">
              <a:buNone/>
            </a:pPr>
            <a:r>
              <a:rPr lang="en-US" sz="950" i="1" dirty="0">
                <a:solidFill>
                  <a:srgbClr val="6B7785"/>
                </a:solidFill>
                <a:latin typeface="Calibri" pitchFamily="34" charset="0"/>
                <a:ea typeface="Calibri" pitchFamily="34" charset="-122"/>
                <a:cs typeface="Calibri" pitchFamily="34" charset="-120"/>
              </a:rPr>
              <a:t>Sources: A-COBREX, ICSE 2025 · AgentModernize, arXiv 2605.17535 · Hallucinations in LLM-Based Code Summarization, PACMSE 2026.</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OUR APPROACH</a:t>
            </a:r>
            <a:endParaRPr lang="en-US" sz="1050" dirty="0"/>
          </a:p>
        </p:txBody>
      </p:sp>
      <p:sp>
        <p:nvSpPr>
          <p:cNvPr id="3" name="Text 1"/>
          <p:cNvSpPr/>
          <p:nvPr/>
        </p:nvSpPr>
        <p:spPr>
          <a:xfrm>
            <a:off x="566928" y="658368"/>
            <a:ext cx="11057839" cy="658368"/>
          </a:xfrm>
          <a:prstGeom prst="rect">
            <a:avLst/>
          </a:prstGeom>
          <a:noFill/>
          <a:ln/>
        </p:spPr>
        <p:txBody>
          <a:bodyPr wrap="square" lIns="0" tIns="0" rIns="0" bIns="0" rtlCol="0" anchor="t"/>
          <a:lstStyle/>
          <a:p>
            <a:pPr indent="0" marL="0">
              <a:buNone/>
            </a:pPr>
            <a:r>
              <a:rPr lang="en-US" sz="3200" b="1" dirty="0">
                <a:solidFill>
                  <a:srgbClr val="16212E"/>
                </a:solidFill>
                <a:latin typeface="Cambria" pitchFamily="34" charset="0"/>
                <a:ea typeface="Cambria" pitchFamily="34" charset="-122"/>
                <a:cs typeface="Cambria" pitchFamily="34" charset="-120"/>
              </a:rPr>
              <a:t>Treat modernisation as a verification problem</a:t>
            </a:r>
            <a:endParaRPr lang="en-US" sz="3200" dirty="0"/>
          </a:p>
        </p:txBody>
      </p:sp>
      <p:sp>
        <p:nvSpPr>
          <p:cNvPr id="4" name="Shape 2"/>
          <p:cNvSpPr/>
          <p:nvPr/>
        </p:nvSpPr>
        <p:spPr>
          <a:xfrm>
            <a:off x="566928" y="1572768"/>
            <a:ext cx="3639312" cy="2450592"/>
          </a:xfrm>
          <a:prstGeom prst="roundRect">
            <a:avLst>
              <a:gd name="adj" fmla="val 2239"/>
            </a:avLst>
          </a:prstGeom>
          <a:solidFill>
            <a:srgbClr val="F1F4F7"/>
          </a:solidFill>
          <a:ln w="12700">
            <a:solidFill>
              <a:srgbClr val="F1F4F7"/>
            </a:solidFill>
            <a:prstDash val="solid"/>
          </a:ln>
          <a:effectLst>
            <a:outerShdw sx="100000" sy="100000" kx="0" ky="0" algn="bl" rotWithShape="0" blurRad="101600" dist="12700" dir="5400000">
              <a:srgbClr val="8A94A0">
                <a:alpha val="18000"/>
              </a:srgbClr>
            </a:outerShdw>
          </a:effectLst>
        </p:spPr>
      </p:sp>
      <p:sp>
        <p:nvSpPr>
          <p:cNvPr id="5" name="Shape 3"/>
          <p:cNvSpPr/>
          <p:nvPr/>
        </p:nvSpPr>
        <p:spPr>
          <a:xfrm>
            <a:off x="804672" y="1773936"/>
            <a:ext cx="457200" cy="457200"/>
          </a:xfrm>
          <a:prstGeom prst="ellipse">
            <a:avLst/>
          </a:prstGeom>
          <a:solidFill>
            <a:srgbClr val="36678F"/>
          </a:solidFill>
          <a:ln w="12700">
            <a:solidFill>
              <a:srgbClr val="36678F"/>
            </a:solidFill>
            <a:prstDash val="solid"/>
          </a:ln>
        </p:spPr>
      </p:sp>
      <p:sp>
        <p:nvSpPr>
          <p:cNvPr id="6" name="Text 4"/>
          <p:cNvSpPr/>
          <p:nvPr/>
        </p:nvSpPr>
        <p:spPr>
          <a:xfrm>
            <a:off x="804672" y="17739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7" name="Text 5"/>
          <p:cNvSpPr/>
          <p:nvPr/>
        </p:nvSpPr>
        <p:spPr>
          <a:xfrm>
            <a:off x="1389888" y="1819656"/>
            <a:ext cx="2578608" cy="365760"/>
          </a:xfrm>
          <a:prstGeom prst="rect">
            <a:avLst/>
          </a:prstGeom>
          <a:noFill/>
          <a:ln/>
        </p:spPr>
        <p:txBody>
          <a:bodyPr wrap="square" lIns="0" tIns="0" rIns="0" bIns="0" rtlCol="0" anchor="ctr"/>
          <a:lstStyle/>
          <a:p>
            <a:pPr indent="0" marL="0">
              <a:buNone/>
            </a:pPr>
            <a:r>
              <a:rPr lang="en-US" sz="2100" b="1" dirty="0">
                <a:solidFill>
                  <a:srgbClr val="16212E"/>
                </a:solidFill>
                <a:latin typeface="Cambria" pitchFamily="34" charset="0"/>
                <a:ea typeface="Cambria" pitchFamily="34" charset="-122"/>
                <a:cs typeface="Cambria" pitchFamily="34" charset="-120"/>
              </a:rPr>
              <a:t>Extract</a:t>
            </a:r>
            <a:endParaRPr lang="en-US" sz="2100" dirty="0"/>
          </a:p>
        </p:txBody>
      </p:sp>
      <p:sp>
        <p:nvSpPr>
          <p:cNvPr id="8" name="Text 6"/>
          <p:cNvSpPr/>
          <p:nvPr/>
        </p:nvSpPr>
        <p:spPr>
          <a:xfrm>
            <a:off x="804672" y="2286000"/>
            <a:ext cx="3163824" cy="1572768"/>
          </a:xfrm>
          <a:prstGeom prst="rect">
            <a:avLst/>
          </a:prstGeom>
          <a:noFill/>
          <a:ln/>
        </p:spPr>
        <p:txBody>
          <a:bodyPr wrap="square" lIns="0" tIns="0" rIns="0" bIns="0" rtlCol="0" anchor="ctr"/>
          <a:lstStyle/>
          <a:p>
            <a:pPr indent="0" marL="0">
              <a:lnSpc>
                <a:spcPts val="1600"/>
              </a:lnSpc>
              <a:buNone/>
            </a:pPr>
            <a:r>
              <a:rPr lang="en-US" sz="1150" dirty="0">
                <a:solidFill>
                  <a:srgbClr val="6B7785"/>
                </a:solidFill>
                <a:latin typeface="Calibri" pitchFamily="34" charset="0"/>
                <a:ea typeface="Calibri" pitchFamily="34" charset="-122"/>
                <a:cs typeface="Calibri" pitchFamily="34" charset="-120"/>
              </a:rPr>
              <a:t>Slice the legacy source into functional units and state each unit's business rules in plain language. Every rule carries the exact lines that produce it — written by the pipeline from the slice, never asserted by the model.</a:t>
            </a:r>
            <a:endParaRPr lang="en-US" sz="1150" dirty="0"/>
          </a:p>
        </p:txBody>
      </p:sp>
      <p:sp>
        <p:nvSpPr>
          <p:cNvPr id="9" name="Shape 7"/>
          <p:cNvSpPr/>
          <p:nvPr/>
        </p:nvSpPr>
        <p:spPr>
          <a:xfrm>
            <a:off x="4389120" y="1572768"/>
            <a:ext cx="3639312" cy="2450592"/>
          </a:xfrm>
          <a:prstGeom prst="roundRect">
            <a:avLst>
              <a:gd name="adj" fmla="val 2239"/>
            </a:avLst>
          </a:prstGeom>
          <a:solidFill>
            <a:srgbClr val="F1F4F7"/>
          </a:solidFill>
          <a:ln w="12700">
            <a:solidFill>
              <a:srgbClr val="F1F4F7"/>
            </a:solidFill>
            <a:prstDash val="solid"/>
          </a:ln>
          <a:effectLst>
            <a:outerShdw sx="100000" sy="100000" kx="0" ky="0" algn="bl" rotWithShape="0" blurRad="101600" dist="12700" dir="5400000">
              <a:srgbClr val="8A94A0">
                <a:alpha val="18000"/>
              </a:srgbClr>
            </a:outerShdw>
          </a:effectLst>
        </p:spPr>
      </p:sp>
      <p:sp>
        <p:nvSpPr>
          <p:cNvPr id="10" name="Shape 8"/>
          <p:cNvSpPr/>
          <p:nvPr/>
        </p:nvSpPr>
        <p:spPr>
          <a:xfrm>
            <a:off x="4626864" y="1773936"/>
            <a:ext cx="457200" cy="457200"/>
          </a:xfrm>
          <a:prstGeom prst="ellipse">
            <a:avLst/>
          </a:prstGeom>
          <a:solidFill>
            <a:srgbClr val="6B7785"/>
          </a:solidFill>
          <a:ln w="12700">
            <a:solidFill>
              <a:srgbClr val="6B7785"/>
            </a:solidFill>
            <a:prstDash val="solid"/>
          </a:ln>
        </p:spPr>
      </p:sp>
      <p:sp>
        <p:nvSpPr>
          <p:cNvPr id="11" name="Text 9"/>
          <p:cNvSpPr/>
          <p:nvPr/>
        </p:nvSpPr>
        <p:spPr>
          <a:xfrm>
            <a:off x="4626864" y="17739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2" name="Text 10"/>
          <p:cNvSpPr/>
          <p:nvPr/>
        </p:nvSpPr>
        <p:spPr>
          <a:xfrm>
            <a:off x="5212080" y="1819656"/>
            <a:ext cx="2578608" cy="365760"/>
          </a:xfrm>
          <a:prstGeom prst="rect">
            <a:avLst/>
          </a:prstGeom>
          <a:noFill/>
          <a:ln/>
        </p:spPr>
        <p:txBody>
          <a:bodyPr wrap="square" lIns="0" tIns="0" rIns="0" bIns="0" rtlCol="0" anchor="ctr"/>
          <a:lstStyle/>
          <a:p>
            <a:pPr indent="0" marL="0">
              <a:buNone/>
            </a:pPr>
            <a:r>
              <a:rPr lang="en-US" sz="2100" b="1" dirty="0">
                <a:solidFill>
                  <a:srgbClr val="16212E"/>
                </a:solidFill>
                <a:latin typeface="Cambria" pitchFamily="34" charset="0"/>
                <a:ea typeface="Cambria" pitchFamily="34" charset="-122"/>
                <a:cs typeface="Cambria" pitchFamily="34" charset="-120"/>
              </a:rPr>
              <a:t>Reimplement</a:t>
            </a:r>
            <a:endParaRPr lang="en-US" sz="2100" dirty="0"/>
          </a:p>
        </p:txBody>
      </p:sp>
      <p:sp>
        <p:nvSpPr>
          <p:cNvPr id="13" name="Text 11"/>
          <p:cNvSpPr/>
          <p:nvPr/>
        </p:nvSpPr>
        <p:spPr>
          <a:xfrm>
            <a:off x="4626864" y="2286000"/>
            <a:ext cx="3163824" cy="1572768"/>
          </a:xfrm>
          <a:prstGeom prst="rect">
            <a:avLst/>
          </a:prstGeom>
          <a:noFill/>
          <a:ln/>
        </p:spPr>
        <p:txBody>
          <a:bodyPr wrap="square" lIns="0" tIns="0" rIns="0" bIns="0" rtlCol="0" anchor="ctr"/>
          <a:lstStyle/>
          <a:p>
            <a:pPr indent="0" marL="0">
              <a:lnSpc>
                <a:spcPts val="1600"/>
              </a:lnSpc>
              <a:buNone/>
            </a:pPr>
            <a:r>
              <a:rPr lang="en-US" sz="1150" dirty="0">
                <a:solidFill>
                  <a:srgbClr val="6B7785"/>
                </a:solidFill>
                <a:latin typeface="Calibri" pitchFamily="34" charset="0"/>
                <a:ea typeface="Calibri" pitchFamily="34" charset="-122"/>
                <a:cs typeface="Calibri" pitchFamily="34" charset="-120"/>
              </a:rPr>
              <a:t>Generate the modern equivalent. This is the commodity step, and deliberately the least interesting part of the system. The output is treated as untrusted by design.</a:t>
            </a:r>
            <a:endParaRPr lang="en-US" sz="1150" dirty="0"/>
          </a:p>
        </p:txBody>
      </p:sp>
      <p:sp>
        <p:nvSpPr>
          <p:cNvPr id="14" name="Shape 12"/>
          <p:cNvSpPr/>
          <p:nvPr/>
        </p:nvSpPr>
        <p:spPr>
          <a:xfrm>
            <a:off x="8211312" y="1572768"/>
            <a:ext cx="3639312" cy="2450592"/>
          </a:xfrm>
          <a:prstGeom prst="roundRect">
            <a:avLst>
              <a:gd name="adj" fmla="val 2239"/>
            </a:avLst>
          </a:prstGeom>
          <a:solidFill>
            <a:srgbClr val="F1F4F7"/>
          </a:solidFill>
          <a:ln w="12700">
            <a:solidFill>
              <a:srgbClr val="F1F4F7"/>
            </a:solidFill>
            <a:prstDash val="solid"/>
          </a:ln>
          <a:effectLst>
            <a:outerShdw sx="100000" sy="100000" kx="0" ky="0" algn="bl" rotWithShape="0" blurRad="101600" dist="12700" dir="5400000">
              <a:srgbClr val="8A94A0">
                <a:alpha val="18000"/>
              </a:srgbClr>
            </a:outerShdw>
          </a:effectLst>
        </p:spPr>
      </p:sp>
      <p:sp>
        <p:nvSpPr>
          <p:cNvPr id="15" name="Shape 13"/>
          <p:cNvSpPr/>
          <p:nvPr/>
        </p:nvSpPr>
        <p:spPr>
          <a:xfrm>
            <a:off x="8449056" y="1773936"/>
            <a:ext cx="457200" cy="457200"/>
          </a:xfrm>
          <a:prstGeom prst="ellipse">
            <a:avLst/>
          </a:prstGeom>
          <a:solidFill>
            <a:srgbClr val="2E7D5B"/>
          </a:solidFill>
          <a:ln w="12700">
            <a:solidFill>
              <a:srgbClr val="2E7D5B"/>
            </a:solidFill>
            <a:prstDash val="solid"/>
          </a:ln>
        </p:spPr>
      </p:sp>
      <p:sp>
        <p:nvSpPr>
          <p:cNvPr id="16" name="Text 14"/>
          <p:cNvSpPr/>
          <p:nvPr/>
        </p:nvSpPr>
        <p:spPr>
          <a:xfrm>
            <a:off x="8449056" y="17739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7" name="Text 15"/>
          <p:cNvSpPr/>
          <p:nvPr/>
        </p:nvSpPr>
        <p:spPr>
          <a:xfrm>
            <a:off x="9034272" y="1819656"/>
            <a:ext cx="2578608" cy="365760"/>
          </a:xfrm>
          <a:prstGeom prst="rect">
            <a:avLst/>
          </a:prstGeom>
          <a:noFill/>
          <a:ln/>
        </p:spPr>
        <p:txBody>
          <a:bodyPr wrap="square" lIns="0" tIns="0" rIns="0" bIns="0" rtlCol="0" anchor="ctr"/>
          <a:lstStyle/>
          <a:p>
            <a:pPr indent="0" marL="0">
              <a:buNone/>
            </a:pPr>
            <a:r>
              <a:rPr lang="en-US" sz="2100" b="1" dirty="0">
                <a:solidFill>
                  <a:srgbClr val="16212E"/>
                </a:solidFill>
                <a:latin typeface="Cambria" pitchFamily="34" charset="0"/>
                <a:ea typeface="Cambria" pitchFamily="34" charset="-122"/>
                <a:cs typeface="Cambria" pitchFamily="34" charset="-120"/>
              </a:rPr>
              <a:t>Verify</a:t>
            </a:r>
            <a:endParaRPr lang="en-US" sz="2100" dirty="0"/>
          </a:p>
        </p:txBody>
      </p:sp>
      <p:sp>
        <p:nvSpPr>
          <p:cNvPr id="18" name="Text 16"/>
          <p:cNvSpPr/>
          <p:nvPr/>
        </p:nvSpPr>
        <p:spPr>
          <a:xfrm>
            <a:off x="8449056" y="2286000"/>
            <a:ext cx="3163824" cy="1572768"/>
          </a:xfrm>
          <a:prstGeom prst="rect">
            <a:avLst/>
          </a:prstGeom>
          <a:noFill/>
          <a:ln/>
        </p:spPr>
        <p:txBody>
          <a:bodyPr wrap="square" lIns="0" tIns="0" rIns="0" bIns="0" rtlCol="0" anchor="ctr"/>
          <a:lstStyle/>
          <a:p>
            <a:pPr indent="0" marL="0">
              <a:lnSpc>
                <a:spcPts val="1600"/>
              </a:lnSpc>
              <a:buNone/>
            </a:pPr>
            <a:r>
              <a:rPr lang="en-US" sz="1150" dirty="0">
                <a:solidFill>
                  <a:srgbClr val="6B7785"/>
                </a:solidFill>
                <a:latin typeface="Calibri" pitchFamily="34" charset="0"/>
                <a:ea typeface="Calibri" pitchFamily="34" charset="-122"/>
                <a:cs typeface="Calibri" pitchFamily="34" charset="-120"/>
              </a:rPr>
              <a:t>Generate inputs at the boundaries those rules imply, execute the original and the reimplementation against every one, and compare. Real execution on both sides, on a laptop.</a:t>
            </a:r>
            <a:endParaRPr lang="en-US" sz="1150" dirty="0"/>
          </a:p>
        </p:txBody>
      </p:sp>
      <p:sp>
        <p:nvSpPr>
          <p:cNvPr id="19" name="Shape 17"/>
          <p:cNvSpPr/>
          <p:nvPr/>
        </p:nvSpPr>
        <p:spPr>
          <a:xfrm>
            <a:off x="566928" y="4224528"/>
            <a:ext cx="11057839" cy="969264"/>
          </a:xfrm>
          <a:prstGeom prst="roundRect">
            <a:avLst>
              <a:gd name="adj" fmla="val 5660"/>
            </a:avLst>
          </a:prstGeom>
          <a:solidFill>
            <a:srgbClr val="FBF2DF"/>
          </a:solidFill>
          <a:ln w="12700">
            <a:solidFill>
              <a:srgbClr val="C8891B"/>
            </a:solidFill>
            <a:prstDash val="solid"/>
          </a:ln>
          <a:effectLst>
            <a:outerShdw sx="100000" sy="100000" kx="0" ky="0" algn="bl" rotWithShape="0" blurRad="101600" dist="12700" dir="5400000">
              <a:srgbClr val="8A94A0">
                <a:alpha val="18000"/>
              </a:srgbClr>
            </a:outerShdw>
          </a:effectLst>
        </p:spPr>
      </p:sp>
      <p:sp>
        <p:nvSpPr>
          <p:cNvPr id="20" name="Text 18"/>
          <p:cNvSpPr/>
          <p:nvPr/>
        </p:nvSpPr>
        <p:spPr>
          <a:xfrm>
            <a:off x="877824" y="4370832"/>
            <a:ext cx="2286000" cy="274320"/>
          </a:xfrm>
          <a:prstGeom prst="rect">
            <a:avLst/>
          </a:prstGeom>
          <a:noFill/>
          <a:ln/>
        </p:spPr>
        <p:txBody>
          <a:bodyPr wrap="square" lIns="0" tIns="0" rIns="0" bIns="0" rtlCol="0" anchor="ctr"/>
          <a:lstStyle/>
          <a:p>
            <a:pPr indent="0" marL="0">
              <a:buNone/>
            </a:pPr>
            <a:r>
              <a:rPr lang="en-US" sz="1350" b="1" dirty="0">
                <a:solidFill>
                  <a:srgbClr val="7A5410"/>
                </a:solidFill>
                <a:latin typeface="Calibri" pitchFamily="34" charset="0"/>
                <a:ea typeface="Calibri" pitchFamily="34" charset="-122"/>
                <a:cs typeface="Calibri" pitchFamily="34" charset="-120"/>
              </a:rPr>
              <a:t>The reciprocal loop</a:t>
            </a:r>
            <a:endParaRPr lang="en-US" sz="1350" dirty="0"/>
          </a:p>
        </p:txBody>
      </p:sp>
      <p:sp>
        <p:nvSpPr>
          <p:cNvPr id="21" name="Text 19"/>
          <p:cNvSpPr/>
          <p:nvPr/>
        </p:nvSpPr>
        <p:spPr>
          <a:xfrm>
            <a:off x="3310128" y="4352544"/>
            <a:ext cx="8003743" cy="694944"/>
          </a:xfrm>
          <a:prstGeom prst="rect">
            <a:avLst/>
          </a:prstGeom>
          <a:noFill/>
          <a:ln/>
        </p:spPr>
        <p:txBody>
          <a:bodyPr wrap="square" lIns="0" tIns="0" rIns="0" bIns="0" rtlCol="0" anchor="ctr"/>
          <a:lstStyle/>
          <a:p>
            <a:pPr indent="0" marL="0">
              <a:lnSpc>
                <a:spcPts val="1600"/>
              </a:lnSpc>
              <a:buNone/>
            </a:pPr>
            <a:r>
              <a:rPr lang="en-US" sz="1200" dirty="0">
                <a:solidFill>
                  <a:srgbClr val="7A5410"/>
                </a:solidFill>
                <a:latin typeface="Calibri" pitchFamily="34" charset="0"/>
                <a:ea typeface="Calibri" pitchFamily="34" charset="-122"/>
                <a:cs typeface="Calibri" pitchFamily="34" charset="-120"/>
              </a:rPr>
              <a:t>The extracted rules tell the input generator where the boundaries are — ₹99,999 / ₹1,00,000 / ₹1,00,001. The differential run then catches the extraction layer stating rules that are wrong. Neither half works alone.</a:t>
            </a:r>
            <a:endParaRPr lang="en-US" sz="1200" dirty="0"/>
          </a:p>
        </p:txBody>
      </p:sp>
      <p:sp>
        <p:nvSpPr>
          <p:cNvPr id="22" name="Shape 20"/>
          <p:cNvSpPr/>
          <p:nvPr/>
        </p:nvSpPr>
        <p:spPr>
          <a:xfrm>
            <a:off x="566928" y="5358384"/>
            <a:ext cx="11057839" cy="786384"/>
          </a:xfrm>
          <a:prstGeom prst="roundRect">
            <a:avLst>
              <a:gd name="adj" fmla="val 6977"/>
            </a:avLst>
          </a:prstGeom>
          <a:solidFill>
            <a:srgbClr val="F1F4F7"/>
          </a:solidFill>
          <a:ln w="12700">
            <a:solidFill>
              <a:srgbClr val="F1F4F7"/>
            </a:solidFill>
            <a:prstDash val="solid"/>
          </a:ln>
          <a:effectLst>
            <a:outerShdw sx="100000" sy="100000" kx="0" ky="0" algn="bl" rotWithShape="0" blurRad="101600" dist="12700" dir="5400000">
              <a:srgbClr val="8A94A0">
                <a:alpha val="18000"/>
              </a:srgbClr>
            </a:outerShdw>
          </a:effectLst>
        </p:spPr>
      </p:sp>
      <p:sp>
        <p:nvSpPr>
          <p:cNvPr id="23" name="Text 21"/>
          <p:cNvSpPr/>
          <p:nvPr/>
        </p:nvSpPr>
        <p:spPr>
          <a:xfrm>
            <a:off x="877824" y="5468112"/>
            <a:ext cx="5120640" cy="274320"/>
          </a:xfrm>
          <a:prstGeom prst="rect">
            <a:avLst/>
          </a:prstGeom>
          <a:noFill/>
          <a:ln/>
        </p:spPr>
        <p:txBody>
          <a:bodyPr wrap="square" lIns="0" tIns="0" rIns="0" bIns="0" rtlCol="0" anchor="ctr"/>
          <a:lstStyle/>
          <a:p>
            <a:pPr indent="0" marL="0">
              <a:buNone/>
            </a:pPr>
            <a:r>
              <a:rPr lang="en-US" sz="1400" b="1" dirty="0">
                <a:solidFill>
                  <a:srgbClr val="0E2033"/>
                </a:solidFill>
                <a:latin typeface="Calibri" pitchFamily="34" charset="0"/>
                <a:ea typeface="Calibri" pitchFamily="34" charset="-122"/>
                <a:cs typeface="Calibri" pitchFamily="34" charset="-120"/>
              </a:rPr>
              <a:t>The legacy program is its own correctness oracle.</a:t>
            </a:r>
            <a:endParaRPr lang="en-US" sz="1400" dirty="0"/>
          </a:p>
        </p:txBody>
      </p:sp>
      <p:sp>
        <p:nvSpPr>
          <p:cNvPr id="24" name="Text 22"/>
          <p:cNvSpPr/>
          <p:nvPr/>
        </p:nvSpPr>
        <p:spPr>
          <a:xfrm>
            <a:off x="877824" y="5742432"/>
            <a:ext cx="10607040" cy="274320"/>
          </a:xfrm>
          <a:prstGeom prst="rect">
            <a:avLst/>
          </a:prstGeom>
          <a:noFill/>
          <a:ln/>
        </p:spPr>
        <p:txBody>
          <a:bodyPr wrap="square" lIns="0" tIns="0" rIns="0" bIns="0" rtlCol="0" anchor="ctr"/>
          <a:lstStyle/>
          <a:p>
            <a:pPr indent="0" marL="0">
              <a:buNone/>
            </a:pPr>
            <a:r>
              <a:rPr lang="en-US" sz="1200" dirty="0">
                <a:solidFill>
                  <a:srgbClr val="6B7785"/>
                </a:solidFill>
                <a:latin typeface="Calibri" pitchFamily="34" charset="0"/>
                <a:ea typeface="Calibri" pitchFamily="34" charset="-122"/>
                <a:cs typeface="Calibri" pitchFamily="34" charset="-120"/>
              </a:rPr>
              <a:t>It already defines the right answer by running, so nobody has to specify expected behaviour in advance.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2033"/>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050" b="1" spc="260" kern="0" dirty="0">
                <a:solidFill>
                  <a:srgbClr val="8FA7BD"/>
                </a:solidFill>
                <a:latin typeface="Calibri" pitchFamily="34" charset="0"/>
                <a:ea typeface="Calibri" pitchFamily="34" charset="-122"/>
                <a:cs typeface="Calibri" pitchFamily="34" charset="-120"/>
              </a:rPr>
              <a:t>WHAT NOBODY ELSE DOES  ·  01</a:t>
            </a:r>
            <a:endParaRPr lang="en-US" sz="1050" dirty="0"/>
          </a:p>
        </p:txBody>
      </p:sp>
      <p:sp>
        <p:nvSpPr>
          <p:cNvPr id="3" name="Text 1"/>
          <p:cNvSpPr/>
          <p:nvPr/>
        </p:nvSpPr>
        <p:spPr>
          <a:xfrm>
            <a:off x="566928" y="658368"/>
            <a:ext cx="11057839" cy="658368"/>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We check the legacy against the regulator</a:t>
            </a:r>
            <a:endParaRPr lang="en-US" sz="3200" dirty="0"/>
          </a:p>
        </p:txBody>
      </p:sp>
      <p:sp>
        <p:nvSpPr>
          <p:cNvPr id="4" name="Text 2"/>
          <p:cNvSpPr/>
          <p:nvPr/>
        </p:nvSpPr>
        <p:spPr>
          <a:xfrm>
            <a:off x="566928" y="1481328"/>
            <a:ext cx="11057839" cy="658368"/>
          </a:xfrm>
          <a:prstGeom prst="rect">
            <a:avLst/>
          </a:prstGeom>
          <a:noFill/>
          <a:ln/>
        </p:spPr>
        <p:txBody>
          <a:bodyPr wrap="square" lIns="0" tIns="0" rIns="0" bIns="0" rtlCol="0" anchor="ctr"/>
          <a:lstStyle/>
          <a:p>
            <a:pPr indent="0" marL="0">
              <a:lnSpc>
                <a:spcPts val="1900"/>
              </a:lnSpc>
              <a:buNone/>
            </a:pPr>
            <a:r>
              <a:rPr lang="en-US" sz="1350" dirty="0">
                <a:solidFill>
                  <a:srgbClr val="C3D2DF"/>
                </a:solidFill>
                <a:latin typeface="Calibri" pitchFamily="34" charset="0"/>
                <a:ea typeface="Calibri" pitchFamily="34" charset="-122"/>
                <a:cs typeface="Calibri" pitchFamily="34" charset="-120"/>
              </a:rPr>
              <a:t>Every tool on the market compares two things and treats the legacy program as correct by definition. But "the legacy system is its own oracle" is true for equivalence and false for correctness — a program written in 1987 can breach a Master Direction issued decades later.</a:t>
            </a:r>
            <a:endParaRPr lang="en-US" sz="1350" dirty="0"/>
          </a:p>
        </p:txBody>
      </p:sp>
      <p:sp>
        <p:nvSpPr>
          <p:cNvPr id="5" name="Text 3"/>
          <p:cNvSpPr/>
          <p:nvPr/>
        </p:nvSpPr>
        <p:spPr>
          <a:xfrm>
            <a:off x="566928" y="2231136"/>
            <a:ext cx="11057839" cy="274320"/>
          </a:xfrm>
          <a:prstGeom prst="rect">
            <a:avLst/>
          </a:prstGeom>
          <a:noFill/>
          <a:ln/>
        </p:spPr>
        <p:txBody>
          <a:bodyPr wrap="square" lIns="0" tIns="0" rIns="0" bIns="0" rtlCol="0" anchor="ctr"/>
          <a:lstStyle/>
          <a:p>
            <a:pPr indent="0" marL="0">
              <a:buNone/>
            </a:pPr>
            <a:r>
              <a:rPr lang="en-US" sz="1300" b="1" dirty="0">
                <a:solidFill>
                  <a:srgbClr val="C8891B"/>
                </a:solidFill>
                <a:latin typeface="Calibri" pitchFamily="34" charset="0"/>
                <a:ea typeface="Calibri" pitchFamily="34" charset="-122"/>
                <a:cs typeface="Calibri" pitchFamily="34" charset="-120"/>
              </a:rPr>
              <a:t>So we run three references, not two:</a:t>
            </a:r>
            <a:endParaRPr lang="en-US" sz="1300" dirty="0"/>
          </a:p>
        </p:txBody>
      </p:sp>
      <p:sp>
        <p:nvSpPr>
          <p:cNvPr id="6" name="Shape 4"/>
          <p:cNvSpPr/>
          <p:nvPr/>
        </p:nvSpPr>
        <p:spPr>
          <a:xfrm>
            <a:off x="566928" y="2596896"/>
            <a:ext cx="2670048" cy="1865376"/>
          </a:xfrm>
          <a:prstGeom prst="roundRect">
            <a:avLst>
              <a:gd name="adj" fmla="val 2941"/>
            </a:avLst>
          </a:prstGeom>
          <a:solidFill>
            <a:srgbClr val="1A3A55"/>
          </a:solidFill>
          <a:ln w="19050">
            <a:solidFill>
              <a:srgbClr val="2E7D5B"/>
            </a:solidFill>
            <a:prstDash val="solid"/>
          </a:ln>
        </p:spPr>
      </p:sp>
      <p:sp>
        <p:nvSpPr>
          <p:cNvPr id="7" name="Text 5"/>
          <p:cNvSpPr/>
          <p:nvPr/>
        </p:nvSpPr>
        <p:spPr>
          <a:xfrm>
            <a:off x="749808" y="2724912"/>
            <a:ext cx="2304288" cy="256032"/>
          </a:xfrm>
          <a:prstGeom prst="rect">
            <a:avLst/>
          </a:prstGeom>
          <a:noFill/>
          <a:ln/>
        </p:spPr>
        <p:txBody>
          <a:bodyPr wrap="square" lIns="0" tIns="0" rIns="0" bIns="0" rtlCol="0" anchor="ctr"/>
          <a:lstStyle/>
          <a:p>
            <a:pPr algn="ctr" indent="0" marL="0">
              <a:buNone/>
            </a:pPr>
            <a:r>
              <a:rPr lang="en-US" sz="1200" b="1" dirty="0">
                <a:solidFill>
                  <a:srgbClr val="2E7D5B"/>
                </a:solidFill>
                <a:latin typeface="Consolas" pitchFamily="34" charset="0"/>
                <a:ea typeface="Consolas" pitchFamily="34" charset="-122"/>
                <a:cs typeface="Consolas" pitchFamily="34" charset="-120"/>
              </a:rPr>
              <a:t>L = R = Reg</a:t>
            </a:r>
            <a:endParaRPr lang="en-US" sz="1200" dirty="0"/>
          </a:p>
        </p:txBody>
      </p:sp>
      <p:sp>
        <p:nvSpPr>
          <p:cNvPr id="8" name="Text 6"/>
          <p:cNvSpPr/>
          <p:nvPr/>
        </p:nvSpPr>
        <p:spPr>
          <a:xfrm>
            <a:off x="749808" y="3035808"/>
            <a:ext cx="2304288" cy="292608"/>
          </a:xfrm>
          <a:prstGeom prst="rect">
            <a:avLst/>
          </a:prstGeom>
          <a:noFill/>
          <a:ln/>
        </p:spPr>
        <p:txBody>
          <a:bodyPr wrap="square" lIns="0" tIns="0" rIns="0" bIns="0" rtlCol="0" anchor="ctr"/>
          <a:lstStyle/>
          <a:p>
            <a:pPr algn="ctr" indent="0" marL="0">
              <a:buNone/>
            </a:pPr>
            <a:r>
              <a:rPr lang="en-US" sz="1550" b="1" dirty="0">
                <a:solidFill>
                  <a:srgbClr val="FFFFFF"/>
                </a:solidFill>
                <a:latin typeface="Cambria" pitchFamily="34" charset="0"/>
                <a:ea typeface="Cambria" pitchFamily="34" charset="-122"/>
                <a:cs typeface="Cambria" pitchFamily="34" charset="-120"/>
              </a:rPr>
              <a:t>Verified compliant</a:t>
            </a:r>
            <a:endParaRPr lang="en-US" sz="1550" dirty="0"/>
          </a:p>
        </p:txBody>
      </p:sp>
      <p:sp>
        <p:nvSpPr>
          <p:cNvPr id="9" name="Text 7"/>
          <p:cNvSpPr/>
          <p:nvPr/>
        </p:nvSpPr>
        <p:spPr>
          <a:xfrm>
            <a:off x="749808" y="3401568"/>
            <a:ext cx="2304288" cy="914400"/>
          </a:xfrm>
          <a:prstGeom prst="rect">
            <a:avLst/>
          </a:prstGeom>
          <a:noFill/>
          <a:ln/>
        </p:spPr>
        <p:txBody>
          <a:bodyPr wrap="square" lIns="0" tIns="0" rIns="0" bIns="0" rtlCol="0" anchor="ctr"/>
          <a:lstStyle/>
          <a:p>
            <a:pPr algn="ctr" indent="0" marL="0">
              <a:lnSpc>
                <a:spcPts val="1500"/>
              </a:lnSpc>
              <a:buNone/>
            </a:pPr>
            <a:r>
              <a:rPr lang="en-US" sz="1100" dirty="0">
                <a:solidFill>
                  <a:srgbClr val="AEC0D0"/>
                </a:solidFill>
                <a:latin typeface="Calibri" pitchFamily="34" charset="0"/>
                <a:ea typeface="Calibri" pitchFamily="34" charset="-122"/>
                <a:cs typeface="Calibri" pitchFamily="34" charset="-120"/>
              </a:rPr>
              <a:t>Nothing to do. This is what a sign-off is actually made of.</a:t>
            </a:r>
            <a:endParaRPr lang="en-US" sz="1100" dirty="0"/>
          </a:p>
        </p:txBody>
      </p:sp>
      <p:sp>
        <p:nvSpPr>
          <p:cNvPr id="10" name="Shape 8"/>
          <p:cNvSpPr/>
          <p:nvPr/>
        </p:nvSpPr>
        <p:spPr>
          <a:xfrm>
            <a:off x="3374136" y="2596896"/>
            <a:ext cx="2670048" cy="1865376"/>
          </a:xfrm>
          <a:prstGeom prst="roundRect">
            <a:avLst>
              <a:gd name="adj" fmla="val 2941"/>
            </a:avLst>
          </a:prstGeom>
          <a:solidFill>
            <a:srgbClr val="1A3A55"/>
          </a:solidFill>
          <a:ln w="19050">
            <a:solidFill>
              <a:srgbClr val="B23C2A"/>
            </a:solidFill>
            <a:prstDash val="solid"/>
          </a:ln>
        </p:spPr>
      </p:sp>
      <p:sp>
        <p:nvSpPr>
          <p:cNvPr id="11" name="Text 9"/>
          <p:cNvSpPr/>
          <p:nvPr/>
        </p:nvSpPr>
        <p:spPr>
          <a:xfrm>
            <a:off x="3557016" y="2724912"/>
            <a:ext cx="2304288" cy="256032"/>
          </a:xfrm>
          <a:prstGeom prst="rect">
            <a:avLst/>
          </a:prstGeom>
          <a:noFill/>
          <a:ln/>
        </p:spPr>
        <p:txBody>
          <a:bodyPr wrap="square" lIns="0" tIns="0" rIns="0" bIns="0" rtlCol="0" anchor="ctr"/>
          <a:lstStyle/>
          <a:p>
            <a:pPr algn="ctr" indent="0" marL="0">
              <a:buNone/>
            </a:pPr>
            <a:r>
              <a:rPr lang="en-US" sz="1200" b="1" dirty="0">
                <a:solidFill>
                  <a:srgbClr val="B23C2A"/>
                </a:solidFill>
                <a:latin typeface="Consolas" pitchFamily="34" charset="0"/>
                <a:ea typeface="Consolas" pitchFamily="34" charset="-122"/>
                <a:cs typeface="Consolas" pitchFamily="34" charset="-120"/>
              </a:rPr>
              <a:t>L ≠ R</a:t>
            </a:r>
            <a:endParaRPr lang="en-US" sz="1200" dirty="0"/>
          </a:p>
        </p:txBody>
      </p:sp>
      <p:sp>
        <p:nvSpPr>
          <p:cNvPr id="12" name="Text 10"/>
          <p:cNvSpPr/>
          <p:nvPr/>
        </p:nvSpPr>
        <p:spPr>
          <a:xfrm>
            <a:off x="3557016" y="3035808"/>
            <a:ext cx="2304288" cy="292608"/>
          </a:xfrm>
          <a:prstGeom prst="rect">
            <a:avLst/>
          </a:prstGeom>
          <a:noFill/>
          <a:ln/>
        </p:spPr>
        <p:txBody>
          <a:bodyPr wrap="square" lIns="0" tIns="0" rIns="0" bIns="0" rtlCol="0" anchor="ctr"/>
          <a:lstStyle/>
          <a:p>
            <a:pPr algn="ctr" indent="0" marL="0">
              <a:buNone/>
            </a:pPr>
            <a:r>
              <a:rPr lang="en-US" sz="1550" b="1" dirty="0">
                <a:solidFill>
                  <a:srgbClr val="FFFFFF"/>
                </a:solidFill>
                <a:latin typeface="Cambria" pitchFamily="34" charset="0"/>
                <a:ea typeface="Cambria" pitchFamily="34" charset="-122"/>
                <a:cs typeface="Cambria" pitchFamily="34" charset="-120"/>
              </a:rPr>
              <a:t>Translation defect</a:t>
            </a:r>
            <a:endParaRPr lang="en-US" sz="1550" dirty="0"/>
          </a:p>
        </p:txBody>
      </p:sp>
      <p:sp>
        <p:nvSpPr>
          <p:cNvPr id="13" name="Text 11"/>
          <p:cNvSpPr/>
          <p:nvPr/>
        </p:nvSpPr>
        <p:spPr>
          <a:xfrm>
            <a:off x="3557016" y="3401568"/>
            <a:ext cx="2304288" cy="914400"/>
          </a:xfrm>
          <a:prstGeom prst="rect">
            <a:avLst/>
          </a:prstGeom>
          <a:noFill/>
          <a:ln/>
        </p:spPr>
        <p:txBody>
          <a:bodyPr wrap="square" lIns="0" tIns="0" rIns="0" bIns="0" rtlCol="0" anchor="ctr"/>
          <a:lstStyle/>
          <a:p>
            <a:pPr algn="ctr" indent="0" marL="0">
              <a:lnSpc>
                <a:spcPts val="1500"/>
              </a:lnSpc>
              <a:buNone/>
            </a:pPr>
            <a:r>
              <a:rPr lang="en-US" sz="1100" dirty="0">
                <a:solidFill>
                  <a:srgbClr val="AEC0D0"/>
                </a:solidFill>
                <a:latin typeface="Calibri" pitchFamily="34" charset="0"/>
                <a:ea typeface="Calibri" pitchFamily="34" charset="-122"/>
                <a:cs typeface="Calibri" pitchFamily="34" charset="-120"/>
              </a:rPr>
              <a:t>The rewrite is wrong. The only cell a two-way tool can see.</a:t>
            </a:r>
            <a:endParaRPr lang="en-US" sz="1100" dirty="0"/>
          </a:p>
        </p:txBody>
      </p:sp>
      <p:sp>
        <p:nvSpPr>
          <p:cNvPr id="14" name="Shape 12"/>
          <p:cNvSpPr/>
          <p:nvPr/>
        </p:nvSpPr>
        <p:spPr>
          <a:xfrm>
            <a:off x="6181344" y="2596896"/>
            <a:ext cx="2670048" cy="1865376"/>
          </a:xfrm>
          <a:prstGeom prst="roundRect">
            <a:avLst>
              <a:gd name="adj" fmla="val 2941"/>
            </a:avLst>
          </a:prstGeom>
          <a:solidFill>
            <a:srgbClr val="1A3A55"/>
          </a:solidFill>
          <a:ln w="19050">
            <a:solidFill>
              <a:srgbClr val="C8891B"/>
            </a:solidFill>
            <a:prstDash val="solid"/>
          </a:ln>
        </p:spPr>
      </p:sp>
      <p:sp>
        <p:nvSpPr>
          <p:cNvPr id="15" name="Text 13"/>
          <p:cNvSpPr/>
          <p:nvPr/>
        </p:nvSpPr>
        <p:spPr>
          <a:xfrm>
            <a:off x="6364224" y="2724912"/>
            <a:ext cx="2304288" cy="256032"/>
          </a:xfrm>
          <a:prstGeom prst="rect">
            <a:avLst/>
          </a:prstGeom>
          <a:noFill/>
          <a:ln/>
        </p:spPr>
        <p:txBody>
          <a:bodyPr wrap="square" lIns="0" tIns="0" rIns="0" bIns="0" rtlCol="0" anchor="ctr"/>
          <a:lstStyle/>
          <a:p>
            <a:pPr algn="ctr" indent="0" marL="0">
              <a:buNone/>
            </a:pPr>
            <a:r>
              <a:rPr lang="en-US" sz="1200" b="1" dirty="0">
                <a:solidFill>
                  <a:srgbClr val="C8891B"/>
                </a:solidFill>
                <a:latin typeface="Consolas" pitchFamily="34" charset="0"/>
                <a:ea typeface="Consolas" pitchFamily="34" charset="-122"/>
                <a:cs typeface="Consolas" pitchFamily="34" charset="-120"/>
              </a:rPr>
              <a:t>L = R ≠ Reg</a:t>
            </a:r>
            <a:endParaRPr lang="en-US" sz="1200" dirty="0"/>
          </a:p>
        </p:txBody>
      </p:sp>
      <p:sp>
        <p:nvSpPr>
          <p:cNvPr id="16" name="Text 14"/>
          <p:cNvSpPr/>
          <p:nvPr/>
        </p:nvSpPr>
        <p:spPr>
          <a:xfrm>
            <a:off x="6364224" y="3035808"/>
            <a:ext cx="2304288" cy="292608"/>
          </a:xfrm>
          <a:prstGeom prst="rect">
            <a:avLst/>
          </a:prstGeom>
          <a:noFill/>
          <a:ln/>
        </p:spPr>
        <p:txBody>
          <a:bodyPr wrap="square" lIns="0" tIns="0" rIns="0" bIns="0" rtlCol="0" anchor="ctr"/>
          <a:lstStyle/>
          <a:p>
            <a:pPr algn="ctr" indent="0" marL="0">
              <a:buNone/>
            </a:pPr>
            <a:r>
              <a:rPr lang="en-US" sz="1550" b="1" dirty="0">
                <a:solidFill>
                  <a:srgbClr val="FFFFFF"/>
                </a:solidFill>
                <a:latin typeface="Cambria" pitchFamily="34" charset="0"/>
                <a:ea typeface="Cambria" pitchFamily="34" charset="-122"/>
                <a:cs typeface="Cambria" pitchFamily="34" charset="-120"/>
              </a:rPr>
              <a:t>Inherited breach</a:t>
            </a:r>
            <a:endParaRPr lang="en-US" sz="1550" dirty="0"/>
          </a:p>
        </p:txBody>
      </p:sp>
      <p:sp>
        <p:nvSpPr>
          <p:cNvPr id="17" name="Text 15"/>
          <p:cNvSpPr/>
          <p:nvPr/>
        </p:nvSpPr>
        <p:spPr>
          <a:xfrm>
            <a:off x="6364224" y="3401568"/>
            <a:ext cx="2304288" cy="914400"/>
          </a:xfrm>
          <a:prstGeom prst="rect">
            <a:avLst/>
          </a:prstGeom>
          <a:noFill/>
          <a:ln/>
        </p:spPr>
        <p:txBody>
          <a:bodyPr wrap="square" lIns="0" tIns="0" rIns="0" bIns="0" rtlCol="0" anchor="ctr"/>
          <a:lstStyle/>
          <a:p>
            <a:pPr algn="ctr" indent="0" marL="0">
              <a:lnSpc>
                <a:spcPts val="1500"/>
              </a:lnSpc>
              <a:buNone/>
            </a:pPr>
            <a:r>
              <a:rPr lang="en-US" sz="1100" dirty="0">
                <a:solidFill>
                  <a:srgbClr val="AEC0D0"/>
                </a:solidFill>
                <a:latin typeface="Calibri" pitchFamily="34" charset="0"/>
                <a:ea typeface="Calibri" pitchFamily="34" charset="-122"/>
                <a:cs typeface="Calibri" pitchFamily="34" charset="-120"/>
              </a:rPr>
              <a:t>Both agree — and both breach the Direction. Invisible to everyone else.</a:t>
            </a:r>
            <a:endParaRPr lang="en-US" sz="1100" dirty="0"/>
          </a:p>
        </p:txBody>
      </p:sp>
      <p:sp>
        <p:nvSpPr>
          <p:cNvPr id="18" name="Shape 16"/>
          <p:cNvSpPr/>
          <p:nvPr/>
        </p:nvSpPr>
        <p:spPr>
          <a:xfrm>
            <a:off x="8988552" y="2596896"/>
            <a:ext cx="2670048" cy="1865376"/>
          </a:xfrm>
          <a:prstGeom prst="roundRect">
            <a:avLst>
              <a:gd name="adj" fmla="val 2941"/>
            </a:avLst>
          </a:prstGeom>
          <a:solidFill>
            <a:srgbClr val="1A3A55"/>
          </a:solidFill>
          <a:ln w="19050">
            <a:solidFill>
              <a:srgbClr val="36678F"/>
            </a:solidFill>
            <a:prstDash val="solid"/>
          </a:ln>
        </p:spPr>
      </p:sp>
      <p:sp>
        <p:nvSpPr>
          <p:cNvPr id="19" name="Text 17"/>
          <p:cNvSpPr/>
          <p:nvPr/>
        </p:nvSpPr>
        <p:spPr>
          <a:xfrm>
            <a:off x="9171432" y="2724912"/>
            <a:ext cx="2304288" cy="256032"/>
          </a:xfrm>
          <a:prstGeom prst="rect">
            <a:avLst/>
          </a:prstGeom>
          <a:noFill/>
          <a:ln/>
        </p:spPr>
        <p:txBody>
          <a:bodyPr wrap="square" lIns="0" tIns="0" rIns="0" bIns="0" rtlCol="0" anchor="ctr"/>
          <a:lstStyle/>
          <a:p>
            <a:pPr algn="ctr" indent="0" marL="0">
              <a:buNone/>
            </a:pPr>
            <a:r>
              <a:rPr lang="en-US" sz="1200" b="1" dirty="0">
                <a:solidFill>
                  <a:srgbClr val="36678F"/>
                </a:solidFill>
                <a:latin typeface="Consolas" pitchFamily="34" charset="0"/>
                <a:ea typeface="Consolas" pitchFamily="34" charset="-122"/>
                <a:cs typeface="Consolas" pitchFamily="34" charset="-120"/>
              </a:rPr>
              <a:t>L ≠ R = Reg</a:t>
            </a:r>
            <a:endParaRPr lang="en-US" sz="1200" dirty="0"/>
          </a:p>
        </p:txBody>
      </p:sp>
      <p:sp>
        <p:nvSpPr>
          <p:cNvPr id="20" name="Text 18"/>
          <p:cNvSpPr/>
          <p:nvPr/>
        </p:nvSpPr>
        <p:spPr>
          <a:xfrm>
            <a:off x="9171432" y="3035808"/>
            <a:ext cx="2304288" cy="292608"/>
          </a:xfrm>
          <a:prstGeom prst="rect">
            <a:avLst/>
          </a:prstGeom>
          <a:noFill/>
          <a:ln/>
        </p:spPr>
        <p:txBody>
          <a:bodyPr wrap="square" lIns="0" tIns="0" rIns="0" bIns="0" rtlCol="0" anchor="ctr"/>
          <a:lstStyle/>
          <a:p>
            <a:pPr algn="ctr" indent="0" marL="0">
              <a:buNone/>
            </a:pPr>
            <a:r>
              <a:rPr lang="en-US" sz="1550" b="1" dirty="0">
                <a:solidFill>
                  <a:srgbClr val="FFFFFF"/>
                </a:solidFill>
                <a:latin typeface="Cambria" pitchFamily="34" charset="0"/>
                <a:ea typeface="Cambria" pitchFamily="34" charset="-122"/>
                <a:cs typeface="Cambria" pitchFamily="34" charset="-120"/>
              </a:rPr>
              <a:t>Silent correction</a:t>
            </a:r>
            <a:endParaRPr lang="en-US" sz="1550" dirty="0"/>
          </a:p>
        </p:txBody>
      </p:sp>
      <p:sp>
        <p:nvSpPr>
          <p:cNvPr id="21" name="Text 19"/>
          <p:cNvSpPr/>
          <p:nvPr/>
        </p:nvSpPr>
        <p:spPr>
          <a:xfrm>
            <a:off x="9171432" y="3401568"/>
            <a:ext cx="2304288" cy="914400"/>
          </a:xfrm>
          <a:prstGeom prst="rect">
            <a:avLst/>
          </a:prstGeom>
          <a:noFill/>
          <a:ln/>
        </p:spPr>
        <p:txBody>
          <a:bodyPr wrap="square" lIns="0" tIns="0" rIns="0" bIns="0" rtlCol="0" anchor="ctr"/>
          <a:lstStyle/>
          <a:p>
            <a:pPr algn="ctr" indent="0" marL="0">
              <a:lnSpc>
                <a:spcPts val="1500"/>
              </a:lnSpc>
              <a:buNone/>
            </a:pPr>
            <a:r>
              <a:rPr lang="en-US" sz="1100" dirty="0">
                <a:solidFill>
                  <a:srgbClr val="AEC0D0"/>
                </a:solidFill>
                <a:latin typeface="Calibri" pitchFamily="34" charset="0"/>
                <a:ea typeface="Calibri" pitchFamily="34" charset="-122"/>
                <a:cs typeface="Calibri" pitchFamily="34" charset="-120"/>
              </a:rPr>
              <a:t>The rewrite "fixed" it. Not a win — the books change at cutover.</a:t>
            </a:r>
            <a:endParaRPr lang="en-US" sz="1100" dirty="0"/>
          </a:p>
        </p:txBody>
      </p:sp>
      <p:sp>
        <p:nvSpPr>
          <p:cNvPr id="22" name="Shape 20"/>
          <p:cNvSpPr/>
          <p:nvPr/>
        </p:nvSpPr>
        <p:spPr>
          <a:xfrm>
            <a:off x="566928" y="4681728"/>
            <a:ext cx="11057839" cy="1371600"/>
          </a:xfrm>
          <a:prstGeom prst="roundRect">
            <a:avLst>
              <a:gd name="adj" fmla="val 4000"/>
            </a:avLst>
          </a:prstGeom>
          <a:solidFill>
            <a:srgbClr val="1A3A55"/>
          </a:solidFill>
          <a:ln w="12700">
            <a:solidFill>
              <a:srgbClr val="1A3A55"/>
            </a:solidFill>
            <a:prstDash val="solid"/>
          </a:ln>
        </p:spPr>
      </p:sp>
      <p:sp>
        <p:nvSpPr>
          <p:cNvPr id="23" name="Text 21"/>
          <p:cNvSpPr/>
          <p:nvPr/>
        </p:nvSpPr>
        <p:spPr>
          <a:xfrm>
            <a:off x="877824" y="4809744"/>
            <a:ext cx="10436047" cy="292608"/>
          </a:xfrm>
          <a:prstGeom prst="rect">
            <a:avLst/>
          </a:prstGeom>
          <a:noFill/>
          <a:ln/>
        </p:spPr>
        <p:txBody>
          <a:bodyPr wrap="square" lIns="0" tIns="0" rIns="0" bIns="0" rtlCol="0" anchor="ctr"/>
          <a:lstStyle/>
          <a:p>
            <a:pPr indent="0" marL="0">
              <a:buNone/>
            </a:pPr>
            <a:r>
              <a:rPr lang="en-US" sz="1400" b="1" dirty="0">
                <a:solidFill>
                  <a:srgbClr val="C8891B"/>
                </a:solidFill>
                <a:latin typeface="Calibri" pitchFamily="34" charset="0"/>
                <a:ea typeface="Calibri" pitchFamily="34" charset="-122"/>
                <a:cs typeface="Calibri" pitchFamily="34" charset="-120"/>
              </a:rPr>
              <a:t>The third reference is written down, and it is Indian</a:t>
            </a:r>
            <a:endParaRPr lang="en-US" sz="1400" dirty="0"/>
          </a:p>
        </p:txBody>
      </p:sp>
      <p:sp>
        <p:nvSpPr>
          <p:cNvPr id="24" name="Text 22"/>
          <p:cNvSpPr/>
          <p:nvPr/>
        </p:nvSpPr>
        <p:spPr>
          <a:xfrm>
            <a:off x="877824" y="5138928"/>
            <a:ext cx="10436047" cy="822960"/>
          </a:xfrm>
          <a:prstGeom prst="rect">
            <a:avLst/>
          </a:prstGeom>
          <a:noFill/>
          <a:ln/>
        </p:spPr>
        <p:txBody>
          <a:bodyPr wrap="square" lIns="0" tIns="0" rIns="0" bIns="0" rtlCol="0" anchor="ctr"/>
          <a:lstStyle/>
          <a:p>
            <a:pPr indent="0" marL="0">
              <a:lnSpc>
                <a:spcPts val="1600"/>
              </a:lnSpc>
              <a:buNone/>
            </a:pPr>
            <a:r>
              <a:rPr lang="en-US" sz="1150" dirty="0">
                <a:solidFill>
                  <a:srgbClr val="C3D2DF"/>
                </a:solidFill>
                <a:latin typeface="Calibri" pitchFamily="34" charset="0"/>
                <a:ea typeface="Calibri" pitchFamily="34" charset="-122"/>
                <a:cs typeface="Calibri" pitchFamily="34" charset="-120"/>
              </a:rPr>
              <a:t>RBI Master Direction (Interest Rate on Deposits), 2016 — clause 6(a): interest on savings deposits calculated on a daily product basis · clause 6(a)(1)–(2): uniform rate up to ₹1 lakh, differential rates above · clause 4(f): interest on rupee deposits rounded to the nearest rupee, two decimals for FCNR(B).</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WHAT NOBODY ELSE DOES  ·  02</a:t>
            </a:r>
            <a:endParaRPr lang="en-US" sz="1050" dirty="0"/>
          </a:p>
        </p:txBody>
      </p:sp>
      <p:sp>
        <p:nvSpPr>
          <p:cNvPr id="3" name="Text 1"/>
          <p:cNvSpPr/>
          <p:nvPr/>
        </p:nvSpPr>
        <p:spPr>
          <a:xfrm>
            <a:off x="566928" y="658368"/>
            <a:ext cx="11057839" cy="658368"/>
          </a:xfrm>
          <a:prstGeom prst="rect">
            <a:avLst/>
          </a:prstGeom>
          <a:noFill/>
          <a:ln/>
        </p:spPr>
        <p:txBody>
          <a:bodyPr wrap="square" lIns="0" tIns="0" rIns="0" bIns="0" rtlCol="0" anchor="t"/>
          <a:lstStyle/>
          <a:p>
            <a:pPr indent="0" marL="0">
              <a:buNone/>
            </a:pPr>
            <a:r>
              <a:rPr lang="en-US" sz="3200" b="1" dirty="0">
                <a:solidFill>
                  <a:srgbClr val="16212E"/>
                </a:solidFill>
                <a:latin typeface="Cambria" pitchFamily="34" charset="0"/>
                <a:ea typeface="Cambria" pitchFamily="34" charset="-122"/>
                <a:cs typeface="Cambria" pitchFamily="34" charset="-120"/>
              </a:rPr>
              <a:t>A rule is not proven because its lines ran</a:t>
            </a:r>
            <a:endParaRPr lang="en-US" sz="3200" dirty="0"/>
          </a:p>
        </p:txBody>
      </p:sp>
      <p:sp>
        <p:nvSpPr>
          <p:cNvPr id="4" name="Text 2"/>
          <p:cNvSpPr/>
          <p:nvPr/>
        </p:nvSpPr>
        <p:spPr>
          <a:xfrm>
            <a:off x="566928" y="1481328"/>
            <a:ext cx="6858000" cy="566928"/>
          </a:xfrm>
          <a:prstGeom prst="rect">
            <a:avLst/>
          </a:prstGeom>
          <a:noFill/>
          <a:ln/>
        </p:spPr>
        <p:txBody>
          <a:bodyPr wrap="square" lIns="0" tIns="0" rIns="0" bIns="0" rtlCol="0" anchor="ctr"/>
          <a:lstStyle/>
          <a:p>
            <a:pPr indent="0" marL="0">
              <a:lnSpc>
                <a:spcPts val="1900"/>
              </a:lnSpc>
              <a:buNone/>
            </a:pPr>
            <a:r>
              <a:rPr lang="en-US" sz="1350" dirty="0">
                <a:solidFill>
                  <a:srgbClr val="16212E"/>
                </a:solidFill>
                <a:latin typeface="Calibri" pitchFamily="34" charset="0"/>
                <a:ea typeface="Calibri" pitchFamily="34" charset="-122"/>
                <a:cs typeface="Calibri" pitchFamily="34" charset="-120"/>
              </a:rPr>
              <a:t>Executing a line is not testing the rule it encodes. A line can run a thousand times without its boundary ever mattering to the output. So we require three conditions, not one.</a:t>
            </a:r>
            <a:endParaRPr lang="en-US" sz="1350" dirty="0"/>
          </a:p>
        </p:txBody>
      </p:sp>
      <p:sp>
        <p:nvSpPr>
          <p:cNvPr id="5" name="Shape 3"/>
          <p:cNvSpPr/>
          <p:nvPr/>
        </p:nvSpPr>
        <p:spPr>
          <a:xfrm>
            <a:off x="566928" y="2212848"/>
            <a:ext cx="7772400" cy="877824"/>
          </a:xfrm>
          <a:prstGeom prst="roundRect">
            <a:avLst>
              <a:gd name="adj" fmla="val 6250"/>
            </a:avLst>
          </a:prstGeom>
          <a:solidFill>
            <a:srgbClr val="F1F4F7"/>
          </a:solidFill>
          <a:ln w="12700">
            <a:solidFill>
              <a:srgbClr val="F1F4F7"/>
            </a:solidFill>
            <a:prstDash val="solid"/>
          </a:ln>
          <a:effectLst>
            <a:outerShdw sx="100000" sy="100000" kx="0" ky="0" algn="bl" rotWithShape="0" blurRad="101600" dist="12700" dir="5400000">
              <a:srgbClr val="8A94A0">
                <a:alpha val="18000"/>
              </a:srgbClr>
            </a:outerShdw>
          </a:effectLst>
        </p:spPr>
      </p:sp>
      <p:sp>
        <p:nvSpPr>
          <p:cNvPr id="6" name="Shape 4"/>
          <p:cNvSpPr/>
          <p:nvPr/>
        </p:nvSpPr>
        <p:spPr>
          <a:xfrm>
            <a:off x="786384" y="2423160"/>
            <a:ext cx="457200" cy="457200"/>
          </a:xfrm>
          <a:prstGeom prst="ellipse">
            <a:avLst/>
          </a:prstGeom>
          <a:solidFill>
            <a:srgbClr val="6B7785"/>
          </a:solidFill>
          <a:ln w="12700">
            <a:solidFill>
              <a:srgbClr val="6B7785"/>
            </a:solidFill>
            <a:prstDash val="solid"/>
          </a:ln>
        </p:spPr>
      </p:sp>
      <p:sp>
        <p:nvSpPr>
          <p:cNvPr id="7" name="Text 5"/>
          <p:cNvSpPr/>
          <p:nvPr/>
        </p:nvSpPr>
        <p:spPr>
          <a:xfrm>
            <a:off x="786384" y="2423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389888" y="2350008"/>
            <a:ext cx="2103120" cy="274320"/>
          </a:xfrm>
          <a:prstGeom prst="rect">
            <a:avLst/>
          </a:prstGeom>
          <a:noFill/>
          <a:ln/>
        </p:spPr>
        <p:txBody>
          <a:bodyPr wrap="square" lIns="0" tIns="0" rIns="0" bIns="0" rtlCol="0" anchor="ctr"/>
          <a:lstStyle/>
          <a:p>
            <a:pPr indent="0" marL="0">
              <a:buNone/>
            </a:pPr>
            <a:r>
              <a:rPr lang="en-US" sz="1600" b="1" dirty="0">
                <a:solidFill>
                  <a:srgbClr val="16212E"/>
                </a:solidFill>
                <a:latin typeface="Cambria" pitchFamily="34" charset="0"/>
                <a:ea typeface="Cambria" pitchFamily="34" charset="-122"/>
                <a:cs typeface="Cambria" pitchFamily="34" charset="-120"/>
              </a:rPr>
              <a:t>Reached</a:t>
            </a:r>
            <a:endParaRPr lang="en-US" sz="1600" dirty="0"/>
          </a:p>
        </p:txBody>
      </p:sp>
      <p:sp>
        <p:nvSpPr>
          <p:cNvPr id="9" name="Text 7"/>
          <p:cNvSpPr/>
          <p:nvPr/>
        </p:nvSpPr>
        <p:spPr>
          <a:xfrm>
            <a:off x="1389888" y="2624328"/>
            <a:ext cx="5029200" cy="438912"/>
          </a:xfrm>
          <a:prstGeom prst="rect">
            <a:avLst/>
          </a:prstGeom>
          <a:noFill/>
          <a:ln/>
        </p:spPr>
        <p:txBody>
          <a:bodyPr wrap="square" lIns="0" tIns="0" rIns="0" bIns="0" rtlCol="0" anchor="ctr"/>
          <a:lstStyle/>
          <a:p>
            <a:pPr indent="0" marL="0">
              <a:lnSpc>
                <a:spcPts val="1400"/>
              </a:lnSpc>
              <a:buNone/>
            </a:pPr>
            <a:r>
              <a:rPr lang="en-US" sz="1100" dirty="0">
                <a:solidFill>
                  <a:srgbClr val="6B7785"/>
                </a:solidFill>
                <a:latin typeface="Calibri" pitchFamily="34" charset="0"/>
                <a:ea typeface="Calibri" pitchFamily="34" charset="-122"/>
                <a:cs typeface="Calibri" pitchFamily="34" charset="-120"/>
              </a:rPr>
              <a:t>Did any input execute the lines this rule came from?</a:t>
            </a:r>
            <a:endParaRPr lang="en-US" sz="1100" dirty="0"/>
          </a:p>
        </p:txBody>
      </p:sp>
      <p:sp>
        <p:nvSpPr>
          <p:cNvPr id="10" name="Text 8"/>
          <p:cNvSpPr/>
          <p:nvPr/>
        </p:nvSpPr>
        <p:spPr>
          <a:xfrm>
            <a:off x="6510528" y="2514600"/>
            <a:ext cx="1700784" cy="274320"/>
          </a:xfrm>
          <a:prstGeom prst="rect">
            <a:avLst/>
          </a:prstGeom>
          <a:noFill/>
          <a:ln/>
        </p:spPr>
        <p:txBody>
          <a:bodyPr wrap="square" lIns="0" tIns="0" rIns="0" bIns="0" rtlCol="0" anchor="ctr"/>
          <a:lstStyle/>
          <a:p>
            <a:pPr algn="r" indent="0" marL="0">
              <a:buNone/>
            </a:pPr>
            <a:r>
              <a:rPr lang="en-US" sz="1200" b="1" dirty="0">
                <a:solidFill>
                  <a:srgbClr val="C8891B"/>
                </a:solidFill>
                <a:latin typeface="Calibri" pitchFamily="34" charset="0"/>
                <a:ea typeface="Calibri" pitchFamily="34" charset="-122"/>
                <a:cs typeface="Calibri" pitchFamily="34" charset="-120"/>
              </a:rPr>
              <a:t>→ UNPROVEN</a:t>
            </a:r>
            <a:endParaRPr lang="en-US" sz="1200" dirty="0"/>
          </a:p>
        </p:txBody>
      </p:sp>
      <p:sp>
        <p:nvSpPr>
          <p:cNvPr id="11" name="Shape 9"/>
          <p:cNvSpPr/>
          <p:nvPr/>
        </p:nvSpPr>
        <p:spPr>
          <a:xfrm>
            <a:off x="566928" y="3182112"/>
            <a:ext cx="7772400" cy="877824"/>
          </a:xfrm>
          <a:prstGeom prst="roundRect">
            <a:avLst>
              <a:gd name="adj" fmla="val 6250"/>
            </a:avLst>
          </a:prstGeom>
          <a:solidFill>
            <a:srgbClr val="FBF2DF"/>
          </a:solidFill>
          <a:ln w="12700">
            <a:solidFill>
              <a:srgbClr val="C8891B"/>
            </a:solidFill>
            <a:prstDash val="solid"/>
          </a:ln>
          <a:effectLst>
            <a:outerShdw sx="100000" sy="100000" kx="0" ky="0" algn="bl" rotWithShape="0" blurRad="101600" dist="12700" dir="5400000">
              <a:srgbClr val="8A94A0">
                <a:alpha val="18000"/>
              </a:srgbClr>
            </a:outerShdw>
          </a:effectLst>
        </p:spPr>
      </p:sp>
      <p:sp>
        <p:nvSpPr>
          <p:cNvPr id="12" name="Shape 10"/>
          <p:cNvSpPr/>
          <p:nvPr/>
        </p:nvSpPr>
        <p:spPr>
          <a:xfrm>
            <a:off x="786384" y="3392424"/>
            <a:ext cx="457200" cy="457200"/>
          </a:xfrm>
          <a:prstGeom prst="ellipse">
            <a:avLst/>
          </a:prstGeom>
          <a:solidFill>
            <a:srgbClr val="C8891B"/>
          </a:solidFill>
          <a:ln w="12700">
            <a:solidFill>
              <a:srgbClr val="C8891B"/>
            </a:solidFill>
            <a:prstDash val="solid"/>
          </a:ln>
        </p:spPr>
      </p:sp>
      <p:sp>
        <p:nvSpPr>
          <p:cNvPr id="13" name="Text 11"/>
          <p:cNvSpPr/>
          <p:nvPr/>
        </p:nvSpPr>
        <p:spPr>
          <a:xfrm>
            <a:off x="786384" y="339242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1389888" y="3319272"/>
            <a:ext cx="2103120" cy="274320"/>
          </a:xfrm>
          <a:prstGeom prst="rect">
            <a:avLst/>
          </a:prstGeom>
          <a:noFill/>
          <a:ln/>
        </p:spPr>
        <p:txBody>
          <a:bodyPr wrap="square" lIns="0" tIns="0" rIns="0" bIns="0" rtlCol="0" anchor="ctr"/>
          <a:lstStyle/>
          <a:p>
            <a:pPr indent="0" marL="0">
              <a:buNone/>
            </a:pPr>
            <a:r>
              <a:rPr lang="en-US" sz="1600" b="1" dirty="0">
                <a:solidFill>
                  <a:srgbClr val="16212E"/>
                </a:solidFill>
                <a:latin typeface="Cambria" pitchFamily="34" charset="0"/>
                <a:ea typeface="Cambria" pitchFamily="34" charset="-122"/>
                <a:cs typeface="Cambria" pitchFamily="34" charset="-120"/>
              </a:rPr>
              <a:t>Discriminating</a:t>
            </a:r>
            <a:endParaRPr lang="en-US" sz="1600" dirty="0"/>
          </a:p>
        </p:txBody>
      </p:sp>
      <p:sp>
        <p:nvSpPr>
          <p:cNvPr id="15" name="Text 13"/>
          <p:cNvSpPr/>
          <p:nvPr/>
        </p:nvSpPr>
        <p:spPr>
          <a:xfrm>
            <a:off x="1389888" y="3593592"/>
            <a:ext cx="5029200" cy="438912"/>
          </a:xfrm>
          <a:prstGeom prst="rect">
            <a:avLst/>
          </a:prstGeom>
          <a:noFill/>
          <a:ln/>
        </p:spPr>
        <p:txBody>
          <a:bodyPr wrap="square" lIns="0" tIns="0" rIns="0" bIns="0" rtlCol="0" anchor="ctr"/>
          <a:lstStyle/>
          <a:p>
            <a:pPr indent="0" marL="0">
              <a:lnSpc>
                <a:spcPts val="1400"/>
              </a:lnSpc>
              <a:buNone/>
            </a:pPr>
            <a:r>
              <a:rPr lang="en-US" sz="1100" dirty="0">
                <a:solidFill>
                  <a:srgbClr val="6B7785"/>
                </a:solidFill>
                <a:latin typeface="Calibri" pitchFamily="34" charset="0"/>
                <a:ea typeface="Calibri" pitchFamily="34" charset="-122"/>
                <a:cs typeface="Calibri" pitchFamily="34" charset="-120"/>
              </a:rPr>
              <a:t>Did inputs on both sides of the boundary produce different legacy outputs — is the boundary actually live?</a:t>
            </a:r>
            <a:endParaRPr lang="en-US" sz="1100" dirty="0"/>
          </a:p>
        </p:txBody>
      </p:sp>
      <p:sp>
        <p:nvSpPr>
          <p:cNvPr id="16" name="Text 14"/>
          <p:cNvSpPr/>
          <p:nvPr/>
        </p:nvSpPr>
        <p:spPr>
          <a:xfrm>
            <a:off x="6510528" y="3483864"/>
            <a:ext cx="1700784" cy="274320"/>
          </a:xfrm>
          <a:prstGeom prst="rect">
            <a:avLst/>
          </a:prstGeom>
          <a:noFill/>
          <a:ln/>
        </p:spPr>
        <p:txBody>
          <a:bodyPr wrap="square" lIns="0" tIns="0" rIns="0" bIns="0" rtlCol="0" anchor="ctr"/>
          <a:lstStyle/>
          <a:p>
            <a:pPr algn="r" indent="0" marL="0">
              <a:buNone/>
            </a:pPr>
            <a:r>
              <a:rPr lang="en-US" sz="1200" b="1" dirty="0">
                <a:solidFill>
                  <a:srgbClr val="B23C2A"/>
                </a:solidFill>
                <a:latin typeface="Calibri" pitchFamily="34" charset="0"/>
                <a:ea typeface="Calibri" pitchFamily="34" charset="-122"/>
                <a:cs typeface="Calibri" pitchFamily="34" charset="-120"/>
              </a:rPr>
              <a:t>→ REFUTED</a:t>
            </a:r>
            <a:endParaRPr lang="en-US" sz="1200" dirty="0"/>
          </a:p>
        </p:txBody>
      </p:sp>
      <p:sp>
        <p:nvSpPr>
          <p:cNvPr id="17" name="Shape 15"/>
          <p:cNvSpPr/>
          <p:nvPr/>
        </p:nvSpPr>
        <p:spPr>
          <a:xfrm>
            <a:off x="566928" y="4151376"/>
            <a:ext cx="7772400" cy="877824"/>
          </a:xfrm>
          <a:prstGeom prst="roundRect">
            <a:avLst>
              <a:gd name="adj" fmla="val 6250"/>
            </a:avLst>
          </a:prstGeom>
          <a:solidFill>
            <a:srgbClr val="F1F4F7"/>
          </a:solidFill>
          <a:ln w="12700">
            <a:solidFill>
              <a:srgbClr val="F1F4F7"/>
            </a:solidFill>
            <a:prstDash val="solid"/>
          </a:ln>
          <a:effectLst>
            <a:outerShdw sx="100000" sy="100000" kx="0" ky="0" algn="bl" rotWithShape="0" blurRad="101600" dist="12700" dir="5400000">
              <a:srgbClr val="8A94A0">
                <a:alpha val="18000"/>
              </a:srgbClr>
            </a:outerShdw>
          </a:effectLst>
        </p:spPr>
      </p:sp>
      <p:sp>
        <p:nvSpPr>
          <p:cNvPr id="18" name="Shape 16"/>
          <p:cNvSpPr/>
          <p:nvPr/>
        </p:nvSpPr>
        <p:spPr>
          <a:xfrm>
            <a:off x="786384" y="4361688"/>
            <a:ext cx="457200" cy="457200"/>
          </a:xfrm>
          <a:prstGeom prst="ellipse">
            <a:avLst/>
          </a:prstGeom>
          <a:solidFill>
            <a:srgbClr val="6B7785"/>
          </a:solidFill>
          <a:ln w="12700">
            <a:solidFill>
              <a:srgbClr val="6B7785"/>
            </a:solidFill>
            <a:prstDash val="solid"/>
          </a:ln>
        </p:spPr>
      </p:sp>
      <p:sp>
        <p:nvSpPr>
          <p:cNvPr id="19" name="Text 17"/>
          <p:cNvSpPr/>
          <p:nvPr/>
        </p:nvSpPr>
        <p:spPr>
          <a:xfrm>
            <a:off x="786384" y="436168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p:nvPr/>
        </p:nvSpPr>
        <p:spPr>
          <a:xfrm>
            <a:off x="1389888" y="4288536"/>
            <a:ext cx="2103120" cy="274320"/>
          </a:xfrm>
          <a:prstGeom prst="rect">
            <a:avLst/>
          </a:prstGeom>
          <a:noFill/>
          <a:ln/>
        </p:spPr>
        <p:txBody>
          <a:bodyPr wrap="square" lIns="0" tIns="0" rIns="0" bIns="0" rtlCol="0" anchor="ctr"/>
          <a:lstStyle/>
          <a:p>
            <a:pPr indent="0" marL="0">
              <a:buNone/>
            </a:pPr>
            <a:r>
              <a:rPr lang="en-US" sz="1600" b="1" dirty="0">
                <a:solidFill>
                  <a:srgbClr val="16212E"/>
                </a:solidFill>
                <a:latin typeface="Cambria" pitchFamily="34" charset="0"/>
                <a:ea typeface="Cambria" pitchFamily="34" charset="-122"/>
                <a:cs typeface="Cambria" pitchFamily="34" charset="-120"/>
              </a:rPr>
              <a:t>Agreed</a:t>
            </a:r>
            <a:endParaRPr lang="en-US" sz="1600" dirty="0"/>
          </a:p>
        </p:txBody>
      </p:sp>
      <p:sp>
        <p:nvSpPr>
          <p:cNvPr id="21" name="Text 19"/>
          <p:cNvSpPr/>
          <p:nvPr/>
        </p:nvSpPr>
        <p:spPr>
          <a:xfrm>
            <a:off x="1389888" y="4562856"/>
            <a:ext cx="5029200" cy="438912"/>
          </a:xfrm>
          <a:prstGeom prst="rect">
            <a:avLst/>
          </a:prstGeom>
          <a:noFill/>
          <a:ln/>
        </p:spPr>
        <p:txBody>
          <a:bodyPr wrap="square" lIns="0" tIns="0" rIns="0" bIns="0" rtlCol="0" anchor="ctr"/>
          <a:lstStyle/>
          <a:p>
            <a:pPr indent="0" marL="0">
              <a:lnSpc>
                <a:spcPts val="1400"/>
              </a:lnSpc>
              <a:buNone/>
            </a:pPr>
            <a:r>
              <a:rPr lang="en-US" sz="1100" dirty="0">
                <a:solidFill>
                  <a:srgbClr val="6B7785"/>
                </a:solidFill>
                <a:latin typeface="Calibri" pitchFamily="34" charset="0"/>
                <a:ea typeface="Calibri" pitchFamily="34" charset="-122"/>
                <a:cs typeface="Calibri" pitchFamily="34" charset="-120"/>
              </a:rPr>
              <a:t>Did the reimplementation match the legacy on every one of them?</a:t>
            </a:r>
            <a:endParaRPr lang="en-US" sz="1100" dirty="0"/>
          </a:p>
        </p:txBody>
      </p:sp>
      <p:sp>
        <p:nvSpPr>
          <p:cNvPr id="22" name="Text 20"/>
          <p:cNvSpPr/>
          <p:nvPr/>
        </p:nvSpPr>
        <p:spPr>
          <a:xfrm>
            <a:off x="6510528" y="4453128"/>
            <a:ext cx="1700784" cy="274320"/>
          </a:xfrm>
          <a:prstGeom prst="rect">
            <a:avLst/>
          </a:prstGeom>
          <a:noFill/>
          <a:ln/>
        </p:spPr>
        <p:txBody>
          <a:bodyPr wrap="square" lIns="0" tIns="0" rIns="0" bIns="0" rtlCol="0" anchor="ctr"/>
          <a:lstStyle/>
          <a:p>
            <a:pPr algn="r" indent="0" marL="0">
              <a:buNone/>
            </a:pPr>
            <a:r>
              <a:rPr lang="en-US" sz="1200" b="1" dirty="0">
                <a:solidFill>
                  <a:srgbClr val="B23C2A"/>
                </a:solidFill>
                <a:latin typeface="Calibri" pitchFamily="34" charset="0"/>
                <a:ea typeface="Calibri" pitchFamily="34" charset="-122"/>
                <a:cs typeface="Calibri" pitchFamily="34" charset="-120"/>
              </a:rPr>
              <a:t>→ DIVERGENCE</a:t>
            </a:r>
            <a:endParaRPr lang="en-US" sz="1200" dirty="0"/>
          </a:p>
        </p:txBody>
      </p:sp>
      <p:sp>
        <p:nvSpPr>
          <p:cNvPr id="23" name="Shape 21"/>
          <p:cNvSpPr/>
          <p:nvPr/>
        </p:nvSpPr>
        <p:spPr>
          <a:xfrm>
            <a:off x="566928" y="5138928"/>
            <a:ext cx="7772400" cy="566928"/>
          </a:xfrm>
          <a:prstGeom prst="roundRect">
            <a:avLst>
              <a:gd name="adj" fmla="val 9677"/>
            </a:avLst>
          </a:prstGeom>
          <a:solidFill>
            <a:srgbClr val="E8F1EC"/>
          </a:solidFill>
          <a:ln w="12700">
            <a:solidFill>
              <a:srgbClr val="2E7D5B"/>
            </a:solidFill>
            <a:prstDash val="solid"/>
          </a:ln>
        </p:spPr>
      </p:sp>
      <p:sp>
        <p:nvSpPr>
          <p:cNvPr id="24" name="Text 22"/>
          <p:cNvSpPr/>
          <p:nvPr/>
        </p:nvSpPr>
        <p:spPr>
          <a:xfrm>
            <a:off x="566928" y="5138928"/>
            <a:ext cx="7772400" cy="566928"/>
          </a:xfrm>
          <a:prstGeom prst="rect">
            <a:avLst/>
          </a:prstGeom>
          <a:noFill/>
          <a:ln/>
        </p:spPr>
        <p:txBody>
          <a:bodyPr wrap="square" lIns="0" tIns="0" rIns="0" bIns="0" rtlCol="0" anchor="ctr"/>
          <a:lstStyle/>
          <a:p>
            <a:pPr algn="ctr" indent="0" marL="0">
              <a:buNone/>
            </a:pPr>
            <a:r>
              <a:rPr lang="en-US" sz="1700" b="1" dirty="0">
                <a:solidFill>
                  <a:srgbClr val="2E7D5B"/>
                </a:solidFill>
                <a:latin typeface="Cambria" pitchFamily="34" charset="0"/>
                <a:ea typeface="Cambria" pitchFamily="34" charset="-122"/>
                <a:cs typeface="Cambria" pitchFamily="34" charset="-120"/>
              </a:rPr>
              <a:t>All three hold  →  PROVEN</a:t>
            </a:r>
            <a:endParaRPr lang="en-US" sz="1700" dirty="0"/>
          </a:p>
        </p:txBody>
      </p:sp>
      <p:sp>
        <p:nvSpPr>
          <p:cNvPr id="25" name="Shape 23"/>
          <p:cNvSpPr/>
          <p:nvPr/>
        </p:nvSpPr>
        <p:spPr>
          <a:xfrm>
            <a:off x="8613648" y="2212848"/>
            <a:ext cx="3017520" cy="3493008"/>
          </a:xfrm>
          <a:prstGeom prst="roundRect">
            <a:avLst>
              <a:gd name="adj" fmla="val 1818"/>
            </a:avLst>
          </a:prstGeom>
          <a:solidFill>
            <a:srgbClr val="FAEBE7"/>
          </a:solidFill>
          <a:ln w="12700">
            <a:solidFill>
              <a:srgbClr val="B23C2A"/>
            </a:solidFill>
            <a:prstDash val="solid"/>
          </a:ln>
          <a:effectLst>
            <a:outerShdw sx="100000" sy="100000" kx="0" ky="0" algn="bl" rotWithShape="0" blurRad="101600" dist="12700" dir="5400000">
              <a:srgbClr val="8A94A0">
                <a:alpha val="18000"/>
              </a:srgbClr>
            </a:outerShdw>
          </a:effectLst>
        </p:spPr>
      </p:sp>
      <p:sp>
        <p:nvSpPr>
          <p:cNvPr id="26" name="Text 24"/>
          <p:cNvSpPr/>
          <p:nvPr/>
        </p:nvSpPr>
        <p:spPr>
          <a:xfrm>
            <a:off x="8833104" y="2377440"/>
            <a:ext cx="2578608" cy="512064"/>
          </a:xfrm>
          <a:prstGeom prst="rect">
            <a:avLst/>
          </a:prstGeom>
          <a:noFill/>
          <a:ln/>
        </p:spPr>
        <p:txBody>
          <a:bodyPr wrap="square" lIns="0" tIns="0" rIns="0" bIns="0" rtlCol="0" anchor="ctr"/>
          <a:lstStyle/>
          <a:p>
            <a:pPr indent="0" marL="0">
              <a:lnSpc>
                <a:spcPts val="2000"/>
              </a:lnSpc>
              <a:buNone/>
            </a:pPr>
            <a:r>
              <a:rPr lang="en-US" sz="1600" b="1" dirty="0">
                <a:solidFill>
                  <a:srgbClr val="B23C2A"/>
                </a:solidFill>
                <a:latin typeface="Cambria" pitchFamily="34" charset="0"/>
                <a:ea typeface="Cambria" pitchFamily="34" charset="-122"/>
                <a:cs typeface="Cambria" pitchFamily="34" charset="-120"/>
              </a:rPr>
              <a:t>The middle test is the point</a:t>
            </a:r>
            <a:endParaRPr lang="en-US" sz="1600" dirty="0"/>
          </a:p>
        </p:txBody>
      </p:sp>
      <p:sp>
        <p:nvSpPr>
          <p:cNvPr id="27" name="Text 25"/>
          <p:cNvSpPr/>
          <p:nvPr/>
        </p:nvSpPr>
        <p:spPr>
          <a:xfrm>
            <a:off x="8833104" y="2962656"/>
            <a:ext cx="2578608" cy="2377440"/>
          </a:xfrm>
          <a:prstGeom prst="rect">
            <a:avLst/>
          </a:prstGeom>
          <a:noFill/>
          <a:ln/>
        </p:spPr>
        <p:txBody>
          <a:bodyPr wrap="square" lIns="0" tIns="0" rIns="0" bIns="0" rtlCol="0" anchor="ctr"/>
          <a:lstStyle/>
          <a:p>
            <a:pPr indent="0" marL="0">
              <a:lnSpc>
                <a:spcPts val="1500"/>
              </a:lnSpc>
              <a:buNone/>
            </a:pPr>
            <a:r>
              <a:rPr lang="en-US" sz="1100" dirty="0">
                <a:solidFill>
                  <a:srgbClr val="16212E"/>
                </a:solidFill>
                <a:latin typeface="Calibri" pitchFamily="34" charset="0"/>
                <a:ea typeface="Calibri" pitchFamily="34" charset="-122"/>
                <a:cs typeface="Calibri" pitchFamily="34" charset="-120"/>
              </a:rPr>
              <a:t>A rule whose boundary makes no difference to the output is not untested — it is contradicted.</a:t>
            </a:r>
            <a:endParaRPr lang="en-US" sz="1100" dirty="0"/>
          </a:p>
          <a:p>
            <a:pPr indent="0" marL="0">
              <a:lnSpc>
                <a:spcPts val="1500"/>
              </a:lnSpc>
              <a:buNone/>
            </a:pPr>
            <a:endParaRPr lang="en-US" sz="1100" dirty="0"/>
          </a:p>
          <a:p>
            <a:pPr indent="0" marL="0">
              <a:lnSpc>
                <a:spcPts val="1500"/>
              </a:lnSpc>
              <a:buNone/>
            </a:pPr>
            <a:r>
              <a:rPr lang="en-US" sz="1100" dirty="0">
                <a:solidFill>
                  <a:srgbClr val="16212E"/>
                </a:solidFill>
                <a:latin typeface="Calibri" pitchFamily="34" charset="0"/>
                <a:ea typeface="Calibri" pitchFamily="34" charset="-122"/>
                <a:cs typeface="Calibri" pitchFamily="34" charset="-120"/>
              </a:rPr>
              <a:t>Condition 2 fails exactly when our own extraction layer invented a rule that is not in the program.</a:t>
            </a:r>
            <a:endParaRPr lang="en-US" sz="1100" dirty="0"/>
          </a:p>
          <a:p>
            <a:pPr indent="0" marL="0">
              <a:lnSpc>
                <a:spcPts val="1500"/>
              </a:lnSpc>
              <a:buNone/>
            </a:pPr>
            <a:endParaRPr lang="en-US" sz="1100" dirty="0"/>
          </a:p>
          <a:p>
            <a:pPr indent="0" marL="0">
              <a:lnSpc>
                <a:spcPts val="1500"/>
              </a:lnSpc>
              <a:buNone/>
            </a:pPr>
            <a:r>
              <a:rPr lang="en-US" sz="1100" dirty="0">
                <a:solidFill>
                  <a:srgbClr val="16212E"/>
                </a:solidFill>
                <a:latin typeface="Calibri" pitchFamily="34" charset="0"/>
                <a:ea typeface="Calibri" pitchFamily="34" charset="-122"/>
                <a:cs typeface="Calibri" pitchFamily="34" charset="-120"/>
              </a:rPr>
              <a:t>We report those as REFUTED, with the input that proves it, and we put them at the top of the report.</a:t>
            </a:r>
            <a:endParaRPr lang="en-US" sz="1100" dirty="0"/>
          </a:p>
        </p:txBody>
      </p:sp>
      <p:sp>
        <p:nvSpPr>
          <p:cNvPr id="28" name="Text 26"/>
          <p:cNvSpPr/>
          <p:nvPr/>
        </p:nvSpPr>
        <p:spPr>
          <a:xfrm>
            <a:off x="566928" y="6345936"/>
            <a:ext cx="11057839" cy="274320"/>
          </a:xfrm>
          <a:prstGeom prst="rect">
            <a:avLst/>
          </a:prstGeom>
          <a:noFill/>
          <a:ln/>
        </p:spPr>
        <p:txBody>
          <a:bodyPr wrap="square" lIns="0" tIns="0" rIns="0" bIns="0" rtlCol="0" anchor="ctr"/>
          <a:lstStyle/>
          <a:p>
            <a:pPr indent="0" marL="0">
              <a:buNone/>
            </a:pPr>
            <a:r>
              <a:rPr lang="en-US" sz="950" i="1" dirty="0">
                <a:solidFill>
                  <a:srgbClr val="6B7785"/>
                </a:solidFill>
                <a:latin typeface="Calibri" pitchFamily="34" charset="0"/>
                <a:ea typeface="Calibri" pitchFamily="34" charset="-122"/>
                <a:cs typeface="Calibri" pitchFamily="34" charset="-120"/>
              </a:rPr>
              <a:t>Rule-level scoring itself is not new — AgentModernize's Business Rule Preservation Score does it against human gold-standard rules. The discrimination condition and the refuted verdict are ours.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WHAT NOBODY ELSE DOES  ·  03</a:t>
            </a:r>
            <a:endParaRPr lang="en-US" sz="1050" dirty="0"/>
          </a:p>
        </p:txBody>
      </p:sp>
      <p:sp>
        <p:nvSpPr>
          <p:cNvPr id="3" name="Text 1"/>
          <p:cNvSpPr/>
          <p:nvPr/>
        </p:nvSpPr>
        <p:spPr>
          <a:xfrm>
            <a:off x="566928" y="658368"/>
            <a:ext cx="11057839" cy="658368"/>
          </a:xfrm>
          <a:prstGeom prst="rect">
            <a:avLst/>
          </a:prstGeom>
          <a:noFill/>
          <a:ln/>
        </p:spPr>
        <p:txBody>
          <a:bodyPr wrap="square" lIns="0" tIns="0" rIns="0" bIns="0" rtlCol="0" anchor="t"/>
          <a:lstStyle/>
          <a:p>
            <a:pPr indent="0" marL="0">
              <a:buNone/>
            </a:pPr>
            <a:r>
              <a:rPr lang="en-US" sz="3200" b="1" dirty="0">
                <a:solidFill>
                  <a:srgbClr val="16212E"/>
                </a:solidFill>
                <a:latin typeface="Cambria" pitchFamily="34" charset="0"/>
                <a:ea typeface="Cambria" pitchFamily="34" charset="-122"/>
                <a:cs typeface="Cambria" pitchFamily="34" charset="-120"/>
              </a:rPr>
              <a:t>We test our own tests</a:t>
            </a:r>
            <a:endParaRPr lang="en-US" sz="3200" dirty="0"/>
          </a:p>
        </p:txBody>
      </p:sp>
      <p:sp>
        <p:nvSpPr>
          <p:cNvPr id="4" name="Text 2"/>
          <p:cNvSpPr/>
          <p:nvPr/>
        </p:nvSpPr>
        <p:spPr>
          <a:xfrm>
            <a:off x="566928" y="1481328"/>
            <a:ext cx="11057839" cy="548640"/>
          </a:xfrm>
          <a:prstGeom prst="rect">
            <a:avLst/>
          </a:prstGeom>
          <a:noFill/>
          <a:ln/>
        </p:spPr>
        <p:txBody>
          <a:bodyPr wrap="square" lIns="0" tIns="0" rIns="0" bIns="0" rtlCol="0" anchor="ctr"/>
          <a:lstStyle/>
          <a:p>
            <a:pPr indent="0" marL="0">
              <a:lnSpc>
                <a:spcPts val="1900"/>
              </a:lnSpc>
              <a:buNone/>
            </a:pPr>
            <a:r>
              <a:rPr lang="en-US" sz="1350" dirty="0">
                <a:solidFill>
                  <a:srgbClr val="16212E"/>
                </a:solidFill>
                <a:latin typeface="Calibri" pitchFamily="34" charset="0"/>
                <a:ea typeface="Calibri" pitchFamily="34" charset="-122"/>
                <a:cs typeface="Calibri" pitchFamily="34" charset="-120"/>
              </a:rPr>
              <a:t>"Everything passed" proves nothing unless the inputs could have caught a failure. So we break the legacy program on purpose and check whether our corpus notices.</a:t>
            </a:r>
            <a:endParaRPr lang="en-US" sz="1350" dirty="0"/>
          </a:p>
        </p:txBody>
      </p:sp>
      <p:sp>
        <p:nvSpPr>
          <p:cNvPr id="5" name="Shape 3"/>
          <p:cNvSpPr/>
          <p:nvPr/>
        </p:nvSpPr>
        <p:spPr>
          <a:xfrm>
            <a:off x="566928" y="2157984"/>
            <a:ext cx="5394960" cy="2011680"/>
          </a:xfrm>
          <a:prstGeom prst="roundRect">
            <a:avLst>
              <a:gd name="adj" fmla="val 2727"/>
            </a:avLst>
          </a:prstGeom>
          <a:solidFill>
            <a:srgbClr val="F1F4F7"/>
          </a:solidFill>
          <a:ln w="12700">
            <a:solidFill>
              <a:srgbClr val="F1F4F7"/>
            </a:solidFill>
            <a:prstDash val="solid"/>
          </a:ln>
          <a:effectLst>
            <a:outerShdw sx="100000" sy="100000" kx="0" ky="0" algn="bl" rotWithShape="0" blurRad="101600" dist="12700" dir="5400000">
              <a:srgbClr val="8A94A0">
                <a:alpha val="18000"/>
              </a:srgbClr>
            </a:outerShdw>
          </a:effectLst>
        </p:spPr>
      </p:sp>
      <p:sp>
        <p:nvSpPr>
          <p:cNvPr id="6" name="Text 4"/>
          <p:cNvSpPr/>
          <p:nvPr/>
        </p:nvSpPr>
        <p:spPr>
          <a:xfrm>
            <a:off x="822960" y="2322576"/>
            <a:ext cx="4882896" cy="274320"/>
          </a:xfrm>
          <a:prstGeom prst="rect">
            <a:avLst/>
          </a:prstGeom>
          <a:noFill/>
          <a:ln/>
        </p:spPr>
        <p:txBody>
          <a:bodyPr wrap="square" lIns="0" tIns="0" rIns="0" bIns="0" rtlCol="0" anchor="ctr"/>
          <a:lstStyle/>
          <a:p>
            <a:pPr indent="0" marL="0">
              <a:buNone/>
            </a:pPr>
            <a:r>
              <a:rPr lang="en-US" sz="1350" b="1" dirty="0">
                <a:solidFill>
                  <a:srgbClr val="16212E"/>
                </a:solidFill>
                <a:latin typeface="Calibri" pitchFamily="34" charset="0"/>
                <a:ea typeface="Calibri" pitchFamily="34" charset="-122"/>
                <a:cs typeface="Calibri" pitchFamily="34" charset="-120"/>
              </a:rPr>
              <a:t>Inject a deliberate defect into the legacy</a:t>
            </a:r>
            <a:endParaRPr lang="en-US" sz="1350" dirty="0"/>
          </a:p>
        </p:txBody>
      </p:sp>
      <p:sp>
        <p:nvSpPr>
          <p:cNvPr id="7" name="Text 5"/>
          <p:cNvSpPr/>
          <p:nvPr/>
        </p:nvSpPr>
        <p:spPr>
          <a:xfrm>
            <a:off x="822960" y="2688336"/>
            <a:ext cx="4882896" cy="1280160"/>
          </a:xfrm>
          <a:prstGeom prst="rect">
            <a:avLst/>
          </a:prstGeom>
          <a:noFill/>
          <a:ln/>
        </p:spPr>
        <p:txBody>
          <a:bodyPr wrap="square" lIns="0" tIns="0" rIns="0" bIns="0" rtlCol="0" anchor="ctr"/>
          <a:lstStyle/>
          <a:p>
            <a:pPr indent="0" marL="0">
              <a:lnSpc>
                <a:spcPts val="1900"/>
              </a:lnSpc>
              <a:buNone/>
            </a:pPr>
            <a:r>
              <a:rPr lang="en-US" sz="1250" dirty="0">
                <a:solidFill>
                  <a:srgbClr val="B23C2A"/>
                </a:solidFill>
                <a:latin typeface="Consolas" pitchFamily="34" charset="0"/>
                <a:ea typeface="Consolas" pitchFamily="34" charset="-122"/>
                <a:cs typeface="Consolas" pitchFamily="34" charset="-120"/>
              </a:rPr>
              <a:t>100000  →  100001</a:t>
            </a:r>
            <a:endParaRPr lang="en-US" sz="1250" dirty="0"/>
          </a:p>
          <a:p>
            <a:pPr indent="0" marL="0">
              <a:lnSpc>
                <a:spcPts val="1900"/>
              </a:lnSpc>
              <a:buNone/>
            </a:pPr>
            <a:r>
              <a:rPr lang="en-US" sz="1250" dirty="0">
                <a:solidFill>
                  <a:srgbClr val="B23C2A"/>
                </a:solidFill>
                <a:latin typeface="Consolas" pitchFamily="34" charset="0"/>
                <a:ea typeface="Consolas" pitchFamily="34" charset="-122"/>
                <a:cs typeface="Consolas" pitchFamily="34" charset="-120"/>
              </a:rPr>
              <a:t>&gt;  →  &gt;=</a:t>
            </a:r>
            <a:endParaRPr lang="en-US" sz="1250" dirty="0"/>
          </a:p>
          <a:p>
            <a:pPr indent="0" marL="0">
              <a:lnSpc>
                <a:spcPts val="1900"/>
              </a:lnSpc>
              <a:buNone/>
            </a:pPr>
            <a:r>
              <a:rPr lang="en-US" sz="1250" dirty="0">
                <a:solidFill>
                  <a:srgbClr val="B23C2A"/>
                </a:solidFill>
                <a:latin typeface="Consolas" pitchFamily="34" charset="0"/>
                <a:ea typeface="Consolas" pitchFamily="34" charset="-122"/>
                <a:cs typeface="Consolas" pitchFamily="34" charset="-120"/>
              </a:rPr>
              <a:t>delete ROUNDED</a:t>
            </a:r>
            <a:endParaRPr lang="en-US" sz="1250" dirty="0"/>
          </a:p>
          <a:p>
            <a:pPr indent="0" marL="0">
              <a:lnSpc>
                <a:spcPts val="1900"/>
              </a:lnSpc>
              <a:buNone/>
            </a:pPr>
            <a:r>
              <a:rPr lang="en-US" sz="1250" dirty="0">
                <a:solidFill>
                  <a:srgbClr val="B23C2A"/>
                </a:solidFill>
                <a:latin typeface="Consolas" pitchFamily="34" charset="0"/>
                <a:ea typeface="Consolas" pitchFamily="34" charset="-122"/>
                <a:cs typeface="Consolas" pitchFamily="34" charset="-120"/>
              </a:rPr>
              <a:t>V99  →  V999</a:t>
            </a:r>
            <a:endParaRPr lang="en-US" sz="1250" dirty="0"/>
          </a:p>
          <a:p>
            <a:pPr indent="0" marL="0">
              <a:lnSpc>
                <a:spcPts val="1900"/>
              </a:lnSpc>
              <a:buNone/>
            </a:pPr>
            <a:r>
              <a:rPr lang="en-US" sz="1250" dirty="0">
                <a:solidFill>
                  <a:srgbClr val="B23C2A"/>
                </a:solidFill>
                <a:latin typeface="Consolas" pitchFamily="34" charset="0"/>
                <a:ea typeface="Consolas" pitchFamily="34" charset="-122"/>
                <a:cs typeface="Consolas" pitchFamily="34" charset="-120"/>
              </a:rPr>
              <a:t>360  →  365</a:t>
            </a:r>
            <a:endParaRPr lang="en-US" sz="1250" dirty="0"/>
          </a:p>
        </p:txBody>
      </p:sp>
      <p:sp>
        <p:nvSpPr>
          <p:cNvPr id="8" name="Shape 6"/>
          <p:cNvSpPr/>
          <p:nvPr/>
        </p:nvSpPr>
        <p:spPr>
          <a:xfrm>
            <a:off x="6199632" y="2157984"/>
            <a:ext cx="5431536" cy="950976"/>
          </a:xfrm>
          <a:prstGeom prst="roundRect">
            <a:avLst>
              <a:gd name="adj" fmla="val 5769"/>
            </a:avLst>
          </a:prstGeom>
          <a:solidFill>
            <a:srgbClr val="E8F1EC"/>
          </a:solidFill>
          <a:ln w="12700">
            <a:solidFill>
              <a:srgbClr val="2E7D5B"/>
            </a:solidFill>
            <a:prstDash val="solid"/>
          </a:ln>
          <a:effectLst>
            <a:outerShdw sx="100000" sy="100000" kx="0" ky="0" algn="bl" rotWithShape="0" blurRad="101600" dist="12700" dir="5400000">
              <a:srgbClr val="8A94A0">
                <a:alpha val="18000"/>
              </a:srgbClr>
            </a:outerShdw>
          </a:effectLst>
        </p:spPr>
      </p:sp>
      <p:sp>
        <p:nvSpPr>
          <p:cNvPr id="9" name="Text 7"/>
          <p:cNvSpPr/>
          <p:nvPr/>
        </p:nvSpPr>
        <p:spPr>
          <a:xfrm>
            <a:off x="6437376" y="2286000"/>
            <a:ext cx="4956048" cy="256032"/>
          </a:xfrm>
          <a:prstGeom prst="rect">
            <a:avLst/>
          </a:prstGeom>
          <a:noFill/>
          <a:ln/>
        </p:spPr>
        <p:txBody>
          <a:bodyPr wrap="square" lIns="0" tIns="0" rIns="0" bIns="0" rtlCol="0" anchor="ctr"/>
          <a:lstStyle/>
          <a:p>
            <a:pPr indent="0" marL="0">
              <a:buNone/>
            </a:pPr>
            <a:r>
              <a:rPr lang="en-US" sz="1350" b="1" dirty="0">
                <a:solidFill>
                  <a:srgbClr val="2E7D5B"/>
                </a:solidFill>
                <a:latin typeface="Calibri" pitchFamily="34" charset="0"/>
                <a:ea typeface="Calibri" pitchFamily="34" charset="-122"/>
                <a:cs typeface="Calibri" pitchFamily="34" charset="-120"/>
              </a:rPr>
              <a:t>Mutant killed</a:t>
            </a:r>
            <a:endParaRPr lang="en-US" sz="1350" dirty="0"/>
          </a:p>
        </p:txBody>
      </p:sp>
      <p:sp>
        <p:nvSpPr>
          <p:cNvPr id="10" name="Text 8"/>
          <p:cNvSpPr/>
          <p:nvPr/>
        </p:nvSpPr>
        <p:spPr>
          <a:xfrm>
            <a:off x="6437376" y="2560320"/>
            <a:ext cx="4956048" cy="457200"/>
          </a:xfrm>
          <a:prstGeom prst="rect">
            <a:avLst/>
          </a:prstGeom>
          <a:noFill/>
          <a:ln/>
        </p:spPr>
        <p:txBody>
          <a:bodyPr wrap="square" lIns="0" tIns="0" rIns="0" bIns="0" rtlCol="0" anchor="ctr"/>
          <a:lstStyle/>
          <a:p>
            <a:pPr indent="0" marL="0">
              <a:lnSpc>
                <a:spcPts val="1500"/>
              </a:lnSpc>
              <a:buNone/>
            </a:pPr>
            <a:r>
              <a:rPr lang="en-US" sz="1150" dirty="0">
                <a:solidFill>
                  <a:srgbClr val="16212E"/>
                </a:solidFill>
                <a:latin typeface="Calibri" pitchFamily="34" charset="0"/>
                <a:ea typeface="Calibri" pitchFamily="34" charset="-122"/>
                <a:cs typeface="Calibri" pitchFamily="34" charset="-120"/>
              </a:rPr>
              <a:t>The corpus caught it. Our inputs really do exercise that threshold — the claim stands.</a:t>
            </a:r>
            <a:endParaRPr lang="en-US" sz="1150" dirty="0"/>
          </a:p>
        </p:txBody>
      </p:sp>
      <p:sp>
        <p:nvSpPr>
          <p:cNvPr id="11" name="Shape 9"/>
          <p:cNvSpPr/>
          <p:nvPr/>
        </p:nvSpPr>
        <p:spPr>
          <a:xfrm>
            <a:off x="6199632" y="3218688"/>
            <a:ext cx="5431536" cy="950976"/>
          </a:xfrm>
          <a:prstGeom prst="roundRect">
            <a:avLst>
              <a:gd name="adj" fmla="val 5769"/>
            </a:avLst>
          </a:prstGeom>
          <a:solidFill>
            <a:srgbClr val="FAEBE7"/>
          </a:solidFill>
          <a:ln w="12700">
            <a:solidFill>
              <a:srgbClr val="B23C2A"/>
            </a:solidFill>
            <a:prstDash val="solid"/>
          </a:ln>
          <a:effectLst>
            <a:outerShdw sx="100000" sy="100000" kx="0" ky="0" algn="bl" rotWithShape="0" blurRad="101600" dist="12700" dir="5400000">
              <a:srgbClr val="8A94A0">
                <a:alpha val="18000"/>
              </a:srgbClr>
            </a:outerShdw>
          </a:effectLst>
        </p:spPr>
      </p:sp>
      <p:sp>
        <p:nvSpPr>
          <p:cNvPr id="12" name="Text 10"/>
          <p:cNvSpPr/>
          <p:nvPr/>
        </p:nvSpPr>
        <p:spPr>
          <a:xfrm>
            <a:off x="6437376" y="3346704"/>
            <a:ext cx="4956048" cy="256032"/>
          </a:xfrm>
          <a:prstGeom prst="rect">
            <a:avLst/>
          </a:prstGeom>
          <a:noFill/>
          <a:ln/>
        </p:spPr>
        <p:txBody>
          <a:bodyPr wrap="square" lIns="0" tIns="0" rIns="0" bIns="0" rtlCol="0" anchor="ctr"/>
          <a:lstStyle/>
          <a:p>
            <a:pPr indent="0" marL="0">
              <a:buNone/>
            </a:pPr>
            <a:r>
              <a:rPr lang="en-US" sz="1350" b="1" dirty="0">
                <a:solidFill>
                  <a:srgbClr val="B23C2A"/>
                </a:solidFill>
                <a:latin typeface="Calibri" pitchFamily="34" charset="0"/>
                <a:ea typeface="Calibri" pitchFamily="34" charset="-122"/>
                <a:cs typeface="Calibri" pitchFamily="34" charset="-120"/>
              </a:rPr>
              <a:t>Mutant survived</a:t>
            </a:r>
            <a:endParaRPr lang="en-US" sz="1350" dirty="0"/>
          </a:p>
        </p:txBody>
      </p:sp>
      <p:sp>
        <p:nvSpPr>
          <p:cNvPr id="13" name="Text 11"/>
          <p:cNvSpPr/>
          <p:nvPr/>
        </p:nvSpPr>
        <p:spPr>
          <a:xfrm>
            <a:off x="6437376" y="3621024"/>
            <a:ext cx="4956048" cy="457200"/>
          </a:xfrm>
          <a:prstGeom prst="rect">
            <a:avLst/>
          </a:prstGeom>
          <a:noFill/>
          <a:ln/>
        </p:spPr>
        <p:txBody>
          <a:bodyPr wrap="square" lIns="0" tIns="0" rIns="0" bIns="0" rtlCol="0" anchor="ctr"/>
          <a:lstStyle/>
          <a:p>
            <a:pPr indent="0" marL="0">
              <a:lnSpc>
                <a:spcPts val="1500"/>
              </a:lnSpc>
              <a:buNone/>
            </a:pPr>
            <a:r>
              <a:rPr lang="en-US" sz="1150" dirty="0">
                <a:solidFill>
                  <a:srgbClr val="16212E"/>
                </a:solidFill>
                <a:latin typeface="Calibri" pitchFamily="34" charset="0"/>
                <a:ea typeface="Calibri" pitchFamily="34" charset="-122"/>
                <a:cs typeface="Calibri" pitchFamily="34" charset="-120"/>
              </a:rPr>
              <a:t>Nobody noticed a one-rupee change to the threshold. We downgrade that rule to unproven.</a:t>
            </a:r>
            <a:endParaRPr lang="en-US" sz="1150" dirty="0"/>
          </a:p>
        </p:txBody>
      </p:sp>
      <p:sp>
        <p:nvSpPr>
          <p:cNvPr id="14" name="Shape 12"/>
          <p:cNvSpPr/>
          <p:nvPr/>
        </p:nvSpPr>
        <p:spPr>
          <a:xfrm>
            <a:off x="566928" y="4370832"/>
            <a:ext cx="11057839" cy="1316736"/>
          </a:xfrm>
          <a:prstGeom prst="roundRect">
            <a:avLst>
              <a:gd name="adj" fmla="val 4167"/>
            </a:avLst>
          </a:prstGeom>
          <a:solidFill>
            <a:srgbClr val="0E2033"/>
          </a:solidFill>
          <a:ln w="12700">
            <a:solidFill>
              <a:srgbClr val="0E2033"/>
            </a:solidFill>
            <a:prstDash val="solid"/>
          </a:ln>
        </p:spPr>
      </p:sp>
      <p:sp>
        <p:nvSpPr>
          <p:cNvPr id="15" name="Text 13"/>
          <p:cNvSpPr/>
          <p:nvPr/>
        </p:nvSpPr>
        <p:spPr>
          <a:xfrm>
            <a:off x="877824" y="4535424"/>
            <a:ext cx="10436047" cy="36576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The equivalence claim ships with its own strength score</a:t>
            </a:r>
            <a:endParaRPr lang="en-US" sz="2200" dirty="0"/>
          </a:p>
        </p:txBody>
      </p:sp>
      <p:sp>
        <p:nvSpPr>
          <p:cNvPr id="16" name="Text 14"/>
          <p:cNvSpPr/>
          <p:nvPr/>
        </p:nvSpPr>
        <p:spPr>
          <a:xfrm>
            <a:off x="877824" y="4974336"/>
            <a:ext cx="10436047" cy="566928"/>
          </a:xfrm>
          <a:prstGeom prst="rect">
            <a:avLst/>
          </a:prstGeom>
          <a:noFill/>
          <a:ln/>
        </p:spPr>
        <p:txBody>
          <a:bodyPr wrap="square" lIns="0" tIns="0" rIns="0" bIns="0" rtlCol="0" anchor="ctr"/>
          <a:lstStyle/>
          <a:p>
            <a:pPr indent="0" marL="0">
              <a:lnSpc>
                <a:spcPts val="1800"/>
              </a:lnSpc>
              <a:buNone/>
            </a:pPr>
            <a:r>
              <a:rPr lang="en-US" sz="1300" dirty="0">
                <a:solidFill>
                  <a:srgbClr val="C3D2DF"/>
                </a:solidFill>
                <a:latin typeface="Calibri" pitchFamily="34" charset="0"/>
                <a:ea typeface="Calibri" pitchFamily="34" charset="-122"/>
                <a:cs typeface="Calibri" pitchFamily="34" charset="-120"/>
              </a:rPr>
              <a:t>Measured, per rule, not asserted. If our corpus would not have caught a deliberate one-rupee change to a threshold, we do not claim that rule is verified — we say so instead.</a:t>
            </a:r>
            <a:endParaRPr lang="en-US" sz="1300" dirty="0"/>
          </a:p>
        </p:txBody>
      </p:sp>
      <p:sp>
        <p:nvSpPr>
          <p:cNvPr id="17" name="Text 15"/>
          <p:cNvSpPr/>
          <p:nvPr/>
        </p:nvSpPr>
        <p:spPr>
          <a:xfrm>
            <a:off x="566928" y="6345936"/>
            <a:ext cx="11057839" cy="274320"/>
          </a:xfrm>
          <a:prstGeom prst="rect">
            <a:avLst/>
          </a:prstGeom>
          <a:noFill/>
          <a:ln/>
        </p:spPr>
        <p:txBody>
          <a:bodyPr wrap="square" lIns="0" tIns="0" rIns="0" bIns="0" rtlCol="0" anchor="ctr"/>
          <a:lstStyle/>
          <a:p>
            <a:pPr indent="0" marL="0">
              <a:buNone/>
            </a:pPr>
            <a:r>
              <a:rPr lang="en-US" sz="950" i="1" dirty="0">
                <a:solidFill>
                  <a:srgbClr val="6B7785"/>
                </a:solidFill>
                <a:latin typeface="Calibri" pitchFamily="34" charset="0"/>
                <a:ea typeface="Calibri" pitchFamily="34" charset="-122"/>
                <a:cs typeface="Calibri" pitchFamily="34" charset="-120"/>
              </a:rPr>
              <a:t>Mutation testing is a textbook technique. Applying it to the oracle, to certify the adequacy of a migration equivalence claim, is the combination we could not find in any product or paper.</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WHAT THE TOOL HANDS YOU</a:t>
            </a:r>
            <a:endParaRPr lang="en-US" sz="1050" dirty="0"/>
          </a:p>
        </p:txBody>
      </p:sp>
      <p:sp>
        <p:nvSpPr>
          <p:cNvPr id="3" name="Text 1"/>
          <p:cNvSpPr/>
          <p:nvPr/>
        </p:nvSpPr>
        <p:spPr>
          <a:xfrm>
            <a:off x="566928" y="658368"/>
            <a:ext cx="11057839" cy="658368"/>
          </a:xfrm>
          <a:prstGeom prst="rect">
            <a:avLst/>
          </a:prstGeom>
          <a:noFill/>
          <a:ln/>
        </p:spPr>
        <p:txBody>
          <a:bodyPr wrap="square" lIns="0" tIns="0" rIns="0" bIns="0" rtlCol="0" anchor="t"/>
          <a:lstStyle/>
          <a:p>
            <a:pPr indent="0" marL="0">
              <a:buNone/>
            </a:pPr>
            <a:r>
              <a:rPr lang="en-US" sz="3200" b="1" dirty="0">
                <a:solidFill>
                  <a:srgbClr val="16212E"/>
                </a:solidFill>
                <a:latin typeface="Cambria" pitchFamily="34" charset="0"/>
                <a:ea typeface="Cambria" pitchFamily="34" charset="-122"/>
                <a:cs typeface="Cambria" pitchFamily="34" charset="-120"/>
              </a:rPr>
              <a:t>Three artifacts the bank never had</a:t>
            </a:r>
            <a:endParaRPr lang="en-US" sz="3200" dirty="0"/>
          </a:p>
        </p:txBody>
      </p:sp>
      <p:sp>
        <p:nvSpPr>
          <p:cNvPr id="4" name="Shape 2"/>
          <p:cNvSpPr/>
          <p:nvPr/>
        </p:nvSpPr>
        <p:spPr>
          <a:xfrm>
            <a:off x="566928" y="1517904"/>
            <a:ext cx="2670048" cy="1133856"/>
          </a:xfrm>
          <a:prstGeom prst="roundRect">
            <a:avLst>
              <a:gd name="adj" fmla="val 4839"/>
            </a:avLst>
          </a:prstGeom>
          <a:solidFill>
            <a:srgbClr val="E8F1EC"/>
          </a:solidFill>
          <a:ln w="12700">
            <a:solidFill>
              <a:srgbClr val="2E7D5B"/>
            </a:solidFill>
            <a:prstDash val="solid"/>
          </a:ln>
          <a:effectLst>
            <a:outerShdw sx="100000" sy="100000" kx="0" ky="0" algn="bl" rotWithShape="0" blurRad="101600" dist="12700" dir="5400000">
              <a:srgbClr val="8A94A0">
                <a:alpha val="18000"/>
              </a:srgbClr>
            </a:outerShdw>
          </a:effectLst>
        </p:spPr>
      </p:sp>
      <p:sp>
        <p:nvSpPr>
          <p:cNvPr id="5" name="Text 3"/>
          <p:cNvSpPr/>
          <p:nvPr/>
        </p:nvSpPr>
        <p:spPr>
          <a:xfrm>
            <a:off x="768096" y="1591056"/>
            <a:ext cx="2267712" cy="603504"/>
          </a:xfrm>
          <a:prstGeom prst="rect">
            <a:avLst/>
          </a:prstGeom>
          <a:noFill/>
          <a:ln/>
        </p:spPr>
        <p:txBody>
          <a:bodyPr wrap="square" lIns="0" tIns="0" rIns="0" bIns="0" rtlCol="0" anchor="ctr"/>
          <a:lstStyle/>
          <a:p>
            <a:pPr indent="0" marL="0">
              <a:buNone/>
            </a:pPr>
            <a:r>
              <a:rPr lang="en-US" sz="3600" b="1" dirty="0">
                <a:solidFill>
                  <a:srgbClr val="2E7D5B"/>
                </a:solidFill>
                <a:latin typeface="Cambria" pitchFamily="34" charset="0"/>
                <a:ea typeface="Cambria" pitchFamily="34" charset="-122"/>
                <a:cs typeface="Cambria" pitchFamily="34" charset="-120"/>
              </a:rPr>
              <a:t>31</a:t>
            </a:r>
            <a:endParaRPr lang="en-US" sz="3600" dirty="0"/>
          </a:p>
        </p:txBody>
      </p:sp>
      <p:sp>
        <p:nvSpPr>
          <p:cNvPr id="6" name="Text 4"/>
          <p:cNvSpPr/>
          <p:nvPr/>
        </p:nvSpPr>
        <p:spPr>
          <a:xfrm>
            <a:off x="768096" y="2212848"/>
            <a:ext cx="2267712" cy="365760"/>
          </a:xfrm>
          <a:prstGeom prst="rect">
            <a:avLst/>
          </a:prstGeom>
          <a:noFill/>
          <a:ln/>
        </p:spPr>
        <p:txBody>
          <a:bodyPr wrap="square" lIns="0" tIns="0" rIns="0" bIns="0" rtlCol="0" anchor="ctr"/>
          <a:lstStyle/>
          <a:p>
            <a:pPr indent="0" marL="0">
              <a:buNone/>
            </a:pPr>
            <a:r>
              <a:rPr lang="en-US" sz="1100" dirty="0">
                <a:solidFill>
                  <a:srgbClr val="16212E"/>
                </a:solidFill>
                <a:latin typeface="Calibri" pitchFamily="34" charset="0"/>
                <a:ea typeface="Calibri" pitchFamily="34" charset="-122"/>
                <a:cs typeface="Calibri" pitchFamily="34" charset="-120"/>
              </a:rPr>
              <a:t>rules proven</a:t>
            </a:r>
            <a:endParaRPr lang="en-US" sz="1100" dirty="0"/>
          </a:p>
        </p:txBody>
      </p:sp>
      <p:sp>
        <p:nvSpPr>
          <p:cNvPr id="7" name="Shape 5"/>
          <p:cNvSpPr/>
          <p:nvPr/>
        </p:nvSpPr>
        <p:spPr>
          <a:xfrm>
            <a:off x="3374136" y="1517904"/>
            <a:ext cx="2670048" cy="1133856"/>
          </a:xfrm>
          <a:prstGeom prst="roundRect">
            <a:avLst>
              <a:gd name="adj" fmla="val 4839"/>
            </a:avLst>
          </a:prstGeom>
          <a:solidFill>
            <a:srgbClr val="FBF2DF"/>
          </a:solidFill>
          <a:ln w="12700">
            <a:solidFill>
              <a:srgbClr val="C8891B"/>
            </a:solidFill>
            <a:prstDash val="solid"/>
          </a:ln>
          <a:effectLst>
            <a:outerShdw sx="100000" sy="100000" kx="0" ky="0" algn="bl" rotWithShape="0" blurRad="101600" dist="12700" dir="5400000">
              <a:srgbClr val="8A94A0">
                <a:alpha val="18000"/>
              </a:srgbClr>
            </a:outerShdw>
          </a:effectLst>
        </p:spPr>
      </p:sp>
      <p:sp>
        <p:nvSpPr>
          <p:cNvPr id="8" name="Text 6"/>
          <p:cNvSpPr/>
          <p:nvPr/>
        </p:nvSpPr>
        <p:spPr>
          <a:xfrm>
            <a:off x="3575304" y="1591056"/>
            <a:ext cx="2267712" cy="603504"/>
          </a:xfrm>
          <a:prstGeom prst="rect">
            <a:avLst/>
          </a:prstGeom>
          <a:noFill/>
          <a:ln/>
        </p:spPr>
        <p:txBody>
          <a:bodyPr wrap="square" lIns="0" tIns="0" rIns="0" bIns="0" rtlCol="0" anchor="ctr"/>
          <a:lstStyle/>
          <a:p>
            <a:pPr indent="0" marL="0">
              <a:buNone/>
            </a:pPr>
            <a:r>
              <a:rPr lang="en-US" sz="3600" b="1" dirty="0">
                <a:solidFill>
                  <a:srgbClr val="C8891B"/>
                </a:solidFill>
                <a:latin typeface="Cambria" pitchFamily="34" charset="0"/>
                <a:ea typeface="Cambria" pitchFamily="34" charset="-122"/>
                <a:cs typeface="Cambria" pitchFamily="34" charset="-120"/>
              </a:rPr>
              <a:t>11</a:t>
            </a:r>
            <a:endParaRPr lang="en-US" sz="3600" dirty="0"/>
          </a:p>
        </p:txBody>
      </p:sp>
      <p:sp>
        <p:nvSpPr>
          <p:cNvPr id="9" name="Text 7"/>
          <p:cNvSpPr/>
          <p:nvPr/>
        </p:nvSpPr>
        <p:spPr>
          <a:xfrm>
            <a:off x="3575304" y="2212848"/>
            <a:ext cx="2267712" cy="365760"/>
          </a:xfrm>
          <a:prstGeom prst="rect">
            <a:avLst/>
          </a:prstGeom>
          <a:noFill/>
          <a:ln/>
        </p:spPr>
        <p:txBody>
          <a:bodyPr wrap="square" lIns="0" tIns="0" rIns="0" bIns="0" rtlCol="0" anchor="ctr"/>
          <a:lstStyle/>
          <a:p>
            <a:pPr indent="0" marL="0">
              <a:buNone/>
            </a:pPr>
            <a:r>
              <a:rPr lang="en-US" sz="1100" dirty="0">
                <a:solidFill>
                  <a:srgbClr val="16212E"/>
                </a:solidFill>
                <a:latin typeface="Calibri" pitchFamily="34" charset="0"/>
                <a:ea typeface="Calibri" pitchFamily="34" charset="-122"/>
                <a:cs typeface="Calibri" pitchFamily="34" charset="-120"/>
              </a:rPr>
              <a:t>unproven — named</a:t>
            </a:r>
            <a:endParaRPr lang="en-US" sz="1100" dirty="0"/>
          </a:p>
        </p:txBody>
      </p:sp>
      <p:sp>
        <p:nvSpPr>
          <p:cNvPr id="10" name="Shape 8"/>
          <p:cNvSpPr/>
          <p:nvPr/>
        </p:nvSpPr>
        <p:spPr>
          <a:xfrm>
            <a:off x="6181344" y="1517904"/>
            <a:ext cx="2670048" cy="1133856"/>
          </a:xfrm>
          <a:prstGeom prst="roundRect">
            <a:avLst>
              <a:gd name="adj" fmla="val 4839"/>
            </a:avLst>
          </a:prstGeom>
          <a:solidFill>
            <a:srgbClr val="FAEBE7"/>
          </a:solidFill>
          <a:ln w="12700">
            <a:solidFill>
              <a:srgbClr val="B23C2A"/>
            </a:solidFill>
            <a:prstDash val="solid"/>
          </a:ln>
          <a:effectLst>
            <a:outerShdw sx="100000" sy="100000" kx="0" ky="0" algn="bl" rotWithShape="0" blurRad="101600" dist="12700" dir="5400000">
              <a:srgbClr val="8A94A0">
                <a:alpha val="18000"/>
              </a:srgbClr>
            </a:outerShdw>
          </a:effectLst>
        </p:spPr>
      </p:sp>
      <p:sp>
        <p:nvSpPr>
          <p:cNvPr id="11" name="Text 9"/>
          <p:cNvSpPr/>
          <p:nvPr/>
        </p:nvSpPr>
        <p:spPr>
          <a:xfrm>
            <a:off x="6382512" y="1591056"/>
            <a:ext cx="2267712" cy="603504"/>
          </a:xfrm>
          <a:prstGeom prst="rect">
            <a:avLst/>
          </a:prstGeom>
          <a:noFill/>
          <a:ln/>
        </p:spPr>
        <p:txBody>
          <a:bodyPr wrap="square" lIns="0" tIns="0" rIns="0" bIns="0" rtlCol="0" anchor="ctr"/>
          <a:lstStyle/>
          <a:p>
            <a:pPr indent="0" marL="0">
              <a:buNone/>
            </a:pPr>
            <a:r>
              <a:rPr lang="en-US" sz="3600" b="1" dirty="0">
                <a:solidFill>
                  <a:srgbClr val="B23C2A"/>
                </a:solidFill>
                <a:latin typeface="Cambria" pitchFamily="34" charset="0"/>
                <a:ea typeface="Cambria" pitchFamily="34" charset="-122"/>
                <a:cs typeface="Cambria" pitchFamily="34" charset="-120"/>
              </a:rPr>
              <a:t>5</a:t>
            </a:r>
            <a:endParaRPr lang="en-US" sz="3600" dirty="0"/>
          </a:p>
        </p:txBody>
      </p:sp>
      <p:sp>
        <p:nvSpPr>
          <p:cNvPr id="12" name="Text 10"/>
          <p:cNvSpPr/>
          <p:nvPr/>
        </p:nvSpPr>
        <p:spPr>
          <a:xfrm>
            <a:off x="6382512" y="2212848"/>
            <a:ext cx="2267712" cy="365760"/>
          </a:xfrm>
          <a:prstGeom prst="rect">
            <a:avLst/>
          </a:prstGeom>
          <a:noFill/>
          <a:ln/>
        </p:spPr>
        <p:txBody>
          <a:bodyPr wrap="square" lIns="0" tIns="0" rIns="0" bIns="0" rtlCol="0" anchor="ctr"/>
          <a:lstStyle/>
          <a:p>
            <a:pPr indent="0" marL="0">
              <a:buNone/>
            </a:pPr>
            <a:r>
              <a:rPr lang="en-US" sz="1100" dirty="0">
                <a:solidFill>
                  <a:srgbClr val="16212E"/>
                </a:solidFill>
                <a:latin typeface="Calibri" pitchFamily="34" charset="0"/>
                <a:ea typeface="Calibri" pitchFamily="34" charset="-122"/>
                <a:cs typeface="Calibri" pitchFamily="34" charset="-120"/>
              </a:rPr>
              <a:t>refuted — our AI was wrong</a:t>
            </a:r>
            <a:endParaRPr lang="en-US" sz="1100" dirty="0"/>
          </a:p>
        </p:txBody>
      </p:sp>
      <p:sp>
        <p:nvSpPr>
          <p:cNvPr id="13" name="Shape 11"/>
          <p:cNvSpPr/>
          <p:nvPr/>
        </p:nvSpPr>
        <p:spPr>
          <a:xfrm>
            <a:off x="8988552" y="1517904"/>
            <a:ext cx="2670048" cy="1133856"/>
          </a:xfrm>
          <a:prstGeom prst="roundRect">
            <a:avLst>
              <a:gd name="adj" fmla="val 4839"/>
            </a:avLst>
          </a:prstGeom>
          <a:solidFill>
            <a:srgbClr val="F1F4F7"/>
          </a:solidFill>
          <a:ln w="12700">
            <a:solidFill>
              <a:srgbClr val="F1F4F7"/>
            </a:solidFill>
            <a:prstDash val="solid"/>
          </a:ln>
          <a:effectLst>
            <a:outerShdw sx="100000" sy="100000" kx="0" ky="0" algn="bl" rotWithShape="0" blurRad="101600" dist="12700" dir="5400000">
              <a:srgbClr val="8A94A0">
                <a:alpha val="18000"/>
              </a:srgbClr>
            </a:outerShdw>
          </a:effectLst>
        </p:spPr>
      </p:sp>
      <p:sp>
        <p:nvSpPr>
          <p:cNvPr id="14" name="Text 12"/>
          <p:cNvSpPr/>
          <p:nvPr/>
        </p:nvSpPr>
        <p:spPr>
          <a:xfrm>
            <a:off x="9189720" y="1591056"/>
            <a:ext cx="2267712" cy="603504"/>
          </a:xfrm>
          <a:prstGeom prst="rect">
            <a:avLst/>
          </a:prstGeom>
          <a:noFill/>
          <a:ln/>
        </p:spPr>
        <p:txBody>
          <a:bodyPr wrap="square" lIns="0" tIns="0" rIns="0" bIns="0" rtlCol="0" anchor="ctr"/>
          <a:lstStyle/>
          <a:p>
            <a:pPr indent="0" marL="0">
              <a:buNone/>
            </a:pPr>
            <a:r>
              <a:rPr lang="en-US" sz="3600" b="1" dirty="0">
                <a:solidFill>
                  <a:srgbClr val="0E2033"/>
                </a:solidFill>
                <a:latin typeface="Cambria" pitchFamily="34" charset="0"/>
                <a:ea typeface="Cambria" pitchFamily="34" charset="-122"/>
                <a:cs typeface="Cambria" pitchFamily="34" charset="-120"/>
              </a:rPr>
              <a:t>94%</a:t>
            </a:r>
            <a:endParaRPr lang="en-US" sz="3600" dirty="0"/>
          </a:p>
        </p:txBody>
      </p:sp>
      <p:sp>
        <p:nvSpPr>
          <p:cNvPr id="15" name="Text 13"/>
          <p:cNvSpPr/>
          <p:nvPr/>
        </p:nvSpPr>
        <p:spPr>
          <a:xfrm>
            <a:off x="9189720" y="2212848"/>
            <a:ext cx="2267712" cy="365760"/>
          </a:xfrm>
          <a:prstGeom prst="rect">
            <a:avLst/>
          </a:prstGeom>
          <a:noFill/>
          <a:ln/>
        </p:spPr>
        <p:txBody>
          <a:bodyPr wrap="square" lIns="0" tIns="0" rIns="0" bIns="0" rtlCol="0" anchor="ctr"/>
          <a:lstStyle/>
          <a:p>
            <a:pPr indent="0" marL="0">
              <a:buNone/>
            </a:pPr>
            <a:r>
              <a:rPr lang="en-US" sz="1100" dirty="0">
                <a:solidFill>
                  <a:srgbClr val="16212E"/>
                </a:solidFill>
                <a:latin typeface="Calibri" pitchFamily="34" charset="0"/>
                <a:ea typeface="Calibri" pitchFamily="34" charset="-122"/>
                <a:cs typeface="Calibri" pitchFamily="34" charset="-120"/>
              </a:rPr>
              <a:t>mutation kill rate</a:t>
            </a:r>
            <a:endParaRPr lang="en-US" sz="1100" dirty="0"/>
          </a:p>
        </p:txBody>
      </p:sp>
      <p:sp>
        <p:nvSpPr>
          <p:cNvPr id="16" name="Shape 14"/>
          <p:cNvSpPr/>
          <p:nvPr/>
        </p:nvSpPr>
        <p:spPr>
          <a:xfrm>
            <a:off x="566928" y="2798064"/>
            <a:ext cx="5614416" cy="1481328"/>
          </a:xfrm>
          <a:prstGeom prst="roundRect">
            <a:avLst>
              <a:gd name="adj" fmla="val 3704"/>
            </a:avLst>
          </a:prstGeom>
          <a:solidFill>
            <a:srgbClr val="FAEBE7"/>
          </a:solidFill>
          <a:ln w="12700">
            <a:solidFill>
              <a:srgbClr val="B23C2A"/>
            </a:solidFill>
            <a:prstDash val="solid"/>
          </a:ln>
          <a:effectLst>
            <a:outerShdw sx="100000" sy="100000" kx="0" ky="0" algn="bl" rotWithShape="0" blurRad="101600" dist="12700" dir="5400000">
              <a:srgbClr val="8A94A0">
                <a:alpha val="18000"/>
              </a:srgbClr>
            </a:outerShdw>
          </a:effectLst>
        </p:spPr>
      </p:sp>
      <p:sp>
        <p:nvSpPr>
          <p:cNvPr id="17" name="Text 15"/>
          <p:cNvSpPr/>
          <p:nvPr/>
        </p:nvSpPr>
        <p:spPr>
          <a:xfrm>
            <a:off x="804672" y="2926080"/>
            <a:ext cx="5138928" cy="237744"/>
          </a:xfrm>
          <a:prstGeom prst="rect">
            <a:avLst/>
          </a:prstGeom>
          <a:noFill/>
          <a:ln/>
        </p:spPr>
        <p:txBody>
          <a:bodyPr wrap="square" lIns="0" tIns="0" rIns="0" bIns="0" rtlCol="0" anchor="ctr"/>
          <a:lstStyle/>
          <a:p>
            <a:pPr indent="0" marL="0">
              <a:buNone/>
            </a:pPr>
            <a:r>
              <a:rPr lang="en-US" sz="1000" b="1" spc="140" kern="0" dirty="0">
                <a:solidFill>
                  <a:srgbClr val="B23C2A"/>
                </a:solidFill>
                <a:latin typeface="Calibri" pitchFamily="34" charset="0"/>
                <a:ea typeface="Calibri" pitchFamily="34" charset="-122"/>
                <a:cs typeface="Calibri" pitchFamily="34" charset="-120"/>
              </a:rPr>
              <a:t>DIVERGENCE — minimised to one case</a:t>
            </a:r>
            <a:endParaRPr lang="en-US" sz="1000" dirty="0"/>
          </a:p>
        </p:txBody>
      </p:sp>
      <p:sp>
        <p:nvSpPr>
          <p:cNvPr id="18" name="Text 16"/>
          <p:cNvSpPr/>
          <p:nvPr/>
        </p:nvSpPr>
        <p:spPr>
          <a:xfrm>
            <a:off x="804672" y="3200400"/>
            <a:ext cx="5138928" cy="237744"/>
          </a:xfrm>
          <a:prstGeom prst="rect">
            <a:avLst/>
          </a:prstGeom>
          <a:noFill/>
          <a:ln/>
        </p:spPr>
        <p:txBody>
          <a:bodyPr wrap="square" lIns="0" tIns="0" rIns="0" bIns="0" rtlCol="0" anchor="ctr"/>
          <a:lstStyle/>
          <a:p>
            <a:pPr indent="0" marL="0">
              <a:buNone/>
            </a:pPr>
            <a:r>
              <a:rPr lang="en-US" sz="1150" dirty="0">
                <a:solidFill>
                  <a:srgbClr val="16212E"/>
                </a:solidFill>
                <a:latin typeface="Consolas" pitchFamily="34" charset="0"/>
                <a:ea typeface="Consolas" pitchFamily="34" charset="-122"/>
                <a:cs typeface="Consolas" pitchFamily="34" charset="-120"/>
              </a:rPr>
              <a:t>balance ₹1,00,000.00 · 12 days · 3.5%</a:t>
            </a:r>
            <a:endParaRPr lang="en-US" sz="1150" dirty="0"/>
          </a:p>
        </p:txBody>
      </p:sp>
      <p:sp>
        <p:nvSpPr>
          <p:cNvPr id="19" name="Text 17"/>
          <p:cNvSpPr/>
          <p:nvPr/>
        </p:nvSpPr>
        <p:spPr>
          <a:xfrm>
            <a:off x="804672" y="3456432"/>
            <a:ext cx="5138928" cy="256032"/>
          </a:xfrm>
          <a:prstGeom prst="rect">
            <a:avLst/>
          </a:prstGeom>
          <a:noFill/>
          <a:ln/>
        </p:spPr>
        <p:txBody>
          <a:bodyPr wrap="square" lIns="0" tIns="0" rIns="0" bIns="0" rtlCol="0" anchor="ctr"/>
          <a:lstStyle/>
          <a:p>
            <a:pPr indent="0" marL="0">
              <a:buNone/>
            </a:pPr>
            <a:r>
              <a:rPr lang="en-US" sz="1250" b="1" dirty="0">
                <a:solidFill>
                  <a:srgbClr val="B23C2A"/>
                </a:solidFill>
                <a:latin typeface="Consolas" pitchFamily="34" charset="0"/>
                <a:ea typeface="Consolas" pitchFamily="34" charset="-122"/>
                <a:cs typeface="Consolas" pitchFamily="34" charset="-120"/>
              </a:rPr>
              <a:t>legacy → ₹115        rewrite → ₹116</a:t>
            </a:r>
            <a:endParaRPr lang="en-US" sz="1250" dirty="0"/>
          </a:p>
        </p:txBody>
      </p:sp>
      <p:sp>
        <p:nvSpPr>
          <p:cNvPr id="20" name="Text 18"/>
          <p:cNvSpPr/>
          <p:nvPr/>
        </p:nvSpPr>
        <p:spPr>
          <a:xfrm>
            <a:off x="804672" y="3749040"/>
            <a:ext cx="5138928" cy="457200"/>
          </a:xfrm>
          <a:prstGeom prst="rect">
            <a:avLst/>
          </a:prstGeom>
          <a:noFill/>
          <a:ln/>
        </p:spPr>
        <p:txBody>
          <a:bodyPr wrap="square" lIns="0" tIns="0" rIns="0" bIns="0" rtlCol="0" anchor="ctr"/>
          <a:lstStyle/>
          <a:p>
            <a:pPr indent="0" marL="0">
              <a:lnSpc>
                <a:spcPts val="1500"/>
              </a:lnSpc>
              <a:buNone/>
            </a:pPr>
            <a:r>
              <a:rPr lang="en-US" sz="1100" dirty="0">
                <a:solidFill>
                  <a:srgbClr val="16212E"/>
                </a:solidFill>
                <a:latin typeface="Calibri" pitchFamily="34" charset="0"/>
                <a:ea typeface="Calibri" pitchFamily="34" charset="-122"/>
                <a:cs typeface="Calibri" pitchFamily="34" charset="-120"/>
              </a:rPr>
              <a:t>Traced to rule R-07, line 214. The Java uses RoundingMode.HALF_UP; the COBOL truncates at the PIC boundary.</a:t>
            </a:r>
            <a:endParaRPr lang="en-US" sz="1100" dirty="0"/>
          </a:p>
        </p:txBody>
      </p:sp>
      <p:sp>
        <p:nvSpPr>
          <p:cNvPr id="21" name="Shape 19"/>
          <p:cNvSpPr/>
          <p:nvPr/>
        </p:nvSpPr>
        <p:spPr>
          <a:xfrm>
            <a:off x="6345936" y="2798064"/>
            <a:ext cx="5614416" cy="1481328"/>
          </a:xfrm>
          <a:prstGeom prst="roundRect">
            <a:avLst>
              <a:gd name="adj" fmla="val 3704"/>
            </a:avLst>
          </a:prstGeom>
          <a:solidFill>
            <a:srgbClr val="E8EEF4"/>
          </a:solidFill>
          <a:ln w="12700">
            <a:solidFill>
              <a:srgbClr val="36678F"/>
            </a:solidFill>
            <a:prstDash val="solid"/>
          </a:ln>
          <a:effectLst>
            <a:outerShdw sx="100000" sy="100000" kx="0" ky="0" algn="bl" rotWithShape="0" blurRad="101600" dist="12700" dir="5400000">
              <a:srgbClr val="8A94A0">
                <a:alpha val="18000"/>
              </a:srgbClr>
            </a:outerShdw>
          </a:effectLst>
        </p:spPr>
      </p:sp>
      <p:sp>
        <p:nvSpPr>
          <p:cNvPr id="22" name="Text 20"/>
          <p:cNvSpPr/>
          <p:nvPr/>
        </p:nvSpPr>
        <p:spPr>
          <a:xfrm>
            <a:off x="6583680" y="2926080"/>
            <a:ext cx="5138928" cy="237744"/>
          </a:xfrm>
          <a:prstGeom prst="rect">
            <a:avLst/>
          </a:prstGeom>
          <a:noFill/>
          <a:ln/>
        </p:spPr>
        <p:txBody>
          <a:bodyPr wrap="square" lIns="0" tIns="0" rIns="0" bIns="0" rtlCol="0" anchor="ctr"/>
          <a:lstStyle/>
          <a:p>
            <a:pPr indent="0" marL="0">
              <a:buNone/>
            </a:pPr>
            <a:r>
              <a:rPr lang="en-US" sz="1000" b="1" spc="140" kern="0" dirty="0">
                <a:solidFill>
                  <a:srgbClr val="36678F"/>
                </a:solidFill>
                <a:latin typeface="Calibri" pitchFamily="34" charset="0"/>
                <a:ea typeface="Calibri" pitchFamily="34" charset="-122"/>
                <a:cs typeface="Calibri" pitchFamily="34" charset="-120"/>
              </a:rPr>
              <a:t>COMPLIANCE FINDING — needs the third reference</a:t>
            </a:r>
            <a:endParaRPr lang="en-US" sz="1000" dirty="0"/>
          </a:p>
        </p:txBody>
      </p:sp>
      <p:sp>
        <p:nvSpPr>
          <p:cNvPr id="23" name="Text 21"/>
          <p:cNvSpPr/>
          <p:nvPr/>
        </p:nvSpPr>
        <p:spPr>
          <a:xfrm>
            <a:off x="6583680" y="3200400"/>
            <a:ext cx="5138928" cy="256032"/>
          </a:xfrm>
          <a:prstGeom prst="rect">
            <a:avLst/>
          </a:prstGeom>
          <a:noFill/>
          <a:ln/>
        </p:spPr>
        <p:txBody>
          <a:bodyPr wrap="square" lIns="0" tIns="0" rIns="0" bIns="0" rtlCol="0" anchor="ctr"/>
          <a:lstStyle/>
          <a:p>
            <a:pPr indent="0" marL="0">
              <a:buNone/>
            </a:pPr>
            <a:r>
              <a:rPr lang="en-US" sz="1200" b="1" dirty="0">
                <a:solidFill>
                  <a:srgbClr val="16212E"/>
                </a:solidFill>
                <a:latin typeface="Calibri" pitchFamily="34" charset="0"/>
                <a:ea typeface="Calibri" pitchFamily="34" charset="-122"/>
                <a:cs typeface="Calibri" pitchFamily="34" charset="-120"/>
              </a:rPr>
              <a:t>Legacy and rewrite agree. Both round to two decimals.</a:t>
            </a:r>
            <a:endParaRPr lang="en-US" sz="1200" dirty="0"/>
          </a:p>
        </p:txBody>
      </p:sp>
      <p:sp>
        <p:nvSpPr>
          <p:cNvPr id="24" name="Text 22"/>
          <p:cNvSpPr/>
          <p:nvPr/>
        </p:nvSpPr>
        <p:spPr>
          <a:xfrm>
            <a:off x="6583680" y="3456432"/>
            <a:ext cx="5138928" cy="256032"/>
          </a:xfrm>
          <a:prstGeom prst="rect">
            <a:avLst/>
          </a:prstGeom>
          <a:noFill/>
          <a:ln/>
        </p:spPr>
        <p:txBody>
          <a:bodyPr wrap="square" lIns="0" tIns="0" rIns="0" bIns="0" rtlCol="0" anchor="ctr"/>
          <a:lstStyle/>
          <a:p>
            <a:pPr indent="0" marL="0">
              <a:buNone/>
            </a:pPr>
            <a:r>
              <a:rPr lang="en-US" sz="1200" b="1" dirty="0">
                <a:solidFill>
                  <a:srgbClr val="36678F"/>
                </a:solidFill>
                <a:latin typeface="Calibri" pitchFamily="34" charset="0"/>
                <a:ea typeface="Calibri" pitchFamily="34" charset="-122"/>
                <a:cs typeface="Calibri" pitchFamily="34" charset="-120"/>
              </a:rPr>
              <a:t>RBI clause 4(f) requires rounding to the nearest rupee.</a:t>
            </a:r>
            <a:endParaRPr lang="en-US" sz="1200" dirty="0"/>
          </a:p>
        </p:txBody>
      </p:sp>
      <p:sp>
        <p:nvSpPr>
          <p:cNvPr id="25" name="Text 23"/>
          <p:cNvSpPr/>
          <p:nvPr/>
        </p:nvSpPr>
        <p:spPr>
          <a:xfrm>
            <a:off x="6583680" y="3749040"/>
            <a:ext cx="5138928" cy="457200"/>
          </a:xfrm>
          <a:prstGeom prst="rect">
            <a:avLst/>
          </a:prstGeom>
          <a:noFill/>
          <a:ln/>
        </p:spPr>
        <p:txBody>
          <a:bodyPr wrap="square" lIns="0" tIns="0" rIns="0" bIns="0" rtlCol="0" anchor="ctr"/>
          <a:lstStyle/>
          <a:p>
            <a:pPr indent="0" marL="0">
              <a:lnSpc>
                <a:spcPts val="1500"/>
              </a:lnSpc>
              <a:buNone/>
            </a:pPr>
            <a:r>
              <a:rPr lang="en-US" sz="1100" dirty="0">
                <a:solidFill>
                  <a:srgbClr val="16212E"/>
                </a:solidFill>
                <a:latin typeface="Calibri" pitchFamily="34" charset="0"/>
                <a:ea typeface="Calibri" pitchFamily="34" charset="-122"/>
                <a:cs typeface="Calibri" pitchFamily="34" charset="-120"/>
              </a:rPr>
              <a:t>Not a migration defect. This has been running for forty years, and warrants a compliance review.</a:t>
            </a:r>
            <a:endParaRPr lang="en-US" sz="1100" dirty="0"/>
          </a:p>
        </p:txBody>
      </p:sp>
      <p:sp>
        <p:nvSpPr>
          <p:cNvPr id="26" name="Shape 24"/>
          <p:cNvSpPr/>
          <p:nvPr/>
        </p:nvSpPr>
        <p:spPr>
          <a:xfrm>
            <a:off x="566928" y="4517136"/>
            <a:ext cx="3639312" cy="1133856"/>
          </a:xfrm>
          <a:prstGeom prst="roundRect">
            <a:avLst>
              <a:gd name="adj" fmla="val 4839"/>
            </a:avLst>
          </a:prstGeom>
          <a:solidFill>
            <a:srgbClr val="F1F4F7"/>
          </a:solidFill>
          <a:ln w="12700">
            <a:solidFill>
              <a:srgbClr val="F1F4F7"/>
            </a:solidFill>
            <a:prstDash val="solid"/>
          </a:ln>
          <a:effectLst>
            <a:outerShdw sx="100000" sy="100000" kx="0" ky="0" algn="bl" rotWithShape="0" blurRad="101600" dist="12700" dir="5400000">
              <a:srgbClr val="8A94A0">
                <a:alpha val="18000"/>
              </a:srgbClr>
            </a:outerShdw>
          </a:effectLst>
        </p:spPr>
      </p:sp>
      <p:sp>
        <p:nvSpPr>
          <p:cNvPr id="27" name="Text 25"/>
          <p:cNvSpPr/>
          <p:nvPr/>
        </p:nvSpPr>
        <p:spPr>
          <a:xfrm>
            <a:off x="786384" y="4645152"/>
            <a:ext cx="3200400" cy="274320"/>
          </a:xfrm>
          <a:prstGeom prst="rect">
            <a:avLst/>
          </a:prstGeom>
          <a:noFill/>
          <a:ln/>
        </p:spPr>
        <p:txBody>
          <a:bodyPr wrap="square" lIns="0" tIns="0" rIns="0" bIns="0" rtlCol="0" anchor="ctr"/>
          <a:lstStyle/>
          <a:p>
            <a:pPr indent="0" marL="0">
              <a:buNone/>
            </a:pPr>
            <a:r>
              <a:rPr lang="en-US" sz="1350" b="1" dirty="0">
                <a:solidFill>
                  <a:srgbClr val="0E2033"/>
                </a:solidFill>
                <a:latin typeface="Calibri" pitchFamily="34" charset="0"/>
                <a:ea typeface="Calibri" pitchFamily="34" charset="-122"/>
                <a:cs typeface="Calibri" pitchFamily="34" charset="-120"/>
              </a:rPr>
              <a:t>A specification</a:t>
            </a:r>
            <a:endParaRPr lang="en-US" sz="1350" dirty="0"/>
          </a:p>
        </p:txBody>
      </p:sp>
      <p:sp>
        <p:nvSpPr>
          <p:cNvPr id="28" name="Text 26"/>
          <p:cNvSpPr/>
          <p:nvPr/>
        </p:nvSpPr>
        <p:spPr>
          <a:xfrm>
            <a:off x="786384" y="4937760"/>
            <a:ext cx="3200400" cy="603504"/>
          </a:xfrm>
          <a:prstGeom prst="rect">
            <a:avLst/>
          </a:prstGeom>
          <a:noFill/>
          <a:ln/>
        </p:spPr>
        <p:txBody>
          <a:bodyPr wrap="square" lIns="0" tIns="0" rIns="0" bIns="0" rtlCol="0" anchor="ctr"/>
          <a:lstStyle/>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Readable, traceable documentation for a system that never had any.</a:t>
            </a:r>
            <a:endParaRPr lang="en-US" sz="1100" dirty="0"/>
          </a:p>
        </p:txBody>
      </p:sp>
      <p:sp>
        <p:nvSpPr>
          <p:cNvPr id="29" name="Shape 27"/>
          <p:cNvSpPr/>
          <p:nvPr/>
        </p:nvSpPr>
        <p:spPr>
          <a:xfrm>
            <a:off x="4389120" y="4517136"/>
            <a:ext cx="3639312" cy="1133856"/>
          </a:xfrm>
          <a:prstGeom prst="roundRect">
            <a:avLst>
              <a:gd name="adj" fmla="val 4839"/>
            </a:avLst>
          </a:prstGeom>
          <a:solidFill>
            <a:srgbClr val="F1F4F7"/>
          </a:solidFill>
          <a:ln w="12700">
            <a:solidFill>
              <a:srgbClr val="F1F4F7"/>
            </a:solidFill>
            <a:prstDash val="solid"/>
          </a:ln>
          <a:effectLst>
            <a:outerShdw sx="100000" sy="100000" kx="0" ky="0" algn="bl" rotWithShape="0" blurRad="101600" dist="12700" dir="5400000">
              <a:srgbClr val="8A94A0">
                <a:alpha val="18000"/>
              </a:srgbClr>
            </a:outerShdw>
          </a:effectLst>
        </p:spPr>
      </p:sp>
      <p:sp>
        <p:nvSpPr>
          <p:cNvPr id="30" name="Text 28"/>
          <p:cNvSpPr/>
          <p:nvPr/>
        </p:nvSpPr>
        <p:spPr>
          <a:xfrm>
            <a:off x="4608576" y="4645152"/>
            <a:ext cx="3200400" cy="274320"/>
          </a:xfrm>
          <a:prstGeom prst="rect">
            <a:avLst/>
          </a:prstGeom>
          <a:noFill/>
          <a:ln/>
        </p:spPr>
        <p:txBody>
          <a:bodyPr wrap="square" lIns="0" tIns="0" rIns="0" bIns="0" rtlCol="0" anchor="ctr"/>
          <a:lstStyle/>
          <a:p>
            <a:pPr indent="0" marL="0">
              <a:buNone/>
            </a:pPr>
            <a:r>
              <a:rPr lang="en-US" sz="1350" b="1" dirty="0">
                <a:solidFill>
                  <a:srgbClr val="0E2033"/>
                </a:solidFill>
                <a:latin typeface="Calibri" pitchFamily="34" charset="0"/>
                <a:ea typeface="Calibri" pitchFamily="34" charset="-122"/>
                <a:cs typeface="Calibri" pitchFamily="34" charset="-120"/>
              </a:rPr>
              <a:t>A regression suite</a:t>
            </a:r>
            <a:endParaRPr lang="en-US" sz="1350" dirty="0"/>
          </a:p>
        </p:txBody>
      </p:sp>
      <p:sp>
        <p:nvSpPr>
          <p:cNvPr id="31" name="Text 29"/>
          <p:cNvSpPr/>
          <p:nvPr/>
        </p:nvSpPr>
        <p:spPr>
          <a:xfrm>
            <a:off x="4608576" y="4937760"/>
            <a:ext cx="3200400" cy="603504"/>
          </a:xfrm>
          <a:prstGeom prst="rect">
            <a:avLst/>
          </a:prstGeom>
          <a:noFill/>
          <a:ln/>
        </p:spPr>
        <p:txBody>
          <a:bodyPr wrap="square" lIns="0" tIns="0" rIns="0" bIns="0" rtlCol="0" anchor="ctr"/>
          <a:lstStyle/>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Thousands of input–output pairs, retained permanently by the institution.</a:t>
            </a:r>
            <a:endParaRPr lang="en-US" sz="1100" dirty="0"/>
          </a:p>
        </p:txBody>
      </p:sp>
      <p:sp>
        <p:nvSpPr>
          <p:cNvPr id="32" name="Shape 30"/>
          <p:cNvSpPr/>
          <p:nvPr/>
        </p:nvSpPr>
        <p:spPr>
          <a:xfrm>
            <a:off x="8211312" y="4517136"/>
            <a:ext cx="3639312" cy="1133856"/>
          </a:xfrm>
          <a:prstGeom prst="roundRect">
            <a:avLst>
              <a:gd name="adj" fmla="val 4839"/>
            </a:avLst>
          </a:prstGeom>
          <a:solidFill>
            <a:srgbClr val="F1F4F7"/>
          </a:solidFill>
          <a:ln w="12700">
            <a:solidFill>
              <a:srgbClr val="F1F4F7"/>
            </a:solidFill>
            <a:prstDash val="solid"/>
          </a:ln>
          <a:effectLst>
            <a:outerShdw sx="100000" sy="100000" kx="0" ky="0" algn="bl" rotWithShape="0" blurRad="101600" dist="12700" dir="5400000">
              <a:srgbClr val="8A94A0">
                <a:alpha val="18000"/>
              </a:srgbClr>
            </a:outerShdw>
          </a:effectLst>
        </p:spPr>
      </p:sp>
      <p:sp>
        <p:nvSpPr>
          <p:cNvPr id="33" name="Text 31"/>
          <p:cNvSpPr/>
          <p:nvPr/>
        </p:nvSpPr>
        <p:spPr>
          <a:xfrm>
            <a:off x="8430768" y="4645152"/>
            <a:ext cx="3200400" cy="274320"/>
          </a:xfrm>
          <a:prstGeom prst="rect">
            <a:avLst/>
          </a:prstGeom>
          <a:noFill/>
          <a:ln/>
        </p:spPr>
        <p:txBody>
          <a:bodyPr wrap="square" lIns="0" tIns="0" rIns="0" bIns="0" rtlCol="0" anchor="ctr"/>
          <a:lstStyle/>
          <a:p>
            <a:pPr indent="0" marL="0">
              <a:buNone/>
            </a:pPr>
            <a:r>
              <a:rPr lang="en-US" sz="1350" b="1" dirty="0">
                <a:solidFill>
                  <a:srgbClr val="0E2033"/>
                </a:solidFill>
                <a:latin typeface="Calibri" pitchFamily="34" charset="0"/>
                <a:ea typeface="Calibri" pitchFamily="34" charset="-122"/>
                <a:cs typeface="Calibri" pitchFamily="34" charset="-120"/>
              </a:rPr>
              <a:t>An equivalence claim</a:t>
            </a:r>
            <a:endParaRPr lang="en-US" sz="1350" dirty="0"/>
          </a:p>
        </p:txBody>
      </p:sp>
      <p:sp>
        <p:nvSpPr>
          <p:cNvPr id="34" name="Text 32"/>
          <p:cNvSpPr/>
          <p:nvPr/>
        </p:nvSpPr>
        <p:spPr>
          <a:xfrm>
            <a:off x="8430768" y="4937760"/>
            <a:ext cx="3200400" cy="603504"/>
          </a:xfrm>
          <a:prstGeom prst="rect">
            <a:avLst/>
          </a:prstGeom>
          <a:noFill/>
          <a:ln/>
        </p:spPr>
        <p:txBody>
          <a:bodyPr wrap="square" lIns="0" tIns="0" rIns="0" bIns="0" rtlCol="0" anchor="ctr"/>
          <a:lstStyle/>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Evidence-backed, with its own strength score — the artifact someone can sign.</a:t>
            </a:r>
            <a:endParaRPr lang="en-US" sz="1100" dirty="0"/>
          </a:p>
        </p:txBody>
      </p:sp>
      <p:sp>
        <p:nvSpPr>
          <p:cNvPr id="35" name="Text 33"/>
          <p:cNvSpPr/>
          <p:nvPr/>
        </p:nvSpPr>
        <p:spPr>
          <a:xfrm>
            <a:off x="566928" y="6345936"/>
            <a:ext cx="11057839" cy="274320"/>
          </a:xfrm>
          <a:prstGeom prst="rect">
            <a:avLst/>
          </a:prstGeom>
          <a:noFill/>
          <a:ln/>
        </p:spPr>
        <p:txBody>
          <a:bodyPr wrap="square" lIns="0" tIns="0" rIns="0" bIns="0" rtlCol="0" anchor="ctr"/>
          <a:lstStyle/>
          <a:p>
            <a:pPr indent="0" marL="0">
              <a:buNone/>
            </a:pPr>
            <a:r>
              <a:rPr lang="en-US" sz="950" i="1" dirty="0">
                <a:solidFill>
                  <a:srgbClr val="6B7785"/>
                </a:solidFill>
                <a:latin typeface="Calibri" pitchFamily="34" charset="0"/>
                <a:ea typeface="Calibri" pitchFamily="34" charset="-122"/>
                <a:cs typeface="Calibri" pitchFamily="34" charset="-120"/>
              </a:rPr>
              <a:t>Illustrative figures for a savings-interest accrual program. The first two artifacts hold their value even if the migration is never approved.</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WHERE THIS SITS</a:t>
            </a:r>
            <a:endParaRPr lang="en-US" sz="1050" dirty="0"/>
          </a:p>
        </p:txBody>
      </p:sp>
      <p:sp>
        <p:nvSpPr>
          <p:cNvPr id="3" name="Text 1"/>
          <p:cNvSpPr/>
          <p:nvPr/>
        </p:nvSpPr>
        <p:spPr>
          <a:xfrm>
            <a:off x="566928" y="658368"/>
            <a:ext cx="11057839" cy="658368"/>
          </a:xfrm>
          <a:prstGeom prst="rect">
            <a:avLst/>
          </a:prstGeom>
          <a:noFill/>
          <a:ln/>
        </p:spPr>
        <p:txBody>
          <a:bodyPr wrap="square" lIns="0" tIns="0" rIns="0" bIns="0" rtlCol="0" anchor="t"/>
          <a:lstStyle/>
          <a:p>
            <a:pPr indent="0" marL="0">
              <a:buNone/>
            </a:pPr>
            <a:r>
              <a:rPr lang="en-US" sz="3200" b="1" dirty="0">
                <a:solidFill>
                  <a:srgbClr val="16212E"/>
                </a:solidFill>
                <a:latin typeface="Cambria" pitchFamily="34" charset="0"/>
                <a:ea typeface="Cambria" pitchFamily="34" charset="-122"/>
                <a:cs typeface="Cambria" pitchFamily="34" charset="-120"/>
              </a:rPr>
              <a:t>What we claim, and what we do not</a:t>
            </a:r>
            <a:endParaRPr lang="en-US" sz="3200" dirty="0"/>
          </a:p>
        </p:txBody>
      </p:sp>
      <p:sp>
        <p:nvSpPr>
          <p:cNvPr id="4" name="Text 2"/>
          <p:cNvSpPr/>
          <p:nvPr/>
        </p:nvSpPr>
        <p:spPr>
          <a:xfrm>
            <a:off x="566928" y="1463040"/>
            <a:ext cx="11057839" cy="384048"/>
          </a:xfrm>
          <a:prstGeom prst="rect">
            <a:avLst/>
          </a:prstGeom>
          <a:noFill/>
          <a:ln/>
        </p:spPr>
        <p:txBody>
          <a:bodyPr wrap="square" lIns="0" tIns="0" rIns="0" bIns="0" rtlCol="0" anchor="ctr"/>
          <a:lstStyle/>
          <a:p>
            <a:pPr indent="0" marL="0">
              <a:buNone/>
            </a:pPr>
            <a:r>
              <a:rPr lang="en-US" sz="1300" dirty="0">
                <a:solidFill>
                  <a:srgbClr val="16212E"/>
                </a:solidFill>
                <a:latin typeface="Calibri" pitchFamily="34" charset="0"/>
                <a:ea typeface="Calibri" pitchFamily="34" charset="-122"/>
                <a:cs typeface="Calibri" pitchFamily="34" charset="-120"/>
              </a:rPr>
              <a:t>We checked. The differential mechanism is prior art in three products and a paper published five days ago. Saying otherwise would not survive one question from this room.</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1975104"/>
          <a:ext cx="11057839" cy="914400"/>
        </p:xfrm>
        <a:graphic>
          <a:graphicData uri="http://schemas.openxmlformats.org/drawingml/2006/table">
            <a:tbl>
              <a:tblPr/>
              <a:tblGrid>
                <a:gridCol w="3959352"/>
                <a:gridCol w="1426464"/>
                <a:gridCol w="1426464"/>
                <a:gridCol w="1426464"/>
                <a:gridCol w="1426464"/>
                <a:gridCol w="1426464"/>
              </a:tblGrid>
              <a:tr h="420624">
                <a:tc>
                  <a:txBody>
                    <a:bodyPr/>
                    <a:lstStyle/>
                    <a:p>
                      <a:pPr indent="0" marL="0">
                        <a:buNone/>
                      </a:pPr>
                      <a:endParaRPr lang="en-US" sz="12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0E2033"/>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IBM</a:t>
                      </a:r>
                      <a:endParaRPr lang="en-US" sz="1050" dirty="0">
                        <a:latin typeface="Calibri" charset="0"/>
                        <a:ea typeface="Calibri" charset="0"/>
                        <a:cs typeface="Calibri" charset="0"/>
                      </a:endParaRPr>
                    </a:p>
                    <a:p>
                      <a:pPr algn="ctr" indent="0" marL="0">
                        <a:buNone/>
                      </a:pPr>
                      <a:r>
                        <a:rPr lang="en-US" sz="1050" b="1" dirty="0">
                          <a:solidFill>
                            <a:srgbClr val="FFFFFF"/>
                          </a:solidFill>
                          <a:latin typeface="Calibri" pitchFamily="34" charset="0"/>
                          <a:ea typeface="Calibri" pitchFamily="34" charset="-122"/>
                          <a:cs typeface="Calibri" pitchFamily="34" charset="-120"/>
                        </a:rPr>
                        <a:t>WCA for Z</a:t>
                      </a:r>
                      <a:endParaRPr lang="en-US" sz="105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0E2033"/>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AWS</a:t>
                      </a:r>
                      <a:endParaRPr lang="en-US" sz="1050" dirty="0">
                        <a:latin typeface="Calibri" charset="0"/>
                        <a:ea typeface="Calibri" charset="0"/>
                        <a:cs typeface="Calibri" charset="0"/>
                      </a:endParaRPr>
                    </a:p>
                    <a:p>
                      <a:pPr algn="ctr" indent="0" marL="0">
                        <a:buNone/>
                      </a:pPr>
                      <a:r>
                        <a:rPr lang="en-US" sz="1050" b="1" dirty="0">
                          <a:solidFill>
                            <a:srgbClr val="FFFFFF"/>
                          </a:solidFill>
                          <a:latin typeface="Calibri" pitchFamily="34" charset="0"/>
                          <a:ea typeface="Calibri" pitchFamily="34" charset="-122"/>
                          <a:cs typeface="Calibri" pitchFamily="34" charset="-120"/>
                        </a:rPr>
                        <a:t>Transform</a:t>
                      </a:r>
                      <a:endParaRPr lang="en-US" sz="105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0E2033"/>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Mechanical</a:t>
                      </a:r>
                      <a:endParaRPr lang="en-US" sz="1050" dirty="0">
                        <a:latin typeface="Calibri" charset="0"/>
                        <a:ea typeface="Calibri" charset="0"/>
                        <a:cs typeface="Calibri" charset="0"/>
                      </a:endParaRPr>
                    </a:p>
                    <a:p>
                      <a:pPr algn="ctr" indent="0" marL="0">
                        <a:buNone/>
                      </a:pPr>
                      <a:r>
                        <a:rPr lang="en-US" sz="1050" b="1" dirty="0">
                          <a:solidFill>
                            <a:srgbClr val="FFFFFF"/>
                          </a:solidFill>
                          <a:latin typeface="Calibri" pitchFamily="34" charset="0"/>
                          <a:ea typeface="Calibri" pitchFamily="34" charset="-122"/>
                          <a:cs typeface="Calibri" pitchFamily="34" charset="-120"/>
                        </a:rPr>
                        <a:t>Orchard</a:t>
                      </a:r>
                      <a:endParaRPr lang="en-US" sz="105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0E2033"/>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Locksmith</a:t>
                      </a:r>
                      <a:endParaRPr lang="en-US" sz="1050" dirty="0">
                        <a:latin typeface="Calibri" charset="0"/>
                        <a:ea typeface="Calibri" charset="0"/>
                        <a:cs typeface="Calibri" charset="0"/>
                      </a:endParaRPr>
                    </a:p>
                    <a:p>
                      <a:pPr algn="ctr" indent="0" marL="0">
                        <a:buNone/>
                      </a:pPr>
                      <a:r>
                        <a:rPr lang="en-US" sz="1050" b="1" dirty="0">
                          <a:solidFill>
                            <a:srgbClr val="FFFFFF"/>
                          </a:solidFill>
                          <a:latin typeface="Calibri" pitchFamily="34" charset="0"/>
                          <a:ea typeface="Calibri" pitchFamily="34" charset="-122"/>
                          <a:cs typeface="Calibri" pitchFamily="34" charset="-120"/>
                        </a:rPr>
                        <a:t>arXiv 2607.28271</a:t>
                      </a:r>
                      <a:endParaRPr lang="en-US" sz="105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0E2033"/>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This</a:t>
                      </a:r>
                      <a:endParaRPr lang="en-US" sz="1050" dirty="0">
                        <a:latin typeface="Calibri" charset="0"/>
                        <a:ea typeface="Calibri" charset="0"/>
                        <a:cs typeface="Calibri" charset="0"/>
                      </a:endParaRPr>
                    </a:p>
                    <a:p>
                      <a:pPr algn="ctr" indent="0" marL="0">
                        <a:buNone/>
                      </a:pPr>
                      <a:r>
                        <a:rPr lang="en-US" sz="1050" b="1" dirty="0">
                          <a:solidFill>
                            <a:srgbClr val="FFFFFF"/>
                          </a:solidFill>
                          <a:latin typeface="Calibri" pitchFamily="34" charset="0"/>
                          <a:ea typeface="Calibri" pitchFamily="34" charset="-122"/>
                          <a:cs typeface="Calibri" pitchFamily="34" charset="-120"/>
                        </a:rPr>
                        <a:t>project</a:t>
                      </a:r>
                      <a:endParaRPr lang="en-US" sz="105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0E2033"/>
                    </a:solidFill>
                  </a:tcPr>
                </a:tc>
              </a:tr>
              <a:tr h="329184">
                <a:tc>
                  <a:txBody>
                    <a:bodyPr/>
                    <a:lstStyle/>
                    <a:p>
                      <a:pPr indent="0" marL="0">
                        <a:buNone/>
                      </a:pPr>
                      <a:r>
                        <a:rPr lang="en-US" sz="1100" dirty="0">
                          <a:solidFill>
                            <a:srgbClr val="16212E"/>
                          </a:solidFill>
                          <a:latin typeface="Calibri" pitchFamily="34" charset="0"/>
                          <a:ea typeface="Calibri" pitchFamily="34" charset="-122"/>
                          <a:cs typeface="Calibri" pitchFamily="34" charset="-120"/>
                        </a:rPr>
                        <a:t>Proves behavioural equivalence</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5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5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5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5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5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6212E"/>
                          </a:solidFill>
                          <a:latin typeface="Calibri" pitchFamily="34" charset="0"/>
                          <a:ea typeface="Calibri" pitchFamily="34" charset="-122"/>
                          <a:cs typeface="Calibri" pitchFamily="34" charset="-120"/>
                        </a:rPr>
                        <a:t>Runs without a mainframe</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78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78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78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5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5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6212E"/>
                          </a:solidFill>
                          <a:latin typeface="Calibri" pitchFamily="34" charset="0"/>
                          <a:ea typeface="Calibri" pitchFamily="34" charset="-122"/>
                          <a:cs typeface="Calibri" pitchFamily="34" charset="-120"/>
                        </a:rPr>
                        <a:t>Runs without captured production traffic</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5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78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78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5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5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6212E"/>
                          </a:solidFill>
                          <a:latin typeface="Calibri" pitchFamily="34" charset="0"/>
                          <a:ea typeface="Calibri" pitchFamily="34" charset="-122"/>
                          <a:cs typeface="Calibri" pitchFamily="34" charset="-120"/>
                        </a:rPr>
                        <a:t>Usable before a migration is funded</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78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78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78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785"/>
                          </a:solidFill>
                          <a:latin typeface="Calibri" pitchFamily="34" charset="0"/>
                          <a:ea typeface="Calibri" pitchFamily="34" charset="-122"/>
                          <a:cs typeface="Calibri" pitchFamily="34" charset="-120"/>
                        </a:rPr>
                        <a:t>Research</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5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6212E"/>
                          </a:solidFill>
                          <a:latin typeface="Calibri" pitchFamily="34" charset="0"/>
                          <a:ea typeface="Calibri" pitchFamily="34" charset="-122"/>
                          <a:cs typeface="Calibri" pitchFamily="34" charset="-120"/>
                        </a:rPr>
                        <a:t>Verdict per business rule, incl. refuted</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78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78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78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78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5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6212E"/>
                          </a:solidFill>
                          <a:latin typeface="Calibri" pitchFamily="34" charset="0"/>
                          <a:ea typeface="Calibri" pitchFamily="34" charset="-122"/>
                          <a:cs typeface="Calibri" pitchFamily="34" charset="-120"/>
                        </a:rPr>
                        <a:t>Measures the strength of its own claim</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78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78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78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78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5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6212E"/>
                          </a:solidFill>
                          <a:latin typeface="Calibri" pitchFamily="34" charset="0"/>
                          <a:ea typeface="Calibri" pitchFamily="34" charset="-122"/>
                          <a:cs typeface="Calibri" pitchFamily="34" charset="-120"/>
                        </a:rPr>
                        <a:t>Checks the legacy against the regulator</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78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78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78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78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5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63500" marR="63500" marT="63500" marB="6350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bl>
          </a:graphicData>
        </a:graphic>
      </p:graphicFrame>
      <p:sp>
        <p:nvSpPr>
          <p:cNvPr id="6" name="Shape 3"/>
          <p:cNvSpPr/>
          <p:nvPr/>
        </p:nvSpPr>
        <p:spPr>
          <a:xfrm>
            <a:off x="566928" y="4956048"/>
            <a:ext cx="11057839" cy="1152144"/>
          </a:xfrm>
          <a:prstGeom prst="roundRect">
            <a:avLst>
              <a:gd name="adj" fmla="val 4762"/>
            </a:avLst>
          </a:prstGeom>
          <a:solidFill>
            <a:srgbClr val="FBF2DF"/>
          </a:solidFill>
          <a:ln w="12700">
            <a:solidFill>
              <a:srgbClr val="C8891B"/>
            </a:solidFill>
            <a:prstDash val="solid"/>
          </a:ln>
          <a:effectLst>
            <a:outerShdw sx="100000" sy="100000" kx="0" ky="0" algn="bl" rotWithShape="0" blurRad="101600" dist="12700" dir="5400000">
              <a:srgbClr val="8A94A0">
                <a:alpha val="18000"/>
              </a:srgbClr>
            </a:outerShdw>
          </a:effectLst>
        </p:spPr>
      </p:sp>
      <p:sp>
        <p:nvSpPr>
          <p:cNvPr id="7" name="Text 4"/>
          <p:cNvSpPr/>
          <p:nvPr/>
        </p:nvSpPr>
        <p:spPr>
          <a:xfrm>
            <a:off x="859536" y="5084064"/>
            <a:ext cx="2926080" cy="274320"/>
          </a:xfrm>
          <a:prstGeom prst="rect">
            <a:avLst/>
          </a:prstGeom>
          <a:noFill/>
          <a:ln/>
        </p:spPr>
        <p:txBody>
          <a:bodyPr wrap="square" lIns="0" tIns="0" rIns="0" bIns="0" rtlCol="0" anchor="ctr"/>
          <a:lstStyle/>
          <a:p>
            <a:pPr indent="0" marL="0">
              <a:buNone/>
            </a:pPr>
            <a:r>
              <a:rPr lang="en-US" sz="1300" b="1" dirty="0">
                <a:solidFill>
                  <a:srgbClr val="7A5410"/>
                </a:solidFill>
                <a:latin typeface="Calibri" pitchFamily="34" charset="0"/>
                <a:ea typeface="Calibri" pitchFamily="34" charset="-122"/>
                <a:cs typeface="Calibri" pitchFamily="34" charset="-120"/>
              </a:rPr>
              <a:t>The honest version of the pitch</a:t>
            </a:r>
            <a:endParaRPr lang="en-US" sz="1300" dirty="0"/>
          </a:p>
        </p:txBody>
      </p:sp>
      <p:sp>
        <p:nvSpPr>
          <p:cNvPr id="8" name="Text 5"/>
          <p:cNvSpPr/>
          <p:nvPr/>
        </p:nvSpPr>
        <p:spPr>
          <a:xfrm>
            <a:off x="859536" y="5376672"/>
            <a:ext cx="10472623" cy="658368"/>
          </a:xfrm>
          <a:prstGeom prst="rect">
            <a:avLst/>
          </a:prstGeom>
          <a:noFill/>
          <a:ln/>
        </p:spPr>
        <p:txBody>
          <a:bodyPr wrap="square" lIns="0" tIns="0" rIns="0" bIns="0" rtlCol="0" anchor="ctr"/>
          <a:lstStyle/>
          <a:p>
            <a:pPr indent="0" marL="0">
              <a:lnSpc>
                <a:spcPts val="1500"/>
              </a:lnSpc>
              <a:buNone/>
            </a:pPr>
            <a:r>
              <a:rPr lang="en-US" sz="1150" dirty="0">
                <a:solidFill>
                  <a:srgbClr val="7A5410"/>
                </a:solidFill>
                <a:latin typeface="Calibri" pitchFamily="34" charset="0"/>
                <a:ea typeface="Calibri" pitchFamily="34" charset="-122"/>
                <a:cs typeface="Calibri" pitchFamily="34" charset="-120"/>
              </a:rPr>
              <a:t>The industry converged on behavioural equivalence independently — that is evidence our diagnosis is right, not a problem. Every shipping product needs your mainframe, your production traffic and a commercial engagement first. We need the source file. And we report per rule, including the rules we could not prove and the ones our own AI got wrong.</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SCOPE AND FEASIBILITY</a:t>
            </a:r>
            <a:endParaRPr lang="en-US" sz="1050" dirty="0"/>
          </a:p>
        </p:txBody>
      </p:sp>
      <p:sp>
        <p:nvSpPr>
          <p:cNvPr id="3" name="Text 1"/>
          <p:cNvSpPr/>
          <p:nvPr/>
        </p:nvSpPr>
        <p:spPr>
          <a:xfrm>
            <a:off x="566928" y="658368"/>
            <a:ext cx="11057839" cy="658368"/>
          </a:xfrm>
          <a:prstGeom prst="rect">
            <a:avLst/>
          </a:prstGeom>
          <a:noFill/>
          <a:ln/>
        </p:spPr>
        <p:txBody>
          <a:bodyPr wrap="square" lIns="0" tIns="0" rIns="0" bIns="0" rtlCol="0" anchor="t"/>
          <a:lstStyle/>
          <a:p>
            <a:pPr indent="0" marL="0">
              <a:buNone/>
            </a:pPr>
            <a:r>
              <a:rPr lang="en-US" sz="3200" b="1" dirty="0">
                <a:solidFill>
                  <a:srgbClr val="16212E"/>
                </a:solidFill>
                <a:latin typeface="Cambria" pitchFamily="34" charset="0"/>
                <a:ea typeface="Cambria" pitchFamily="34" charset="-122"/>
                <a:cs typeface="Cambria" pitchFamily="34" charset="-120"/>
              </a:rPr>
              <a:t>Narrow by design, and buildable now</a:t>
            </a:r>
            <a:endParaRPr lang="en-US" sz="3200" dirty="0"/>
          </a:p>
        </p:txBody>
      </p:sp>
      <p:sp>
        <p:nvSpPr>
          <p:cNvPr id="4" name="Shape 2"/>
          <p:cNvSpPr/>
          <p:nvPr/>
        </p:nvSpPr>
        <p:spPr>
          <a:xfrm>
            <a:off x="566928" y="1554480"/>
            <a:ext cx="5614416" cy="2084832"/>
          </a:xfrm>
          <a:prstGeom prst="roundRect">
            <a:avLst>
              <a:gd name="adj" fmla="val 2632"/>
            </a:avLst>
          </a:prstGeom>
          <a:solidFill>
            <a:srgbClr val="E8F1EC"/>
          </a:solidFill>
          <a:ln w="12700">
            <a:solidFill>
              <a:srgbClr val="2E7D5B"/>
            </a:solidFill>
            <a:prstDash val="solid"/>
          </a:ln>
          <a:effectLst>
            <a:outerShdw sx="100000" sy="100000" kx="0" ky="0" algn="bl" rotWithShape="0" blurRad="101600" dist="12700" dir="5400000">
              <a:srgbClr val="8A94A0">
                <a:alpha val="18000"/>
              </a:srgbClr>
            </a:outerShdw>
          </a:effectLst>
        </p:spPr>
      </p:sp>
      <p:sp>
        <p:nvSpPr>
          <p:cNvPr id="5" name="Text 3"/>
          <p:cNvSpPr/>
          <p:nvPr/>
        </p:nvSpPr>
        <p:spPr>
          <a:xfrm>
            <a:off x="822960" y="1700784"/>
            <a:ext cx="5102352" cy="274320"/>
          </a:xfrm>
          <a:prstGeom prst="rect">
            <a:avLst/>
          </a:prstGeom>
          <a:noFill/>
          <a:ln/>
        </p:spPr>
        <p:txBody>
          <a:bodyPr wrap="square" lIns="0" tIns="0" rIns="0" bIns="0" rtlCol="0" anchor="ctr"/>
          <a:lstStyle/>
          <a:p>
            <a:pPr indent="0" marL="0">
              <a:buNone/>
            </a:pPr>
            <a:r>
              <a:rPr lang="en-US" sz="1400" b="1" dirty="0">
                <a:solidFill>
                  <a:srgbClr val="2E7D5B"/>
                </a:solidFill>
                <a:latin typeface="Calibri" pitchFamily="34" charset="0"/>
                <a:ea typeface="Calibri" pitchFamily="34" charset="-122"/>
                <a:cs typeface="Calibri" pitchFamily="34" charset="-120"/>
              </a:rPr>
              <a:t>In scope</a:t>
            </a:r>
            <a:endParaRPr lang="en-US" sz="1400" dirty="0"/>
          </a:p>
        </p:txBody>
      </p:sp>
      <p:sp>
        <p:nvSpPr>
          <p:cNvPr id="6" name="Text 4"/>
          <p:cNvSpPr/>
          <p:nvPr/>
        </p:nvSpPr>
        <p:spPr>
          <a:xfrm>
            <a:off x="822960" y="2048256"/>
            <a:ext cx="5102352" cy="1463040"/>
          </a:xfrm>
          <a:prstGeom prst="rect">
            <a:avLst/>
          </a:prstGeom>
          <a:noFill/>
          <a:ln/>
        </p:spPr>
        <p:txBody>
          <a:bodyPr wrap="square" lIns="0" tIns="0" rIns="0" bIns="0" rtlCol="0" anchor="ctr"/>
          <a:lstStyle/>
          <a:p>
            <a:pPr marL="342900" indent="-342900">
              <a:lnSpc>
                <a:spcPts val="1500"/>
              </a:lnSpc>
              <a:spcAft>
                <a:spcPts val="700"/>
              </a:spcAft>
              <a:buSzPct val="100000"/>
              <a:buChar char="•"/>
            </a:pPr>
            <a:r>
              <a:rPr lang="en-US" sz="1150" dirty="0">
                <a:solidFill>
                  <a:srgbClr val="16212E"/>
                </a:solidFill>
                <a:latin typeface="Calibri" pitchFamily="34" charset="0"/>
                <a:ea typeface="Calibri" pitchFamily="34" charset="-122"/>
                <a:cs typeface="Calibri" pitchFamily="34" charset="-120"/>
              </a:rPr>
              <a:t>COBOL, compiled and executed via GnuCOBOL — free, open source, runs on a laptop</a:t>
            </a:r>
            <a:endParaRPr lang="en-US" sz="1150" dirty="0"/>
          </a:p>
          <a:p>
            <a:pPr marL="342900" indent="-342900">
              <a:lnSpc>
                <a:spcPts val="1500"/>
              </a:lnSpc>
              <a:spcAft>
                <a:spcPts val="700"/>
              </a:spcAft>
              <a:buSzPct val="100000"/>
              <a:buChar char="•"/>
            </a:pPr>
            <a:r>
              <a:rPr lang="en-US" sz="1150" dirty="0">
                <a:solidFill>
                  <a:srgbClr val="16212E"/>
                </a:solidFill>
                <a:latin typeface="Calibri" pitchFamily="34" charset="0"/>
                <a:ea typeface="Calibri" pitchFamily="34" charset="-122"/>
                <a:cs typeface="Calibri" pitchFamily="34" charset="-120"/>
              </a:rPr>
              <a:t>Retail banking interest accrual</a:t>
            </a:r>
            <a:endParaRPr lang="en-US" sz="1150" dirty="0"/>
          </a:p>
          <a:p>
            <a:pPr marL="342900" indent="-342900">
              <a:lnSpc>
                <a:spcPts val="1500"/>
              </a:lnSpc>
              <a:spcAft>
                <a:spcPts val="700"/>
              </a:spcAft>
              <a:buSzPct val="100000"/>
              <a:buChar char="•"/>
            </a:pPr>
            <a:r>
              <a:rPr lang="en-US" sz="1150" dirty="0">
                <a:solidFill>
                  <a:srgbClr val="16212E"/>
                </a:solidFill>
                <a:latin typeface="Calibri" pitchFamily="34" charset="0"/>
                <a:ea typeface="Calibri" pitchFamily="34" charset="-122"/>
                <a:cs typeface="Calibri" pitchFamily="34" charset="-120"/>
              </a:rPr>
              <a:t>Pure computation: input in, output out</a:t>
            </a:r>
            <a:endParaRPr lang="en-US" sz="1150" dirty="0"/>
          </a:p>
          <a:p>
            <a:pPr marL="342900" indent="-342900">
              <a:lnSpc>
                <a:spcPts val="1500"/>
              </a:lnSpc>
              <a:spcAft>
                <a:spcPts val="700"/>
              </a:spcAft>
              <a:buSzPct val="100000"/>
              <a:buChar char="•"/>
            </a:pPr>
            <a:r>
              <a:rPr lang="en-US" sz="1150" dirty="0">
                <a:solidFill>
                  <a:srgbClr val="16212E"/>
                </a:solidFill>
                <a:latin typeface="Calibri" pitchFamily="34" charset="0"/>
                <a:ea typeface="Calibri" pitchFamily="34" charset="-122"/>
                <a:cs typeface="Calibri" pitchFamily="34" charset="-120"/>
              </a:rPr>
              <a:t>Third-party COBOL — AWS's own CardDemo sample</a:t>
            </a:r>
            <a:endParaRPr lang="en-US" sz="1150" dirty="0"/>
          </a:p>
        </p:txBody>
      </p:sp>
      <p:sp>
        <p:nvSpPr>
          <p:cNvPr id="7" name="Shape 5"/>
          <p:cNvSpPr/>
          <p:nvPr/>
        </p:nvSpPr>
        <p:spPr>
          <a:xfrm>
            <a:off x="6345936" y="1554480"/>
            <a:ext cx="5614416" cy="2084832"/>
          </a:xfrm>
          <a:prstGeom prst="roundRect">
            <a:avLst>
              <a:gd name="adj" fmla="val 2632"/>
            </a:avLst>
          </a:prstGeom>
          <a:solidFill>
            <a:srgbClr val="F1F4F7"/>
          </a:solidFill>
          <a:ln w="12700">
            <a:solidFill>
              <a:srgbClr val="F1F4F7"/>
            </a:solidFill>
            <a:prstDash val="solid"/>
          </a:ln>
          <a:effectLst>
            <a:outerShdw sx="100000" sy="100000" kx="0" ky="0" algn="bl" rotWithShape="0" blurRad="101600" dist="12700" dir="5400000">
              <a:srgbClr val="8A94A0">
                <a:alpha val="18000"/>
              </a:srgbClr>
            </a:outerShdw>
          </a:effectLst>
        </p:spPr>
      </p:sp>
      <p:sp>
        <p:nvSpPr>
          <p:cNvPr id="8" name="Text 6"/>
          <p:cNvSpPr/>
          <p:nvPr/>
        </p:nvSpPr>
        <p:spPr>
          <a:xfrm>
            <a:off x="6601968" y="1700784"/>
            <a:ext cx="5102352" cy="274320"/>
          </a:xfrm>
          <a:prstGeom prst="rect">
            <a:avLst/>
          </a:prstGeom>
          <a:noFill/>
          <a:ln/>
        </p:spPr>
        <p:txBody>
          <a:bodyPr wrap="square" lIns="0" tIns="0" rIns="0" bIns="0" rtlCol="0" anchor="ctr"/>
          <a:lstStyle/>
          <a:p>
            <a:pPr indent="0" marL="0">
              <a:buNone/>
            </a:pPr>
            <a:r>
              <a:rPr lang="en-US" sz="1400" b="1" dirty="0">
                <a:solidFill>
                  <a:srgbClr val="6B7785"/>
                </a:solidFill>
                <a:latin typeface="Calibri" pitchFamily="34" charset="0"/>
                <a:ea typeface="Calibri" pitchFamily="34" charset="-122"/>
                <a:cs typeface="Calibri" pitchFamily="34" charset="-120"/>
              </a:rPr>
              <a:t>Out of scope — and detected, not ignored</a:t>
            </a:r>
            <a:endParaRPr lang="en-US" sz="1400" dirty="0"/>
          </a:p>
        </p:txBody>
      </p:sp>
      <p:sp>
        <p:nvSpPr>
          <p:cNvPr id="9" name="Text 7"/>
          <p:cNvSpPr/>
          <p:nvPr/>
        </p:nvSpPr>
        <p:spPr>
          <a:xfrm>
            <a:off x="6601968" y="2048256"/>
            <a:ext cx="5102352" cy="1005840"/>
          </a:xfrm>
          <a:prstGeom prst="rect">
            <a:avLst/>
          </a:prstGeom>
          <a:noFill/>
          <a:ln/>
        </p:spPr>
        <p:txBody>
          <a:bodyPr wrap="square" lIns="0" tIns="0" rIns="0" bIns="0" rtlCol="0" anchor="ctr"/>
          <a:lstStyle/>
          <a:p>
            <a:pPr marL="342900" indent="-342900">
              <a:lnSpc>
                <a:spcPts val="1500"/>
              </a:lnSpc>
              <a:spcAft>
                <a:spcPts val="700"/>
              </a:spcAft>
              <a:buSzPct val="100000"/>
              <a:buChar char="•"/>
            </a:pPr>
            <a:r>
              <a:rPr lang="en-US" sz="1150" dirty="0">
                <a:solidFill>
                  <a:srgbClr val="16212E"/>
                </a:solidFill>
                <a:latin typeface="Calibri" pitchFamily="34" charset="0"/>
                <a:ea typeface="Calibri" pitchFamily="34" charset="-122"/>
                <a:cs typeface="Calibri" pitchFamily="34" charset="-120"/>
              </a:rPr>
              <a:t>CICS screens and JCL orchestration</a:t>
            </a:r>
            <a:endParaRPr lang="en-US" sz="1150" dirty="0"/>
          </a:p>
          <a:p>
            <a:pPr marL="342900" indent="-342900">
              <a:lnSpc>
                <a:spcPts val="1500"/>
              </a:lnSpc>
              <a:spcAft>
                <a:spcPts val="700"/>
              </a:spcAft>
              <a:buSzPct val="100000"/>
              <a:buChar char="•"/>
            </a:pPr>
            <a:r>
              <a:rPr lang="en-US" sz="1150" dirty="0">
                <a:solidFill>
                  <a:srgbClr val="16212E"/>
                </a:solidFill>
                <a:latin typeface="Calibri" pitchFamily="34" charset="0"/>
                <a:ea typeface="Calibri" pitchFamily="34" charset="-122"/>
                <a:cs typeface="Calibri" pitchFamily="34" charset="-120"/>
              </a:rPr>
              <a:t>Database-coupled programs</a:t>
            </a:r>
            <a:endParaRPr lang="en-US" sz="1150" dirty="0"/>
          </a:p>
          <a:p>
            <a:pPr marL="342900" indent="-342900">
              <a:lnSpc>
                <a:spcPts val="1500"/>
              </a:lnSpc>
              <a:spcAft>
                <a:spcPts val="700"/>
              </a:spcAft>
              <a:buSzPct val="100000"/>
              <a:buChar char="•"/>
            </a:pPr>
            <a:r>
              <a:rPr lang="en-US" sz="1150" dirty="0">
                <a:solidFill>
                  <a:srgbClr val="16212E"/>
                </a:solidFill>
                <a:latin typeface="Calibri" pitchFamily="34" charset="0"/>
                <a:ea typeface="Calibri" pitchFamily="34" charset="-122"/>
                <a:cs typeface="Calibri" pitchFamily="34" charset="-120"/>
              </a:rPr>
              <a:t>Anything non-deterministic — system clocks, randomness, external state</a:t>
            </a:r>
            <a:endParaRPr lang="en-US" sz="1150" dirty="0"/>
          </a:p>
        </p:txBody>
      </p:sp>
      <p:sp>
        <p:nvSpPr>
          <p:cNvPr id="10" name="Text 8"/>
          <p:cNvSpPr/>
          <p:nvPr/>
        </p:nvSpPr>
        <p:spPr>
          <a:xfrm>
            <a:off x="6601968" y="3054096"/>
            <a:ext cx="5102352" cy="493776"/>
          </a:xfrm>
          <a:prstGeom prst="rect">
            <a:avLst/>
          </a:prstGeom>
          <a:noFill/>
          <a:ln/>
        </p:spPr>
        <p:txBody>
          <a:bodyPr wrap="square" lIns="0" tIns="0" rIns="0" bIns="0" rtlCol="0" anchor="ctr"/>
          <a:lstStyle/>
          <a:p>
            <a:pPr indent="0" marL="0">
              <a:lnSpc>
                <a:spcPts val="1500"/>
              </a:lnSpc>
              <a:buNone/>
            </a:pPr>
            <a:r>
              <a:rPr lang="en-US" sz="1100" i="1" dirty="0">
                <a:solidFill>
                  <a:srgbClr val="6B7785"/>
                </a:solidFill>
                <a:latin typeface="Calibri" pitchFamily="34" charset="0"/>
                <a:ea typeface="Calibri" pitchFamily="34" charset="-122"/>
                <a:cs typeface="Calibri" pitchFamily="34" charset="-120"/>
              </a:rPr>
              <a:t>Differential testing compares outputs for equality, so non-determinism makes the verdict meaningless. The tool refuses these at intake, with a reason — it tells you when it cannot help you.</a:t>
            </a:r>
            <a:endParaRPr lang="en-US" sz="1100" dirty="0"/>
          </a:p>
        </p:txBody>
      </p:sp>
      <p:sp>
        <p:nvSpPr>
          <p:cNvPr id="11" name="Text 9"/>
          <p:cNvSpPr/>
          <p:nvPr/>
        </p:nvSpPr>
        <p:spPr>
          <a:xfrm>
            <a:off x="566928" y="3858768"/>
            <a:ext cx="11057839" cy="310896"/>
          </a:xfrm>
          <a:prstGeom prst="rect">
            <a:avLst/>
          </a:prstGeom>
          <a:noFill/>
          <a:ln/>
        </p:spPr>
        <p:txBody>
          <a:bodyPr wrap="square" lIns="0" tIns="0" rIns="0" bIns="0" rtlCol="0" anchor="ctr"/>
          <a:lstStyle/>
          <a:p>
            <a:pPr indent="0" marL="0">
              <a:buNone/>
            </a:pPr>
            <a:r>
              <a:rPr lang="en-US" sz="1800" b="1" dirty="0">
                <a:solidFill>
                  <a:srgbClr val="16212E"/>
                </a:solidFill>
                <a:latin typeface="Cambria" pitchFamily="34" charset="0"/>
                <a:ea typeface="Cambria" pitchFamily="34" charset="-122"/>
                <a:cs typeface="Cambria" pitchFamily="34" charset="-120"/>
              </a:rPr>
              <a:t>Build stages — the spine first, the novelty protected</a:t>
            </a:r>
            <a:endParaRPr lang="en-US" sz="1800" dirty="0"/>
          </a:p>
        </p:txBody>
      </p:sp>
      <p:sp>
        <p:nvSpPr>
          <p:cNvPr id="12" name="Shape 10"/>
          <p:cNvSpPr/>
          <p:nvPr/>
        </p:nvSpPr>
        <p:spPr>
          <a:xfrm>
            <a:off x="566928" y="4261104"/>
            <a:ext cx="2670048" cy="1463040"/>
          </a:xfrm>
          <a:prstGeom prst="roundRect">
            <a:avLst>
              <a:gd name="adj" fmla="val 3750"/>
            </a:avLst>
          </a:prstGeom>
          <a:solidFill>
            <a:srgbClr val="F1F4F7"/>
          </a:solidFill>
          <a:ln w="12700">
            <a:solidFill>
              <a:srgbClr val="F1F4F7"/>
            </a:solidFill>
            <a:prstDash val="solid"/>
          </a:ln>
          <a:effectLst>
            <a:outerShdw sx="100000" sy="100000" kx="0" ky="0" algn="bl" rotWithShape="0" blurRad="101600" dist="12700" dir="5400000">
              <a:srgbClr val="8A94A0">
                <a:alpha val="18000"/>
              </a:srgbClr>
            </a:outerShdw>
          </a:effectLst>
        </p:spPr>
      </p:sp>
      <p:sp>
        <p:nvSpPr>
          <p:cNvPr id="13" name="Shape 11"/>
          <p:cNvSpPr/>
          <p:nvPr/>
        </p:nvSpPr>
        <p:spPr>
          <a:xfrm>
            <a:off x="768096" y="4407408"/>
            <a:ext cx="384048" cy="384048"/>
          </a:xfrm>
          <a:prstGeom prst="ellipse">
            <a:avLst/>
          </a:prstGeom>
          <a:solidFill>
            <a:srgbClr val="2E7D5B"/>
          </a:solidFill>
          <a:ln w="12700">
            <a:solidFill>
              <a:srgbClr val="2E7D5B"/>
            </a:solidFill>
            <a:prstDash val="solid"/>
          </a:ln>
        </p:spPr>
      </p:sp>
      <p:sp>
        <p:nvSpPr>
          <p:cNvPr id="14" name="Text 12"/>
          <p:cNvSpPr/>
          <p:nvPr/>
        </p:nvSpPr>
        <p:spPr>
          <a:xfrm>
            <a:off x="768096" y="440740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15" name="Text 13"/>
          <p:cNvSpPr/>
          <p:nvPr/>
        </p:nvSpPr>
        <p:spPr>
          <a:xfrm>
            <a:off x="1243584" y="4425696"/>
            <a:ext cx="1792224" cy="310896"/>
          </a:xfrm>
          <a:prstGeom prst="rect">
            <a:avLst/>
          </a:prstGeom>
          <a:noFill/>
          <a:ln/>
        </p:spPr>
        <p:txBody>
          <a:bodyPr wrap="square" lIns="0" tIns="0" rIns="0" bIns="0" rtlCol="0" anchor="ctr"/>
          <a:lstStyle/>
          <a:p>
            <a:pPr indent="0" marL="0">
              <a:buNone/>
            </a:pPr>
            <a:r>
              <a:rPr lang="en-US" sz="1250" b="1" dirty="0">
                <a:solidFill>
                  <a:srgbClr val="16212E"/>
                </a:solidFill>
                <a:latin typeface="Calibri" pitchFamily="34" charset="0"/>
                <a:ea typeface="Calibri" pitchFamily="34" charset="-122"/>
                <a:cs typeface="Calibri" pitchFamily="34" charset="-120"/>
              </a:rPr>
              <a:t>Differential harness</a:t>
            </a:r>
            <a:endParaRPr lang="en-US" sz="1250" dirty="0"/>
          </a:p>
        </p:txBody>
      </p:sp>
      <p:sp>
        <p:nvSpPr>
          <p:cNvPr id="16" name="Text 14"/>
          <p:cNvSpPr/>
          <p:nvPr/>
        </p:nvSpPr>
        <p:spPr>
          <a:xfrm>
            <a:off x="768096" y="4882896"/>
            <a:ext cx="2267712" cy="731520"/>
          </a:xfrm>
          <a:prstGeom prst="rect">
            <a:avLst/>
          </a:prstGeom>
          <a:noFill/>
          <a:ln/>
        </p:spPr>
        <p:txBody>
          <a:bodyPr wrap="square" lIns="0" tIns="0" rIns="0" bIns="0" rtlCol="0" anchor="ctr"/>
          <a:lstStyle/>
          <a:p>
            <a:pPr indent="0" marL="0">
              <a:lnSpc>
                <a:spcPts val="1400"/>
              </a:lnSpc>
              <a:buNone/>
            </a:pPr>
            <a:r>
              <a:rPr lang="en-US" sz="1050" dirty="0">
                <a:solidFill>
                  <a:srgbClr val="6B7785"/>
                </a:solidFill>
                <a:latin typeface="Calibri" pitchFamily="34" charset="0"/>
                <a:ea typeface="Calibri" pitchFamily="34" charset="-122"/>
                <a:cs typeface="Calibri" pitchFamily="34" charset="-120"/>
              </a:rPr>
              <a:t>GnuCOBOL compiles and runs; diff two implementations across an input list.</a:t>
            </a:r>
            <a:endParaRPr lang="en-US" sz="1050" dirty="0"/>
          </a:p>
        </p:txBody>
      </p:sp>
      <p:sp>
        <p:nvSpPr>
          <p:cNvPr id="17" name="Shape 15"/>
          <p:cNvSpPr/>
          <p:nvPr/>
        </p:nvSpPr>
        <p:spPr>
          <a:xfrm>
            <a:off x="3374136" y="4261104"/>
            <a:ext cx="2670048" cy="1463040"/>
          </a:xfrm>
          <a:prstGeom prst="roundRect">
            <a:avLst>
              <a:gd name="adj" fmla="val 3750"/>
            </a:avLst>
          </a:prstGeom>
          <a:solidFill>
            <a:srgbClr val="F1F4F7"/>
          </a:solidFill>
          <a:ln w="12700">
            <a:solidFill>
              <a:srgbClr val="F1F4F7"/>
            </a:solidFill>
            <a:prstDash val="solid"/>
          </a:ln>
          <a:effectLst>
            <a:outerShdw sx="100000" sy="100000" kx="0" ky="0" algn="bl" rotWithShape="0" blurRad="101600" dist="12700" dir="5400000">
              <a:srgbClr val="8A94A0">
                <a:alpha val="18000"/>
              </a:srgbClr>
            </a:outerShdw>
          </a:effectLst>
        </p:spPr>
      </p:sp>
      <p:sp>
        <p:nvSpPr>
          <p:cNvPr id="18" name="Shape 16"/>
          <p:cNvSpPr/>
          <p:nvPr/>
        </p:nvSpPr>
        <p:spPr>
          <a:xfrm>
            <a:off x="3575304" y="4407408"/>
            <a:ext cx="384048" cy="384048"/>
          </a:xfrm>
          <a:prstGeom prst="ellipse">
            <a:avLst/>
          </a:prstGeom>
          <a:solidFill>
            <a:srgbClr val="36678F"/>
          </a:solidFill>
          <a:ln w="12700">
            <a:solidFill>
              <a:srgbClr val="36678F"/>
            </a:solidFill>
            <a:prstDash val="solid"/>
          </a:ln>
        </p:spPr>
      </p:sp>
      <p:sp>
        <p:nvSpPr>
          <p:cNvPr id="19" name="Text 17"/>
          <p:cNvSpPr/>
          <p:nvPr/>
        </p:nvSpPr>
        <p:spPr>
          <a:xfrm>
            <a:off x="3575304" y="440740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20" name="Text 18"/>
          <p:cNvSpPr/>
          <p:nvPr/>
        </p:nvSpPr>
        <p:spPr>
          <a:xfrm>
            <a:off x="4050792" y="4425696"/>
            <a:ext cx="1792224" cy="310896"/>
          </a:xfrm>
          <a:prstGeom prst="rect">
            <a:avLst/>
          </a:prstGeom>
          <a:noFill/>
          <a:ln/>
        </p:spPr>
        <p:txBody>
          <a:bodyPr wrap="square" lIns="0" tIns="0" rIns="0" bIns="0" rtlCol="0" anchor="ctr"/>
          <a:lstStyle/>
          <a:p>
            <a:pPr indent="0" marL="0">
              <a:buNone/>
            </a:pPr>
            <a:r>
              <a:rPr lang="en-US" sz="1250" b="1" dirty="0">
                <a:solidFill>
                  <a:srgbClr val="16212E"/>
                </a:solidFill>
                <a:latin typeface="Calibri" pitchFamily="34" charset="0"/>
                <a:ea typeface="Calibri" pitchFamily="34" charset="-122"/>
                <a:cs typeface="Calibri" pitchFamily="34" charset="-120"/>
              </a:rPr>
              <a:t>Rules and boundaries</a:t>
            </a:r>
            <a:endParaRPr lang="en-US" sz="1250" dirty="0"/>
          </a:p>
        </p:txBody>
      </p:sp>
      <p:sp>
        <p:nvSpPr>
          <p:cNvPr id="21" name="Text 19"/>
          <p:cNvSpPr/>
          <p:nvPr/>
        </p:nvSpPr>
        <p:spPr>
          <a:xfrm>
            <a:off x="3575304" y="4882896"/>
            <a:ext cx="2267712" cy="731520"/>
          </a:xfrm>
          <a:prstGeom prst="rect">
            <a:avLst/>
          </a:prstGeom>
          <a:noFill/>
          <a:ln/>
        </p:spPr>
        <p:txBody>
          <a:bodyPr wrap="square" lIns="0" tIns="0" rIns="0" bIns="0" rtlCol="0" anchor="ctr"/>
          <a:lstStyle/>
          <a:p>
            <a:pPr indent="0" marL="0">
              <a:lnSpc>
                <a:spcPts val="1400"/>
              </a:lnSpc>
              <a:buNone/>
            </a:pPr>
            <a:r>
              <a:rPr lang="en-US" sz="1050" dirty="0">
                <a:solidFill>
                  <a:srgbClr val="6B7785"/>
                </a:solidFill>
                <a:latin typeface="Calibri" pitchFamily="34" charset="0"/>
                <a:ea typeface="Calibri" pitchFamily="34" charset="-122"/>
                <a:cs typeface="Calibri" pitchFamily="34" charset="-120"/>
              </a:rPr>
              <a:t>Slice, extract with line citations, derive boundary inputs from the rules.</a:t>
            </a:r>
            <a:endParaRPr lang="en-US" sz="1050" dirty="0"/>
          </a:p>
        </p:txBody>
      </p:sp>
      <p:sp>
        <p:nvSpPr>
          <p:cNvPr id="22" name="Shape 20"/>
          <p:cNvSpPr/>
          <p:nvPr/>
        </p:nvSpPr>
        <p:spPr>
          <a:xfrm>
            <a:off x="6181344" y="4261104"/>
            <a:ext cx="2670048" cy="1463040"/>
          </a:xfrm>
          <a:prstGeom prst="roundRect">
            <a:avLst>
              <a:gd name="adj" fmla="val 3750"/>
            </a:avLst>
          </a:prstGeom>
          <a:solidFill>
            <a:srgbClr val="F1F4F7"/>
          </a:solidFill>
          <a:ln w="12700">
            <a:solidFill>
              <a:srgbClr val="F1F4F7"/>
            </a:solidFill>
            <a:prstDash val="solid"/>
          </a:ln>
          <a:effectLst>
            <a:outerShdw sx="100000" sy="100000" kx="0" ky="0" algn="bl" rotWithShape="0" blurRad="101600" dist="12700" dir="5400000">
              <a:srgbClr val="8A94A0">
                <a:alpha val="18000"/>
              </a:srgbClr>
            </a:outerShdw>
          </a:effectLst>
        </p:spPr>
      </p:sp>
      <p:sp>
        <p:nvSpPr>
          <p:cNvPr id="23" name="Shape 21"/>
          <p:cNvSpPr/>
          <p:nvPr/>
        </p:nvSpPr>
        <p:spPr>
          <a:xfrm>
            <a:off x="6382512" y="4407408"/>
            <a:ext cx="384048" cy="384048"/>
          </a:xfrm>
          <a:prstGeom prst="ellipse">
            <a:avLst/>
          </a:prstGeom>
          <a:solidFill>
            <a:srgbClr val="C8891B"/>
          </a:solidFill>
          <a:ln w="12700">
            <a:solidFill>
              <a:srgbClr val="C8891B"/>
            </a:solidFill>
            <a:prstDash val="solid"/>
          </a:ln>
        </p:spPr>
      </p:sp>
      <p:sp>
        <p:nvSpPr>
          <p:cNvPr id="24" name="Text 22"/>
          <p:cNvSpPr/>
          <p:nvPr/>
        </p:nvSpPr>
        <p:spPr>
          <a:xfrm>
            <a:off x="6382512" y="440740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25" name="Text 23"/>
          <p:cNvSpPr/>
          <p:nvPr/>
        </p:nvSpPr>
        <p:spPr>
          <a:xfrm>
            <a:off x="6858000" y="4425696"/>
            <a:ext cx="1792224" cy="310896"/>
          </a:xfrm>
          <a:prstGeom prst="rect">
            <a:avLst/>
          </a:prstGeom>
          <a:noFill/>
          <a:ln/>
        </p:spPr>
        <p:txBody>
          <a:bodyPr wrap="square" lIns="0" tIns="0" rIns="0" bIns="0" rtlCol="0" anchor="ctr"/>
          <a:lstStyle/>
          <a:p>
            <a:pPr indent="0" marL="0">
              <a:buNone/>
            </a:pPr>
            <a:r>
              <a:rPr lang="en-US" sz="1250" b="1" dirty="0">
                <a:solidFill>
                  <a:srgbClr val="16212E"/>
                </a:solidFill>
                <a:latin typeface="Calibri" pitchFamily="34" charset="0"/>
                <a:ea typeface="Calibri" pitchFamily="34" charset="-122"/>
                <a:cs typeface="Calibri" pitchFamily="34" charset="-120"/>
              </a:rPr>
              <a:t>Three-valued verdict</a:t>
            </a:r>
            <a:endParaRPr lang="en-US" sz="1250" dirty="0"/>
          </a:p>
        </p:txBody>
      </p:sp>
      <p:sp>
        <p:nvSpPr>
          <p:cNvPr id="26" name="Text 24"/>
          <p:cNvSpPr/>
          <p:nvPr/>
        </p:nvSpPr>
        <p:spPr>
          <a:xfrm>
            <a:off x="6382512" y="4882896"/>
            <a:ext cx="2267712" cy="731520"/>
          </a:xfrm>
          <a:prstGeom prst="rect">
            <a:avLst/>
          </a:prstGeom>
          <a:noFill/>
          <a:ln/>
        </p:spPr>
        <p:txBody>
          <a:bodyPr wrap="square" lIns="0" tIns="0" rIns="0" bIns="0" rtlCol="0" anchor="ctr"/>
          <a:lstStyle/>
          <a:p>
            <a:pPr indent="0" marL="0">
              <a:lnSpc>
                <a:spcPts val="1400"/>
              </a:lnSpc>
              <a:buNone/>
            </a:pPr>
            <a:r>
              <a:rPr lang="en-US" sz="1050" dirty="0">
                <a:solidFill>
                  <a:srgbClr val="6B7785"/>
                </a:solidFill>
                <a:latin typeface="Calibri" pitchFamily="34" charset="0"/>
                <a:ea typeface="Calibri" pitchFamily="34" charset="-122"/>
                <a:cs typeface="Calibri" pitchFamily="34" charset="-120"/>
              </a:rPr>
              <a:t>Coverage mapped to rules; proven, unproven, refuted. Protected.</a:t>
            </a:r>
            <a:endParaRPr lang="en-US" sz="1050" dirty="0"/>
          </a:p>
        </p:txBody>
      </p:sp>
      <p:sp>
        <p:nvSpPr>
          <p:cNvPr id="27" name="Shape 25"/>
          <p:cNvSpPr/>
          <p:nvPr/>
        </p:nvSpPr>
        <p:spPr>
          <a:xfrm>
            <a:off x="8988552" y="4261104"/>
            <a:ext cx="2670048" cy="1463040"/>
          </a:xfrm>
          <a:prstGeom prst="roundRect">
            <a:avLst>
              <a:gd name="adj" fmla="val 3750"/>
            </a:avLst>
          </a:prstGeom>
          <a:solidFill>
            <a:srgbClr val="F1F4F7"/>
          </a:solidFill>
          <a:ln w="12700">
            <a:solidFill>
              <a:srgbClr val="F1F4F7"/>
            </a:solidFill>
            <a:prstDash val="solid"/>
          </a:ln>
          <a:effectLst>
            <a:outerShdw sx="100000" sy="100000" kx="0" ky="0" algn="bl" rotWithShape="0" blurRad="101600" dist="12700" dir="5400000">
              <a:srgbClr val="8A94A0">
                <a:alpha val="18000"/>
              </a:srgbClr>
            </a:outerShdw>
          </a:effectLst>
        </p:spPr>
      </p:sp>
      <p:sp>
        <p:nvSpPr>
          <p:cNvPr id="28" name="Shape 26"/>
          <p:cNvSpPr/>
          <p:nvPr/>
        </p:nvSpPr>
        <p:spPr>
          <a:xfrm>
            <a:off x="9189720" y="4407408"/>
            <a:ext cx="384048" cy="384048"/>
          </a:xfrm>
          <a:prstGeom prst="ellipse">
            <a:avLst/>
          </a:prstGeom>
          <a:solidFill>
            <a:srgbClr val="B23C2A"/>
          </a:solidFill>
          <a:ln w="12700">
            <a:solidFill>
              <a:srgbClr val="B23C2A"/>
            </a:solidFill>
            <a:prstDash val="solid"/>
          </a:ln>
        </p:spPr>
      </p:sp>
      <p:sp>
        <p:nvSpPr>
          <p:cNvPr id="29" name="Text 27"/>
          <p:cNvSpPr/>
          <p:nvPr/>
        </p:nvSpPr>
        <p:spPr>
          <a:xfrm>
            <a:off x="9189720" y="440740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30" name="Text 28"/>
          <p:cNvSpPr/>
          <p:nvPr/>
        </p:nvSpPr>
        <p:spPr>
          <a:xfrm>
            <a:off x="9665208" y="4425696"/>
            <a:ext cx="1792224" cy="310896"/>
          </a:xfrm>
          <a:prstGeom prst="rect">
            <a:avLst/>
          </a:prstGeom>
          <a:noFill/>
          <a:ln/>
        </p:spPr>
        <p:txBody>
          <a:bodyPr wrap="square" lIns="0" tIns="0" rIns="0" bIns="0" rtlCol="0" anchor="ctr"/>
          <a:lstStyle/>
          <a:p>
            <a:pPr indent="0" marL="0">
              <a:buNone/>
            </a:pPr>
            <a:r>
              <a:rPr lang="en-US" sz="1250" b="1" dirty="0">
                <a:solidFill>
                  <a:srgbClr val="16212E"/>
                </a:solidFill>
                <a:latin typeface="Calibri" pitchFamily="34" charset="0"/>
                <a:ea typeface="Calibri" pitchFamily="34" charset="-122"/>
                <a:cs typeface="Calibri" pitchFamily="34" charset="-120"/>
              </a:rPr>
              <a:t>Regulation and mutation</a:t>
            </a:r>
            <a:endParaRPr lang="en-US" sz="1250" dirty="0"/>
          </a:p>
        </p:txBody>
      </p:sp>
      <p:sp>
        <p:nvSpPr>
          <p:cNvPr id="31" name="Text 29"/>
          <p:cNvSpPr/>
          <p:nvPr/>
        </p:nvSpPr>
        <p:spPr>
          <a:xfrm>
            <a:off x="9189720" y="4882896"/>
            <a:ext cx="2267712" cy="731520"/>
          </a:xfrm>
          <a:prstGeom prst="rect">
            <a:avLst/>
          </a:prstGeom>
          <a:noFill/>
          <a:ln/>
        </p:spPr>
        <p:txBody>
          <a:bodyPr wrap="square" lIns="0" tIns="0" rIns="0" bIns="0" rtlCol="0" anchor="ctr"/>
          <a:lstStyle/>
          <a:p>
            <a:pPr indent="0" marL="0">
              <a:lnSpc>
                <a:spcPts val="1400"/>
              </a:lnSpc>
              <a:buNone/>
            </a:pPr>
            <a:r>
              <a:rPr lang="en-US" sz="1050" dirty="0">
                <a:solidFill>
                  <a:srgbClr val="6B7785"/>
                </a:solidFill>
                <a:latin typeface="Calibri" pitchFamily="34" charset="0"/>
                <a:ea typeface="Calibri" pitchFamily="34" charset="-122"/>
                <a:cs typeface="Calibri" pitchFamily="34" charset="-120"/>
              </a:rPr>
              <a:t>The RBI reference model, then fault injection to score the corpus.</a:t>
            </a:r>
            <a:endParaRPr lang="en-US" sz="1050" dirty="0"/>
          </a:p>
        </p:txBody>
      </p:sp>
      <p:sp>
        <p:nvSpPr>
          <p:cNvPr id="32" name="Text 30"/>
          <p:cNvSpPr/>
          <p:nvPr/>
        </p:nvSpPr>
        <p:spPr>
          <a:xfrm>
            <a:off x="566928" y="6345936"/>
            <a:ext cx="11057839" cy="274320"/>
          </a:xfrm>
          <a:prstGeom prst="rect">
            <a:avLst/>
          </a:prstGeom>
          <a:noFill/>
          <a:ln/>
        </p:spPr>
        <p:txBody>
          <a:bodyPr wrap="square" lIns="0" tIns="0" rIns="0" bIns="0" rtlCol="0" anchor="ctr"/>
          <a:lstStyle/>
          <a:p>
            <a:pPr indent="0" marL="0">
              <a:buNone/>
            </a:pPr>
            <a:r>
              <a:rPr lang="en-US" sz="950" i="1" dirty="0">
                <a:solidFill>
                  <a:srgbClr val="6B7785"/>
                </a:solidFill>
                <a:latin typeface="Calibri" pitchFamily="34" charset="0"/>
                <a:ea typeface="Calibri" pitchFamily="34" charset="-122"/>
                <a:cs typeface="Calibri" pitchFamily="34" charset="-120"/>
              </a:rPr>
              <a:t>GnuCOBOL passes 9,700 of 9,748 NIST COBOL-85 conformance tests, though the project does not claim to be a Standard Conforming implementation. The methodology is compiler-agnostic — a bank points it at its own compiler.</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2033"/>
        </a:solidFill>
      </p:bgPr>
    </p:bg>
    <p:spTree>
      <p:nvGrpSpPr>
        <p:cNvPr id="1" name=""/>
        <p:cNvGrpSpPr/>
        <p:nvPr/>
      </p:nvGrpSpPr>
      <p:grpSpPr>
        <a:xfrm>
          <a:off x="0" y="0"/>
          <a:ext cx="0" cy="0"/>
          <a:chOff x="0" y="0"/>
          <a:chExt cx="0" cy="0"/>
        </a:xfrm>
      </p:grpSpPr>
      <p:sp>
        <p:nvSpPr>
          <p:cNvPr id="2" name="Text 0"/>
          <p:cNvSpPr/>
          <p:nvPr/>
        </p:nvSpPr>
        <p:spPr>
          <a:xfrm>
            <a:off x="566928" y="1371600"/>
            <a:ext cx="11057839" cy="274320"/>
          </a:xfrm>
          <a:prstGeom prst="rect">
            <a:avLst/>
          </a:prstGeom>
          <a:noFill/>
          <a:ln/>
        </p:spPr>
        <p:txBody>
          <a:bodyPr wrap="square" lIns="0" tIns="0" rIns="0" bIns="0" rtlCol="0" anchor="ctr"/>
          <a:lstStyle/>
          <a:p>
            <a:pPr indent="0" marL="0">
              <a:buNone/>
            </a:pPr>
            <a:r>
              <a:rPr lang="en-US" sz="1100" b="1" spc="260" kern="0" dirty="0">
                <a:solidFill>
                  <a:srgbClr val="8FA7BD"/>
                </a:solidFill>
                <a:latin typeface="Calibri" pitchFamily="34" charset="0"/>
                <a:ea typeface="Calibri" pitchFamily="34" charset="-122"/>
                <a:cs typeface="Calibri" pitchFamily="34" charset="-120"/>
              </a:rPr>
              <a:t>THE CLAIM</a:t>
            </a:r>
            <a:endParaRPr lang="en-US" sz="1100" dirty="0"/>
          </a:p>
        </p:txBody>
      </p:sp>
      <p:sp>
        <p:nvSpPr>
          <p:cNvPr id="3" name="Text 1"/>
          <p:cNvSpPr/>
          <p:nvPr/>
        </p:nvSpPr>
        <p:spPr>
          <a:xfrm>
            <a:off x="566928" y="1828800"/>
            <a:ext cx="10424160" cy="1828800"/>
          </a:xfrm>
          <a:prstGeom prst="rect">
            <a:avLst/>
          </a:prstGeom>
          <a:noFill/>
          <a:ln/>
        </p:spPr>
        <p:txBody>
          <a:bodyPr wrap="square" lIns="0" tIns="0" rIns="0" bIns="0" rtlCol="0" anchor="ctr"/>
          <a:lstStyle/>
          <a:p>
            <a:pPr indent="0" marL="0">
              <a:lnSpc>
                <a:spcPts val="4600"/>
              </a:lnSpc>
              <a:buNone/>
            </a:pPr>
            <a:r>
              <a:rPr lang="en-US" sz="3000" b="1" dirty="0">
                <a:solidFill>
                  <a:srgbClr val="FFFFFF"/>
                </a:solidFill>
                <a:latin typeface="Cambria" pitchFamily="34" charset="0"/>
                <a:ea typeface="Cambria" pitchFamily="34" charset="-122"/>
                <a:cs typeface="Cambria" pitchFamily="34" charset="-120"/>
              </a:rPr>
              <a:t>Everyone proves the rewrite matches the legacy.</a:t>
            </a:r>
            <a:endParaRPr lang="en-US" sz="3000" dirty="0"/>
          </a:p>
          <a:p>
            <a:pPr indent="0" marL="0">
              <a:lnSpc>
                <a:spcPts val="4600"/>
              </a:lnSpc>
              <a:buNone/>
            </a:pPr>
            <a:r>
              <a:rPr lang="en-US" sz="3000" b="1" dirty="0">
                <a:solidFill>
                  <a:srgbClr val="FFFFFF"/>
                </a:solidFill>
                <a:latin typeface="Cambria" pitchFamily="34" charset="0"/>
                <a:ea typeface="Cambria" pitchFamily="34" charset="-122"/>
                <a:cs typeface="Cambria" pitchFamily="34" charset="-120"/>
              </a:rPr>
              <a:t>We also ask whether the legacy matches the regulator —</a:t>
            </a:r>
            <a:endParaRPr lang="en-US" sz="3000" dirty="0"/>
          </a:p>
          <a:p>
            <a:pPr indent="0" marL="0">
              <a:lnSpc>
                <a:spcPts val="4600"/>
              </a:lnSpc>
              <a:buNone/>
            </a:pPr>
            <a:r>
              <a:rPr lang="en-US" sz="3000" b="1" dirty="0">
                <a:solidFill>
                  <a:srgbClr val="FFFFFF"/>
                </a:solidFill>
                <a:latin typeface="Cambria" pitchFamily="34" charset="0"/>
                <a:ea typeface="Cambria" pitchFamily="34" charset="-122"/>
                <a:cs typeface="Cambria" pitchFamily="34" charset="-120"/>
              </a:rPr>
              <a:t>and we report the answer per business rule.</a:t>
            </a:r>
            <a:endParaRPr lang="en-US" sz="3000" dirty="0"/>
          </a:p>
        </p:txBody>
      </p:sp>
      <p:sp>
        <p:nvSpPr>
          <p:cNvPr id="4" name="Text 2"/>
          <p:cNvSpPr/>
          <p:nvPr/>
        </p:nvSpPr>
        <p:spPr>
          <a:xfrm>
            <a:off x="566928" y="3712464"/>
            <a:ext cx="10424160" cy="365760"/>
          </a:xfrm>
          <a:prstGeom prst="rect">
            <a:avLst/>
          </a:prstGeom>
          <a:noFill/>
          <a:ln/>
        </p:spPr>
        <p:txBody>
          <a:bodyPr wrap="square" lIns="0" tIns="0" rIns="0" bIns="0" rtlCol="0" anchor="ctr"/>
          <a:lstStyle/>
          <a:p>
            <a:pPr indent="0" marL="0">
              <a:buNone/>
            </a:pPr>
            <a:r>
              <a:rPr lang="en-US" sz="1700" i="1" dirty="0">
                <a:solidFill>
                  <a:srgbClr val="C8891B"/>
                </a:solidFill>
                <a:latin typeface="Calibri" pitchFamily="34" charset="0"/>
                <a:ea typeface="Calibri" pitchFamily="34" charset="-122"/>
                <a:cs typeface="Calibri" pitchFamily="34" charset="-120"/>
              </a:rPr>
              <a:t>Including the rules we could not prove, and the ones our own AI got wrong.</a:t>
            </a:r>
            <a:endParaRPr lang="en-US" sz="1700" dirty="0"/>
          </a:p>
        </p:txBody>
      </p:sp>
      <p:sp>
        <p:nvSpPr>
          <p:cNvPr id="5" name="Shape 3"/>
          <p:cNvSpPr/>
          <p:nvPr/>
        </p:nvSpPr>
        <p:spPr>
          <a:xfrm>
            <a:off x="566928" y="4443984"/>
            <a:ext cx="3639312" cy="969264"/>
          </a:xfrm>
          <a:prstGeom prst="roundRect">
            <a:avLst>
              <a:gd name="adj" fmla="val 5660"/>
            </a:avLst>
          </a:prstGeom>
          <a:solidFill>
            <a:srgbClr val="1A3A55"/>
          </a:solidFill>
          <a:ln w="12700">
            <a:solidFill>
              <a:srgbClr val="1A3A55"/>
            </a:solidFill>
            <a:prstDash val="solid"/>
          </a:ln>
        </p:spPr>
      </p:sp>
      <p:sp>
        <p:nvSpPr>
          <p:cNvPr id="6" name="Text 4"/>
          <p:cNvSpPr/>
          <p:nvPr/>
        </p:nvSpPr>
        <p:spPr>
          <a:xfrm>
            <a:off x="804672" y="4553712"/>
            <a:ext cx="3163824" cy="274320"/>
          </a:xfrm>
          <a:prstGeom prst="rect">
            <a:avLst/>
          </a:prstGeom>
          <a:noFill/>
          <a:ln/>
        </p:spPr>
        <p:txBody>
          <a:bodyPr wrap="square" lIns="0" tIns="0" rIns="0" bIns="0" rtlCol="0" anchor="ctr"/>
          <a:lstStyle/>
          <a:p>
            <a:pPr indent="0" marL="0">
              <a:buNone/>
            </a:pPr>
            <a:r>
              <a:rPr lang="en-US" sz="1400" b="1" dirty="0">
                <a:solidFill>
                  <a:srgbClr val="C8891B"/>
                </a:solidFill>
                <a:latin typeface="Calibri" pitchFamily="34" charset="0"/>
                <a:ea typeface="Calibri" pitchFamily="34" charset="-122"/>
                <a:cs typeface="Calibri" pitchFamily="34" charset="-120"/>
              </a:rPr>
              <a:t>Proven</a:t>
            </a:r>
            <a:endParaRPr lang="en-US" sz="1400" dirty="0"/>
          </a:p>
        </p:txBody>
      </p:sp>
      <p:sp>
        <p:nvSpPr>
          <p:cNvPr id="7" name="Text 5"/>
          <p:cNvSpPr/>
          <p:nvPr/>
        </p:nvSpPr>
        <p:spPr>
          <a:xfrm>
            <a:off x="804672" y="4846320"/>
            <a:ext cx="3163824" cy="475488"/>
          </a:xfrm>
          <a:prstGeom prst="rect">
            <a:avLst/>
          </a:prstGeom>
          <a:noFill/>
          <a:ln/>
        </p:spPr>
        <p:txBody>
          <a:bodyPr wrap="square" lIns="0" tIns="0" rIns="0" bIns="0" rtlCol="0" anchor="ctr"/>
          <a:lstStyle/>
          <a:p>
            <a:pPr indent="0" marL="0">
              <a:lnSpc>
                <a:spcPts val="1400"/>
              </a:lnSpc>
              <a:buNone/>
            </a:pPr>
            <a:r>
              <a:rPr lang="en-US" sz="1100" dirty="0">
                <a:solidFill>
                  <a:srgbClr val="AEC0D0"/>
                </a:solidFill>
                <a:latin typeface="Calibri" pitchFamily="34" charset="0"/>
                <a:ea typeface="Calibri" pitchFamily="34" charset="-122"/>
                <a:cs typeface="Calibri" pitchFamily="34" charset="-120"/>
              </a:rPr>
              <a:t>confirmed by execution, with the boundary shown to be live</a:t>
            </a:r>
            <a:endParaRPr lang="en-US" sz="1100" dirty="0"/>
          </a:p>
        </p:txBody>
      </p:sp>
      <p:sp>
        <p:nvSpPr>
          <p:cNvPr id="8" name="Shape 6"/>
          <p:cNvSpPr/>
          <p:nvPr/>
        </p:nvSpPr>
        <p:spPr>
          <a:xfrm>
            <a:off x="4389120" y="4443984"/>
            <a:ext cx="3639312" cy="969264"/>
          </a:xfrm>
          <a:prstGeom prst="roundRect">
            <a:avLst>
              <a:gd name="adj" fmla="val 5660"/>
            </a:avLst>
          </a:prstGeom>
          <a:solidFill>
            <a:srgbClr val="1A3A55"/>
          </a:solidFill>
          <a:ln w="12700">
            <a:solidFill>
              <a:srgbClr val="1A3A55"/>
            </a:solidFill>
            <a:prstDash val="solid"/>
          </a:ln>
        </p:spPr>
      </p:sp>
      <p:sp>
        <p:nvSpPr>
          <p:cNvPr id="9" name="Text 7"/>
          <p:cNvSpPr/>
          <p:nvPr/>
        </p:nvSpPr>
        <p:spPr>
          <a:xfrm>
            <a:off x="4626864" y="4553712"/>
            <a:ext cx="3163824" cy="274320"/>
          </a:xfrm>
          <a:prstGeom prst="rect">
            <a:avLst/>
          </a:prstGeom>
          <a:noFill/>
          <a:ln/>
        </p:spPr>
        <p:txBody>
          <a:bodyPr wrap="square" lIns="0" tIns="0" rIns="0" bIns="0" rtlCol="0" anchor="ctr"/>
          <a:lstStyle/>
          <a:p>
            <a:pPr indent="0" marL="0">
              <a:buNone/>
            </a:pPr>
            <a:r>
              <a:rPr lang="en-US" sz="1400" b="1" dirty="0">
                <a:solidFill>
                  <a:srgbClr val="C8891B"/>
                </a:solidFill>
                <a:latin typeface="Calibri" pitchFamily="34" charset="0"/>
                <a:ea typeface="Calibri" pitchFamily="34" charset="-122"/>
                <a:cs typeface="Calibri" pitchFamily="34" charset="-120"/>
              </a:rPr>
              <a:t>Unproven</a:t>
            </a:r>
            <a:endParaRPr lang="en-US" sz="1400" dirty="0"/>
          </a:p>
        </p:txBody>
      </p:sp>
      <p:sp>
        <p:nvSpPr>
          <p:cNvPr id="10" name="Text 8"/>
          <p:cNvSpPr/>
          <p:nvPr/>
        </p:nvSpPr>
        <p:spPr>
          <a:xfrm>
            <a:off x="4626864" y="4846320"/>
            <a:ext cx="3163824" cy="475488"/>
          </a:xfrm>
          <a:prstGeom prst="rect">
            <a:avLst/>
          </a:prstGeom>
          <a:noFill/>
          <a:ln/>
        </p:spPr>
        <p:txBody>
          <a:bodyPr wrap="square" lIns="0" tIns="0" rIns="0" bIns="0" rtlCol="0" anchor="ctr"/>
          <a:lstStyle/>
          <a:p>
            <a:pPr indent="0" marL="0">
              <a:lnSpc>
                <a:spcPts val="1400"/>
              </a:lnSpc>
              <a:buNone/>
            </a:pPr>
            <a:r>
              <a:rPr lang="en-US" sz="1100" dirty="0">
                <a:solidFill>
                  <a:srgbClr val="AEC0D0"/>
                </a:solidFill>
                <a:latin typeface="Calibri" pitchFamily="34" charset="0"/>
                <a:ea typeface="Calibri" pitchFamily="34" charset="-122"/>
                <a:cs typeface="Calibri" pitchFamily="34" charset="-120"/>
              </a:rPr>
              <a:t>never exercised, named rather than silently trusted</a:t>
            </a:r>
            <a:endParaRPr lang="en-US" sz="1100" dirty="0"/>
          </a:p>
        </p:txBody>
      </p:sp>
      <p:sp>
        <p:nvSpPr>
          <p:cNvPr id="11" name="Shape 9"/>
          <p:cNvSpPr/>
          <p:nvPr/>
        </p:nvSpPr>
        <p:spPr>
          <a:xfrm>
            <a:off x="8211312" y="4443984"/>
            <a:ext cx="3639312" cy="969264"/>
          </a:xfrm>
          <a:prstGeom prst="roundRect">
            <a:avLst>
              <a:gd name="adj" fmla="val 5660"/>
            </a:avLst>
          </a:prstGeom>
          <a:solidFill>
            <a:srgbClr val="1A3A55"/>
          </a:solidFill>
          <a:ln w="12700">
            <a:solidFill>
              <a:srgbClr val="1A3A55"/>
            </a:solidFill>
            <a:prstDash val="solid"/>
          </a:ln>
        </p:spPr>
      </p:sp>
      <p:sp>
        <p:nvSpPr>
          <p:cNvPr id="12" name="Text 10"/>
          <p:cNvSpPr/>
          <p:nvPr/>
        </p:nvSpPr>
        <p:spPr>
          <a:xfrm>
            <a:off x="8449056" y="4553712"/>
            <a:ext cx="3163824" cy="274320"/>
          </a:xfrm>
          <a:prstGeom prst="rect">
            <a:avLst/>
          </a:prstGeom>
          <a:noFill/>
          <a:ln/>
        </p:spPr>
        <p:txBody>
          <a:bodyPr wrap="square" lIns="0" tIns="0" rIns="0" bIns="0" rtlCol="0" anchor="ctr"/>
          <a:lstStyle/>
          <a:p>
            <a:pPr indent="0" marL="0">
              <a:buNone/>
            </a:pPr>
            <a:r>
              <a:rPr lang="en-US" sz="1400" b="1" dirty="0">
                <a:solidFill>
                  <a:srgbClr val="C8891B"/>
                </a:solidFill>
                <a:latin typeface="Calibri" pitchFamily="34" charset="0"/>
                <a:ea typeface="Calibri" pitchFamily="34" charset="-122"/>
                <a:cs typeface="Calibri" pitchFamily="34" charset="-120"/>
              </a:rPr>
              <a:t>Refuted</a:t>
            </a:r>
            <a:endParaRPr lang="en-US" sz="1400" dirty="0"/>
          </a:p>
        </p:txBody>
      </p:sp>
      <p:sp>
        <p:nvSpPr>
          <p:cNvPr id="13" name="Text 11"/>
          <p:cNvSpPr/>
          <p:nvPr/>
        </p:nvSpPr>
        <p:spPr>
          <a:xfrm>
            <a:off x="8449056" y="4846320"/>
            <a:ext cx="3163824" cy="475488"/>
          </a:xfrm>
          <a:prstGeom prst="rect">
            <a:avLst/>
          </a:prstGeom>
          <a:noFill/>
          <a:ln/>
        </p:spPr>
        <p:txBody>
          <a:bodyPr wrap="square" lIns="0" tIns="0" rIns="0" bIns="0" rtlCol="0" anchor="ctr"/>
          <a:lstStyle/>
          <a:p>
            <a:pPr indent="0" marL="0">
              <a:lnSpc>
                <a:spcPts val="1400"/>
              </a:lnSpc>
              <a:buNone/>
            </a:pPr>
            <a:r>
              <a:rPr lang="en-US" sz="1100" dirty="0">
                <a:solidFill>
                  <a:srgbClr val="AEC0D0"/>
                </a:solidFill>
                <a:latin typeface="Calibri" pitchFamily="34" charset="0"/>
                <a:ea typeface="Calibri" pitchFamily="34" charset="-122"/>
                <a:cs typeface="Calibri" pitchFamily="34" charset="-120"/>
              </a:rPr>
              <a:t>contradicted by evidence — with the input that proves it</a:t>
            </a:r>
            <a:endParaRPr lang="en-US" sz="1100" dirty="0"/>
          </a:p>
        </p:txBody>
      </p:sp>
      <p:sp>
        <p:nvSpPr>
          <p:cNvPr id="14" name="Text 12"/>
          <p:cNvSpPr/>
          <p:nvPr/>
        </p:nvSpPr>
        <p:spPr>
          <a:xfrm>
            <a:off x="566928" y="5797296"/>
            <a:ext cx="11057839" cy="274320"/>
          </a:xfrm>
          <a:prstGeom prst="rect">
            <a:avLst/>
          </a:prstGeom>
          <a:noFill/>
          <a:ln/>
        </p:spPr>
        <p:txBody>
          <a:bodyPr wrap="square" lIns="0" tIns="0" rIns="0" bIns="0" rtlCol="0" anchor="ctr"/>
          <a:lstStyle/>
          <a:p>
            <a:pPr indent="0" marL="0">
              <a:buNone/>
            </a:pPr>
            <a:r>
              <a:rPr lang="en-US" sz="1100" dirty="0">
                <a:solidFill>
                  <a:srgbClr val="6E869C"/>
                </a:solidFill>
                <a:latin typeface="Calibri" pitchFamily="34" charset="0"/>
                <a:ea typeface="Calibri" pitchFamily="34" charset="-122"/>
                <a:cs typeface="Calibri" pitchFamily="34" charset="-120"/>
              </a:rPr>
              <a:t>Team StudyEdge  ·  OUTR, Bhubaneswar  ·  Digital Nurture Hackathon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Odisha University of Technology and Research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Legacy Banking Modernisation Platform</dc:title>
  <dc:subject>PptxGenJS Presentation</dc:subject>
  <dc:creator>Team StudyEdge</dc:creator>
  <cp:lastModifiedBy>Team StudyEdge</cp:lastModifiedBy>
  <cp:revision>1</cp:revision>
  <dcterms:created xsi:type="dcterms:W3CDTF">2026-08-03T20:14:52Z</dcterms:created>
  <dcterms:modified xsi:type="dcterms:W3CDTF">2026-08-03T20:14:52Z</dcterms:modified>
</cp:coreProperties>
</file>