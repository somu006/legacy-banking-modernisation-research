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BANKING AND FINANCE TECHNOLOGY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Nurture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2026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45720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StudyEdge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919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OUTR, Bhubaneswar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54132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Tamanna Panda (team lead)  ·  Swayam Subhankar Sahoo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Adyasha Das  ·  Soumyajit Sarkar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83480" y="1572768"/>
            <a:ext cx="667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Banking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Modernisation Platform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983480" y="3246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rewrite behaves exactly like the original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83480" y="388620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migration fails on verification, not translation. We make behavioural equivalence something a bank can actually prove.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580644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COBOL   ·   GnuCOBOL   ·   differential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—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Forty years of undocumented change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340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COBOL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633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savings-interest engine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07664" y="1572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07664" y="2340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it was written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07664" y="2633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authors retired long ago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75248" y="1572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75248" y="2340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 since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75248" y="2633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a fix for a real incident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42832" y="1572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942832" y="2340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of specification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42832" y="2633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states what it should do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45643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tolerance for error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3877056"/>
            <a:ext cx="5989320" cy="548640"/>
          </a:xfrm>
          <a:prstGeom prst="roundRect">
            <a:avLst>
              <a:gd name="adj" fmla="val 11667"/>
            </a:avLst>
          </a:prstGeom>
          <a:solidFill>
            <a:srgbClr val="1623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59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drift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63240" y="3959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silent, compounding, discovered at audit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5989320" cy="548640"/>
          </a:xfrm>
          <a:prstGeom prst="roundRect">
            <a:avLst>
              <a:gd name="adj" fmla="val 11667"/>
            </a:avLst>
          </a:prstGeom>
          <a:solidFill>
            <a:srgbClr val="16233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617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boundaries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63240" y="46177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mature on the wrong day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193792"/>
            <a:ext cx="5989320" cy="548640"/>
          </a:xfrm>
          <a:prstGeom prst="roundRect">
            <a:avLst>
              <a:gd name="adj" fmla="val 11667"/>
            </a:avLst>
          </a:prstGeom>
          <a:solidFill>
            <a:srgbClr val="16233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2760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logic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63240" y="52760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rate applied to an entire tier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49440" y="3456432"/>
            <a:ext cx="4599432" cy="2395728"/>
          </a:xfrm>
          <a:prstGeom prst="roundRect">
            <a:avLst>
              <a:gd name="adj" fmla="val 2672"/>
            </a:avLst>
          </a:prstGeom>
          <a:solidFill>
            <a:srgbClr val="1B2B47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367588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paisa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223760" y="437083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divergence, across millions of accounts, is a reportable regulatory event — not a bug report.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23760" y="519379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bank keeps running software it cannot safely change. Nobody is being irrational.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—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thinks this is a translation problem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440680" cy="3291840"/>
          </a:xfrm>
          <a:prstGeom prst="roundRect">
            <a:avLst>
              <a:gd name="adj" fmla="val 1944"/>
            </a:avLst>
          </a:prstGeom>
          <a:solidFill>
            <a:srgbClr val="1623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836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— already solved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4086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transpilers have converted COBOL to Java for decades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rewrite code on request, reasonably well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and code-generation platforms are a mature market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40740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half was never the blocker.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64808" y="1627632"/>
            <a:ext cx="5440680" cy="3291840"/>
          </a:xfrm>
          <a:prstGeom prst="roundRect">
            <a:avLst>
              <a:gd name="adj" fmla="val 1944"/>
            </a:avLst>
          </a:prstGeom>
          <a:solidFill>
            <a:srgbClr val="1B2B47"/>
          </a:solidFill>
          <a:ln/>
        </p:spPr>
      </p:sp>
      <p:sp>
        <p:nvSpPr>
          <p:cNvPr id="11" name="Text 9"/>
          <p:cNvSpPr/>
          <p:nvPr/>
        </p:nvSpPr>
        <p:spPr>
          <a:xfrm>
            <a:off x="6739128" y="18836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— the missing half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39128" y="234086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rewrite compiles. It passes the tests the team wrote.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39128" y="31181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say whether it behaves like the system it replaces — because nobody knows what that system does.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39128" y="389534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rewrite does not ship, and the backlog is measured in decades.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285232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 is proof, not production. </a:t>
            </a:r>
            <a:pPr algn="l" indent="0" marL="0">
              <a:buNone/>
            </a:pPr>
            <a:r>
              <a:rPr lang="en-US" sz="1700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the half nobody has built — and the half we build.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—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specification was never written down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Accrual conventions. Rounding on the third decimal. Leap years. Accounts opened on the 31st. Two hundred fixes for real incidents — none of them documented anywhere.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where do those rules live today?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34670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Nowhere.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is the specification.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ways to learn a rule: read 4,000 undocumented lines, run the program and watch it, or ask someone who retired in 2009.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37960" y="1645920"/>
            <a:ext cx="5010912" cy="3200400"/>
          </a:xfrm>
          <a:prstGeom prst="roundRect">
            <a:avLst>
              <a:gd name="adj" fmla="val 2000"/>
            </a:avLst>
          </a:prstGeom>
          <a:solidFill>
            <a:srgbClr val="0A111E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84708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ACCRUAL.CBL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0" y="2231136"/>
            <a:ext cx="4462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WS-INT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ROUNDED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WS-PRIN * WS-RATE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WS-DAYS / 36500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WS-DOM &gt; 28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PERFORM MONTH-END-FIX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5029200"/>
            <a:ext cx="501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—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ROUNDED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decides how a few hundred crore of interest is settled. It is documented nowhere but here.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— THE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modernisation as a verification problem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64992" cy="3017520"/>
          </a:xfrm>
          <a:prstGeom prst="roundRect">
            <a:avLst>
              <a:gd name="adj" fmla="val 2121"/>
            </a:avLst>
          </a:prstGeom>
          <a:solidFill>
            <a:srgbClr val="16233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E894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816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legacy source into functional units and state each unit's business rules in plain language — every rule traced to the exact lines that produce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32504" y="3081528"/>
            <a:ext cx="365760" cy="237744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10" name="Shape 8"/>
          <p:cNvSpPr/>
          <p:nvPr/>
        </p:nvSpPr>
        <p:spPr>
          <a:xfrm>
            <a:off x="4416552" y="1691640"/>
            <a:ext cx="3364992" cy="3017520"/>
          </a:xfrm>
          <a:prstGeom prst="roundRect">
            <a:avLst>
              <a:gd name="adj" fmla="val 2121"/>
            </a:avLst>
          </a:prstGeom>
          <a:solidFill>
            <a:srgbClr val="16233A"/>
          </a:solidFill>
          <a:ln/>
        </p:spPr>
      </p:sp>
      <p:sp>
        <p:nvSpPr>
          <p:cNvPr id="11" name="Shape 9"/>
          <p:cNvSpPr/>
          <p:nvPr/>
        </p:nvSpPr>
        <p:spPr>
          <a:xfrm>
            <a:off x="4690872" y="1965960"/>
            <a:ext cx="566928" cy="566928"/>
          </a:xfrm>
          <a:prstGeom prst="ellipse">
            <a:avLst/>
          </a:prstGeom>
          <a:solidFill>
            <a:srgbClr val="E894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872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90872" y="26974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Reimplement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90872" y="3154680"/>
            <a:ext cx="2816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modern equivalent. Deliberately the commodity step — the least interesting part of the system.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08976" y="3081528"/>
            <a:ext cx="365760" cy="237744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93024" y="1691640"/>
            <a:ext cx="3364992" cy="3017520"/>
          </a:xfrm>
          <a:prstGeom prst="roundRect">
            <a:avLst>
              <a:gd name="adj" fmla="val 2121"/>
            </a:avLst>
          </a:prstGeom>
          <a:solidFill>
            <a:srgbClr val="1B2B47"/>
          </a:solidFill>
          <a:ln/>
        </p:spPr>
      </p:sp>
      <p:sp>
        <p:nvSpPr>
          <p:cNvPr id="17" name="Shape 15"/>
          <p:cNvSpPr/>
          <p:nvPr/>
        </p:nvSpPr>
        <p:spPr>
          <a:xfrm>
            <a:off x="8467344" y="1965960"/>
            <a:ext cx="566928" cy="566928"/>
          </a:xfrm>
          <a:prstGeom prst="ellipse">
            <a:avLst/>
          </a:prstGeom>
          <a:solidFill>
            <a:srgbClr val="E8942E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67344" y="26974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67344" y="3154680"/>
            <a:ext cx="2816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boundary-targeting inputs, execute both programs on every one, and diff the outputs. Divergences come back as concrete failing cases.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074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alone is not the deliverable.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confidently stated wrong rule is more dangerous than no rule at all — which is why step 03 exists.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— THE KEY IDEA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system is its own correctness oracle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normally requires knowing the right answer in advance. Here, the program being replaced already defines it — by running. Ground truth comes free from the thing being retired.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98648"/>
            <a:ext cx="2286000" cy="603504"/>
          </a:xfrm>
          <a:prstGeom prst="roundRect">
            <a:avLst>
              <a:gd name="adj" fmla="val 10606"/>
            </a:avLst>
          </a:prstGeom>
          <a:solidFill>
            <a:srgbClr val="16233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96265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corpus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32186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 cases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20440" y="2395728"/>
            <a:ext cx="2286000" cy="603504"/>
          </a:xfrm>
          <a:prstGeom prst="roundRect">
            <a:avLst>
              <a:gd name="adj" fmla="val 10606"/>
            </a:avLst>
          </a:prstGeom>
          <a:solidFill>
            <a:srgbClr val="1B2B47"/>
          </a:solidFill>
          <a:ln/>
        </p:spPr>
      </p:sp>
      <p:sp>
        <p:nvSpPr>
          <p:cNvPr id="9" name="Text 7"/>
          <p:cNvSpPr/>
          <p:nvPr/>
        </p:nvSpPr>
        <p:spPr>
          <a:xfrm>
            <a:off x="3685032" y="24597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program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85032" y="271576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 truth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3401568"/>
            <a:ext cx="2286000" cy="603504"/>
          </a:xfrm>
          <a:prstGeom prst="roundRect">
            <a:avLst>
              <a:gd name="adj" fmla="val 10606"/>
            </a:avLst>
          </a:prstGeom>
          <a:solidFill>
            <a:srgbClr val="1B2B47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346557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85032" y="37216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2898648"/>
            <a:ext cx="2286000" cy="603504"/>
          </a:xfrm>
          <a:prstGeom prst="roundRect">
            <a:avLst>
              <a:gd name="adj" fmla="val 10606"/>
            </a:avLst>
          </a:prstGeom>
          <a:solidFill>
            <a:srgbClr val="16233A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296265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65392" y="32186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 compare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81160" y="2898648"/>
            <a:ext cx="2286000" cy="603504"/>
          </a:xfrm>
          <a:prstGeom prst="roundRect">
            <a:avLst>
              <a:gd name="adj" fmla="val 10606"/>
            </a:avLst>
          </a:prstGeom>
          <a:solidFill>
            <a:srgbClr val="16233A"/>
          </a:solidFill>
          <a:ln/>
        </p:spPr>
      </p:sp>
      <p:sp>
        <p:nvSpPr>
          <p:cNvPr id="18" name="Text 16"/>
          <p:cNvSpPr/>
          <p:nvPr/>
        </p:nvSpPr>
        <p:spPr>
          <a:xfrm>
            <a:off x="9445752" y="296265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45752" y="32186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/ fail per case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35808" y="3081528"/>
            <a:ext cx="365760" cy="237744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21" name="Shape 19"/>
          <p:cNvSpPr/>
          <p:nvPr/>
        </p:nvSpPr>
        <p:spPr>
          <a:xfrm>
            <a:off x="5916168" y="3081528"/>
            <a:ext cx="365760" cy="237744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22" name="Shape 20"/>
          <p:cNvSpPr/>
          <p:nvPr/>
        </p:nvSpPr>
        <p:spPr>
          <a:xfrm>
            <a:off x="8796528" y="3081528"/>
            <a:ext cx="365760" cy="237744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4572000"/>
            <a:ext cx="10908792" cy="960120"/>
          </a:xfrm>
          <a:prstGeom prst="roundRect">
            <a:avLst>
              <a:gd name="adj" fmla="val 6667"/>
            </a:avLst>
          </a:prstGeom>
          <a:solidFill>
            <a:srgbClr val="0A111E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791456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9,999.995 · leap-year accrual   →   legacy </a:t>
            </a:r>
            <a:pPr indent="0" marL="0">
              <a:buNone/>
            </a:pPr>
            <a:r>
              <a:rPr lang="en-US" sz="1300" b="1" dirty="0">
                <a:solidFill>
                  <a:srgbClr val="5BB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1042.50</a:t>
            </a:r>
            <a:pPr indent="0" marL="0"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vs   rewrite </a:t>
            </a:r>
            <a:pPr indent="0" marL="0">
              <a:buNone/>
            </a:pPr>
            <a:r>
              <a:rPr lang="en-US" sz="1300" b="1" dirty="0">
                <a:solidFill>
                  <a:srgbClr val="E257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1042.51</a:t>
            </a:r>
            <a:pPr indent="0" marL="0"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300" b="1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MISMATCH — reproducible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74243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mismatch is a specific failing case an engineer can act on in a minute — not a warning, not a probability, not a confidence score.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— WHAT MAKES IT MORE THAN A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 and testing audit each other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3063240"/>
          </a:xfrm>
          <a:prstGeom prst="roundRect">
            <a:avLst>
              <a:gd name="adj" fmla="val 2090"/>
            </a:avLst>
          </a:prstGeom>
          <a:solidFill>
            <a:srgbClr val="1623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938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sharpens testing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rule: balances below ₹10,000 accrue at 3.5%, above at 4%.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generator now knows ₹10,000 is a boundary — and fires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9,999   ·   10,000   ·   10,001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73952" y="1691640"/>
            <a:ext cx="5074920" cy="3063240"/>
          </a:xfrm>
          <a:prstGeom prst="roundRect">
            <a:avLst>
              <a:gd name="adj" fmla="val 2090"/>
            </a:avLst>
          </a:prstGeom>
          <a:solidFill>
            <a:srgbClr val="1B2B47"/>
          </a:solidFill>
          <a:ln/>
        </p:spPr>
      </p:sp>
      <p:sp>
        <p:nvSpPr>
          <p:cNvPr id="9" name="Text 7"/>
          <p:cNvSpPr/>
          <p:nvPr/>
        </p:nvSpPr>
        <p:spPr>
          <a:xfrm>
            <a:off x="6748272" y="192938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audits extraction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execution contradicts a stated rule, the rule is wrong — the model lied, and the lie is caught before an engineer builds on it. It goes back for re-extraction.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48272" y="3886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reaches the final spec unaudited.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88152" y="2651760"/>
            <a:ext cx="612648" cy="274320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13" name="Shape 11"/>
          <p:cNvSpPr/>
          <p:nvPr/>
        </p:nvSpPr>
        <p:spPr>
          <a:xfrm>
            <a:off x="5788152" y="3520440"/>
            <a:ext cx="612648" cy="274320"/>
          </a:xfrm>
          <a:prstGeom prst="leftArrow">
            <a:avLst/>
          </a:prstGeom>
          <a:solidFill>
            <a:srgbClr val="2E406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7492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half works alone.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reciprocity is what separates the system from “a language model reads your code.”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— OUTCOME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artifacts the institution keeps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16233A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8470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specification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96112" y="2231136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traceable documentation for a system that never had any.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4256" y="164592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4590288" y="18470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regression suite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590288" y="2231136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input–output pairs, retained permanently by the institution.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28432" y="164592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16233A"/>
          </a:solidFill>
          <a:ln/>
        </p:spPr>
      </p:sp>
      <p:sp>
        <p:nvSpPr>
          <p:cNvPr id="11" name="Text 9"/>
          <p:cNvSpPr/>
          <p:nvPr/>
        </p:nvSpPr>
        <p:spPr>
          <a:xfrm>
            <a:off x="8284464" y="18470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equivalence claim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84464" y="2231136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— the artifact someone can actually sign.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4015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hold their value even if the migration is never approved — the bank ends up with documentation and tests for a system it previously could not touch.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0416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tight by design: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interest accrual, executed for real via GnuCOBOL on a laptop. Every rule ships marked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(proven by execution) or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unproven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(flagged, never silently trusted). Coverage is reported, not assumed.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956048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else will tell you their AI works.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40080" y="5449824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mechanism that catches ours being wrong.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Banking Modernisation Platform</dc:title>
  <dc:subject>PptxGenJS Presentation</dc:subject>
  <dc:creator>Team StudyEdge</dc:creator>
  <cp:lastModifiedBy>Team StudyEdge</cp:lastModifiedBy>
  <cp:revision>1</cp:revision>
  <dcterms:created xsi:type="dcterms:W3CDTF">2026-08-03T19:16:41Z</dcterms:created>
  <dcterms:modified xsi:type="dcterms:W3CDTF">2026-08-03T19:16:41Z</dcterms:modified>
</cp:coreProperties>
</file>