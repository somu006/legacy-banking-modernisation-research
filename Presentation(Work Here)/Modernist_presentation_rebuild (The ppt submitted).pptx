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29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everyone proves the rewrite matches the legacy; we also ask whether the legacy matches the regulator, and we report the answer per business rule. Scope: COBOL interest-accrual programs executed via GnuCOBOL. Whole-system migration is out of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1.9 million customer figure often quoted for TSB is press reporting, not the FCA — the regulator says 'a significant proportion of its 5.2 million customers'. That is why the slide does not use it. HDFC is the example that matters for an Indian panel: an IT failure froze the bank's product roadmap for over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quote in the footer is verbatim from the paper's abstract — verified word for word. Do not paraphrase it as 'IBM says its product does not work'; the paper's point is that validation is necessary, which is our point too. Be generous to the incumbents. The 91.2% / under-20% pair is the sharpest argument in the deck and it comes from someone else's paper: AgentModernize captured 91.2% of gold-standard rules but its Behavioural Equivalence Rate was 9.4%, 8.1% and 19.4% across three models, with baselines at 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reciprocal loop: extracted rules feed the input generator, and the differential run then catches the extraction layer stating rules that are wrong. Neither half works alone. The intake gate matters: the tool refuses programs it cannot verify soundly, with a reason, rather than producing a confident wrong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dashed red arrows are the reciprocal loop: extracted rules feed the input generator, and those inputs drive both implementations — the differential run then catches the extraction layer stating rules that are wrong. Neither half works alone. LLM calls are confined to two bounded points; everything else is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regulator claim is the strongest in the deck, and it survived a deliberate falsification pass: Locksmith (arXiv 2607.28271) has no regulatory checks; AgentModernize has none; EvolveWare is static documentation with no execution. Say 'warrants a compliance review', never 'this is a breach'. On verdicts: rule-level reporting exists (AgentModernize's BRPS); what we could not find anywhere is requiring the boundary to be behaviourally live, issuing a refutation verdict on self-extracted rules, and injecting faults into the oracle to score corpus adequacy. REFUTED means 'contradicted by the evidence we have', never 'false' — always show the counterexample.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COBOL interest-accrual programs executed via GnuCOBOL. Whole-system migration is out of scope. The intake gate matters: the tool refuses programs it cannot verify soundly, with a reason, rather than producing a confident wrong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annotated bibliography, with a confidence rating per source and a record of which claims were independently re-verified, is in the research dossier accompanying this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648206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NURTURE HACKATHON 2026 · BANKING AND FINANCE 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3490" y="2904431"/>
            <a:ext cx="16533056" cy="2058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327"/>
              </a:lnSpc>
              <a:buNone/>
            </a:pPr>
            <a:r>
              <a:rPr lang="en-US" sz="7800" b="1" kern="0" spc="-15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Banking Modernisation Platform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43000" y="6239570"/>
            <a:ext cx="975893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migration fails on verification, not translation. We make behavioural equivalence something a bank can prove, then check that answer against the regulator.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8513763"/>
            <a:ext cx="199487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70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StudyEdge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3147020" y="8520113"/>
            <a:ext cx="7138016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Odisha University of Technology and Research, Bhubaneswar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143000" y="9079706"/>
            <a:ext cx="915111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Tamanna Panda · Adyasha Das · Soumyajit Sarkar · Swayam Subhankar Sahoo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648206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banks run on code nobody can safely change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143000" y="28856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1142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1143000" y="40477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top 100 banks worldwide run on IBM mainframes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5257800" y="28856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257800" y="31142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5257800" y="40477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banking systems still run COBOL written decades ago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372600" y="28856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372600" y="31142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$1bn</a:t>
            </a:r>
            <a:endParaRPr lang="en-US" sz="6300" dirty="0"/>
          </a:p>
        </p:txBody>
      </p:sp>
      <p:sp>
        <p:nvSpPr>
          <p:cNvPr id="13" name="Text 11"/>
          <p:cNvSpPr/>
          <p:nvPr/>
        </p:nvSpPr>
        <p:spPr>
          <a:xfrm>
            <a:off x="9372600" y="40477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5–10 years to upgrade Indian core banking systems (BCG)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3487400" y="28856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487400" y="31142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13487400" y="40477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 state what those programs should do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43000" y="5171679"/>
            <a:ext cx="17602200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059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bank guesses wrong, it is a supervisory event, not a bug report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143000" y="58177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082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TSB, United Kingdom — 2018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43000" y="6492082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core migration failed at cutover. The FCA and PRA fined TSB £48.65m for operational risk and governance failings, and £32.7m went in customer redress. Business as usual took eight months to return.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6629400" y="58177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60082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Bank, India — 2020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629400" y="6492082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repeated outages the RBI halted every Digital 2.0 launch and froze new credit-card issuance. The card freeze lifted only in August 2021; the digital freeze ran into 2022.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2115800" y="58177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115800" y="60082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backlog is decades long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2115800" y="6492082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one-paisa divergence across millions of accounts is a reportable regulatory event. Refusing to touch the system is the correct decision under the bank’s own risk framework.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648206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UNSOLVED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is solved. Proof is not.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143000" y="2771378"/>
            <a:ext cx="27279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961878"/>
            <a:ext cx="300071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source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3404791"/>
            <a:ext cx="2809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lines · 1987 ~200 undocumented edits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66170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461470" y="2771378"/>
            <a:ext cx="27279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461470" y="2961878"/>
            <a:ext cx="300071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461470" y="3404791"/>
            <a:ext cx="2809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transpilers · LLMs AWS · IBM · TCS ship this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8464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7779941" y="2771378"/>
            <a:ext cx="27280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779941" y="2961878"/>
            <a:ext cx="300082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Java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779941" y="3404791"/>
            <a:ext cx="280986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 · passes the tests you wrote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0321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1098511" y="2771378"/>
            <a:ext cx="340995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8" name="Text 16"/>
          <p:cNvSpPr/>
          <p:nvPr/>
        </p:nvSpPr>
        <p:spPr>
          <a:xfrm>
            <a:off x="11098511" y="2961878"/>
            <a:ext cx="3750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098511" y="3404791"/>
            <a:ext cx="351224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anyone prove the new program behaves identically to the old one?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0371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5099011" y="2771378"/>
            <a:ext cx="204599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5099011" y="2961878"/>
            <a:ext cx="225058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5099011" y="3404791"/>
            <a:ext cx="22505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reached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4595416"/>
            <a:ext cx="927555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93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specification was ever written — the rules live only inside the code. Asking an AI to explain them looks excellent, and a meaningful share of the output is wrong: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1430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300" dirty="0"/>
          </a:p>
        </p:txBody>
      </p:sp>
      <p:sp>
        <p:nvSpPr>
          <p:cNvPr id="27" name="Text 25"/>
          <p:cNvSpPr/>
          <p:nvPr/>
        </p:nvSpPr>
        <p:spPr>
          <a:xfrm>
            <a:off x="11430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of the best published COBOL rule extractor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1430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A-COBREX, ICSE 2025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6294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91.2%</a:t>
            </a:r>
            <a:endParaRPr lang="en-US" sz="6300" dirty="0"/>
          </a:p>
        </p:txBody>
      </p:sp>
      <p:sp>
        <p:nvSpPr>
          <p:cNvPr id="31" name="Text 29"/>
          <p:cNvSpPr/>
          <p:nvPr/>
        </p:nvSpPr>
        <p:spPr>
          <a:xfrm>
            <a:off x="66294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business rules successfully extracted by a 2026 system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66294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AgentModernize, arXiv 2605.17535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1158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21158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&lt;20%</a:t>
            </a:r>
            <a:endParaRPr lang="en-US" sz="6300" dirty="0"/>
          </a:p>
        </p:txBody>
      </p:sp>
      <p:sp>
        <p:nvSpPr>
          <p:cNvPr id="35" name="Text 33"/>
          <p:cNvSpPr/>
          <p:nvPr/>
        </p:nvSpPr>
        <p:spPr>
          <a:xfrm>
            <a:off x="121158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equivalence reached by that same system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121158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scored 0.0%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43000" y="7910116"/>
            <a:ext cx="11811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8100616"/>
            <a:ext cx="12992100" cy="336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729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works. Behavioural equivalence does not follow from it. </a:t>
            </a:r>
            <a:r>
              <a:rPr lang="en-US" sz="2100" b="1" kern="0" spc="-3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has to be the product.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648206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pipeline, with the AI on a short leash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143000" y="2733278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914253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019300" y="2958703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gate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838950" y="2990453"/>
            <a:ext cx="761314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/ DB / CICS detected? REFUSED — non-deterministic, cannot be verified soundly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876066" y="295552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28466" y="302220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3761978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942953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019300" y="3987403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slice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6838950" y="4019153"/>
            <a:ext cx="81305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AST → rule slices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876066" y="398422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28466" y="405090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453727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718249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019300" y="4762699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rules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6838950" y="4794449"/>
            <a:ext cx="81305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line citations from the slice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353680" y="4759523"/>
            <a:ext cx="2791321" cy="3619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2" name="Text 20"/>
          <p:cNvSpPr/>
          <p:nvPr/>
        </p:nvSpPr>
        <p:spPr>
          <a:xfrm>
            <a:off x="14506080" y="4826198"/>
            <a:ext cx="276565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43000" y="5312569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5455444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2019300" y="5499894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Rule-directed input generation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6838950" y="5531644"/>
            <a:ext cx="761314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extracted rules say where the boundaries are — ₹99,999 / ₹1,00,000 / ₹1,00,001 · ₹0.50 rounding midpoints · 29 February · month and quarter ends · zero and maximum values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876066" y="5496719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28466" y="5563394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43000" y="7808119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656034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6703219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2019300" y="6747669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and compare — three ways</a:t>
            </a:r>
            <a:endParaRPr lang="en-US" sz="2175" dirty="0"/>
          </a:p>
        </p:txBody>
      </p:sp>
      <p:sp>
        <p:nvSpPr>
          <p:cNvPr id="33" name="Text 31"/>
          <p:cNvSpPr/>
          <p:nvPr/>
        </p:nvSpPr>
        <p:spPr>
          <a:xfrm>
            <a:off x="6838950" y="6779419"/>
            <a:ext cx="761314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input, three outputs: legacy COBOL (GnuCOBOL — the oracle) · reimplementation (generated Java, untrusted) · RBI Direction (the third reference)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4876066" y="6744494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28466" y="6811169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43000" y="8131969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7" name="Text 35"/>
          <p:cNvSpPr/>
          <p:nvPr/>
        </p:nvSpPr>
        <p:spPr>
          <a:xfrm>
            <a:off x="1143000" y="8322469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verdicts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1143000" y="8751491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· unproven · refuted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257800" y="8131969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0" name="Text 38"/>
          <p:cNvSpPr/>
          <p:nvPr/>
        </p:nvSpPr>
        <p:spPr>
          <a:xfrm>
            <a:off x="5257800" y="8322469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score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5257800" y="8751491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strong is this claim?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372600" y="8131969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3" name="Text 41"/>
          <p:cNvSpPr/>
          <p:nvPr/>
        </p:nvSpPr>
        <p:spPr>
          <a:xfrm>
            <a:off x="9372600" y="8322469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findings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9372600" y="8751491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vs the regulator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3487400" y="8131969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6" name="Text 44"/>
          <p:cNvSpPr/>
          <p:nvPr/>
        </p:nvSpPr>
        <p:spPr>
          <a:xfrm>
            <a:off x="13487400" y="8322469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bundle</a:t>
            </a:r>
            <a:endParaRPr lang="en-US" sz="2025" dirty="0"/>
          </a:p>
        </p:txBody>
      </p:sp>
      <p:sp>
        <p:nvSpPr>
          <p:cNvPr id="47" name="Text 45"/>
          <p:cNvSpPr/>
          <p:nvPr/>
        </p:nvSpPr>
        <p:spPr>
          <a:xfrm>
            <a:off x="13487400" y="8751491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· tests · signed claim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648206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pipeline, end to end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143000" y="265707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272375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02434" y="2657078"/>
            <a:ext cx="2791321" cy="3619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8" name="Text 6"/>
          <p:cNvSpPr/>
          <p:nvPr/>
        </p:nvSpPr>
        <p:spPr>
          <a:xfrm>
            <a:off x="3754834" y="2723753"/>
            <a:ext cx="276565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4256" y="2666603"/>
            <a:ext cx="829665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— the reciprocal loop: rules pick the inputs, the run checks the rules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3287613"/>
            <a:ext cx="1600200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648206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nobody else does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143000" y="2695178"/>
            <a:ext cx="109619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differential mechanism itself is prior art. IBM, AWS, Mechanical Orchard and a paper published five days ago all ship a version of it, and we say so. These three are ours.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430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7" name="Shape 5"/>
          <p:cNvSpPr/>
          <p:nvPr/>
        </p:nvSpPr>
        <p:spPr>
          <a:xfrm>
            <a:off x="1409700" y="396388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638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9300" y="3876278"/>
            <a:ext cx="4081272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check the legacy against the regulator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09700" y="4622999"/>
            <a:ext cx="470916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treats the legacy as correct by definition. A program written in 1987 can breach a Direction issued decades later, so we add a third reference.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09700" y="593744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562100" y="6042224"/>
            <a:ext cx="1346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R = Reg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44950" y="6042224"/>
            <a:ext cx="19627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compliant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09700" y="651847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1562100" y="6623249"/>
            <a:ext cx="6124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≠ 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86225" y="6623249"/>
            <a:ext cx="19173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defect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09700" y="709949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1562100" y="7204274"/>
            <a:ext cx="1337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R ≠ Reg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96854" y="7204274"/>
            <a:ext cx="1795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breach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09700" y="768052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1562100" y="7785299"/>
            <a:ext cx="1337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≠ R = Reg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19476" y="7785299"/>
            <a:ext cx="17708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correction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09700" y="8318699"/>
            <a:ext cx="47091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third row needs a regulator. No other tool can see it.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913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96388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6" name="Text 24"/>
          <p:cNvSpPr/>
          <p:nvPr/>
        </p:nvSpPr>
        <p:spPr>
          <a:xfrm>
            <a:off x="6819900" y="39638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67600" y="3876278"/>
            <a:ext cx="4081272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result for every rule, not every test case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858000" y="4622999"/>
            <a:ext cx="4709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a line is not testing the rule it encodes. A rule counts as confirmed only when all three checks hold.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858000" y="564217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0" name="Shape 28"/>
          <p:cNvSpPr/>
          <p:nvPr/>
        </p:nvSpPr>
        <p:spPr>
          <a:xfrm>
            <a:off x="7010400" y="5751711"/>
            <a:ext cx="285750" cy="285750"/>
          </a:xfrm>
          <a:prstGeom prst="rect">
            <a:avLst/>
          </a:prstGeom>
          <a:solidFill>
            <a:srgbClr val="444141"/>
          </a:solidFill>
          <a:ln/>
        </p:spPr>
      </p:sp>
      <p:sp>
        <p:nvSpPr>
          <p:cNvPr id="31" name="Text 29"/>
          <p:cNvSpPr/>
          <p:nvPr/>
        </p:nvSpPr>
        <p:spPr>
          <a:xfrm>
            <a:off x="6972300" y="575171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29500" y="5746949"/>
            <a:ext cx="33477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rule’s lines ran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858000" y="6223199"/>
            <a:ext cx="45720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4" name="Shape 32"/>
          <p:cNvSpPr/>
          <p:nvPr/>
        </p:nvSpPr>
        <p:spPr>
          <a:xfrm>
            <a:off x="7010400" y="6480374"/>
            <a:ext cx="285750" cy="2857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5" name="Text 33"/>
          <p:cNvSpPr/>
          <p:nvPr/>
        </p:nvSpPr>
        <p:spPr>
          <a:xfrm>
            <a:off x="6972300" y="648037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29500" y="6327974"/>
            <a:ext cx="396354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Discriminating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boundary changed the output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858000" y="7099499"/>
            <a:ext cx="45720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8" name="Shape 36"/>
          <p:cNvSpPr/>
          <p:nvPr/>
        </p:nvSpPr>
        <p:spPr>
          <a:xfrm>
            <a:off x="7010400" y="7356674"/>
            <a:ext cx="285750" cy="285750"/>
          </a:xfrm>
          <a:prstGeom prst="rect">
            <a:avLst/>
          </a:prstGeom>
          <a:solidFill>
            <a:srgbClr val="444141"/>
          </a:solidFill>
          <a:ln/>
        </p:spPr>
      </p:sp>
      <p:sp>
        <p:nvSpPr>
          <p:cNvPr id="39" name="Text 37"/>
          <p:cNvSpPr/>
          <p:nvPr/>
        </p:nvSpPr>
        <p:spPr>
          <a:xfrm>
            <a:off x="6972300" y="735667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429500" y="7204274"/>
            <a:ext cx="396354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rewrite matched every time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58000" y="8032949"/>
            <a:ext cx="47091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2 is the one that catches our own extraction inventing a rule that is not in the program.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0396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43" name="Shape 41"/>
          <p:cNvSpPr/>
          <p:nvPr/>
        </p:nvSpPr>
        <p:spPr>
          <a:xfrm>
            <a:off x="12306300" y="387627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4" name="Text 42"/>
          <p:cNvSpPr/>
          <p:nvPr/>
        </p:nvSpPr>
        <p:spPr>
          <a:xfrm>
            <a:off x="12268200" y="387627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915900" y="3941961"/>
            <a:ext cx="2723059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 our own tests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12306300" y="4447778"/>
            <a:ext cx="4709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“Everything passed” proves nothing unless the inputs could have caught a failure. So we break the legacy on purpose.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2306300" y="5466954"/>
            <a:ext cx="4572000" cy="109537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48" name="Text 46"/>
          <p:cNvSpPr/>
          <p:nvPr/>
        </p:nvSpPr>
        <p:spPr>
          <a:xfrm>
            <a:off x="12458700" y="5571729"/>
            <a:ext cx="44043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a deliberate defect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100000 → 100001 · &gt; → &gt;= · delete ROUNDED · 360 → 365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2306300" y="663852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0" name="Text 48"/>
          <p:cNvSpPr/>
          <p:nvPr/>
        </p:nvSpPr>
        <p:spPr>
          <a:xfrm>
            <a:off x="12458700" y="6743304"/>
            <a:ext cx="4404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same input corpus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2306300" y="7219554"/>
            <a:ext cx="22479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2" name="Text 50"/>
          <p:cNvSpPr/>
          <p:nvPr/>
        </p:nvSpPr>
        <p:spPr>
          <a:xfrm>
            <a:off x="12458700" y="7324329"/>
            <a:ext cx="2019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 stands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4630400" y="7219554"/>
            <a:ext cx="22479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4" name="Text 52"/>
          <p:cNvSpPr/>
          <p:nvPr/>
        </p:nvSpPr>
        <p:spPr>
          <a:xfrm>
            <a:off x="14782800" y="7324329"/>
            <a:ext cx="2019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claim it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2306300" y="8153004"/>
            <a:ext cx="47091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equivalence claim ships with its own strength score.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648206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SCOPE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by design, and buildable now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143000" y="27713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961878"/>
            <a:ext cx="854964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kern="0" spc="-3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143000" y="3412827"/>
            <a:ext cx="8005572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compiled and executed via GnuCOBOL — free, open source, runs on a laptop Retail banking interest accrual — pure computation: input in, output out Third-party COBOL, including AWS’s own CardDemo sample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372600" y="27713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372600" y="2961878"/>
            <a:ext cx="854964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kern="0" spc="-3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— detected, not ignored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372600" y="3412827"/>
            <a:ext cx="800557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CICS screens and JCL orchestration Database-coupled programs Anything non-deterministic — system clocks, randomness, external state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72600" y="4546302"/>
            <a:ext cx="80055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testing compares outputs for equality, so non-determinism makes the verdict meaningless. The tool refuses these at intake, with a reason.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5517853"/>
            <a:ext cx="17602200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059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stages — the spine first, the novelty protected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Differential harness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1430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compiles and runs; diff two implementations across an input list.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578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Rules and boundaries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52578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Slice, extract with line citations, derive boundary inputs from the rules.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3726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Per-rule results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3726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mapped back to rules, including the ones we could not confirm.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4874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3" name="Text 21"/>
          <p:cNvSpPr/>
          <p:nvPr/>
        </p:nvSpPr>
        <p:spPr>
          <a:xfrm>
            <a:off x="134874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Regulation and mutation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3487400" y="6707287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RBI reference model, then fault injection to score the corpus.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648206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143000" y="2733278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923778"/>
            <a:ext cx="829818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AND PREPRINTS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3390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Hans, S. et al.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of COBOL to Java Transformation. arXiv:2504.10548.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0311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Pan, R. et al. (2024).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Translation: A Study of Bugs Introduced by LLMs while Translating Code. ICSE 2024, arXiv:2308.03109.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7233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Ahmed, S. N. &amp; Galib, M. (2026).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AgentModernize: Preserving Business Logic in Legacy Modernization. arXiv:2605.17535.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54154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Ferenczi, A. et al. (2026).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Method for Deterministic Validation of Legacy Code Migration. arXiv:2607.28271.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61076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Shah, S. et al.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A-COBREX: Identifying Business Rules in COBOL Programs. ICSE 2025, Demonstrations.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67997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S, C. &amp; Chimalakonda, S.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vs Rule-Based: the COBRAIN Tool. EASE 2025, doi:10.1145/3756681.3756982.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74919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Lwin, N. O. &amp; Kumar, R. (2026).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vs LLM-Controlled Orchestration for COBOL-to-Python Modernization. arXiv:2605.09894.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81840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Barr, E. T. et al. (2015).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Oracle Problem in Software Testing: A Survey. IEEE TSE 41(5), 507–525.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01200" y="2733278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2923778"/>
            <a:ext cx="829818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AND SUPERVISORY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0" y="33199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Bank of India (2016, upd. 2024).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Direction — Interest Rate on Deposits. Clauses 4(f), 6(a), 6(a)(1)–(2).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0" y="39740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Bank of India (2023).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Direction on IT Governance, Risk, Controls and Assurance Practices.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46280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Conduct Authority (2022).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 fined £48.65m for operational resilience failings.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1200" y="5358309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5491659"/>
            <a:ext cx="7770114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AND MARKET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0" y="588783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Consulting Group (2024).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Core Transformations, via Business Standard.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6541889"/>
            <a:ext cx="82981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watsonx Code Assistant for Z — Validation Assistant documentation.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0" y="6910189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Transform for mainframe, generally available.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Orchard.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Imogen platform — generate-validate loop.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1200" y="7932539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0" y="8065889"/>
            <a:ext cx="7770114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STANDARDS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0" y="8423970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Project.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compiler, GPL/LGPL. NIST COBOL-85: 9,700 of 9,748.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Wolf, U.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COBOL Parser, MIT licence.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(1992).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CCVS85 validation system.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1950</Words>
  <Application>Microsoft Office PowerPoint</Application>
  <PresentationFormat>Custom</PresentationFormat>
  <Paragraphs>171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Soumyajit Sarkar</cp:lastModifiedBy>
  <cp:revision>2</cp:revision>
  <dcterms:created xsi:type="dcterms:W3CDTF">2026-08-03T22:55:37Z</dcterms:created>
  <dcterms:modified xsi:type="dcterms:W3CDTF">2026-08-03T22:58:16Z</dcterms:modified>
</cp:coreProperties>
</file>