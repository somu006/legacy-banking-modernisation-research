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1" r:id="rId7"/>
    <p:sldId id="262" r:id="rId8"/>
    <p:sldId id="264" r:id="rId10"/>
    <p:sldId id="265" r:id="rId11"/>
    <p:sldId id="267" r:id="rId13"/>
    <p:sldId id="269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3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5400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everyone proves the rewrite matches the legacy; we also ask whether the legacy matches the regulator, and we report the answer per business rule. Scope: COBOL interest-accrual programs executed via GnuCOBOL. Whole-system migration is out of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1.9 million customer figure often quoted for TSB is press reporting, not the FCA — the regulator says 'a significant proportion of its 5.2 million customers'. That is why the slide does not use it. HDFC is the example that matters for an Indian panel: an IT failure froze the bank's product roadmap for over a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quote in the footer is verbatim from the paper's abstract — verified word for word. Do not paraphrase it as 'IBM says its product does not work'; the paper's point is that validation is necessary, which is our point too. Be generous to the incumbents. The 91.2% / under-20% pair is the sharpest argument in the deck and it comes from someone else's paper: AgentModernize captured 91.2% of gold-standard rules but its Behavioural Equivalence Rate was 9.4%, 8.1% and 19.4% across three models, with baselines at 0.0%.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buyer is whoever signs the cutover memo. Risk and audit own the board-approved Change Management Policy required by RBI's IT Governance Direction (2023) — that is why the output is shaped like an audit artefact, not a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reciprocal loop: extracted rules feed the input generator, and the differential run then catches the extraction layer stating rules that are wrong. Neither half works alone. The intake gate matters: the tool refuses programs it cannot verify soundly, with a reason, rather than producing a confident wrong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dashed red arrows are the reciprocal loop: extracted rules feed the input generator, and those inputs drive both implementations — the differential run then catches the extraction layer stating rules that are wrong. Neither half works alone. LLM calls are confined to two bounded points; everything else is deterministic.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output — the shape the demo is built to produce, not a completed run; say so if asked. The mechanism is real: delta debugging shrinks the failing set to one minimal counterexample, coverage maps it to a rule, and the RBI Direction rules on which side is right. A one-rupee difference matters because it recurs per account, per accrual.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piece is open: GnuCOBOL GPL/LGPL, ProLeap MIT, gcov, NIST CCVS85 and AWS CardDemo. The methodology is compiler-agnostic — inside the bank, swap GnuCOBOL for IBM Enterprise COBOL and the harness is unchanged. No mainframe access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regulator claim is the strongest in the deck, and it survived a deliberate falsification pass: Locksmith (arXiv 2607.28271) has no regulatory checks; AgentModernize has none; EvolveWare is static documentation with no execution. Say 'warrants a compliance review', never 'this is a breach'. On verdicts: rule-level reporting exists (AgentModernize's BRPS); what we could not find anywhere is requiring the boundary to be behaviourally live, issuing a refutation verdict on self-extracted rules, and injecting faults into the oracle to score corpus adequacy. REFUTED means 'contradicted by the evidence we have', never 'false' — always show the counterexample.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claim is not that banks will spend more — the spend is committed. The assurance step has no product category yet; it is absorbed as consulting hours and schedule risk. The ADP figures (80% rule-extraction time, 90%+ manual effort) are AWS's published case study for Transform.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Scope: COBOL interest-accrual programs executed via GnuCOBOL. Whole-system migration is out of scope. The intake gate matters: the tool refuses programs it cannot verify soundly, with a reason, rather than producing a confident wrong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single compliance page: every CII template field, one line each, with pointers into the deck. Do not read it out - name the three column heads and move on. Effort figures are our own estimates.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figures indicative and effort-based — no licence or infrastructure spend is assumed because none is required. The TSB numbers are the cost of not solving: £48.65m fine, £32.7m redress, ~£400m total cost, CEO resigned, CIO personally fined £81,620 — and the regulator's finding was about assurance, not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annotated bibliography, with a confidence rating per source and a record of which claims were independently re-verified, is in the research dossier accompanying this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10386586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CII EASTERN REGION HACKATHON · BANKING AND FINANCE TECHNOLOGY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3490" y="1959570"/>
            <a:ext cx="16533056" cy="2058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2327"/>
              </a:lnSpc>
              <a:buNone/>
            </a:pPr>
            <a:r>
              <a:rPr lang="en-US" sz="7800" b="1" kern="0" spc="-15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Banking Modernisation Platform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143000" y="4399359"/>
            <a:ext cx="674581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696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Proving the rewrite behaves exactly like the original.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43000" y="5770959"/>
            <a:ext cx="975893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migration fails on verification, not translation. We make behavioural equivalence something a bank can prove, then check that answer against the regulator.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143000" y="7333059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7792145"/>
            <a:ext cx="2311202" cy="361950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7858820"/>
            <a:ext cx="2237522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kern="0" spc="108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COBOL SOURCE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44702" y="7693953"/>
            <a:ext cx="289917" cy="421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386"/>
              </a:lnSpc>
              <a:buNone/>
            </a:pPr>
            <a:r>
              <a:rPr lang="en-US" sz="195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4048919" y="7792145"/>
            <a:ext cx="1314351" cy="361950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12" name="Text 10"/>
          <p:cNvSpPr/>
          <p:nvPr/>
        </p:nvSpPr>
        <p:spPr>
          <a:xfrm>
            <a:off x="4201319" y="7858820"/>
            <a:ext cx="1140986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kern="0" spc="10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55956" y="7703642"/>
            <a:ext cx="289917" cy="421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386"/>
              </a:lnSpc>
              <a:buNone/>
            </a:pPr>
            <a:r>
              <a:rPr lang="en-US" sz="195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957987" y="7792145"/>
            <a:ext cx="868363" cy="3619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15" name="Text 13"/>
          <p:cNvSpPr/>
          <p:nvPr/>
        </p:nvSpPr>
        <p:spPr>
          <a:xfrm>
            <a:off x="6110387" y="7858820"/>
            <a:ext cx="650399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kern="0" spc="108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16850" y="7693953"/>
            <a:ext cx="289917" cy="421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386"/>
              </a:lnSpc>
              <a:buNone/>
            </a:pPr>
            <a:r>
              <a:rPr lang="en-US" sz="195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7421067" y="7792145"/>
            <a:ext cx="1453555" cy="361950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18" name="Text 16"/>
          <p:cNvSpPr/>
          <p:nvPr/>
        </p:nvSpPr>
        <p:spPr>
          <a:xfrm>
            <a:off x="7573467" y="7858820"/>
            <a:ext cx="129411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kern="0" spc="10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3000" y="8594131"/>
            <a:ext cx="1994872" cy="326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670"/>
              </a:lnSpc>
              <a:buNone/>
            </a:pPr>
            <a:r>
              <a:rPr lang="en-US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StudyEdge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147020" y="8520113"/>
            <a:ext cx="7138016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Odisha University of Technology and Research, Bhubaneswar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143000" y="9079706"/>
            <a:ext cx="9151114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Tamanna Panda · Adyasha Das · Soumyajit Sarkar · Swayam Subhankar Sahoo</a:t>
            </a:r>
            <a:endParaRPr lang="en-US" sz="18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1378992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India’s banks run on code nobody can safely change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6300" dirty="0"/>
          </a:p>
        </p:txBody>
      </p:sp>
      <p:sp>
        <p:nvSpPr>
          <p:cNvPr id="8" name="Text 6"/>
          <p:cNvSpPr/>
          <p:nvPr/>
        </p:nvSpPr>
        <p:spPr>
          <a:xfrm>
            <a:off x="1143000" y="3895328"/>
            <a:ext cx="37673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top 100 banks worldwide run on IBM mainframes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52578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2578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40%+</a:t>
            </a:r>
            <a:endParaRPr lang="en-US" sz="6300" dirty="0"/>
          </a:p>
        </p:txBody>
      </p:sp>
      <p:sp>
        <p:nvSpPr>
          <p:cNvPr id="11" name="Text 9"/>
          <p:cNvSpPr/>
          <p:nvPr/>
        </p:nvSpPr>
        <p:spPr>
          <a:xfrm>
            <a:off x="5257800" y="3895328"/>
            <a:ext cx="37673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banking systems still run COBOL written decades ago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3726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3726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$1bn</a:t>
            </a:r>
            <a:endParaRPr lang="en-US" sz="6300" dirty="0"/>
          </a:p>
        </p:txBody>
      </p:sp>
      <p:sp>
        <p:nvSpPr>
          <p:cNvPr id="14" name="Text 12"/>
          <p:cNvSpPr/>
          <p:nvPr/>
        </p:nvSpPr>
        <p:spPr>
          <a:xfrm>
            <a:off x="9372600" y="3895328"/>
            <a:ext cx="37673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5–10 years to upgrade Indian core banking systems (BCG)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34874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34874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300" dirty="0"/>
          </a:p>
        </p:txBody>
      </p:sp>
      <p:sp>
        <p:nvSpPr>
          <p:cNvPr id="17" name="Text 15"/>
          <p:cNvSpPr/>
          <p:nvPr/>
        </p:nvSpPr>
        <p:spPr>
          <a:xfrm>
            <a:off x="13487400" y="3895328"/>
            <a:ext cx="37673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specifications state what those programs should do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143000" y="4828778"/>
            <a:ext cx="17602200" cy="379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9059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bank guesses wrong, it is a supervisory event, not a bug report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143000" y="5398691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5589191"/>
            <a:ext cx="5532120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TSB, United Kingdom — 2018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143000" y="6072982"/>
            <a:ext cx="518007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at cutover. £48.65m FCA/PRA fine, £32.7m customer redress; normal service took eight months to return.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6629400" y="5398691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5589191"/>
            <a:ext cx="5532120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 Bank, India — 2020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629400" y="6072982"/>
            <a:ext cx="518007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repeated outages, RBI froze every Digital 2.0 launch and all new cards. Restrictions ran into 2022.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2115800" y="5398691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2115800" y="5589191"/>
            <a:ext cx="5532120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backlog is decades long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2115800" y="6072982"/>
            <a:ext cx="518007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paisa across millions of accounts is a reportable event. Not touching the system is the rational choice.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1143000" y="7311232"/>
            <a:ext cx="365760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143000" y="7431882"/>
            <a:ext cx="3767328" cy="77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195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1987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interest engine written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5257800" y="7311232"/>
            <a:ext cx="365760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257800" y="7431882"/>
            <a:ext cx="3767328" cy="77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195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TSB — £400m failed cutover</a:t>
            </a:r>
            <a:endParaRPr lang="en-US" sz="1125" dirty="0"/>
          </a:p>
        </p:txBody>
      </p:sp>
      <p:sp>
        <p:nvSpPr>
          <p:cNvPr id="32" name="Shape 30"/>
          <p:cNvSpPr/>
          <p:nvPr/>
        </p:nvSpPr>
        <p:spPr>
          <a:xfrm>
            <a:off x="9372600" y="7311232"/>
            <a:ext cx="365760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372600" y="7431882"/>
            <a:ext cx="3767328" cy="77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195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 — RBI freezes the roadmap</a:t>
            </a:r>
            <a:endParaRPr lang="en-US" sz="1125" dirty="0"/>
          </a:p>
        </p:txBody>
      </p:sp>
      <p:sp>
        <p:nvSpPr>
          <p:cNvPr id="34" name="Shape 32"/>
          <p:cNvSpPr/>
          <p:nvPr/>
        </p:nvSpPr>
        <p:spPr>
          <a:xfrm>
            <a:off x="13487400" y="7311232"/>
            <a:ext cx="365760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3487400" y="7431882"/>
            <a:ext cx="3767328" cy="77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195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still deferred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1143000" y="935355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429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FCA press release, Dec 2022 · BCG, Cloud-based Core Transformations, Aug 2024 · RBI supervisory action, Dec 2020.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2831763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IT’S UNSOLVED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is solved. Proof is not.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71378"/>
            <a:ext cx="272792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61878"/>
            <a:ext cx="300071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859"/>
              </a:lnSpc>
              <a:buNone/>
            </a:pPr>
            <a:r>
              <a:rPr lang="en-US" sz="2250" b="1" kern="0" spc="-3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COBOL source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143000" y="3404791"/>
            <a:ext cx="280975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lines · 1987 ~200 undocumented edits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966170" y="2923778"/>
            <a:ext cx="4000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4461470" y="2771378"/>
            <a:ext cx="272792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461470" y="2961878"/>
            <a:ext cx="300071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859"/>
              </a:lnSpc>
              <a:buNone/>
            </a:pPr>
            <a:r>
              <a:rPr lang="en-US" sz="2250" b="1" kern="0" spc="-3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461470" y="3404791"/>
            <a:ext cx="280975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transpilers · LLMs AWS · IBM · TCS ship this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84641" y="2923778"/>
            <a:ext cx="4000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7779941" y="2771378"/>
            <a:ext cx="272802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779941" y="2961878"/>
            <a:ext cx="300082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859"/>
              </a:lnSpc>
              <a:buNone/>
            </a:pPr>
            <a:r>
              <a:rPr lang="en-US" sz="2250" b="1" kern="0" spc="-3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Java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7779941" y="3404791"/>
            <a:ext cx="280986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compiles · passes the tests you wrote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603211" y="2923778"/>
            <a:ext cx="4000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1098511" y="2771378"/>
            <a:ext cx="3409950" cy="190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19" name="Text 17"/>
          <p:cNvSpPr/>
          <p:nvPr/>
        </p:nvSpPr>
        <p:spPr>
          <a:xfrm>
            <a:off x="11098511" y="2961878"/>
            <a:ext cx="375094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859"/>
              </a:lnSpc>
              <a:buNone/>
            </a:pPr>
            <a:r>
              <a:rPr lang="en-US" sz="2250" b="1" kern="0" spc="-3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1098511" y="3404791"/>
            <a:ext cx="3512249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anyone prove the new program behaves identically to the old one?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03711" y="2923778"/>
            <a:ext cx="4000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5099011" y="2771378"/>
            <a:ext cx="204599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5099011" y="2961878"/>
            <a:ext cx="225058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859"/>
              </a:lnSpc>
              <a:buNone/>
            </a:pPr>
            <a:r>
              <a:rPr lang="en-US" sz="2250" b="1" kern="0" spc="-3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5099011" y="3404791"/>
            <a:ext cx="22505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reached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43000" y="4595416"/>
            <a:ext cx="927555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93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specification was ever written — the rules live only in the code. AI explanations look excellent; a meaningful share is wrong: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1143000" y="5490766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5719366"/>
            <a:ext cx="5532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6300" dirty="0"/>
          </a:p>
        </p:txBody>
      </p:sp>
      <p:sp>
        <p:nvSpPr>
          <p:cNvPr id="28" name="Text 26"/>
          <p:cNvSpPr/>
          <p:nvPr/>
        </p:nvSpPr>
        <p:spPr>
          <a:xfrm>
            <a:off x="1143000" y="6652816"/>
            <a:ext cx="518007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of the best published COBOL rule extractor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1143000" y="7395766"/>
            <a:ext cx="55321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A-COBREX, ICSE 2025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629400" y="5490766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5719366"/>
            <a:ext cx="5532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91.2%</a:t>
            </a:r>
            <a:endParaRPr lang="en-US" sz="6300" dirty="0"/>
          </a:p>
        </p:txBody>
      </p:sp>
      <p:sp>
        <p:nvSpPr>
          <p:cNvPr id="32" name="Text 30"/>
          <p:cNvSpPr/>
          <p:nvPr/>
        </p:nvSpPr>
        <p:spPr>
          <a:xfrm>
            <a:off x="6629400" y="6652816"/>
            <a:ext cx="518007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business rules successfully extracted by a 2026 system</a:t>
            </a:r>
            <a:endParaRPr lang="en-US" sz="1875" dirty="0"/>
          </a:p>
        </p:txBody>
      </p:sp>
      <p:sp>
        <p:nvSpPr>
          <p:cNvPr id="33" name="Text 31"/>
          <p:cNvSpPr/>
          <p:nvPr/>
        </p:nvSpPr>
        <p:spPr>
          <a:xfrm>
            <a:off x="6629400" y="7395766"/>
            <a:ext cx="55321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AgentModernize, arXiv 2605.17535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2115800" y="5490766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2115800" y="5719366"/>
            <a:ext cx="5532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&lt;20%</a:t>
            </a:r>
            <a:endParaRPr lang="en-US" sz="6300" dirty="0"/>
          </a:p>
        </p:txBody>
      </p:sp>
      <p:sp>
        <p:nvSpPr>
          <p:cNvPr id="36" name="Text 34"/>
          <p:cNvSpPr/>
          <p:nvPr/>
        </p:nvSpPr>
        <p:spPr>
          <a:xfrm>
            <a:off x="12115800" y="6652816"/>
            <a:ext cx="518007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 equivalence reached by that same system</a:t>
            </a:r>
            <a:endParaRPr lang="en-US" sz="1875" dirty="0"/>
          </a:p>
        </p:txBody>
      </p:sp>
      <p:sp>
        <p:nvSpPr>
          <p:cNvPr id="37" name="Text 35"/>
          <p:cNvSpPr/>
          <p:nvPr/>
        </p:nvSpPr>
        <p:spPr>
          <a:xfrm>
            <a:off x="12115800" y="7395766"/>
            <a:ext cx="55321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baselines scored 0.0%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143000" y="7910116"/>
            <a:ext cx="11811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143000" y="8100616"/>
            <a:ext cx="12992100" cy="336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9729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works. Behavioural equivalence does not follow from it. </a:t>
            </a:r>
            <a:r>
              <a:rPr lang="en-US" sz="2100" b="1" kern="0" spc="-3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has to be the product.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1143000" y="9029700"/>
            <a:ext cx="164820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429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Research, on IBM’s own product: “the resulting code cannot be trusted to correctly translate the original code” (arXiv:2504.10548). If the vendor needs validation, so does the bank.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4786908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 &amp; STAKEHOLDERS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stuck, and what they are stuck on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8475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038078"/>
            <a:ext cx="402336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CIO / core banking head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3478113"/>
            <a:ext cx="376732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the migration decision and the cutover date.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4202013"/>
            <a:ext cx="376732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</a:t>
            </a: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cannot sign off a replacement nobody can prove behaves identically.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257800" y="28475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257800" y="3038078"/>
            <a:ext cx="3767328" cy="6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Risk, compliance and internal audit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257800" y="3784799"/>
            <a:ext cx="376732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the RBI-mandated, board-approved Change Management Policy (2023).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57800" y="4803974"/>
            <a:ext cx="376732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</a:t>
            </a: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 auditable artefact showing old and new agree, case by case.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372600" y="28475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372600" y="3038078"/>
            <a:ext cx="402336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Modernisation vendors and SIs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372600" y="3478113"/>
            <a:ext cx="376732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Cognizant, TCS, Infosys and in-house delivery teams.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372600" y="4202013"/>
            <a:ext cx="376732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</a:t>
            </a: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translation is already commoditised; assurance is what stretches the programme.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487400" y="28475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3487400" y="3038078"/>
            <a:ext cx="402336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supervisor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487400" y="3478113"/>
            <a:ext cx="40233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RBI, and the bank’s own board.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487400" y="3906738"/>
            <a:ext cx="376732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</a:t>
            </a: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 IT failure is a supervisory event, not an engineering incident.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43000" y="6185099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6432749"/>
            <a:ext cx="9035497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263"/>
              </a:lnSpc>
              <a:buNone/>
            </a:pPr>
            <a:r>
              <a:rPr lang="en-US" sz="2700" b="1" kern="0" spc="-4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on this list is short of a translator. Everybody on this list is short of proof.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1143000" y="7408069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buyer is the person who has to sign the cutover memo — and today has nothing to attach to it.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213872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deterministic pipeline, with the AI on a short leash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33278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14253"/>
            <a:ext cx="609600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339"/>
              </a:lnSpc>
              <a:buNone/>
            </a:pPr>
            <a:r>
              <a:rPr lang="en-US" sz="21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019300" y="2958703"/>
            <a:ext cx="4924425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8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gate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6838950" y="2990453"/>
            <a:ext cx="81305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 / DB / CICS detected → refused, with a reason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4876066" y="2955528"/>
            <a:ext cx="2268934" cy="361950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28466" y="3022203"/>
            <a:ext cx="2191028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kern="0" spc="108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3000" y="3508574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689549"/>
            <a:ext cx="609600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339"/>
              </a:lnSpc>
              <a:buNone/>
            </a:pPr>
            <a:r>
              <a:rPr lang="en-US" sz="21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019300" y="3733999"/>
            <a:ext cx="4924425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8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&amp; slice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6838950" y="3765749"/>
            <a:ext cx="81305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ProLeap AST → rule slices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4876066" y="3730823"/>
            <a:ext cx="2268934" cy="361950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028466" y="3797498"/>
            <a:ext cx="2191028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kern="0" spc="108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43000" y="4283869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4464844"/>
            <a:ext cx="609600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339"/>
              </a:lnSpc>
              <a:buNone/>
            </a:pPr>
            <a:r>
              <a:rPr lang="en-US" sz="21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2019300" y="4509294"/>
            <a:ext cx="4924425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8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rules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6838950" y="4541044"/>
            <a:ext cx="81305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line citations from the slice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4353680" y="4506119"/>
            <a:ext cx="2791321" cy="3619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23" name="Text 21"/>
          <p:cNvSpPr/>
          <p:nvPr/>
        </p:nvSpPr>
        <p:spPr>
          <a:xfrm>
            <a:off x="14506080" y="4572794"/>
            <a:ext cx="276565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kern="0" spc="108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LLM CALL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43000" y="5059164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5202039"/>
            <a:ext cx="609600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339"/>
              </a:lnSpc>
              <a:buNone/>
            </a:pPr>
            <a:r>
              <a:rPr lang="en-US" sz="21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2019300" y="5246489"/>
            <a:ext cx="4924425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8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Rule-directed input generation</a:t>
            </a:r>
            <a:endParaRPr lang="en-US" sz="2175" dirty="0"/>
          </a:p>
        </p:txBody>
      </p:sp>
      <p:sp>
        <p:nvSpPr>
          <p:cNvPr id="27" name="Text 25"/>
          <p:cNvSpPr/>
          <p:nvPr/>
        </p:nvSpPr>
        <p:spPr>
          <a:xfrm>
            <a:off x="6838950" y="5278239"/>
            <a:ext cx="761314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 say where the boundaries are — ₹99,999 / ₹1,00,000 / ₹1,00,001 · ₹0.50 midpoints · 29 Feb · month-ends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4876066" y="5243314"/>
            <a:ext cx="2268934" cy="361950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028466" y="5309989"/>
            <a:ext cx="2191028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kern="0" spc="108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143000" y="6964164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43000" y="6011664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143000" y="6154539"/>
            <a:ext cx="609600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339"/>
              </a:lnSpc>
              <a:buNone/>
            </a:pPr>
            <a:r>
              <a:rPr lang="en-US" sz="21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2019300" y="6198989"/>
            <a:ext cx="4924425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8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and compare — three ways</a:t>
            </a:r>
            <a:endParaRPr lang="en-US" sz="2175" dirty="0"/>
          </a:p>
        </p:txBody>
      </p:sp>
      <p:sp>
        <p:nvSpPr>
          <p:cNvPr id="34" name="Text 32"/>
          <p:cNvSpPr/>
          <p:nvPr/>
        </p:nvSpPr>
        <p:spPr>
          <a:xfrm>
            <a:off x="6838950" y="6230739"/>
            <a:ext cx="761314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input, three outputs — legacy (the oracle) · generated Java (untrusted) · RBI Direction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4876066" y="6195814"/>
            <a:ext cx="2268934" cy="361950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028466" y="6262489"/>
            <a:ext cx="2191028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kern="0" spc="108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143000" y="7288014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38" name="Text 36"/>
          <p:cNvSpPr/>
          <p:nvPr/>
        </p:nvSpPr>
        <p:spPr>
          <a:xfrm>
            <a:off x="1143000" y="7478514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302"/>
              </a:lnSpc>
              <a:buNone/>
            </a:pPr>
            <a:r>
              <a:rPr lang="en-US" sz="2025" b="1" kern="0" spc="-3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verdicts</a:t>
            </a:r>
            <a:endParaRPr lang="en-US" sz="2025" dirty="0"/>
          </a:p>
        </p:txBody>
      </p:sp>
      <p:sp>
        <p:nvSpPr>
          <p:cNvPr id="39" name="Text 37"/>
          <p:cNvSpPr/>
          <p:nvPr/>
        </p:nvSpPr>
        <p:spPr>
          <a:xfrm>
            <a:off x="1143000" y="7907536"/>
            <a:ext cx="40233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· unproven · refuted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257800" y="7288014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41" name="Text 39"/>
          <p:cNvSpPr/>
          <p:nvPr/>
        </p:nvSpPr>
        <p:spPr>
          <a:xfrm>
            <a:off x="5257800" y="7478514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302"/>
              </a:lnSpc>
              <a:buNone/>
            </a:pPr>
            <a:r>
              <a:rPr lang="en-US" sz="2025" b="1" kern="0" spc="-3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 score</a:t>
            </a:r>
            <a:endParaRPr lang="en-US" sz="2025" dirty="0"/>
          </a:p>
        </p:txBody>
      </p:sp>
      <p:sp>
        <p:nvSpPr>
          <p:cNvPr id="42" name="Text 40"/>
          <p:cNvSpPr/>
          <p:nvPr/>
        </p:nvSpPr>
        <p:spPr>
          <a:xfrm>
            <a:off x="5257800" y="7907536"/>
            <a:ext cx="40233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strong is this claim?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372600" y="7288014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44" name="Text 42"/>
          <p:cNvSpPr/>
          <p:nvPr/>
        </p:nvSpPr>
        <p:spPr>
          <a:xfrm>
            <a:off x="9372600" y="7478514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302"/>
              </a:lnSpc>
              <a:buNone/>
            </a:pPr>
            <a:r>
              <a:rPr lang="en-US" sz="2025" b="1" kern="0" spc="-3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findings</a:t>
            </a:r>
            <a:endParaRPr lang="en-US" sz="2025" dirty="0"/>
          </a:p>
        </p:txBody>
      </p:sp>
      <p:sp>
        <p:nvSpPr>
          <p:cNvPr id="45" name="Text 43"/>
          <p:cNvSpPr/>
          <p:nvPr/>
        </p:nvSpPr>
        <p:spPr>
          <a:xfrm>
            <a:off x="9372600" y="7907536"/>
            <a:ext cx="40233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vs the regulator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3487400" y="7288014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47" name="Text 45"/>
          <p:cNvSpPr/>
          <p:nvPr/>
        </p:nvSpPr>
        <p:spPr>
          <a:xfrm>
            <a:off x="13487400" y="7478514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302"/>
              </a:lnSpc>
              <a:buNone/>
            </a:pPr>
            <a:r>
              <a:rPr lang="en-US" sz="2025" b="1" kern="0" spc="-3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bundle</a:t>
            </a:r>
            <a:endParaRPr lang="en-US" sz="2025" dirty="0"/>
          </a:p>
        </p:txBody>
      </p:sp>
      <p:sp>
        <p:nvSpPr>
          <p:cNvPr id="48" name="Text 46"/>
          <p:cNvSpPr/>
          <p:nvPr/>
        </p:nvSpPr>
        <p:spPr>
          <a:xfrm>
            <a:off x="13487400" y="7907536"/>
            <a:ext cx="40233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· tests · signed claim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143000" y="935355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429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orchestration matches agentic accuracy at up to 3.5× lower token cost (arXiv 2605.09894) — a defended choice.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2124313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pipeline, end to end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657078"/>
            <a:ext cx="2268934" cy="361950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2723753"/>
            <a:ext cx="2191028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kern="0" spc="108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02434" y="2657078"/>
            <a:ext cx="2791321" cy="3619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9" name="Text 7"/>
          <p:cNvSpPr/>
          <p:nvPr/>
        </p:nvSpPr>
        <p:spPr>
          <a:xfrm>
            <a:off x="3754834" y="2723753"/>
            <a:ext cx="276565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kern="0" spc="108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LLM CALL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4256" y="2666603"/>
            <a:ext cx="8296652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— the reciprocal loop: rules pick the inputs, the run checks the rules</a:t>
            </a:r>
            <a:endParaRPr lang="en-US" sz="18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3287613"/>
            <a:ext cx="16002000" cy="6324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1824613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FINDING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one finding looks like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33278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23778"/>
            <a:ext cx="854964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3344763"/>
            <a:ext cx="85496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</a:t>
            </a: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₹1,00,000.00 · 12 days · 3.5%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3925788"/>
            <a:ext cx="170783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50000"/>
              </a:lnSpc>
              <a:buNone/>
            </a:pPr>
            <a:r>
              <a:rPr lang="en-US" sz="5700" b="1" kern="0" spc="-11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₹115</a:t>
            </a:r>
            <a:endParaRPr lang="en-US" sz="5700" dirty="0"/>
          </a:p>
        </p:txBody>
      </p:sp>
      <p:sp>
        <p:nvSpPr>
          <p:cNvPr id="10" name="Text 8"/>
          <p:cNvSpPr/>
          <p:nvPr/>
        </p:nvSpPr>
        <p:spPr>
          <a:xfrm>
            <a:off x="1143000" y="4325838"/>
            <a:ext cx="170783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429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COBOL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038475" y="4046438"/>
            <a:ext cx="346670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651845" y="3925788"/>
            <a:ext cx="172169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50000"/>
              </a:lnSpc>
              <a:buNone/>
            </a:pPr>
            <a:r>
              <a:rPr lang="en-US" sz="5700" b="1" kern="0" spc="-11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₹116</a:t>
            </a:r>
            <a:endParaRPr lang="en-US" sz="5700" dirty="0"/>
          </a:p>
        </p:txBody>
      </p:sp>
      <p:sp>
        <p:nvSpPr>
          <p:cNvPr id="13" name="Text 11"/>
          <p:cNvSpPr/>
          <p:nvPr/>
        </p:nvSpPr>
        <p:spPr>
          <a:xfrm>
            <a:off x="3651845" y="4325838"/>
            <a:ext cx="172169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429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Java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4802088"/>
            <a:ext cx="85496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= ₹1 per account, per accrual — across millions of accounts.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372600" y="2733278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372600" y="2923778"/>
            <a:ext cx="854964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Traced to one word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372600" y="3344763"/>
            <a:ext cx="800557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debugging shrinks 73 failing inputs to this one. Coverage maps it to rule R-07 — line 214: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372600" y="4068663"/>
            <a:ext cx="7772400" cy="590550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19" name="Text 17"/>
          <p:cNvSpPr/>
          <p:nvPr/>
        </p:nvSpPr>
        <p:spPr>
          <a:xfrm>
            <a:off x="9563100" y="4202013"/>
            <a:ext cx="762457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870"/>
              </a:lnSpc>
              <a:buNone/>
            </a:pPr>
            <a:r>
              <a:rPr lang="en-US" sz="2025" dirty="0">
                <a:solidFill>
                  <a:srgbClr val="201E1D"/>
                </a:solidFill>
                <a:highlight>
                  <a:srgbClr val="EAE9E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 WS-INT </a:t>
            </a:r>
            <a:r>
              <a:rPr lang="en-US" sz="2025" b="1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ROUNDED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9372600" y="4792563"/>
            <a:ext cx="800557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Java rounds </a:t>
            </a: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HALF_UP</a:t>
            </a: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the COBOL truncates at the PIC boundary.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crash, no exception — just a different number.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43000" y="5649813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5859363"/>
            <a:ext cx="8549640" cy="336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9729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regulator has ruled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143000" y="6272312"/>
            <a:ext cx="8005572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“Rounded off to the nearest rupee… fifty paise and above rounds to the next higher rupee.”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143000" y="6996212"/>
            <a:ext cx="800557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RBI Master Direction — Interest Rate on Deposits, clause 4(f) · Daily product basis, clause 6(a) · Uniform rate to ₹1 lakh, 6(a)(1)–(2).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372600" y="5859363"/>
            <a:ext cx="8549640" cy="336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9729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report it ships inside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372600" y="6291362"/>
            <a:ext cx="191738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186"/>
              </a:lnSpc>
              <a:buNone/>
            </a:pPr>
            <a:r>
              <a:rPr lang="en-US" sz="4200" b="1" kern="0" spc="-8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9372600" y="6900962"/>
            <a:ext cx="191738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proven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382375" y="6291362"/>
            <a:ext cx="191738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186"/>
              </a:lnSpc>
              <a:buNone/>
            </a:pPr>
            <a:r>
              <a:rPr lang="en-US" sz="4200" b="1" kern="0" spc="-8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4200" dirty="0"/>
          </a:p>
        </p:txBody>
      </p:sp>
      <p:sp>
        <p:nvSpPr>
          <p:cNvPr id="29" name="Text 27"/>
          <p:cNvSpPr/>
          <p:nvPr/>
        </p:nvSpPr>
        <p:spPr>
          <a:xfrm>
            <a:off x="11382375" y="6900962"/>
            <a:ext cx="181927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unproven — named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392150" y="6291362"/>
            <a:ext cx="191738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186"/>
              </a:lnSpc>
              <a:buNone/>
            </a:pPr>
            <a:r>
              <a:rPr lang="en-US" sz="4200" b="1" kern="0" spc="-8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200" dirty="0"/>
          </a:p>
        </p:txBody>
      </p:sp>
      <p:sp>
        <p:nvSpPr>
          <p:cNvPr id="31" name="Text 29"/>
          <p:cNvSpPr/>
          <p:nvPr/>
        </p:nvSpPr>
        <p:spPr>
          <a:xfrm>
            <a:off x="13392150" y="6900962"/>
            <a:ext cx="181927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refuted — our AI caught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5401925" y="6291362"/>
            <a:ext cx="191738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186"/>
              </a:lnSpc>
              <a:buNone/>
            </a:pPr>
            <a:r>
              <a:rPr lang="en-US" sz="4200" b="1" kern="0" spc="-8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4200" dirty="0"/>
          </a:p>
        </p:txBody>
      </p:sp>
      <p:sp>
        <p:nvSpPr>
          <p:cNvPr id="33" name="Text 31"/>
          <p:cNvSpPr/>
          <p:nvPr/>
        </p:nvSpPr>
        <p:spPr>
          <a:xfrm>
            <a:off x="15401925" y="6900962"/>
            <a:ext cx="191738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 kill rate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43000" y="935355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429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output — the shape the demo is built to produce, not a completed run.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2854791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DETAILS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stack, and why each piece is there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71378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61878"/>
            <a:ext cx="553212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execution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3401913"/>
            <a:ext cx="5180076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GnuCOBOL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cobc / libcob, GPL and LGPL. 19 COBOL dialects, -std=ibm-strict against Enterprise COBOL 6.3.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4398863"/>
            <a:ext cx="5180076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Conformance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passes 9,700 of 9,748 NIST CCVS85 tests. The project does not claim standard conformance; we state that ourselves.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5395814"/>
            <a:ext cx="5180076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compiles COBOL to C to a native binary, so the legacy side is a real executable we can run, time and instrument.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629400" y="2771378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961878"/>
            <a:ext cx="553212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and extraction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629400" y="3401913"/>
            <a:ext cx="5180076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ProLeap COBOL parser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ANTLR4, MIT licence. AST plus an abstract semantic graph with data and control flow.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29400" y="4398863"/>
            <a:ext cx="5180076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slicing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 business-concept variables. A slice is a set of source lines — exactly the traceability we promise.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29400" y="5395814"/>
            <a:ext cx="5180076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LLM call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one call per slice, never over the whole file. The model cannot invent a line reference the slice does not contain.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115800" y="2771378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2115800" y="2961878"/>
            <a:ext cx="553212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and coverage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115800" y="3401913"/>
            <a:ext cx="5180076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gcov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statement execution counts via -fprofile-arcs. Fallback: paragraph-level DISPLAY trace with -fgen-c-line-directives.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115800" y="4398863"/>
            <a:ext cx="5180076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Differential runner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same input, three outputs: legacy COBOL, generated Java, and the RBI Direction as a third reference.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115800" y="5395814"/>
            <a:ext cx="5180076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debugging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shrinks 73 failing inputs to one minimal counterexample.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43000" y="6602313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6792813"/>
            <a:ext cx="854964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143000" y="7232849"/>
            <a:ext cx="800557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mainframe-modernisation CardDemo corpus (Apache 2.0) · NIST CCVS85, 512 programs and 8,800+ cases, public domain · RBI Master Direction clauses encoded as the third reference.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372600" y="6602313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372600" y="6792813"/>
            <a:ext cx="854964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and interoperability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372600" y="7232849"/>
            <a:ext cx="800557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plus a JSON evidence bundle. The methodology is compiler-agnostic — swap GnuCOBOL for IBM Enterprise COBOL inside the bank and the harness is unchanged. No mainframe access required.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3869908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DIFFERENT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nobody else does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143000" y="2695178"/>
            <a:ext cx="109619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differential mechanism itself is prior art. IBM, AWS, Mechanical Orchard and a paper published five days ago all ship a version of it, and we say so. These three are ours.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143000" y="3647678"/>
            <a:ext cx="5105400" cy="535682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8" name="Shape 6"/>
          <p:cNvSpPr/>
          <p:nvPr/>
        </p:nvSpPr>
        <p:spPr>
          <a:xfrm>
            <a:off x="1409700" y="3963888"/>
            <a:ext cx="438150" cy="4381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3963888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9412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19300" y="3876278"/>
            <a:ext cx="4081272" cy="6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check the legacy against the regulator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409700" y="4622999"/>
            <a:ext cx="4709160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tool treats the legacy as correct by definition. A program written in 1987 can breach a Direction issued decades later, so we add a third reference.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409700" y="5937449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1562100" y="6042224"/>
            <a:ext cx="134657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= R = Reg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44950" y="6042224"/>
            <a:ext cx="196278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compliant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409700" y="6518474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1562100" y="6623249"/>
            <a:ext cx="61247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≠ 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086225" y="6623249"/>
            <a:ext cx="191738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defect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409700" y="7099499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1562100" y="7204274"/>
            <a:ext cx="13377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= R ≠ Reg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196854" y="7204274"/>
            <a:ext cx="179569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inherited breach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409700" y="7680524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1562100" y="7785299"/>
            <a:ext cx="13377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≠ R = Reg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219476" y="7785299"/>
            <a:ext cx="177080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correction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09700" y="8318699"/>
            <a:ext cx="470916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third row needs a regulator. No other tool can see it.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591300" y="3647678"/>
            <a:ext cx="5105400" cy="535682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0" y="3963888"/>
            <a:ext cx="438150" cy="4381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27" name="Text 25"/>
          <p:cNvSpPr/>
          <p:nvPr/>
        </p:nvSpPr>
        <p:spPr>
          <a:xfrm>
            <a:off x="6819900" y="3963888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9412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67600" y="3876278"/>
            <a:ext cx="4081272" cy="6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result for every rule, not every test case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6858000" y="4622999"/>
            <a:ext cx="47091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Executing a line is not testing the rule it encodes. A rule counts as confirmed only when all three checks hold.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858000" y="5642174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1" name="Shape 29"/>
          <p:cNvSpPr/>
          <p:nvPr/>
        </p:nvSpPr>
        <p:spPr>
          <a:xfrm>
            <a:off x="7010400" y="5751711"/>
            <a:ext cx="285750" cy="285750"/>
          </a:xfrm>
          <a:prstGeom prst="rect">
            <a:avLst/>
          </a:prstGeom>
          <a:solidFill>
            <a:srgbClr val="444141"/>
          </a:solidFill>
          <a:ln/>
        </p:spPr>
      </p:sp>
      <p:sp>
        <p:nvSpPr>
          <p:cNvPr id="32" name="Text 30"/>
          <p:cNvSpPr/>
          <p:nvPr/>
        </p:nvSpPr>
        <p:spPr>
          <a:xfrm>
            <a:off x="6972300" y="5751711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429500" y="5746949"/>
            <a:ext cx="33477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Reached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rule’s lines ran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858000" y="6223199"/>
            <a:ext cx="4572000" cy="8001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5" name="Shape 33"/>
          <p:cNvSpPr/>
          <p:nvPr/>
        </p:nvSpPr>
        <p:spPr>
          <a:xfrm>
            <a:off x="7010400" y="6480374"/>
            <a:ext cx="285750" cy="2857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36" name="Text 34"/>
          <p:cNvSpPr/>
          <p:nvPr/>
        </p:nvSpPr>
        <p:spPr>
          <a:xfrm>
            <a:off x="6972300" y="6480374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29500" y="6327974"/>
            <a:ext cx="396354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Discriminating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boundary changed the output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858000" y="7099499"/>
            <a:ext cx="4572000" cy="8001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9" name="Shape 37"/>
          <p:cNvSpPr/>
          <p:nvPr/>
        </p:nvSpPr>
        <p:spPr>
          <a:xfrm>
            <a:off x="7010400" y="7356674"/>
            <a:ext cx="285750" cy="285750"/>
          </a:xfrm>
          <a:prstGeom prst="rect">
            <a:avLst/>
          </a:prstGeom>
          <a:solidFill>
            <a:srgbClr val="444141"/>
          </a:solidFill>
          <a:ln/>
        </p:spPr>
      </p:sp>
      <p:sp>
        <p:nvSpPr>
          <p:cNvPr id="40" name="Text 38"/>
          <p:cNvSpPr/>
          <p:nvPr/>
        </p:nvSpPr>
        <p:spPr>
          <a:xfrm>
            <a:off x="6972300" y="7356674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429500" y="7204274"/>
            <a:ext cx="396354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Agreed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rewrite matched every time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858000" y="8032949"/>
            <a:ext cx="470916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2 is the one that catches our own extraction inventing a rule that is not in the program.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2039600" y="3647678"/>
            <a:ext cx="5105400" cy="535682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44" name="Shape 42"/>
          <p:cNvSpPr/>
          <p:nvPr/>
        </p:nvSpPr>
        <p:spPr>
          <a:xfrm>
            <a:off x="12306300" y="3876278"/>
            <a:ext cx="438150" cy="4381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45" name="Text 43"/>
          <p:cNvSpPr/>
          <p:nvPr/>
        </p:nvSpPr>
        <p:spPr>
          <a:xfrm>
            <a:off x="12268200" y="3876278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9412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2915900" y="3941961"/>
            <a:ext cx="2723059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test our own tests</a:t>
            </a:r>
            <a:endParaRPr lang="en-US" sz="2100" dirty="0"/>
          </a:p>
        </p:txBody>
      </p:sp>
      <p:sp>
        <p:nvSpPr>
          <p:cNvPr id="47" name="Text 45"/>
          <p:cNvSpPr/>
          <p:nvPr/>
        </p:nvSpPr>
        <p:spPr>
          <a:xfrm>
            <a:off x="12306300" y="4447778"/>
            <a:ext cx="47091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“Everything passed” proves nothing unless the inputs could have caught a failure. So we break the legacy on purpose.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2306300" y="5466954"/>
            <a:ext cx="4572000" cy="109537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49" name="Text 47"/>
          <p:cNvSpPr/>
          <p:nvPr/>
        </p:nvSpPr>
        <p:spPr>
          <a:xfrm>
            <a:off x="12458700" y="5571729"/>
            <a:ext cx="44043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a deliberate defect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100000 → 100001 · &gt; → &gt;= · delete ROUNDED · 360 → 365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2306300" y="6638529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51" name="Text 49"/>
          <p:cNvSpPr/>
          <p:nvPr/>
        </p:nvSpPr>
        <p:spPr>
          <a:xfrm>
            <a:off x="12458700" y="6743304"/>
            <a:ext cx="44043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 the same input corpus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2306300" y="7219554"/>
            <a:ext cx="2247900" cy="8001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53" name="Text 51"/>
          <p:cNvSpPr/>
          <p:nvPr/>
        </p:nvSpPr>
        <p:spPr>
          <a:xfrm>
            <a:off x="12458700" y="7324329"/>
            <a:ext cx="20193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Caught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claim stands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4630400" y="7219554"/>
            <a:ext cx="2247900" cy="8001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55" name="Text 53"/>
          <p:cNvSpPr/>
          <p:nvPr/>
        </p:nvSpPr>
        <p:spPr>
          <a:xfrm>
            <a:off x="14782800" y="7324329"/>
            <a:ext cx="20193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 not claim it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2306300" y="8153004"/>
            <a:ext cx="470916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equivalence claim ships with its own strength score.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143000" y="9029700"/>
            <a:ext cx="164820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429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against Locksmith (arXiv 2607.28271), AgentModernize (arXiv 2605.17535) and the shipping vendor tools. None reports per-rule results, scores its own corpus, or consults a regulator.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2824014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POTENTIAL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spend is already committed. Assurance is the gate.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~$1bn</a:t>
            </a:r>
            <a:endParaRPr lang="en-US" sz="6300" dirty="0"/>
          </a:p>
        </p:txBody>
      </p:sp>
      <p:sp>
        <p:nvSpPr>
          <p:cNvPr id="8" name="Text 6"/>
          <p:cNvSpPr/>
          <p:nvPr/>
        </p:nvSpPr>
        <p:spPr>
          <a:xfrm>
            <a:off x="1143000" y="3895328"/>
            <a:ext cx="3767328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lenders must invest over 5–10 years to upgrade legacy core banking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143000" y="4952604"/>
            <a:ext cx="40233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Consulting Group, 2024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2578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2578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r>
              <a:rPr lang="en-US" sz="3600" b="1" kern="0" spc="-12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/100</a:t>
            </a:r>
            <a:endParaRPr lang="en-US" sz="6300" dirty="0"/>
          </a:p>
        </p:txBody>
      </p:sp>
      <p:sp>
        <p:nvSpPr>
          <p:cNvPr id="12" name="Text 10"/>
          <p:cNvSpPr/>
          <p:nvPr/>
        </p:nvSpPr>
        <p:spPr>
          <a:xfrm>
            <a:off x="5257800" y="3895328"/>
            <a:ext cx="3767328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world’s largest banks run core operations on IBM mainframes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5257800" y="4952604"/>
            <a:ext cx="40233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widely reported industry figure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3726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3726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&gt;40%</a:t>
            </a:r>
            <a:endParaRPr lang="en-US" sz="6300" dirty="0"/>
          </a:p>
        </p:txBody>
      </p:sp>
      <p:sp>
        <p:nvSpPr>
          <p:cNvPr id="16" name="Text 14"/>
          <p:cNvSpPr/>
          <p:nvPr/>
        </p:nvSpPr>
        <p:spPr>
          <a:xfrm>
            <a:off x="9372600" y="3895328"/>
            <a:ext cx="37673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banking systems still run COBOL in production today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9372600" y="4638278"/>
            <a:ext cx="40233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Pragmatic Coders, 2025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4874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34874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40,000+</a:t>
            </a:r>
            <a:endParaRPr lang="en-US" sz="6300" dirty="0"/>
          </a:p>
        </p:txBody>
      </p:sp>
      <p:sp>
        <p:nvSpPr>
          <p:cNvPr id="20" name="Text 18"/>
          <p:cNvSpPr/>
          <p:nvPr/>
        </p:nvSpPr>
        <p:spPr>
          <a:xfrm>
            <a:off x="13487400" y="3895328"/>
            <a:ext cx="37673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&amp; internet banking complaints, FY22–23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3487400" y="4638278"/>
            <a:ext cx="40233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RBI ombudsman data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43000" y="5619354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5809854"/>
            <a:ext cx="8549640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rupee of it is gated by one step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143000" y="6293644"/>
            <a:ext cx="8005572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Budgets are approved. What stalls them is the step between “the code exists” and “we run it on real money” — no product category yet; absorbed as consulting hours and schedule risk.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9372600" y="5619354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372600" y="5809854"/>
            <a:ext cx="8549640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category is forming around generation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372600" y="6293644"/>
            <a:ext cx="8005572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Transform for mainframe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GA May 2025; ADP cut extraction time 80%. </a:t>
            </a: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watsonx Code Assistant for Z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ships a validation assistant; IBM’s own papers say the output cannot be trusted unchecked. </a:t>
            </a: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 Orchard, Imogen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generate-then-validate loop.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372600" y="7970044"/>
            <a:ext cx="85496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195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them generate. None of them sells the proof as the product.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143000" y="9029700"/>
            <a:ext cx="164820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429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banks spend up to 5% of revenue on IT against 7–9% for global peers — the gap compounds: less budget → fewer modernisation attempts → more undocumented logic.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302647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&amp; SCOPE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by design, and buildable now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71378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61878"/>
            <a:ext cx="8549640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8"/>
              </a:lnSpc>
              <a:buNone/>
            </a:pPr>
            <a:r>
              <a:rPr lang="en-US" sz="2175" b="1" kern="0" spc="-33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1143000" y="3412827"/>
            <a:ext cx="800557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COBOL via GnuCOBOL — free, open source, runs on a laptop Retail interest accrual — pure computation, input in / output out Third-party COBOL, including AWS’s own CardDemo sample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372600" y="2771378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372600" y="2961878"/>
            <a:ext cx="8549640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8"/>
              </a:lnSpc>
              <a:buNone/>
            </a:pPr>
            <a:r>
              <a:rPr lang="en-US" sz="2175" b="1" kern="0" spc="-33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 — detected, not ignored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9372600" y="3412827"/>
            <a:ext cx="800557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CICS screens and JCL orchestration Database-coupled programs Anything non-deterministic — system clocks, randomness, external state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372600" y="4546302"/>
            <a:ext cx="800557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Differential testing compares outputs for equality, so non-determinism makes the verdict meaningless. The tool refuses these at intake, with a reason.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5517853"/>
            <a:ext cx="17602200" cy="379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9059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stages — the spine first, the novelty protected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143000" y="6087765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6278265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302"/>
              </a:lnSpc>
              <a:buNone/>
            </a:pPr>
            <a:r>
              <a:rPr lang="en-US" sz="2025" b="1" kern="0" spc="-3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r>
              <a:rPr lang="en-US" sz="2025" b="1" kern="0" spc="-3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Differential harness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1143000" y="6707287"/>
            <a:ext cx="376732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GnuCOBOL compiles and runs; diff two implementations across an input list.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257800" y="6087765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18" name="Text 16"/>
          <p:cNvSpPr/>
          <p:nvPr/>
        </p:nvSpPr>
        <p:spPr>
          <a:xfrm>
            <a:off x="5257800" y="6278265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302"/>
              </a:lnSpc>
              <a:buNone/>
            </a:pPr>
            <a:r>
              <a:rPr lang="en-US" sz="2025" b="1" kern="0" spc="-3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r>
              <a:rPr lang="en-US" sz="2025" b="1" kern="0" spc="-3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Rules and boundaries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5257800" y="6707287"/>
            <a:ext cx="376732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Slice, extract with line citations, derive boundary inputs from the rules.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372600" y="6087765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21" name="Text 19"/>
          <p:cNvSpPr/>
          <p:nvPr/>
        </p:nvSpPr>
        <p:spPr>
          <a:xfrm>
            <a:off x="9372600" y="6278265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302"/>
              </a:lnSpc>
              <a:buNone/>
            </a:pPr>
            <a:r>
              <a:rPr lang="en-US" sz="2025" b="1" kern="0" spc="-3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r>
              <a:rPr lang="en-US" sz="2025" b="1" kern="0" spc="-3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Per-rule results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9372600" y="6707287"/>
            <a:ext cx="376732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mapped back to rules, including the ones we could not confirm.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3487400" y="6087765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24" name="Text 22"/>
          <p:cNvSpPr/>
          <p:nvPr/>
        </p:nvSpPr>
        <p:spPr>
          <a:xfrm>
            <a:off x="13487400" y="6278265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302"/>
              </a:lnSpc>
              <a:buNone/>
            </a:pPr>
            <a:r>
              <a:rPr lang="en-US" sz="2025" b="1" kern="0" spc="-3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r>
              <a:rPr lang="en-US" sz="2025" b="1" kern="0" spc="-3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Regulation and mutation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13487400" y="6707287"/>
            <a:ext cx="376732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RBI reference model, then fault injection to score the corpus.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612648"/>
            <a:ext cx="100584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1800" b="1" spc="150">
                <a:solidFill>
                  <a:srgbClr val="EC3013"/>
                </a:solidFill>
                <a:latin typeface="Arial"/>
              </a:rPr>
              <a:t>BUSINESS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852392" y="612648"/>
            <a:ext cx="37490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1800" b="0">
                <a:solidFill>
                  <a:srgbClr val="8C8886"/>
                </a:solidFill>
                <a:latin typeface="Arial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1207008"/>
            <a:ext cx="16002000" cy="18288"/>
          </a:xfrm>
          <a:prstGeom prst="rect">
            <a:avLst/>
          </a:prstGeom>
          <a:solidFill>
            <a:srgbClr val="201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1792224"/>
            <a:ext cx="17629632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4650" b="1">
                <a:solidFill>
                  <a:srgbClr val="201E1D"/>
                </a:solidFill>
                <a:latin typeface="Arial"/>
              </a:rPr>
              <a:t>The plan on a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2843784"/>
            <a:ext cx="3657600" cy="18288"/>
          </a:xfrm>
          <a:prstGeom prst="rect">
            <a:avLst/>
          </a:prstGeom>
          <a:solidFill>
            <a:srgbClr val="201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999232"/>
            <a:ext cx="50292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2400" b="1">
                <a:solidFill>
                  <a:srgbClr val="EC3013"/>
                </a:solidFill>
                <a:latin typeface="Arial"/>
              </a:rPr>
              <a:t>WHY &amp; HOW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4747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1400" b="0">
                <a:solidFill>
                  <a:srgbClr val="8C8886"/>
                </a:solidFill>
                <a:latin typeface="Arial"/>
              </a:rPr>
              <a:t>the argument, indexed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5029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300" b="1">
                <a:solidFill>
                  <a:srgbClr val="201E1D"/>
                </a:solidFill>
                <a:latin typeface="Arial"/>
              </a:rPr>
              <a:t>Problem — </a:t>
            </a:r>
            <a:r>
              <a:rPr sz="1300" b="0">
                <a:solidFill>
                  <a:srgbClr val="6F6C6B"/>
                </a:solidFill>
                <a:latin typeface="Arial"/>
              </a:rPr>
              <a:t>92/100 on mainframes; &gt;40% COBOL; the rules live only in the code.</a:t>
            </a:r>
            <a:r>
              <a:rPr sz="1250" b="0">
                <a:solidFill>
                  <a:srgbClr val="EC3013"/>
                </a:solidFill>
                <a:latin typeface="Arial"/>
              </a:rPr>
              <a:t>  → slides 2–3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608576"/>
            <a:ext cx="5029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300" b="1">
                <a:solidFill>
                  <a:srgbClr val="201E1D"/>
                </a:solidFill>
                <a:latin typeface="Arial"/>
              </a:rPr>
              <a:t>Scope — </a:t>
            </a:r>
            <a:r>
              <a:rPr sz="1300" b="0">
                <a:solidFill>
                  <a:srgbClr val="6F6C6B"/>
                </a:solidFill>
                <a:latin typeface="Arial"/>
              </a:rPr>
              <a:t>Pure-computation interest accrual; the rest refused at the intake gate.</a:t>
            </a:r>
            <a:r>
              <a:rPr sz="1250" b="0">
                <a:solidFill>
                  <a:srgbClr val="EC3013"/>
                </a:solidFill>
                <a:latin typeface="Arial"/>
              </a:rPr>
              <a:t>  → slide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340096"/>
            <a:ext cx="5029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300" b="1">
                <a:solidFill>
                  <a:srgbClr val="201E1D"/>
                </a:solidFill>
                <a:latin typeface="Arial"/>
              </a:rPr>
              <a:t>Target users — </a:t>
            </a:r>
            <a:r>
              <a:rPr sz="1300" b="0">
                <a:solidFill>
                  <a:srgbClr val="6F6C6B"/>
                </a:solidFill>
                <a:latin typeface="Arial"/>
              </a:rPr>
              <a:t>CIO, risk &amp; audit, SIs, the supervisor — all can generate, none can prove.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6071616"/>
            <a:ext cx="5029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300" b="1">
                <a:solidFill>
                  <a:srgbClr val="201E1D"/>
                </a:solidFill>
                <a:latin typeface="Arial"/>
              </a:rPr>
              <a:t>Solution — </a:t>
            </a:r>
            <a:r>
              <a:rPr sz="1300" b="0">
                <a:solidFill>
                  <a:srgbClr val="6F6C6B"/>
                </a:solidFill>
                <a:latin typeface="Arial"/>
              </a:rPr>
              <a:t>Gate → slice → bounded extraction → rule-directed inputs → three-way diff.</a:t>
            </a:r>
            <a:r>
              <a:rPr sz="1250" b="0">
                <a:solidFill>
                  <a:srgbClr val="EC3013"/>
                </a:solidFill>
                <a:latin typeface="Arial"/>
              </a:rPr>
              <a:t>  → slides 4–5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6803136"/>
            <a:ext cx="5029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300" b="1">
                <a:solidFill>
                  <a:srgbClr val="201E1D"/>
                </a:solidFill>
                <a:latin typeface="Arial"/>
              </a:rPr>
              <a:t>Innovation — </a:t>
            </a:r>
            <a:r>
              <a:rPr sz="1300" b="0">
                <a:solidFill>
                  <a:srgbClr val="6F6C6B"/>
                </a:solidFill>
                <a:latin typeface="Arial"/>
              </a:rPr>
              <a:t>The legacy is its own oracle; the loop judges the rules; the RBI is the third reference.</a:t>
            </a:r>
            <a:r>
              <a:rPr sz="1250" b="0">
                <a:solidFill>
                  <a:srgbClr val="EC3013"/>
                </a:solidFill>
                <a:latin typeface="Arial"/>
              </a:rPr>
              <a:t>  → slides 5–6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7534656"/>
            <a:ext cx="5029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300" b="1">
                <a:solidFill>
                  <a:srgbClr val="201E1D"/>
                </a:solidFill>
                <a:latin typeface="Arial"/>
              </a:rPr>
              <a:t>Technologies — </a:t>
            </a:r>
            <a:r>
              <a:rPr sz="1300" b="0">
                <a:solidFill>
                  <a:srgbClr val="6F6C6B"/>
                </a:solidFill>
                <a:latin typeface="Arial"/>
              </a:rPr>
              <a:t>GnuCOBOL · ProLeap · gcov · delta debugging — free, NIST-validated, laptop-scale.</a:t>
            </a:r>
            <a:r>
              <a:rPr sz="1250" b="0">
                <a:solidFill>
                  <a:srgbClr val="EC3013"/>
                </a:solidFill>
                <a:latin typeface="Arial"/>
              </a:rPr>
              <a:t>  → slide 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2843784"/>
            <a:ext cx="3657600" cy="18288"/>
          </a:xfrm>
          <a:prstGeom prst="rect">
            <a:avLst/>
          </a:prstGeom>
          <a:solidFill>
            <a:srgbClr val="201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999232"/>
            <a:ext cx="50292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2400" b="1">
                <a:solidFill>
                  <a:srgbClr val="EC3013"/>
                </a:solidFill>
                <a:latin typeface="Arial"/>
              </a:rPr>
              <a:t>WHAT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4747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1400" b="0">
                <a:solidFill>
                  <a:srgbClr val="8C8886"/>
                </a:solidFill>
                <a:latin typeface="Arial"/>
              </a:rPr>
              <a:t>value proposition — what the bank keeps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931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1500" b="1">
                <a:solidFill>
                  <a:srgbClr val="201E1D"/>
                </a:solidFill>
                <a:latin typeface="Arial"/>
              </a:rPr>
              <a:t>A specification that never existed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224528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1300" b="0">
                <a:solidFill>
                  <a:srgbClr val="6F6C6B"/>
                </a:solidFill>
                <a:latin typeface="Arial"/>
              </a:rPr>
              <a:t>plain-language rules, traced to the lines that produce them.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901183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1500" b="1">
                <a:solidFill>
                  <a:srgbClr val="201E1D"/>
                </a:solidFill>
                <a:latin typeface="Arial"/>
              </a:rPr>
              <a:t>A permanent regression suite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5193792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1300" b="0">
                <a:solidFill>
                  <a:srgbClr val="6F6C6B"/>
                </a:solidFill>
                <a:latin typeface="Arial"/>
              </a:rPr>
              <a:t>thousands of input–output pairs, reusable on every change.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587044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1500" b="1">
                <a:solidFill>
                  <a:srgbClr val="201E1D"/>
                </a:solidFill>
                <a:latin typeface="Arial"/>
              </a:rPr>
              <a:t>An equivalence claim someone can 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6163056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1300" b="0">
                <a:solidFill>
                  <a:srgbClr val="6F6C6B"/>
                </a:solidFill>
                <a:latin typeface="Arial"/>
              </a:rPr>
              <a:t>evidence-backed; coverage stated honestly, per rule.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683971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1500" b="1">
                <a:solidFill>
                  <a:srgbClr val="201E1D"/>
                </a:solidFill>
                <a:latin typeface="Arial"/>
              </a:rPr>
              <a:t>Compliance findings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713232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1300" b="0">
                <a:solidFill>
                  <a:srgbClr val="6F6C6B"/>
                </a:solidFill>
                <a:latin typeface="Arial"/>
              </a:rPr>
              <a:t>the legacy checked against RBI’s written arithmetic.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7854696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1400" b="1">
                <a:solidFill>
                  <a:srgbClr val="AE1800"/>
                </a:solidFill>
                <a:latin typeface="Arial"/>
              </a:rPr>
              <a:t>Value survives even if the migration is cancelled.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115800" y="2843784"/>
            <a:ext cx="3657600" cy="18288"/>
          </a:xfrm>
          <a:prstGeom prst="rect">
            <a:avLst/>
          </a:prstGeom>
          <a:solidFill>
            <a:srgbClr val="201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115800" y="2999232"/>
            <a:ext cx="50292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2400" b="1">
                <a:solidFill>
                  <a:srgbClr val="EC3013"/>
                </a:solidFill>
                <a:latin typeface="Arial"/>
              </a:rPr>
              <a:t>INVEST &amp;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15800" y="34747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1400" b="0">
                <a:solidFill>
                  <a:srgbClr val="8C8886"/>
                </a:solidFill>
                <a:latin typeface="Arial"/>
              </a:rPr>
              <a:t>and the cost of not solving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15800" y="393192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300" b="1">
                <a:solidFill>
                  <a:srgbClr val="201E1D"/>
                </a:solidFill>
                <a:latin typeface="Arial"/>
              </a:rPr>
              <a:t>Licence cost: nil — </a:t>
            </a:r>
            <a:r>
              <a:rPr sz="1300" b="0">
                <a:solidFill>
                  <a:srgbClr val="6F6C6B"/>
                </a:solidFill>
                <a:latin typeface="Arial"/>
              </a:rPr>
              <a:t>GnuCOBOL, ProLeap, gcov, corpora — all open. No mainframe.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15800" y="4681728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300" b="1">
                <a:solidFill>
                  <a:srgbClr val="201E1D"/>
                </a:solidFill>
                <a:latin typeface="Arial"/>
              </a:rPr>
              <a:t>Prototype — </a:t>
            </a:r>
            <a:r>
              <a:rPr sz="1300" b="0">
                <a:solidFill>
                  <a:srgbClr val="6F6C6B"/>
                </a:solidFill>
                <a:latin typeface="Arial"/>
              </a:rPr>
              <a:t>4 engineers × 12 weeks, commodity laptops.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15800" y="5431536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300" b="1">
                <a:solidFill>
                  <a:srgbClr val="201E1D"/>
                </a:solidFill>
                <a:latin typeface="Arial"/>
              </a:rPr>
              <a:t>Variable cost — </a:t>
            </a:r>
            <a:r>
              <a:rPr sz="1300" b="0">
                <a:solidFill>
                  <a:srgbClr val="6F6C6B"/>
                </a:solidFill>
                <a:latin typeface="Arial"/>
              </a:rPr>
              <a:t>bounded LLM inference only — one call per slice.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15800" y="6181344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300" b="1">
                <a:solidFill>
                  <a:srgbClr val="201E1D"/>
                </a:solidFill>
                <a:latin typeface="Arial"/>
              </a:rPr>
              <a:t>Bank pilot — </a:t>
            </a:r>
            <a:r>
              <a:rPr sz="1300" b="0">
                <a:solidFill>
                  <a:srgbClr val="6F6C6B"/>
                </a:solidFill>
                <a:latin typeface="Arial"/>
              </a:rPr>
              <a:t>2 engineers + bank SME time, ~6 months.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15800" y="6931152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300" b="1">
                <a:solidFill>
                  <a:srgbClr val="201E1D"/>
                </a:solidFill>
                <a:latin typeface="Arial"/>
              </a:rPr>
              <a:t>Unlocks — </a:t>
            </a:r>
            <a:r>
              <a:rPr sz="1300" b="0">
                <a:solidFill>
                  <a:srgbClr val="6F6C6B"/>
                </a:solidFill>
                <a:latin typeface="Arial"/>
              </a:rPr>
              <a:t>the ~$1bn assurance-gated spend; ADP-comparable automation −80% / −90%.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15800" y="76809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300" b="1">
                <a:solidFill>
                  <a:srgbClr val="AE1800"/>
                </a:solidFill>
                <a:latin typeface="Arial"/>
              </a:rPr>
              <a:t>What if we don’t — </a:t>
            </a:r>
            <a:r>
              <a:rPr sz="1300" b="0">
                <a:solidFill>
                  <a:srgbClr val="6F6C6B"/>
                </a:solidFill>
                <a:latin typeface="Arial"/>
              </a:rPr>
              <a:t>TSB 2018: ~£400m, CEO resigned, CIO fined. HDFC 2020: roadmap frozen into 2022.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321040"/>
            <a:ext cx="16002000" cy="18288"/>
          </a:xfrm>
          <a:prstGeom prst="rect">
            <a:avLst/>
          </a:prstGeom>
          <a:solidFill>
            <a:srgbClr val="201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485632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1500" b="1" spc="120">
                <a:solidFill>
                  <a:srgbClr val="EC3013"/>
                </a:solidFill>
                <a:latin typeface="Arial"/>
              </a:rPr>
              <a:t>TIMELINE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8887968"/>
            <a:ext cx="243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1350" b="1">
                <a:solidFill>
                  <a:srgbClr val="201E1D"/>
                </a:solidFill>
                <a:latin typeface="Arial"/>
              </a:rPr>
              <a:t>W 1–2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9162288"/>
            <a:ext cx="2438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6F6C6B"/>
                </a:solidFill>
                <a:latin typeface="Arial"/>
              </a:rPr>
              <a:t>harness runs &amp; diffs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09999" y="8887968"/>
            <a:ext cx="243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1350" b="1">
                <a:solidFill>
                  <a:srgbClr val="201E1D"/>
                </a:solidFill>
                <a:latin typeface="Arial"/>
              </a:rPr>
              <a:t>W 3–4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09999" y="9162288"/>
            <a:ext cx="2438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6F6C6B"/>
                </a:solidFill>
                <a:latin typeface="Arial"/>
              </a:rPr>
              <a:t>inputs from PIC + boundaries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7000" y="8887968"/>
            <a:ext cx="243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1350" b="1">
                <a:solidFill>
                  <a:srgbClr val="201E1D"/>
                </a:solidFill>
                <a:latin typeface="Arial"/>
              </a:rPr>
              <a:t>W 5–7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7000" y="9162288"/>
            <a:ext cx="2438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6F6C6B"/>
                </a:solidFill>
                <a:latin typeface="Arial"/>
              </a:rPr>
              <a:t>slice &amp; extract, line-cited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8887968"/>
            <a:ext cx="243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1350" b="1">
                <a:solidFill>
                  <a:srgbClr val="EC3013"/>
                </a:solidFill>
                <a:latin typeface="Arial"/>
              </a:rPr>
              <a:t>W 8–10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9162288"/>
            <a:ext cx="2438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201E1C"/>
                </a:solidFill>
                <a:latin typeface="Arial"/>
              </a:rPr>
              <a:t>loop + verdicts — the contribution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11000" y="8887968"/>
            <a:ext cx="243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1350" b="1">
                <a:solidFill>
                  <a:srgbClr val="201E1D"/>
                </a:solidFill>
                <a:latin typeface="Arial"/>
              </a:rPr>
              <a:t>W 11–12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11000" y="9162288"/>
            <a:ext cx="2438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6F6C6B"/>
                </a:solidFill>
                <a:latin typeface="Arial"/>
              </a:rPr>
              <a:t>delta debug · evidence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477999" y="8887968"/>
            <a:ext cx="243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1350" b="1">
                <a:solidFill>
                  <a:srgbClr val="201E1D"/>
                </a:solidFill>
                <a:latin typeface="Arial"/>
              </a:rPr>
              <a:t>M 4–9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477999" y="9162288"/>
            <a:ext cx="2438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6F6C6B"/>
                </a:solidFill>
                <a:latin typeface="Arial"/>
              </a:rPr>
              <a:t>bank pilot, bank’s compiler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9802368"/>
            <a:ext cx="17602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1250" b="0">
                <a:solidFill>
                  <a:srgbClr val="8C8886"/>
                </a:solidFill>
                <a:latin typeface="Arial"/>
              </a:rPr>
              <a:t>Indicative and effort-based — no licence or infrastructure spend is assumed, because none is required.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2973536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PLAN (2/2)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&amp; timelines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71378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68228"/>
            <a:ext cx="2512120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2400" b="1" kern="0" spc="192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3350419"/>
            <a:ext cx="553212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22"/>
              </a:lnSpc>
              <a:buNone/>
            </a:pPr>
            <a:r>
              <a:rPr lang="en-US" sz="20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takes, and what it costs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3775869"/>
            <a:ext cx="5180076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Licence cost: nil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GnuCOBOL (GPL/LGPL), ProLeap (MIT), gcov, NIST CCVS85 and AWS CardDemo are all open. No mainframe, no vendor contract.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143000" y="5204619"/>
            <a:ext cx="518007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4 engineers × 12 weeks, on commodity laptops.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143000" y="5985669"/>
            <a:ext cx="5180076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variable cost is inference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one bounded LLM call per slice; deterministic orchestration measured at up to 3.5× lower token cost than an agentic loop.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143000" y="7414419"/>
            <a:ext cx="518007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pilot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2 engineers plus SME time from the bank, one program family, about 6 months.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6629400" y="2771378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2968228"/>
            <a:ext cx="1720155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2400" b="1" kern="0" spc="192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629400" y="3350419"/>
            <a:ext cx="553212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22"/>
              </a:lnSpc>
              <a:buNone/>
            </a:pPr>
            <a:r>
              <a:rPr lang="en-US" sz="20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quantified — and the cost of not solving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29400" y="3775869"/>
            <a:ext cx="5180076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unlocks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~$1bn of Indian core-banking upgrade spend is gated on assurance. Comparable automation (ADP via AWS Transform) cut rule-extraction time 80% and manual effort over 90%.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6629400" y="5528469"/>
            <a:ext cx="5180076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I don’t solve — TSB, 2018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1.9m of 5.2m customers hit. £48.65m FCA/PRA fine, £32.7m redress, ~£400m total. The CEO resigned; the CIO was personally fined £81,620. The finding was about assurance — not programming.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6629400" y="7604919"/>
            <a:ext cx="5180076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in India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RBI halted HDFC’s Digital 2.0 launches and new card issuance in Dec 2020; restrictions ran into 2022. An IT failure here freezes the product roadmap.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2115800" y="2771378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2115800" y="2968228"/>
            <a:ext cx="1904702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2400" b="1" kern="0" spc="192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115800" y="3350419"/>
            <a:ext cx="553212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22"/>
              </a:lnSpc>
              <a:buNone/>
            </a:pPr>
            <a:r>
              <a:rPr lang="en-US" sz="20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realise the benefit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115800" y="3775869"/>
            <a:ext cx="518007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1–2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harness runs two programs on an input list and diffs. Already a working demo.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2115800" y="4556919"/>
            <a:ext cx="518007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3–4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input generation from PIC clauses plus hand-written boundaries.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2115800" y="5337969"/>
            <a:ext cx="518007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5–7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parse, slice, extract rules with line citations.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12115800" y="6119019"/>
            <a:ext cx="518007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8–10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reciprocal loop and per-rule coverage verdicts. This is the contribution.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2115800" y="6900069"/>
            <a:ext cx="518007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11–12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delta debugging to minimal counterexamples; evidence bundle generated.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12115800" y="7681119"/>
            <a:ext cx="518007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4–9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bank pilot on one program family, inside the bank’s own compiler environment.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1143000" y="9505950"/>
            <a:ext cx="17602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and effort-based. No licence or infrastructure spend is assumed because none is required.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1939102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33278"/>
            <a:ext cx="75438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23778"/>
            <a:ext cx="8298180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571"/>
              </a:lnSpc>
              <a:buNone/>
            </a:pPr>
            <a:r>
              <a:rPr lang="en-US" sz="1800" b="1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PEER-REVIEWED AND PREPRINTS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333900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Hans, S. et al. (2025).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Testing of COBOL to Java Transformation. arXiv:2504.10548.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40311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Pan, R. et al. (2024).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in Translation: A Study of Bugs Introduced by LLMs while Translating Code. ICSE 2024, arXiv:2308.03109.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472330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Ahmed, S. N. &amp; Galib, M. (2026).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AgentModernize: Preserving Business Logic in Legacy Modernization. arXiv:2605.17535.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54154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Ferenczi, A. et al. (2026).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Method for Deterministic Validation of Legacy Code Migration. arXiv:2607.28271.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610760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Shah, S. et al. (2025).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A-COBREX: Identifying Business Rules in COBOL Programs. ICSE 2025, Demonstrations.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67997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S, C. &amp; Chimalakonda, S. (2025).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vs Rule-Based: the COBRAIN Tool. EASE 2025, doi:10.1145/3756681.3756982.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749190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Lwin, N. O. &amp; Kumar, R. (2026).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vs LLM-Controlled Orchestration for COBOL-to-Python Modernization. arXiv:2605.09894.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81840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Barr, E. T. et al. (2015).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Oracle Problem in Software Testing: A Survey. IEEE TSE 41(5), 507–525.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01200" y="2733278"/>
            <a:ext cx="75438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0" y="2923778"/>
            <a:ext cx="8298180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571"/>
              </a:lnSpc>
              <a:buNone/>
            </a:pPr>
            <a:r>
              <a:rPr lang="en-US" sz="1800" b="1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AND SUPERVISORY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0" y="33199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Bank of India (2016, upd. 2024).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Direction — Interest Rate on Deposits. Clauses 4(f), 6(a), 6(a)(1)–(2).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0" y="397400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Bank of India (2023).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Direction on IT Governance, Risk, Controls and Assurance Practices.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0" y="46280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Conduct Authority (2022).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TSB fined £48.65m for operational resilience failings.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601200" y="5358309"/>
            <a:ext cx="75438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0" y="5491659"/>
            <a:ext cx="7770114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571"/>
              </a:lnSpc>
              <a:buNone/>
            </a:pPr>
            <a:r>
              <a:rPr lang="en-US" sz="1800" b="1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AND MARKET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0" y="588783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Consulting Group (2024).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Cloud-based Core Transformations, via Business Standard.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01200" y="6541889"/>
            <a:ext cx="829818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watsonx Code Assistant for Z — Validation Assistant documentation.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0" y="6910189"/>
            <a:ext cx="7770114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Web Services (2025).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Transform for mainframe, generally available. </a:t>
            </a: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 Orchard.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Imogen platform — generate-validate loop.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601200" y="7932539"/>
            <a:ext cx="75438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0" y="8065889"/>
            <a:ext cx="7770114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571"/>
              </a:lnSpc>
              <a:buNone/>
            </a:pPr>
            <a:r>
              <a:rPr lang="en-US" sz="1800" b="1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AND STANDARDS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01200" y="8423970"/>
            <a:ext cx="7770114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GnuCOBOL Project.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GnuCOBOL compiler, GPL/LGPL. NIST COBOL-85: 9,700 of 9,748. </a:t>
            </a: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Wolf, U.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ProLeap COBOL Parser, MIT licence. </a:t>
            </a: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(1992).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CCVS85 validation system.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43000" y="935355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429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annotated bibliography, with per-source confidence ratings, is in the research dossier.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3983</Words>
  <Application>Microsoft Office PowerPoint</Application>
  <PresentationFormat>Custom</PresentationFormat>
  <Paragraphs>336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Soumyajit Sarkar</cp:lastModifiedBy>
  <cp:revision>3</cp:revision>
  <dcterms:created xsi:type="dcterms:W3CDTF">2026-08-13T12:11:42Z</dcterms:created>
  <dcterms:modified xsi:type="dcterms:W3CDTF">2026-08-13T12:16:53Z</dcterms:modified>
</cp:coreProperties>
</file>