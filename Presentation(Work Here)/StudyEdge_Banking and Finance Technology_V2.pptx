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64" r:id="rId15"/>
    <p:sldId id="259" r:id="rId5"/>
    <p:sldId id="260" r:id="rId6"/>
    <p:sldId id="265" r:id="rId16"/>
    <p:sldId id="261" r:id="rId7"/>
    <p:sldId id="266" r:id="rId17"/>
    <p:sldId id="262" r:id="rId8"/>
    <p:sldId id="267" r:id="rId18"/>
    <p:sldId id="268" r:id="rId19"/>
    <p:sldId id="263" r:id="rId9"/>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2" d="100"/>
          <a:sy n="72" d="100"/>
        </p:scale>
        <p:origin x="14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8.xml"/><Relationship Id="rId8" Type="http://schemas.openxmlformats.org/officeDocument/2006/relationships/slide" Target="slides/slide10.xml"/><Relationship Id="rId9" Type="http://schemas.openxmlformats.org/officeDocument/2006/relationships/slide" Target="slides/slide13.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4.xml"/><Relationship Id="rId16" Type="http://schemas.openxmlformats.org/officeDocument/2006/relationships/slide" Target="slides/slide7.xml"/><Relationship Id="rId17" Type="http://schemas.openxmlformats.org/officeDocument/2006/relationships/slide" Target="slides/slide9.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0299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everyone proves the rewrite matches the legacy; we also ask whether the legacy matches the regulator, and we report the answer per business rule. Scope: COBOL interest-accrual programs executed via GnuCOBOL. Whole-system migration is out of scope.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1.9 million customer figure often quoted for TSB is press reporting, not the FCA — the regulator says 'a significant proportion of its 5.2 million customers'. That is why the slide does not use it. HDFC is the example that matters for an Indian panel: an IT failure froze the bank's product roadmap for over a year.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quote in the footer is verbatim from the paper's abstract — verified word for word. Do not paraphrase it as 'IBM says its product does not work'; the paper's point is that validation is necessary, which is our point too. Be generous to the incumbents. The 91.2% / under-20% pair is the sharpest argument in the deck and it comes from someone else's paper: AgentModernize captured 91.2% of gold-standard rules but its Behavioural Equivalence Rate was 9.4%, 8.1% and 19.4% across three models, with baselines at 0.0%.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reciprocal loop: extracted rules feed the input generator, and the differential run then catches the extraction layer stating rules that are wrong. Neither half works alone. The intake gate matters: the tool refuses programs it cannot verify soundly, with a reason, rather than producing a confident wrong answer.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dashed red arrows are the reciprocal loop: extracted rules feed the input generator, and those inputs drive both implementations — the differential run then catches the extraction layer stating rules that are wrong. Neither half works alone. LLM calls are confined to two bounded points; everything else is deterministic.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regulator claim is the strongest in the deck, and it survived a deliberate falsification pass: Locksmith (arXiv 2607.28271) has no regulatory checks; AgentModernize has none; EvolveWare is static documentation with no execution. Say 'warrants a compliance review', never 'this is a breach'. On verdicts: rule-level reporting exists (AgentModernize's BRPS); what we could not find anywhere is requiring the boundary to be behaviourally live, issuing a refutation verdict on self-extracted rules, and injecting faults into the oracle to score corpus adequacy. REFUTED means 'contradicted by the evidence we have', never 'false' — always show the counterexample.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COBOL interest-accrual programs executed via GnuCOBOL. Whole-system migration is out of scope. The intake gate matters: the tool refuses programs it cannot verify soundly, with a reason, rather than producing a confident wrong answer.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annotated bibliography, with a confidence rating per source and a record of which claims were independently re-verified, is in the research dossier accompanying this submission.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Name the buyer explicitly. The CIO owns the decision, but risk and audit are the ones who block it, and they block it for a reason nobody has given them a tool to satisfy.</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Every component is free and every claim about it is citable. The one line to stress: the model is called once per slice, so a hallucinated line citation is structurally impossible.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market point is not that COBOL is big. It is that the money is already allocated and the assurance step is the bottleneck holding it. Note the three adjacent products all generate and then bolt validation on afterwards.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mandated template slide. Walk it left to right: why the problem exists, how we solve it, what the customer actually receives. Do not read it out — land the three headings and let the detail sit there for the evaluator.</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mandated financials slide. Lead with the fact that licence cost is nil - the whole toolchain is open source. Then TSB as the cost of not solving. The highlighted week 8-10 band is the part that is genuinely novel; everything before it is plumbing.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2F2"/>
        </a:solidFill>
        <a:effectLst/>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16482060" cy="392410"/>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144" dirty="0">
                <a:solidFill>
                  <a:srgbClr val="EC3013"/>
                </a:solidFill>
                <a:latin typeface="Arial" pitchFamily="34" charset="0"/>
                <a:ea typeface="Arial" pitchFamily="34" charset="-122"/>
                <a:cs typeface="Arial" pitchFamily="34" charset="-120"/>
              </a:rPr>
              <a:t>DIGITAL NURTURE HACKATHON 2026 · BANKING AND FINANCE TECHNOLOGY</a:t>
            </a:r>
            <a:endParaRPr lang="en-US" sz="1800" dirty="0"/>
          </a:p>
        </p:txBody>
      </p:sp>
      <p:sp>
        <p:nvSpPr>
          <p:cNvPr id="4" name="Text 2"/>
          <p:cNvSpPr/>
          <p:nvPr/>
        </p:nvSpPr>
        <p:spPr>
          <a:xfrm>
            <a:off x="1093490" y="2904431"/>
            <a:ext cx="16533056" cy="2058789"/>
          </a:xfrm>
          <a:prstGeom prst="rect">
            <a:avLst/>
          </a:prstGeom>
          <a:noFill/>
          <a:ln/>
        </p:spPr>
        <p:txBody>
          <a:bodyPr wrap="square" lIns="25400" tIns="25400" rIns="25400" bIns="25400" rtlCol="0" anchor="t">
            <a:normAutofit/>
          </a:bodyPr>
          <a:lstStyle/>
          <a:p>
            <a:pPr marL="0" indent="0" algn="l">
              <a:lnSpc>
                <a:spcPct val="72327"/>
              </a:lnSpc>
              <a:buNone/>
            </a:pPr>
            <a:r>
              <a:rPr lang="en-US" sz="7800" b="1" kern="0" spc="-156" dirty="0">
                <a:solidFill>
                  <a:srgbClr val="201E1D"/>
                </a:solidFill>
                <a:latin typeface="Arial" pitchFamily="34" charset="0"/>
                <a:ea typeface="Arial" pitchFamily="34" charset="-122"/>
                <a:cs typeface="Arial" pitchFamily="34" charset="-120"/>
              </a:rPr>
              <a:t>Legacy Banking Modernisation Platform</a:t>
            </a:r>
            <a:endParaRPr lang="en-US" sz="7800" dirty="0"/>
          </a:p>
        </p:txBody>
      </p:sp>
      <p:sp>
        <p:nvSpPr>
          <p:cNvPr id="5" name="Text 3"/>
          <p:cNvSpPr/>
          <p:nvPr/>
        </p:nvSpPr>
        <p:spPr>
          <a:xfrm>
            <a:off x="1143000" y="6239570"/>
            <a:ext cx="9758937" cy="1181100"/>
          </a:xfrm>
          <a:prstGeom prst="rect">
            <a:avLst/>
          </a:prstGeom>
          <a:noFill/>
          <a:ln/>
        </p:spPr>
        <p:txBody>
          <a:bodyPr wrap="square" lIns="25400" tIns="25400" rIns="25400" bIns="25400" rtlCol="0" anchor="t">
            <a:normAutofit/>
          </a:bodyPr>
          <a:lstStyle/>
          <a:p>
            <a:pPr marL="0" indent="0" algn="l">
              <a:lnSpc>
                <a:spcPct val="125000"/>
              </a:lnSpc>
              <a:buNone/>
            </a:pPr>
            <a:r>
              <a:rPr lang="en-US" sz="2100" dirty="0">
                <a:solidFill>
                  <a:srgbClr val="201E1C">
                    <a:alpha val="60000"/>
                  </a:srgbClr>
                </a:solidFill>
                <a:latin typeface="Arial" pitchFamily="34" charset="0"/>
                <a:ea typeface="Arial" pitchFamily="34" charset="-122"/>
                <a:cs typeface="Arial" pitchFamily="34" charset="-120"/>
              </a:rPr>
              <a:t>Legacy migration fails on verification, not translation. We make behavioural equivalence something a bank can prove, then check that answer against the regulator.</a:t>
            </a:r>
            <a:endParaRPr lang="en-US" sz="2100" dirty="0"/>
          </a:p>
        </p:txBody>
      </p:sp>
      <p:sp>
        <p:nvSpPr>
          <p:cNvPr id="6" name="Text 4"/>
          <p:cNvSpPr/>
          <p:nvPr/>
        </p:nvSpPr>
        <p:spPr>
          <a:xfrm>
            <a:off x="1143000" y="8513763"/>
            <a:ext cx="1994872" cy="407194"/>
          </a:xfrm>
          <a:prstGeom prst="rect">
            <a:avLst/>
          </a:prstGeom>
          <a:noFill/>
          <a:ln/>
        </p:spPr>
        <p:txBody>
          <a:bodyPr wrap="square" lIns="25400" tIns="25400" rIns="25400" bIns="25400" rtlCol="0" anchor="t">
            <a:normAutofit/>
          </a:bodyPr>
          <a:lstStyle/>
          <a:p>
            <a:pPr marL="0" indent="0" algn="l">
              <a:lnSpc>
                <a:spcPct val="109670"/>
              </a:lnSpc>
              <a:buNone/>
            </a:pPr>
            <a:r>
              <a:rPr lang="en-US" sz="1875" b="1" dirty="0">
                <a:solidFill>
                  <a:srgbClr val="201E1D"/>
                </a:solidFill>
                <a:latin typeface="Arial" pitchFamily="34" charset="0"/>
                <a:ea typeface="Arial" pitchFamily="34" charset="-122"/>
                <a:cs typeface="Arial" pitchFamily="34" charset="-120"/>
              </a:rPr>
              <a:t>Team StudyEdge</a:t>
            </a:r>
            <a:endParaRPr lang="en-US" sz="1875" dirty="0"/>
          </a:p>
        </p:txBody>
      </p:sp>
      <p:sp>
        <p:nvSpPr>
          <p:cNvPr id="7" name="Text 5"/>
          <p:cNvSpPr/>
          <p:nvPr/>
        </p:nvSpPr>
        <p:spPr>
          <a:xfrm>
            <a:off x="3147020" y="8520113"/>
            <a:ext cx="7138016" cy="407194"/>
          </a:xfrm>
          <a:prstGeom prst="rect">
            <a:avLst/>
          </a:prstGeom>
          <a:noFill/>
          <a:ln/>
        </p:spPr>
        <p:txBody>
          <a:bodyPr wrap="square" lIns="25400" tIns="25400" rIns="25400" bIns="25400" rtlCol="0" anchor="t">
            <a:normAutofit/>
          </a:bodyPr>
          <a:lstStyle/>
          <a:p>
            <a:pPr marL="0" indent="0" algn="l">
              <a:lnSpc>
                <a:spcPct val="135174"/>
              </a:lnSpc>
              <a:buNone/>
            </a:pPr>
            <a:r>
              <a:rPr lang="en-US" sz="1875" dirty="0">
                <a:solidFill>
                  <a:srgbClr val="201E1C">
                    <a:alpha val="60000"/>
                  </a:srgbClr>
                </a:solidFill>
                <a:latin typeface="Arial" pitchFamily="34" charset="0"/>
                <a:ea typeface="Arial" pitchFamily="34" charset="-122"/>
                <a:cs typeface="Arial" pitchFamily="34" charset="-120"/>
              </a:rPr>
              <a:t>Odisha University of Technology and Research, Bhubaneswar</a:t>
            </a:r>
            <a:endParaRPr lang="en-US" sz="1875" dirty="0"/>
          </a:p>
        </p:txBody>
      </p:sp>
      <p:sp>
        <p:nvSpPr>
          <p:cNvPr id="8" name="Text 6"/>
          <p:cNvSpPr/>
          <p:nvPr/>
        </p:nvSpPr>
        <p:spPr>
          <a:xfrm>
            <a:off x="1143000" y="9079706"/>
            <a:ext cx="9151114" cy="407194"/>
          </a:xfrm>
          <a:prstGeom prst="rect">
            <a:avLst/>
          </a:prstGeom>
          <a:noFill/>
          <a:ln/>
        </p:spPr>
        <p:txBody>
          <a:bodyPr wrap="square" lIns="25400" tIns="25400" rIns="25400" bIns="25400" rtlCol="0" anchor="t">
            <a:normAutofit/>
          </a:bodyPr>
          <a:lstStyle/>
          <a:p>
            <a:pPr marL="0" indent="0" algn="l">
              <a:lnSpc>
                <a:spcPct val="135174"/>
              </a:lnSpc>
              <a:buNone/>
            </a:pPr>
            <a:r>
              <a:rPr lang="en-US" sz="1875" dirty="0">
                <a:solidFill>
                  <a:srgbClr val="201E1C">
                    <a:alpha val="60000"/>
                  </a:srgbClr>
                </a:solidFill>
                <a:latin typeface="Arial" pitchFamily="34" charset="0"/>
                <a:ea typeface="Arial" pitchFamily="34" charset="-122"/>
                <a:cs typeface="Arial" pitchFamily="34" charset="-120"/>
              </a:rPr>
              <a:t>Tamanna Panda · Adyasha Das · Soumyajit Sarkar · Swayam Subhankar Sahoo</a:t>
            </a:r>
            <a:endParaRPr lang="en-US" sz="1875" dirty="0"/>
          </a:p>
        </p:txBody>
      </p:sp>
      <p:sp>
        <p:nvSpPr>
          <p:cNvPr id="9" name="Rectangle 8"/>
          <p:cNvSpPr/>
          <p:nvPr/>
        </p:nvSpPr>
        <p:spPr>
          <a:xfrm>
            <a:off x="12390120" y="8549640"/>
            <a:ext cx="1417320" cy="475488"/>
          </a:xfrm>
          <a:prstGeom prst="rect">
            <a:avLst/>
          </a:prstGeom>
          <a:noFill/>
          <a:ln w="15875">
            <a:solidFill>
              <a:srgbClr val="C9C6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390120" y="8650224"/>
            <a:ext cx="1417320" cy="274320"/>
          </a:xfrm>
          <a:prstGeom prst="rect">
            <a:avLst/>
          </a:prstGeom>
          <a:noFill/>
        </p:spPr>
        <p:txBody>
          <a:bodyPr wrap="square" lIns="0" rIns="0" tIns="0" bIns="0" anchor="t">
            <a:spAutoFit/>
          </a:bodyPr>
          <a:lstStyle/>
          <a:p>
            <a:pPr algn="ctr">
              <a:lnSpc>
                <a:spcPct val="125000"/>
              </a:lnSpc>
            </a:pPr>
            <a:r>
              <a:rPr sz="1300" b="1">
                <a:solidFill>
                  <a:srgbClr val="6F6C6B"/>
                </a:solidFill>
                <a:latin typeface="Arial"/>
              </a:rPr>
              <a:t>legacy</a:t>
            </a:r>
          </a:p>
        </p:txBody>
      </p:sp>
      <p:sp>
        <p:nvSpPr>
          <p:cNvPr id="11" name="Rectangle 10"/>
          <p:cNvSpPr/>
          <p:nvPr/>
        </p:nvSpPr>
        <p:spPr>
          <a:xfrm>
            <a:off x="15590520" y="8549640"/>
            <a:ext cx="1417320" cy="475488"/>
          </a:xfrm>
          <a:prstGeom prst="rect">
            <a:avLst/>
          </a:prstGeom>
          <a:noFill/>
          <a:ln w="15875">
            <a:solidFill>
              <a:srgbClr val="C9C6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590520" y="8650224"/>
            <a:ext cx="1417320" cy="274320"/>
          </a:xfrm>
          <a:prstGeom prst="rect">
            <a:avLst/>
          </a:prstGeom>
          <a:noFill/>
        </p:spPr>
        <p:txBody>
          <a:bodyPr wrap="square" lIns="0" rIns="0" tIns="0" bIns="0" anchor="t">
            <a:spAutoFit/>
          </a:bodyPr>
          <a:lstStyle/>
          <a:p>
            <a:pPr algn="ctr">
              <a:lnSpc>
                <a:spcPct val="125000"/>
              </a:lnSpc>
            </a:pPr>
            <a:r>
              <a:rPr sz="1300" b="1">
                <a:solidFill>
                  <a:srgbClr val="6F6C6B"/>
                </a:solidFill>
                <a:latin typeface="Arial"/>
              </a:rPr>
              <a:t>rewrite</a:t>
            </a:r>
          </a:p>
        </p:txBody>
      </p:sp>
      <p:sp>
        <p:nvSpPr>
          <p:cNvPr id="13" name="TextBox 12"/>
          <p:cNvSpPr txBox="1"/>
          <p:nvPr/>
        </p:nvSpPr>
        <p:spPr>
          <a:xfrm>
            <a:off x="13807440" y="8595360"/>
            <a:ext cx="411480" cy="365760"/>
          </a:xfrm>
          <a:prstGeom prst="rect">
            <a:avLst/>
          </a:prstGeom>
          <a:noFill/>
        </p:spPr>
        <p:txBody>
          <a:bodyPr wrap="square" lIns="0" rIns="0" tIns="0" bIns="0" anchor="t">
            <a:spAutoFit/>
          </a:bodyPr>
          <a:lstStyle/>
          <a:p>
            <a:pPr algn="ctr">
              <a:lnSpc>
                <a:spcPct val="125000"/>
              </a:lnSpc>
            </a:pPr>
            <a:r>
              <a:rPr sz="2000" b="0">
                <a:solidFill>
                  <a:srgbClr val="8C8886"/>
                </a:solidFill>
                <a:latin typeface="Arial"/>
              </a:rPr>
              <a:t>→</a:t>
            </a:r>
          </a:p>
        </p:txBody>
      </p:sp>
      <p:sp>
        <p:nvSpPr>
          <p:cNvPr id="14" name="TextBox 13"/>
          <p:cNvSpPr txBox="1"/>
          <p:nvPr/>
        </p:nvSpPr>
        <p:spPr>
          <a:xfrm>
            <a:off x="15179040" y="8595360"/>
            <a:ext cx="411480" cy="365760"/>
          </a:xfrm>
          <a:prstGeom prst="rect">
            <a:avLst/>
          </a:prstGeom>
          <a:noFill/>
        </p:spPr>
        <p:txBody>
          <a:bodyPr wrap="square" lIns="0" rIns="0" tIns="0" bIns="0" anchor="t">
            <a:spAutoFit/>
          </a:bodyPr>
          <a:lstStyle/>
          <a:p>
            <a:pPr algn="ctr">
              <a:lnSpc>
                <a:spcPct val="125000"/>
              </a:lnSpc>
            </a:pPr>
            <a:r>
              <a:rPr sz="2000" b="0">
                <a:solidFill>
                  <a:srgbClr val="8C8886"/>
                </a:solidFill>
                <a:latin typeface="Arial"/>
              </a:rPr>
              <a:t>←</a:t>
            </a:r>
          </a:p>
        </p:txBody>
      </p:sp>
      <p:sp>
        <p:nvSpPr>
          <p:cNvPr id="15" name="Rectangle 14"/>
          <p:cNvSpPr/>
          <p:nvPr/>
        </p:nvSpPr>
        <p:spPr>
          <a:xfrm>
            <a:off x="14218920" y="8549640"/>
            <a:ext cx="960120" cy="475488"/>
          </a:xfrm>
          <a:prstGeom prst="rect">
            <a:avLst/>
          </a:prstGeom>
          <a:solidFill>
            <a:srgbClr val="EC3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218920" y="8650224"/>
            <a:ext cx="960120" cy="274320"/>
          </a:xfrm>
          <a:prstGeom prst="rect">
            <a:avLst/>
          </a:prstGeom>
          <a:noFill/>
        </p:spPr>
        <p:txBody>
          <a:bodyPr wrap="square" lIns="0" rIns="0" tIns="0" bIns="0" anchor="t">
            <a:spAutoFit/>
          </a:bodyPr>
          <a:lstStyle/>
          <a:p>
            <a:pPr algn="ctr">
              <a:lnSpc>
                <a:spcPct val="125000"/>
              </a:lnSpc>
            </a:pPr>
            <a:r>
              <a:rPr sz="1300" b="1">
                <a:solidFill>
                  <a:srgbClr val="F3F2F2"/>
                </a:solidFill>
                <a:latin typeface="Arial"/>
              </a:rPr>
              <a:t>diff</a:t>
            </a:r>
          </a:p>
        </p:txBody>
      </p:sp>
      <p:sp>
        <p:nvSpPr>
          <p:cNvPr id="17" name="TextBox 16"/>
          <p:cNvSpPr txBox="1"/>
          <p:nvPr/>
        </p:nvSpPr>
        <p:spPr>
          <a:xfrm>
            <a:off x="12390120" y="9171432"/>
            <a:ext cx="4617720" cy="274320"/>
          </a:xfrm>
          <a:prstGeom prst="rect">
            <a:avLst/>
          </a:prstGeom>
          <a:noFill/>
        </p:spPr>
        <p:txBody>
          <a:bodyPr wrap="square" lIns="0" rIns="0" tIns="0" bIns="0" anchor="t">
            <a:spAutoFit/>
          </a:bodyPr>
          <a:lstStyle/>
          <a:p>
            <a:pPr algn="ctr">
              <a:lnSpc>
                <a:spcPct val="125000"/>
              </a:lnSpc>
            </a:pPr>
            <a:r>
              <a:rPr sz="1250" b="0">
                <a:solidFill>
                  <a:srgbClr val="8C8886"/>
                </a:solidFill>
                <a:latin typeface="Arial"/>
              </a:rPr>
              <a:t>same input · both executed · proof, not promise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2F2"/>
        </a:solidFill>
        <a:effectLst/>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16482060" cy="392410"/>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144" dirty="0">
                <a:solidFill>
                  <a:srgbClr val="EC3013"/>
                </a:solidFill>
                <a:latin typeface="Arial" pitchFamily="34" charset="0"/>
                <a:ea typeface="Arial" pitchFamily="34" charset="-122"/>
                <a:cs typeface="Arial" pitchFamily="34" charset="-120"/>
              </a:rPr>
              <a:t>PROBLEM</a:t>
            </a:r>
            <a:endParaRPr lang="en-US" sz="1800" dirty="0"/>
          </a:p>
        </p:txBody>
      </p:sp>
      <p:sp>
        <p:nvSpPr>
          <p:cNvPr id="4" name="Text 2"/>
          <p:cNvSpPr/>
          <p:nvPr/>
        </p:nvSpPr>
        <p:spPr>
          <a:xfrm>
            <a:off x="1116509" y="1790700"/>
            <a:ext cx="17631341" cy="675878"/>
          </a:xfrm>
          <a:prstGeom prst="rect">
            <a:avLst/>
          </a:prstGeom>
          <a:noFill/>
          <a:ln/>
        </p:spPr>
        <p:txBody>
          <a:bodyPr wrap="square" lIns="25400" tIns="25400" rIns="25400" bIns="25400" rtlCol="0" anchor="t">
            <a:normAutofit/>
          </a:bodyPr>
          <a:lstStyle/>
          <a:p>
            <a:pPr marL="0" indent="0" algn="l">
              <a:lnSpc>
                <a:spcPct val="76672"/>
              </a:lnSpc>
              <a:buNone/>
            </a:pPr>
            <a:r>
              <a:rPr lang="en-US" sz="4650" b="1" kern="0" spc="-70" dirty="0">
                <a:solidFill>
                  <a:srgbClr val="201E1D"/>
                </a:solidFill>
                <a:latin typeface="Arial" pitchFamily="34" charset="0"/>
                <a:ea typeface="Arial" pitchFamily="34" charset="-122"/>
                <a:cs typeface="Arial" pitchFamily="34" charset="-120"/>
              </a:rPr>
              <a:t>India’s banks run on code nobody can safely change</a:t>
            </a:r>
            <a:endParaRPr lang="en-US" sz="4650" dirty="0"/>
          </a:p>
        </p:txBody>
      </p:sp>
      <p:sp>
        <p:nvSpPr>
          <p:cNvPr id="5" name="Shape 3"/>
          <p:cNvSpPr/>
          <p:nvPr/>
        </p:nvSpPr>
        <p:spPr>
          <a:xfrm>
            <a:off x="1143000" y="2885678"/>
            <a:ext cx="3657600" cy="19050"/>
          </a:xfrm>
          <a:prstGeom prst="rect">
            <a:avLst/>
          </a:prstGeom>
          <a:solidFill>
            <a:srgbClr val="201E1E">
              <a:alpha val="40000"/>
            </a:srgbClr>
          </a:solidFill>
          <a:ln/>
        </p:spPr>
      </p:sp>
      <p:sp>
        <p:nvSpPr>
          <p:cNvPr id="6" name="Text 4"/>
          <p:cNvSpPr/>
          <p:nvPr/>
        </p:nvSpPr>
        <p:spPr>
          <a:xfrm>
            <a:off x="1143000" y="3114278"/>
            <a:ext cx="4023360" cy="838200"/>
          </a:xfrm>
          <a:prstGeom prst="rect">
            <a:avLst/>
          </a:prstGeom>
          <a:noFill/>
          <a:ln/>
        </p:spPr>
        <p:txBody>
          <a:bodyPr wrap="square" lIns="25400" tIns="25400" rIns="25400" bIns="25400" rtlCol="0" anchor="t">
            <a:normAutofit/>
          </a:bodyPr>
          <a:lstStyle/>
          <a:p>
            <a:pPr marL="0" indent="0" algn="l">
              <a:lnSpc>
                <a:spcPct val="70787"/>
              </a:lnSpc>
              <a:buNone/>
            </a:pPr>
            <a:r>
              <a:rPr lang="en-US" sz="6300" b="1" kern="0" spc="-126" dirty="0">
                <a:solidFill>
                  <a:srgbClr val="201E1D"/>
                </a:solidFill>
                <a:latin typeface="Arial" pitchFamily="34" charset="0"/>
                <a:ea typeface="Arial" pitchFamily="34" charset="-122"/>
                <a:cs typeface="Arial" pitchFamily="34" charset="-120"/>
              </a:rPr>
              <a:t>92</a:t>
            </a:r>
            <a:endParaRPr lang="en-US" sz="6300" dirty="0"/>
          </a:p>
        </p:txBody>
      </p:sp>
      <p:sp>
        <p:nvSpPr>
          <p:cNvPr id="7" name="Text 5"/>
          <p:cNvSpPr/>
          <p:nvPr/>
        </p:nvSpPr>
        <p:spPr>
          <a:xfrm>
            <a:off x="1143000" y="4047728"/>
            <a:ext cx="3767328" cy="666750"/>
          </a:xfrm>
          <a:prstGeom prst="rect">
            <a:avLst/>
          </a:prstGeom>
          <a:noFill/>
          <a:ln/>
        </p:spPr>
        <p:txBody>
          <a:bodyPr wrap="square" lIns="25400" tIns="25400" rIns="25400" bIns="25400" rtlCol="0" anchor="t">
            <a:normAutofit/>
          </a:bodyPr>
          <a:lstStyle/>
          <a:p>
            <a:pPr marL="0" indent="0" algn="l">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of the top 100 banks worldwide run on IBM mainframes</a:t>
            </a:r>
            <a:endParaRPr lang="en-US" sz="1875" dirty="0"/>
          </a:p>
        </p:txBody>
      </p:sp>
      <p:sp>
        <p:nvSpPr>
          <p:cNvPr id="8" name="Shape 6"/>
          <p:cNvSpPr/>
          <p:nvPr/>
        </p:nvSpPr>
        <p:spPr>
          <a:xfrm>
            <a:off x="5257800" y="2885678"/>
            <a:ext cx="3657600" cy="19050"/>
          </a:xfrm>
          <a:prstGeom prst="rect">
            <a:avLst/>
          </a:prstGeom>
          <a:solidFill>
            <a:srgbClr val="201E1E">
              <a:alpha val="40000"/>
            </a:srgbClr>
          </a:solidFill>
          <a:ln/>
        </p:spPr>
      </p:sp>
      <p:sp>
        <p:nvSpPr>
          <p:cNvPr id="9" name="Text 7"/>
          <p:cNvSpPr/>
          <p:nvPr/>
        </p:nvSpPr>
        <p:spPr>
          <a:xfrm>
            <a:off x="5257800" y="3114278"/>
            <a:ext cx="4023360" cy="838200"/>
          </a:xfrm>
          <a:prstGeom prst="rect">
            <a:avLst/>
          </a:prstGeom>
          <a:noFill/>
          <a:ln/>
        </p:spPr>
        <p:txBody>
          <a:bodyPr wrap="square" lIns="25400" tIns="25400" rIns="25400" bIns="25400" rtlCol="0" anchor="t">
            <a:normAutofit/>
          </a:bodyPr>
          <a:lstStyle/>
          <a:p>
            <a:pPr marL="0" indent="0" algn="l">
              <a:lnSpc>
                <a:spcPct val="70787"/>
              </a:lnSpc>
              <a:buNone/>
            </a:pPr>
            <a:r>
              <a:rPr lang="en-US" sz="6300" b="1" kern="0" spc="-126" dirty="0">
                <a:solidFill>
                  <a:srgbClr val="201E1D"/>
                </a:solidFill>
                <a:latin typeface="Arial" pitchFamily="34" charset="0"/>
                <a:ea typeface="Arial" pitchFamily="34" charset="-122"/>
                <a:cs typeface="Arial" pitchFamily="34" charset="-120"/>
              </a:rPr>
              <a:t>40%+</a:t>
            </a:r>
            <a:endParaRPr lang="en-US" sz="6300" dirty="0"/>
          </a:p>
        </p:txBody>
      </p:sp>
      <p:sp>
        <p:nvSpPr>
          <p:cNvPr id="10" name="Text 8"/>
          <p:cNvSpPr/>
          <p:nvPr/>
        </p:nvSpPr>
        <p:spPr>
          <a:xfrm>
            <a:off x="5257800" y="4047728"/>
            <a:ext cx="3767328" cy="666750"/>
          </a:xfrm>
          <a:prstGeom prst="rect">
            <a:avLst/>
          </a:prstGeom>
          <a:noFill/>
          <a:ln/>
        </p:spPr>
        <p:txBody>
          <a:bodyPr wrap="square" lIns="25400" tIns="25400" rIns="25400" bIns="25400" rtlCol="0" anchor="t">
            <a:normAutofit/>
          </a:bodyPr>
          <a:lstStyle/>
          <a:p>
            <a:pPr marL="0" indent="0" algn="l">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of banking systems still run COBOL written decades ago</a:t>
            </a:r>
            <a:endParaRPr lang="en-US" sz="1875" dirty="0"/>
          </a:p>
        </p:txBody>
      </p:sp>
      <p:sp>
        <p:nvSpPr>
          <p:cNvPr id="11" name="Shape 9"/>
          <p:cNvSpPr/>
          <p:nvPr/>
        </p:nvSpPr>
        <p:spPr>
          <a:xfrm>
            <a:off x="9372600" y="2885678"/>
            <a:ext cx="3657600" cy="19050"/>
          </a:xfrm>
          <a:prstGeom prst="rect">
            <a:avLst/>
          </a:prstGeom>
          <a:solidFill>
            <a:srgbClr val="201E1E">
              <a:alpha val="40000"/>
            </a:srgbClr>
          </a:solidFill>
          <a:ln/>
        </p:spPr>
      </p:sp>
      <p:sp>
        <p:nvSpPr>
          <p:cNvPr id="12" name="Text 10"/>
          <p:cNvSpPr/>
          <p:nvPr/>
        </p:nvSpPr>
        <p:spPr>
          <a:xfrm>
            <a:off x="9372600" y="3114278"/>
            <a:ext cx="4023360" cy="838200"/>
          </a:xfrm>
          <a:prstGeom prst="rect">
            <a:avLst/>
          </a:prstGeom>
          <a:noFill/>
          <a:ln/>
        </p:spPr>
        <p:txBody>
          <a:bodyPr wrap="square" lIns="25400" tIns="25400" rIns="25400" bIns="25400" rtlCol="0" anchor="t">
            <a:normAutofit/>
          </a:bodyPr>
          <a:lstStyle/>
          <a:p>
            <a:pPr marL="0" indent="0" algn="l">
              <a:lnSpc>
                <a:spcPct val="70787"/>
              </a:lnSpc>
              <a:buNone/>
            </a:pPr>
            <a:r>
              <a:rPr lang="en-US" sz="6300" b="1" kern="0" spc="-126" dirty="0">
                <a:solidFill>
                  <a:srgbClr val="201E1D"/>
                </a:solidFill>
                <a:latin typeface="Arial" pitchFamily="34" charset="0"/>
                <a:ea typeface="Arial" pitchFamily="34" charset="-122"/>
                <a:cs typeface="Arial" pitchFamily="34" charset="-120"/>
              </a:rPr>
              <a:t>$1bn</a:t>
            </a:r>
            <a:endParaRPr lang="en-US" sz="6300" dirty="0"/>
          </a:p>
        </p:txBody>
      </p:sp>
      <p:sp>
        <p:nvSpPr>
          <p:cNvPr id="13" name="Text 11"/>
          <p:cNvSpPr/>
          <p:nvPr/>
        </p:nvSpPr>
        <p:spPr>
          <a:xfrm>
            <a:off x="9372600" y="4047728"/>
            <a:ext cx="3767328" cy="666750"/>
          </a:xfrm>
          <a:prstGeom prst="rect">
            <a:avLst/>
          </a:prstGeom>
          <a:noFill/>
          <a:ln/>
        </p:spPr>
        <p:txBody>
          <a:bodyPr wrap="square" lIns="25400" tIns="25400" rIns="25400" bIns="25400" rtlCol="0" anchor="t">
            <a:normAutofit/>
          </a:bodyPr>
          <a:lstStyle/>
          <a:p>
            <a:pPr marL="0" indent="0" algn="l">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over 5–10 years to upgrade Indian core banking systems (BCG)</a:t>
            </a:r>
            <a:endParaRPr lang="en-US" sz="1875" dirty="0"/>
          </a:p>
        </p:txBody>
      </p:sp>
      <p:sp>
        <p:nvSpPr>
          <p:cNvPr id="14" name="Shape 12"/>
          <p:cNvSpPr/>
          <p:nvPr/>
        </p:nvSpPr>
        <p:spPr>
          <a:xfrm>
            <a:off x="13487400" y="2885678"/>
            <a:ext cx="3657600" cy="19050"/>
          </a:xfrm>
          <a:prstGeom prst="rect">
            <a:avLst/>
          </a:prstGeom>
          <a:solidFill>
            <a:srgbClr val="201E1E">
              <a:alpha val="40000"/>
            </a:srgbClr>
          </a:solidFill>
          <a:ln/>
        </p:spPr>
      </p:sp>
      <p:sp>
        <p:nvSpPr>
          <p:cNvPr id="15" name="Text 13"/>
          <p:cNvSpPr/>
          <p:nvPr/>
        </p:nvSpPr>
        <p:spPr>
          <a:xfrm>
            <a:off x="13487400" y="3114278"/>
            <a:ext cx="4023360" cy="838200"/>
          </a:xfrm>
          <a:prstGeom prst="rect">
            <a:avLst/>
          </a:prstGeom>
          <a:noFill/>
          <a:ln/>
        </p:spPr>
        <p:txBody>
          <a:bodyPr wrap="square" lIns="25400" tIns="25400" rIns="25400" bIns="25400" rtlCol="0" anchor="t">
            <a:normAutofit/>
          </a:bodyPr>
          <a:lstStyle/>
          <a:p>
            <a:pPr marL="0" indent="0" algn="l">
              <a:lnSpc>
                <a:spcPct val="70787"/>
              </a:lnSpc>
              <a:buNone/>
            </a:pPr>
            <a:r>
              <a:rPr lang="en-US" sz="6300" b="1" kern="0" spc="-126" dirty="0">
                <a:solidFill>
                  <a:srgbClr val="EC3013"/>
                </a:solidFill>
                <a:latin typeface="Arial" pitchFamily="34" charset="0"/>
                <a:ea typeface="Arial" pitchFamily="34" charset="-122"/>
                <a:cs typeface="Arial" pitchFamily="34" charset="-120"/>
              </a:rPr>
              <a:t>0</a:t>
            </a:r>
            <a:endParaRPr lang="en-US" sz="6300" dirty="0"/>
          </a:p>
        </p:txBody>
      </p:sp>
      <p:sp>
        <p:nvSpPr>
          <p:cNvPr id="16" name="Text 14"/>
          <p:cNvSpPr/>
          <p:nvPr/>
        </p:nvSpPr>
        <p:spPr>
          <a:xfrm>
            <a:off x="13487400" y="4047728"/>
            <a:ext cx="3767328" cy="666750"/>
          </a:xfrm>
          <a:prstGeom prst="rect">
            <a:avLst/>
          </a:prstGeom>
          <a:noFill/>
          <a:ln/>
        </p:spPr>
        <p:txBody>
          <a:bodyPr wrap="square" lIns="25400" tIns="25400" rIns="25400" bIns="25400" rtlCol="0" anchor="t">
            <a:normAutofit/>
          </a:bodyPr>
          <a:lstStyle/>
          <a:p>
            <a:pPr marL="0" indent="0" algn="l">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specifications state what those programs should do</a:t>
            </a:r>
            <a:endParaRPr lang="en-US" sz="1875" dirty="0"/>
          </a:p>
        </p:txBody>
      </p:sp>
      <p:sp>
        <p:nvSpPr>
          <p:cNvPr id="17" name="Text 15"/>
          <p:cNvSpPr/>
          <p:nvPr/>
        </p:nvSpPr>
        <p:spPr>
          <a:xfrm>
            <a:off x="1143000" y="5171679"/>
            <a:ext cx="17602200" cy="379413"/>
          </a:xfrm>
          <a:prstGeom prst="rect">
            <a:avLst/>
          </a:prstGeom>
          <a:noFill/>
          <a:ln/>
        </p:spPr>
        <p:txBody>
          <a:bodyPr wrap="square" lIns="25400" tIns="25400" rIns="25400" bIns="25400" rtlCol="0" anchor="t">
            <a:normAutofit/>
          </a:bodyPr>
          <a:lstStyle/>
          <a:p>
            <a:pPr marL="0" indent="0" algn="l">
              <a:lnSpc>
                <a:spcPct val="79059"/>
              </a:lnSpc>
              <a:buNone/>
            </a:pPr>
            <a:r>
              <a:rPr lang="en-US" sz="2400" b="1" kern="0" spc="-36" dirty="0">
                <a:solidFill>
                  <a:srgbClr val="201E1D"/>
                </a:solidFill>
                <a:latin typeface="Arial" pitchFamily="34" charset="0"/>
                <a:ea typeface="Arial" pitchFamily="34" charset="-122"/>
                <a:cs typeface="Arial" pitchFamily="34" charset="-120"/>
              </a:rPr>
              <a:t>When a bank guesses wrong, it is a supervisory event, not a bug report</a:t>
            </a:r>
            <a:endParaRPr lang="en-US" sz="2400" dirty="0"/>
          </a:p>
        </p:txBody>
      </p:sp>
      <p:sp>
        <p:nvSpPr>
          <p:cNvPr id="18" name="Shape 16"/>
          <p:cNvSpPr/>
          <p:nvPr/>
        </p:nvSpPr>
        <p:spPr>
          <a:xfrm>
            <a:off x="1143000" y="5817791"/>
            <a:ext cx="5029200" cy="19050"/>
          </a:xfrm>
          <a:prstGeom prst="rect">
            <a:avLst/>
          </a:prstGeom>
          <a:solidFill>
            <a:srgbClr val="201E1E">
              <a:alpha val="40000"/>
            </a:srgbClr>
          </a:solidFill>
          <a:ln/>
        </p:spPr>
      </p:sp>
      <p:sp>
        <p:nvSpPr>
          <p:cNvPr id="19" name="Text 17"/>
          <p:cNvSpPr/>
          <p:nvPr/>
        </p:nvSpPr>
        <p:spPr>
          <a:xfrm>
            <a:off x="1143000" y="6008291"/>
            <a:ext cx="5532120" cy="388541"/>
          </a:xfrm>
          <a:prstGeom prst="rect">
            <a:avLst/>
          </a:prstGeom>
          <a:noFill/>
          <a:ln/>
        </p:spPr>
        <p:txBody>
          <a:bodyPr wrap="square" lIns="25400" tIns="25400" rIns="25400" bIns="25400" rtlCol="0" anchor="t">
            <a:normAutofit/>
          </a:bodyPr>
          <a:lstStyle/>
          <a:p>
            <a:pPr marL="0" indent="0" algn="l">
              <a:lnSpc>
                <a:spcPct val="81176"/>
              </a:lnSpc>
              <a:buNone/>
            </a:pPr>
            <a:r>
              <a:rPr lang="en-US" sz="2400" b="1" kern="0" spc="-36" dirty="0">
                <a:solidFill>
                  <a:srgbClr val="201E1D"/>
                </a:solidFill>
                <a:latin typeface="Arial" pitchFamily="34" charset="0"/>
                <a:ea typeface="Arial" pitchFamily="34" charset="-122"/>
                <a:cs typeface="Arial" pitchFamily="34" charset="-120"/>
              </a:rPr>
              <a:t>TSB, United Kingdom — 2018</a:t>
            </a:r>
            <a:endParaRPr lang="en-US" sz="2400" dirty="0"/>
          </a:p>
        </p:txBody>
      </p:sp>
      <p:sp>
        <p:nvSpPr>
          <p:cNvPr id="20" name="Text 18"/>
          <p:cNvSpPr/>
          <p:nvPr/>
        </p:nvSpPr>
        <p:spPr>
          <a:xfrm>
            <a:off x="1143000" y="6492082"/>
            <a:ext cx="5180076" cy="1657350"/>
          </a:xfrm>
          <a:prstGeom prst="rect">
            <a:avLst/>
          </a:prstGeom>
          <a:noFill/>
          <a:ln/>
        </p:spPr>
        <p:txBody>
          <a:bodyPr wrap="square" lIns="25400" tIns="25400" rIns="25400" bIns="25400" rtlCol="0" anchor="t">
            <a:normAutofit/>
          </a:bodyPr>
          <a:lstStyle/>
          <a:p>
            <a:pPr marL="0" indent="0" algn="l">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A core migration failed at cutover. The FCA and PRA fined TSB £48.65m for operational risk and governance failings, and £32.7m went in customer redress. Business as usual took eight months to return.</a:t>
            </a:r>
            <a:endParaRPr lang="en-US" sz="1875" dirty="0"/>
          </a:p>
        </p:txBody>
      </p:sp>
      <p:sp>
        <p:nvSpPr>
          <p:cNvPr id="21" name="Shape 19"/>
          <p:cNvSpPr/>
          <p:nvPr/>
        </p:nvSpPr>
        <p:spPr>
          <a:xfrm>
            <a:off x="6629400" y="5817791"/>
            <a:ext cx="5029200" cy="19050"/>
          </a:xfrm>
          <a:prstGeom prst="rect">
            <a:avLst/>
          </a:prstGeom>
          <a:solidFill>
            <a:srgbClr val="201E1E">
              <a:alpha val="40000"/>
            </a:srgbClr>
          </a:solidFill>
          <a:ln/>
        </p:spPr>
      </p:sp>
      <p:sp>
        <p:nvSpPr>
          <p:cNvPr id="22" name="Text 20"/>
          <p:cNvSpPr/>
          <p:nvPr/>
        </p:nvSpPr>
        <p:spPr>
          <a:xfrm>
            <a:off x="6629400" y="6008291"/>
            <a:ext cx="5532120" cy="388541"/>
          </a:xfrm>
          <a:prstGeom prst="rect">
            <a:avLst/>
          </a:prstGeom>
          <a:noFill/>
          <a:ln/>
        </p:spPr>
        <p:txBody>
          <a:bodyPr wrap="square" lIns="25400" tIns="25400" rIns="25400" bIns="25400" rtlCol="0" anchor="t">
            <a:normAutofit/>
          </a:bodyPr>
          <a:lstStyle/>
          <a:p>
            <a:pPr marL="0" indent="0" algn="l">
              <a:lnSpc>
                <a:spcPct val="81176"/>
              </a:lnSpc>
              <a:buNone/>
            </a:pPr>
            <a:r>
              <a:rPr lang="en-US" sz="2400" b="1" kern="0" spc="-36" dirty="0">
                <a:solidFill>
                  <a:srgbClr val="201E1D"/>
                </a:solidFill>
                <a:latin typeface="Arial" pitchFamily="34" charset="0"/>
                <a:ea typeface="Arial" pitchFamily="34" charset="-122"/>
                <a:cs typeface="Arial" pitchFamily="34" charset="-120"/>
              </a:rPr>
              <a:t>HDFC Bank, India — 2020</a:t>
            </a:r>
            <a:endParaRPr lang="en-US" sz="2400" dirty="0"/>
          </a:p>
        </p:txBody>
      </p:sp>
      <p:sp>
        <p:nvSpPr>
          <p:cNvPr id="23" name="Text 21"/>
          <p:cNvSpPr/>
          <p:nvPr/>
        </p:nvSpPr>
        <p:spPr>
          <a:xfrm>
            <a:off x="6629400" y="6492082"/>
            <a:ext cx="5180076" cy="1333500"/>
          </a:xfrm>
          <a:prstGeom prst="rect">
            <a:avLst/>
          </a:prstGeom>
          <a:noFill/>
          <a:ln/>
        </p:spPr>
        <p:txBody>
          <a:bodyPr wrap="square" lIns="25400" tIns="25400" rIns="25400" bIns="25400" rtlCol="0" anchor="t">
            <a:normAutofit/>
          </a:bodyPr>
          <a:lstStyle/>
          <a:p>
            <a:pPr marL="0" indent="0" algn="l">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After repeated outages the RBI halted every Digital 2.0 launch and froze new credit-card issuance. The card freeze lifted only in August 2021; the digital freeze ran into 2022.</a:t>
            </a:r>
            <a:endParaRPr lang="en-US" sz="1875" dirty="0"/>
          </a:p>
        </p:txBody>
      </p:sp>
      <p:sp>
        <p:nvSpPr>
          <p:cNvPr id="24" name="Shape 22"/>
          <p:cNvSpPr/>
          <p:nvPr/>
        </p:nvSpPr>
        <p:spPr>
          <a:xfrm>
            <a:off x="12115800" y="5817791"/>
            <a:ext cx="5029200" cy="19050"/>
          </a:xfrm>
          <a:prstGeom prst="rect">
            <a:avLst/>
          </a:prstGeom>
          <a:solidFill>
            <a:srgbClr val="201E1E">
              <a:alpha val="40000"/>
            </a:srgbClr>
          </a:solidFill>
          <a:ln/>
        </p:spPr>
      </p:sp>
      <p:sp>
        <p:nvSpPr>
          <p:cNvPr id="25" name="Text 23"/>
          <p:cNvSpPr/>
          <p:nvPr/>
        </p:nvSpPr>
        <p:spPr>
          <a:xfrm>
            <a:off x="12115800" y="6008291"/>
            <a:ext cx="5532120" cy="388541"/>
          </a:xfrm>
          <a:prstGeom prst="rect">
            <a:avLst/>
          </a:prstGeom>
          <a:noFill/>
          <a:ln/>
        </p:spPr>
        <p:txBody>
          <a:bodyPr wrap="square" lIns="25400" tIns="25400" rIns="25400" bIns="25400" rtlCol="0" anchor="t">
            <a:normAutofit/>
          </a:bodyPr>
          <a:lstStyle/>
          <a:p>
            <a:pPr marL="0" indent="0" algn="l">
              <a:lnSpc>
                <a:spcPct val="81176"/>
              </a:lnSpc>
              <a:buNone/>
            </a:pPr>
            <a:r>
              <a:rPr lang="en-US" sz="2400" b="1" kern="0" spc="-36" dirty="0">
                <a:solidFill>
                  <a:srgbClr val="201E1D"/>
                </a:solidFill>
                <a:latin typeface="Arial" pitchFamily="34" charset="0"/>
                <a:ea typeface="Arial" pitchFamily="34" charset="-122"/>
                <a:cs typeface="Arial" pitchFamily="34" charset="-120"/>
              </a:rPr>
              <a:t>Why the backlog is decades long</a:t>
            </a:r>
            <a:endParaRPr lang="en-US" sz="2400" dirty="0"/>
          </a:p>
        </p:txBody>
      </p:sp>
      <p:sp>
        <p:nvSpPr>
          <p:cNvPr id="26" name="Text 24"/>
          <p:cNvSpPr/>
          <p:nvPr/>
        </p:nvSpPr>
        <p:spPr>
          <a:xfrm>
            <a:off x="12115800" y="6492082"/>
            <a:ext cx="5180076" cy="1333500"/>
          </a:xfrm>
          <a:prstGeom prst="rect">
            <a:avLst/>
          </a:prstGeom>
          <a:noFill/>
          <a:ln/>
        </p:spPr>
        <p:txBody>
          <a:bodyPr wrap="square" lIns="25400" tIns="25400" rIns="25400" bIns="25400" rtlCol="0" anchor="t">
            <a:normAutofit/>
          </a:bodyPr>
          <a:lstStyle/>
          <a:p>
            <a:pPr marL="0" indent="0" algn="l">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A one-paisa divergence across millions of accounts is a reportable regulatory event. Refusing to touch the system is the correct decision under the bank’s own risk framework.</a:t>
            </a:r>
            <a:endParaRPr lang="en-US" sz="1875" dirty="0"/>
          </a:p>
        </p:txBody>
      </p:sp>
      <p:sp>
        <p:nvSpPr>
          <p:cNvPr id="27" name="Text 25"/>
          <p:cNvSpPr/>
          <p:nvPr/>
        </p:nvSpPr>
        <p:spPr>
          <a:xfrm>
            <a:off x="1143000" y="9353550"/>
            <a:ext cx="17602200" cy="361950"/>
          </a:xfrm>
          <a:prstGeom prst="rect">
            <a:avLst/>
          </a:prstGeom>
          <a:noFill/>
          <a:ln/>
        </p:spPr>
        <p:txBody>
          <a:bodyPr wrap="square" lIns="25400" tIns="25400" rIns="25400" bIns="25400" rtlCol="0" anchor="t">
            <a:normAutofit/>
          </a:bodyPr>
          <a:lstStyle/>
          <a:p>
            <a:pPr marL="0" indent="0" algn="l">
              <a:lnSpc>
                <a:spcPct val="121429"/>
              </a:lnSpc>
              <a:buNone/>
            </a:pPr>
            <a:endParaRPr lang="en-US" sz="1800" dirty="0"/>
          </a:p>
        </p:txBody>
      </p:sp>
      <p:sp>
        <p:nvSpPr>
          <p:cNvPr id="28" name="Rectangle 27"/>
          <p:cNvSpPr/>
          <p:nvPr/>
        </p:nvSpPr>
        <p:spPr>
          <a:xfrm>
            <a:off x="1143000" y="8787384"/>
            <a:ext cx="16002000" cy="13716"/>
          </a:xfrm>
          <a:prstGeom prst="rect">
            <a:avLst/>
          </a:prstGeom>
          <a:solidFill>
            <a:srgbClr val="C9C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143000" y="8732520"/>
            <a:ext cx="118872" cy="118872"/>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43000" y="8970264"/>
            <a:ext cx="2834640" cy="274320"/>
          </a:xfrm>
          <a:prstGeom prst="rect">
            <a:avLst/>
          </a:prstGeom>
          <a:noFill/>
        </p:spPr>
        <p:txBody>
          <a:bodyPr wrap="square" lIns="0" rIns="0" tIns="0" bIns="0" anchor="t">
            <a:spAutoFit/>
          </a:bodyPr>
          <a:lstStyle/>
          <a:p>
            <a:pPr algn="l">
              <a:lnSpc>
                <a:spcPct val="125000"/>
              </a:lnSpc>
            </a:pPr>
            <a:r>
              <a:rPr sz="1600" b="1">
                <a:solidFill>
                  <a:srgbClr val="201E1D"/>
                </a:solidFill>
                <a:latin typeface="Arial"/>
              </a:rPr>
              <a:t>1987</a:t>
            </a:r>
          </a:p>
        </p:txBody>
      </p:sp>
      <p:sp>
        <p:nvSpPr>
          <p:cNvPr id="31" name="TextBox 30"/>
          <p:cNvSpPr txBox="1"/>
          <p:nvPr/>
        </p:nvSpPr>
        <p:spPr>
          <a:xfrm>
            <a:off x="1143000" y="9281160"/>
            <a:ext cx="3931920" cy="502920"/>
          </a:xfrm>
          <a:prstGeom prst="rect">
            <a:avLst/>
          </a:prstGeom>
          <a:noFill/>
        </p:spPr>
        <p:txBody>
          <a:bodyPr wrap="square" lIns="0" rIns="0" tIns="0" bIns="0" anchor="t">
            <a:spAutoFit/>
          </a:bodyPr>
          <a:lstStyle/>
          <a:p>
            <a:pPr algn="l">
              <a:lnSpc>
                <a:spcPct val="120000"/>
              </a:lnSpc>
            </a:pPr>
            <a:r>
              <a:rPr sz="1300" b="0">
                <a:solidFill>
                  <a:srgbClr val="6F6C6B"/>
                </a:solidFill>
                <a:latin typeface="Arial"/>
              </a:rPr>
              <a:t>core interest engine written</a:t>
            </a:r>
          </a:p>
        </p:txBody>
      </p:sp>
      <p:sp>
        <p:nvSpPr>
          <p:cNvPr id="32" name="Rectangle 31"/>
          <p:cNvSpPr/>
          <p:nvPr/>
        </p:nvSpPr>
        <p:spPr>
          <a:xfrm>
            <a:off x="5532120" y="8732520"/>
            <a:ext cx="118872" cy="118872"/>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32120" y="8970264"/>
            <a:ext cx="2834640" cy="274320"/>
          </a:xfrm>
          <a:prstGeom prst="rect">
            <a:avLst/>
          </a:prstGeom>
          <a:noFill/>
        </p:spPr>
        <p:txBody>
          <a:bodyPr wrap="square" lIns="0" rIns="0" tIns="0" bIns="0" anchor="t">
            <a:spAutoFit/>
          </a:bodyPr>
          <a:lstStyle/>
          <a:p>
            <a:pPr algn="l">
              <a:lnSpc>
                <a:spcPct val="125000"/>
              </a:lnSpc>
            </a:pPr>
            <a:r>
              <a:rPr sz="1600" b="1">
                <a:solidFill>
                  <a:srgbClr val="201E1D"/>
                </a:solidFill>
                <a:latin typeface="Arial"/>
              </a:rPr>
              <a:t>2018</a:t>
            </a:r>
          </a:p>
        </p:txBody>
      </p:sp>
      <p:sp>
        <p:nvSpPr>
          <p:cNvPr id="34" name="TextBox 33"/>
          <p:cNvSpPr txBox="1"/>
          <p:nvPr/>
        </p:nvSpPr>
        <p:spPr>
          <a:xfrm>
            <a:off x="5532120" y="9281160"/>
            <a:ext cx="3931920" cy="502920"/>
          </a:xfrm>
          <a:prstGeom prst="rect">
            <a:avLst/>
          </a:prstGeom>
          <a:noFill/>
        </p:spPr>
        <p:txBody>
          <a:bodyPr wrap="square" lIns="0" rIns="0" tIns="0" bIns="0" anchor="t">
            <a:spAutoFit/>
          </a:bodyPr>
          <a:lstStyle/>
          <a:p>
            <a:pPr algn="l">
              <a:lnSpc>
                <a:spcPct val="120000"/>
              </a:lnSpc>
            </a:pPr>
            <a:r>
              <a:rPr sz="1300" b="0">
                <a:solidFill>
                  <a:srgbClr val="6F6C6B"/>
                </a:solidFill>
                <a:latin typeface="Arial"/>
              </a:rPr>
              <a:t>TSB — £400m failed cutover</a:t>
            </a:r>
          </a:p>
        </p:txBody>
      </p:sp>
      <p:sp>
        <p:nvSpPr>
          <p:cNvPr id="35" name="Rectangle 34"/>
          <p:cNvSpPr/>
          <p:nvPr/>
        </p:nvSpPr>
        <p:spPr>
          <a:xfrm>
            <a:off x="9921240" y="8732520"/>
            <a:ext cx="118872" cy="118872"/>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21240" y="8970264"/>
            <a:ext cx="2834640" cy="274320"/>
          </a:xfrm>
          <a:prstGeom prst="rect">
            <a:avLst/>
          </a:prstGeom>
          <a:noFill/>
        </p:spPr>
        <p:txBody>
          <a:bodyPr wrap="square" lIns="0" rIns="0" tIns="0" bIns="0" anchor="t">
            <a:spAutoFit/>
          </a:bodyPr>
          <a:lstStyle/>
          <a:p>
            <a:pPr algn="l">
              <a:lnSpc>
                <a:spcPct val="125000"/>
              </a:lnSpc>
            </a:pPr>
            <a:r>
              <a:rPr sz="1600" b="1">
                <a:solidFill>
                  <a:srgbClr val="201E1D"/>
                </a:solidFill>
                <a:latin typeface="Arial"/>
              </a:rPr>
              <a:t>2020</a:t>
            </a:r>
          </a:p>
        </p:txBody>
      </p:sp>
      <p:sp>
        <p:nvSpPr>
          <p:cNvPr id="37" name="TextBox 36"/>
          <p:cNvSpPr txBox="1"/>
          <p:nvPr/>
        </p:nvSpPr>
        <p:spPr>
          <a:xfrm>
            <a:off x="9921240" y="9281160"/>
            <a:ext cx="3931920" cy="502920"/>
          </a:xfrm>
          <a:prstGeom prst="rect">
            <a:avLst/>
          </a:prstGeom>
          <a:noFill/>
        </p:spPr>
        <p:txBody>
          <a:bodyPr wrap="square" lIns="0" rIns="0" tIns="0" bIns="0" anchor="t">
            <a:spAutoFit/>
          </a:bodyPr>
          <a:lstStyle/>
          <a:p>
            <a:pPr algn="l">
              <a:lnSpc>
                <a:spcPct val="120000"/>
              </a:lnSpc>
            </a:pPr>
            <a:r>
              <a:rPr sz="1300" b="0">
                <a:solidFill>
                  <a:srgbClr val="6F6C6B"/>
                </a:solidFill>
                <a:latin typeface="Arial"/>
              </a:rPr>
              <a:t>HDFC — RBI freezes the roadmap</a:t>
            </a:r>
          </a:p>
        </p:txBody>
      </p:sp>
      <p:sp>
        <p:nvSpPr>
          <p:cNvPr id="38" name="Rectangle 37"/>
          <p:cNvSpPr/>
          <p:nvPr/>
        </p:nvSpPr>
        <p:spPr>
          <a:xfrm>
            <a:off x="14310360" y="8732520"/>
            <a:ext cx="118872" cy="118872"/>
          </a:xfrm>
          <a:prstGeom prst="rect">
            <a:avLst/>
          </a:prstGeom>
          <a:solidFill>
            <a:srgbClr val="EC3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4310360" y="8970264"/>
            <a:ext cx="2834640" cy="274320"/>
          </a:xfrm>
          <a:prstGeom prst="rect">
            <a:avLst/>
          </a:prstGeom>
          <a:noFill/>
        </p:spPr>
        <p:txBody>
          <a:bodyPr wrap="square" lIns="0" rIns="0" tIns="0" bIns="0" anchor="t">
            <a:spAutoFit/>
          </a:bodyPr>
          <a:lstStyle/>
          <a:p>
            <a:pPr algn="l">
              <a:lnSpc>
                <a:spcPct val="125000"/>
              </a:lnSpc>
            </a:pPr>
            <a:r>
              <a:rPr sz="1600" b="1">
                <a:solidFill>
                  <a:srgbClr val="EC3013"/>
                </a:solidFill>
                <a:latin typeface="Arial"/>
              </a:rPr>
              <a:t>2026</a:t>
            </a:r>
          </a:p>
        </p:txBody>
      </p:sp>
      <p:sp>
        <p:nvSpPr>
          <p:cNvPr id="40" name="TextBox 39"/>
          <p:cNvSpPr txBox="1"/>
          <p:nvPr/>
        </p:nvSpPr>
        <p:spPr>
          <a:xfrm>
            <a:off x="14310360" y="9281160"/>
            <a:ext cx="3931920" cy="502920"/>
          </a:xfrm>
          <a:prstGeom prst="rect">
            <a:avLst/>
          </a:prstGeom>
          <a:noFill/>
        </p:spPr>
        <p:txBody>
          <a:bodyPr wrap="square" lIns="0" rIns="0" tIns="0" bIns="0" anchor="t">
            <a:spAutoFit/>
          </a:bodyPr>
          <a:lstStyle/>
          <a:p>
            <a:pPr algn="l">
              <a:lnSpc>
                <a:spcPct val="120000"/>
              </a:lnSpc>
            </a:pPr>
            <a:r>
              <a:rPr sz="1300" b="0">
                <a:solidFill>
                  <a:srgbClr val="6F6C6B"/>
                </a:solidFill>
                <a:latin typeface="Arial"/>
              </a:rPr>
              <a:t>migration still deferred</a:t>
            </a:r>
          </a:p>
        </p:txBody>
      </p:sp>
      <p:sp>
        <p:nvSpPr>
          <p:cNvPr id="41" name="TextBox 40"/>
          <p:cNvSpPr txBox="1"/>
          <p:nvPr/>
        </p:nvSpPr>
        <p:spPr>
          <a:xfrm>
            <a:off x="17236440" y="9784080"/>
            <a:ext cx="502920" cy="274320"/>
          </a:xfrm>
          <a:prstGeom prst="rect">
            <a:avLst/>
          </a:prstGeom>
          <a:noFill/>
        </p:spPr>
        <p:txBody>
          <a:bodyPr wrap="square" lIns="0" rIns="0" tIns="0" bIns="0" anchor="t">
            <a:spAutoFit/>
          </a:bodyPr>
          <a:lstStyle/>
          <a:p>
            <a:pPr algn="r">
              <a:lnSpc>
                <a:spcPct val="125000"/>
              </a:lnSpc>
            </a:pPr>
            <a:r>
              <a:rPr sz="1200" b="0">
                <a:solidFill>
                  <a:srgbClr val="8C8886"/>
                </a:solidFill>
                <a:latin typeface="Arial"/>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2F2"/>
        </a:solidFill>
        <a:effectLst/>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16482060" cy="392410"/>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144" dirty="0">
                <a:solidFill>
                  <a:srgbClr val="EC3013"/>
                </a:solidFill>
                <a:latin typeface="Arial" pitchFamily="34" charset="0"/>
                <a:ea typeface="Arial" pitchFamily="34" charset="-122"/>
                <a:cs typeface="Arial" pitchFamily="34" charset="-120"/>
              </a:rPr>
              <a:t>WHY IT’S UNSOLVED</a:t>
            </a:r>
            <a:endParaRPr lang="en-US" sz="1800" dirty="0"/>
          </a:p>
        </p:txBody>
      </p:sp>
      <p:sp>
        <p:nvSpPr>
          <p:cNvPr id="4" name="Text 2"/>
          <p:cNvSpPr/>
          <p:nvPr/>
        </p:nvSpPr>
        <p:spPr>
          <a:xfrm>
            <a:off x="1116509" y="1790700"/>
            <a:ext cx="17631341" cy="675878"/>
          </a:xfrm>
          <a:prstGeom prst="rect">
            <a:avLst/>
          </a:prstGeom>
          <a:noFill/>
          <a:ln/>
        </p:spPr>
        <p:txBody>
          <a:bodyPr wrap="square" lIns="25400" tIns="25400" rIns="25400" bIns="25400" rtlCol="0" anchor="t">
            <a:normAutofit/>
          </a:bodyPr>
          <a:lstStyle/>
          <a:p>
            <a:pPr marL="0" indent="0" algn="l">
              <a:lnSpc>
                <a:spcPct val="76672"/>
              </a:lnSpc>
              <a:buNone/>
            </a:pPr>
            <a:r>
              <a:rPr lang="en-US" sz="4650" b="1" kern="0" spc="-70" dirty="0">
                <a:solidFill>
                  <a:srgbClr val="201E1D"/>
                </a:solidFill>
                <a:latin typeface="Arial" pitchFamily="34" charset="0"/>
                <a:ea typeface="Arial" pitchFamily="34" charset="-122"/>
                <a:cs typeface="Arial" pitchFamily="34" charset="-120"/>
              </a:rPr>
              <a:t>Translation is solved. Proof is not.</a:t>
            </a:r>
            <a:endParaRPr lang="en-US" sz="4650" dirty="0"/>
          </a:p>
        </p:txBody>
      </p:sp>
      <p:sp>
        <p:nvSpPr>
          <p:cNvPr id="5" name="Shape 3"/>
          <p:cNvSpPr/>
          <p:nvPr/>
        </p:nvSpPr>
        <p:spPr>
          <a:xfrm>
            <a:off x="1143000" y="2771378"/>
            <a:ext cx="2727920" cy="19050"/>
          </a:xfrm>
          <a:prstGeom prst="rect">
            <a:avLst/>
          </a:prstGeom>
          <a:solidFill>
            <a:srgbClr val="201E1E">
              <a:alpha val="40000"/>
            </a:srgbClr>
          </a:solidFill>
          <a:ln/>
        </p:spPr>
      </p:sp>
      <p:sp>
        <p:nvSpPr>
          <p:cNvPr id="6" name="Text 4"/>
          <p:cNvSpPr/>
          <p:nvPr/>
        </p:nvSpPr>
        <p:spPr>
          <a:xfrm>
            <a:off x="1143000" y="2961878"/>
            <a:ext cx="3000712" cy="366713"/>
          </a:xfrm>
          <a:prstGeom prst="rect">
            <a:avLst/>
          </a:prstGeom>
          <a:noFill/>
          <a:ln/>
        </p:spPr>
        <p:txBody>
          <a:bodyPr wrap="square" lIns="25400" tIns="25400" rIns="25400" bIns="25400" rtlCol="0" anchor="t">
            <a:normAutofit/>
          </a:bodyPr>
          <a:lstStyle/>
          <a:p>
            <a:pPr marL="0" indent="0" algn="l">
              <a:lnSpc>
                <a:spcPct val="80859"/>
              </a:lnSpc>
              <a:buNone/>
            </a:pPr>
            <a:r>
              <a:rPr lang="en-US" sz="2250" b="1" kern="0" spc="-34" dirty="0">
                <a:solidFill>
                  <a:srgbClr val="201E1D"/>
                </a:solidFill>
                <a:latin typeface="Arial" pitchFamily="34" charset="0"/>
                <a:ea typeface="Arial" pitchFamily="34" charset="-122"/>
                <a:cs typeface="Arial" pitchFamily="34" charset="-120"/>
              </a:rPr>
              <a:t>COBOL source</a:t>
            </a:r>
            <a:endParaRPr lang="en-US" sz="2250" dirty="0"/>
          </a:p>
        </p:txBody>
      </p:sp>
      <p:sp>
        <p:nvSpPr>
          <p:cNvPr id="7" name="Text 5"/>
          <p:cNvSpPr/>
          <p:nvPr/>
        </p:nvSpPr>
        <p:spPr>
          <a:xfrm>
            <a:off x="1143000" y="3404791"/>
            <a:ext cx="2809758" cy="628650"/>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4,000 lines · 1987 ~200 undocumented edits</a:t>
            </a:r>
            <a:endParaRPr lang="en-US" sz="1800" dirty="0"/>
          </a:p>
        </p:txBody>
      </p:sp>
      <p:sp>
        <p:nvSpPr>
          <p:cNvPr id="8" name="Text 6"/>
          <p:cNvSpPr/>
          <p:nvPr/>
        </p:nvSpPr>
        <p:spPr>
          <a:xfrm>
            <a:off x="3966170" y="2923778"/>
            <a:ext cx="400050" cy="481012"/>
          </a:xfrm>
          <a:prstGeom prst="rect">
            <a:avLst/>
          </a:prstGeom>
          <a:noFill/>
          <a:ln/>
        </p:spPr>
        <p:txBody>
          <a:bodyPr wrap="square" lIns="25400" tIns="25400" rIns="25400" bIns="25400" rtlCol="0" anchor="t">
            <a:normAutofit/>
          </a:bodyPr>
          <a:lstStyle/>
          <a:p>
            <a:pPr marL="0" indent="0" algn="ctr">
              <a:lnSpc>
                <a:spcPct val="134135"/>
              </a:lnSpc>
              <a:buNone/>
            </a:pPr>
            <a:r>
              <a:rPr lang="en-US" sz="2250" dirty="0">
                <a:solidFill>
                  <a:srgbClr val="201E1C">
                    <a:alpha val="60000"/>
                  </a:srgbClr>
                </a:solidFill>
                <a:latin typeface="Arial" pitchFamily="34" charset="0"/>
                <a:ea typeface="Arial" pitchFamily="34" charset="-122"/>
                <a:cs typeface="Arial" pitchFamily="34" charset="-120"/>
              </a:rPr>
              <a:t>→</a:t>
            </a:r>
            <a:endParaRPr lang="en-US" sz="2250" dirty="0"/>
          </a:p>
        </p:txBody>
      </p:sp>
      <p:sp>
        <p:nvSpPr>
          <p:cNvPr id="9" name="Shape 7"/>
          <p:cNvSpPr/>
          <p:nvPr/>
        </p:nvSpPr>
        <p:spPr>
          <a:xfrm>
            <a:off x="4461470" y="2771378"/>
            <a:ext cx="2727920" cy="19050"/>
          </a:xfrm>
          <a:prstGeom prst="rect">
            <a:avLst/>
          </a:prstGeom>
          <a:solidFill>
            <a:srgbClr val="201E1E">
              <a:alpha val="40000"/>
            </a:srgbClr>
          </a:solidFill>
          <a:ln/>
        </p:spPr>
      </p:sp>
      <p:sp>
        <p:nvSpPr>
          <p:cNvPr id="10" name="Text 8"/>
          <p:cNvSpPr/>
          <p:nvPr/>
        </p:nvSpPr>
        <p:spPr>
          <a:xfrm>
            <a:off x="4461470" y="2961878"/>
            <a:ext cx="3000712" cy="366713"/>
          </a:xfrm>
          <a:prstGeom prst="rect">
            <a:avLst/>
          </a:prstGeom>
          <a:noFill/>
          <a:ln/>
        </p:spPr>
        <p:txBody>
          <a:bodyPr wrap="square" lIns="25400" tIns="25400" rIns="25400" bIns="25400" rtlCol="0" anchor="t">
            <a:normAutofit/>
          </a:bodyPr>
          <a:lstStyle/>
          <a:p>
            <a:pPr marL="0" indent="0" algn="l">
              <a:lnSpc>
                <a:spcPct val="80859"/>
              </a:lnSpc>
              <a:buNone/>
            </a:pPr>
            <a:r>
              <a:rPr lang="en-US" sz="2250" b="1" kern="0" spc="-34" dirty="0">
                <a:solidFill>
                  <a:srgbClr val="201E1D"/>
                </a:solidFill>
                <a:latin typeface="Arial" pitchFamily="34" charset="0"/>
                <a:ea typeface="Arial" pitchFamily="34" charset="-122"/>
                <a:cs typeface="Arial" pitchFamily="34" charset="-120"/>
              </a:rPr>
              <a:t>Translate</a:t>
            </a:r>
            <a:endParaRPr lang="en-US" sz="2250" dirty="0"/>
          </a:p>
        </p:txBody>
      </p:sp>
      <p:sp>
        <p:nvSpPr>
          <p:cNvPr id="11" name="Text 9"/>
          <p:cNvSpPr/>
          <p:nvPr/>
        </p:nvSpPr>
        <p:spPr>
          <a:xfrm>
            <a:off x="4461470" y="3404791"/>
            <a:ext cx="2809758" cy="628650"/>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transpilers · LLMs AWS · IBM · TCS ship this</a:t>
            </a:r>
            <a:endParaRPr lang="en-US" sz="1800" dirty="0"/>
          </a:p>
        </p:txBody>
      </p:sp>
      <p:sp>
        <p:nvSpPr>
          <p:cNvPr id="12" name="Text 10"/>
          <p:cNvSpPr/>
          <p:nvPr/>
        </p:nvSpPr>
        <p:spPr>
          <a:xfrm>
            <a:off x="7284641" y="2923778"/>
            <a:ext cx="400050" cy="481012"/>
          </a:xfrm>
          <a:prstGeom prst="rect">
            <a:avLst/>
          </a:prstGeom>
          <a:noFill/>
          <a:ln/>
        </p:spPr>
        <p:txBody>
          <a:bodyPr wrap="square" lIns="25400" tIns="25400" rIns="25400" bIns="25400" rtlCol="0" anchor="t">
            <a:normAutofit/>
          </a:bodyPr>
          <a:lstStyle/>
          <a:p>
            <a:pPr marL="0" indent="0" algn="ctr">
              <a:lnSpc>
                <a:spcPct val="134135"/>
              </a:lnSpc>
              <a:buNone/>
            </a:pPr>
            <a:r>
              <a:rPr lang="en-US" sz="2250" dirty="0">
                <a:solidFill>
                  <a:srgbClr val="201E1C">
                    <a:alpha val="60000"/>
                  </a:srgbClr>
                </a:solidFill>
                <a:latin typeface="Arial" pitchFamily="34" charset="0"/>
                <a:ea typeface="Arial" pitchFamily="34" charset="-122"/>
                <a:cs typeface="Arial" pitchFamily="34" charset="-120"/>
              </a:rPr>
              <a:t>→</a:t>
            </a:r>
            <a:endParaRPr lang="en-US" sz="2250" dirty="0"/>
          </a:p>
        </p:txBody>
      </p:sp>
      <p:sp>
        <p:nvSpPr>
          <p:cNvPr id="13" name="Shape 11"/>
          <p:cNvSpPr/>
          <p:nvPr/>
        </p:nvSpPr>
        <p:spPr>
          <a:xfrm>
            <a:off x="7779941" y="2771378"/>
            <a:ext cx="2728020" cy="19050"/>
          </a:xfrm>
          <a:prstGeom prst="rect">
            <a:avLst/>
          </a:prstGeom>
          <a:solidFill>
            <a:srgbClr val="201E1E">
              <a:alpha val="40000"/>
            </a:srgbClr>
          </a:solidFill>
          <a:ln/>
        </p:spPr>
      </p:sp>
      <p:sp>
        <p:nvSpPr>
          <p:cNvPr id="14" name="Text 12"/>
          <p:cNvSpPr/>
          <p:nvPr/>
        </p:nvSpPr>
        <p:spPr>
          <a:xfrm>
            <a:off x="7779941" y="2961878"/>
            <a:ext cx="3000821" cy="366713"/>
          </a:xfrm>
          <a:prstGeom prst="rect">
            <a:avLst/>
          </a:prstGeom>
          <a:noFill/>
          <a:ln/>
        </p:spPr>
        <p:txBody>
          <a:bodyPr wrap="square" lIns="25400" tIns="25400" rIns="25400" bIns="25400" rtlCol="0" anchor="t">
            <a:normAutofit/>
          </a:bodyPr>
          <a:lstStyle/>
          <a:p>
            <a:pPr marL="0" indent="0" algn="l">
              <a:lnSpc>
                <a:spcPct val="80859"/>
              </a:lnSpc>
              <a:buNone/>
            </a:pPr>
            <a:r>
              <a:rPr lang="en-US" sz="2250" b="1" kern="0" spc="-34" dirty="0">
                <a:solidFill>
                  <a:srgbClr val="201E1D"/>
                </a:solidFill>
                <a:latin typeface="Arial" pitchFamily="34" charset="0"/>
                <a:ea typeface="Arial" pitchFamily="34" charset="-122"/>
                <a:cs typeface="Arial" pitchFamily="34" charset="-120"/>
              </a:rPr>
              <a:t>Modern Java</a:t>
            </a:r>
            <a:endParaRPr lang="en-US" sz="2250" dirty="0"/>
          </a:p>
        </p:txBody>
      </p:sp>
      <p:sp>
        <p:nvSpPr>
          <p:cNvPr id="15" name="Text 13"/>
          <p:cNvSpPr/>
          <p:nvPr/>
        </p:nvSpPr>
        <p:spPr>
          <a:xfrm>
            <a:off x="7779941" y="3404791"/>
            <a:ext cx="2809860" cy="628650"/>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compiles · passes the tests you wrote</a:t>
            </a:r>
            <a:endParaRPr lang="en-US" sz="1800" dirty="0"/>
          </a:p>
        </p:txBody>
      </p:sp>
      <p:sp>
        <p:nvSpPr>
          <p:cNvPr id="16" name="Text 14"/>
          <p:cNvSpPr/>
          <p:nvPr/>
        </p:nvSpPr>
        <p:spPr>
          <a:xfrm>
            <a:off x="10603211" y="2923778"/>
            <a:ext cx="400050" cy="481012"/>
          </a:xfrm>
          <a:prstGeom prst="rect">
            <a:avLst/>
          </a:prstGeom>
          <a:noFill/>
          <a:ln/>
        </p:spPr>
        <p:txBody>
          <a:bodyPr wrap="square" lIns="25400" tIns="25400" rIns="25400" bIns="25400" rtlCol="0" anchor="t">
            <a:normAutofit/>
          </a:bodyPr>
          <a:lstStyle/>
          <a:p>
            <a:pPr marL="0" indent="0" algn="ctr">
              <a:lnSpc>
                <a:spcPct val="134135"/>
              </a:lnSpc>
              <a:buNone/>
            </a:pPr>
            <a:r>
              <a:rPr lang="en-US" sz="2250" dirty="0">
                <a:solidFill>
                  <a:srgbClr val="201E1C">
                    <a:alpha val="60000"/>
                  </a:srgbClr>
                </a:solidFill>
                <a:latin typeface="Arial" pitchFamily="34" charset="0"/>
                <a:ea typeface="Arial" pitchFamily="34" charset="-122"/>
                <a:cs typeface="Arial" pitchFamily="34" charset="-120"/>
              </a:rPr>
              <a:t>→</a:t>
            </a:r>
            <a:endParaRPr lang="en-US" sz="2250" dirty="0"/>
          </a:p>
        </p:txBody>
      </p:sp>
      <p:sp>
        <p:nvSpPr>
          <p:cNvPr id="17" name="Shape 15"/>
          <p:cNvSpPr/>
          <p:nvPr/>
        </p:nvSpPr>
        <p:spPr>
          <a:xfrm>
            <a:off x="11098511" y="2771378"/>
            <a:ext cx="3409950" cy="19050"/>
          </a:xfrm>
          <a:prstGeom prst="rect">
            <a:avLst/>
          </a:prstGeom>
          <a:solidFill>
            <a:srgbClr val="EC3013"/>
          </a:solidFill>
          <a:ln/>
        </p:spPr>
      </p:sp>
      <p:sp>
        <p:nvSpPr>
          <p:cNvPr id="18" name="Text 16"/>
          <p:cNvSpPr/>
          <p:nvPr/>
        </p:nvSpPr>
        <p:spPr>
          <a:xfrm>
            <a:off x="11098511" y="2961878"/>
            <a:ext cx="3750945" cy="366713"/>
          </a:xfrm>
          <a:prstGeom prst="rect">
            <a:avLst/>
          </a:prstGeom>
          <a:noFill/>
          <a:ln/>
        </p:spPr>
        <p:txBody>
          <a:bodyPr wrap="square" lIns="25400" tIns="25400" rIns="25400" bIns="25400" rtlCol="0" anchor="t">
            <a:normAutofit/>
          </a:bodyPr>
          <a:lstStyle/>
          <a:p>
            <a:pPr marL="0" indent="0" algn="l">
              <a:lnSpc>
                <a:spcPct val="80859"/>
              </a:lnSpc>
              <a:buNone/>
            </a:pPr>
            <a:r>
              <a:rPr lang="en-US" sz="2250" b="1" kern="0" spc="-34" dirty="0">
                <a:solidFill>
                  <a:srgbClr val="EC3013"/>
                </a:solidFill>
                <a:latin typeface="Arial" pitchFamily="34" charset="0"/>
                <a:ea typeface="Arial" pitchFamily="34" charset="-122"/>
                <a:cs typeface="Arial" pitchFamily="34" charset="-120"/>
              </a:rPr>
              <a:t>Verification</a:t>
            </a:r>
            <a:endParaRPr lang="en-US" sz="2250" dirty="0"/>
          </a:p>
        </p:txBody>
      </p:sp>
      <p:sp>
        <p:nvSpPr>
          <p:cNvPr id="19" name="Text 17"/>
          <p:cNvSpPr/>
          <p:nvPr/>
        </p:nvSpPr>
        <p:spPr>
          <a:xfrm>
            <a:off x="11098511" y="3404791"/>
            <a:ext cx="3512249" cy="923925"/>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AE1800"/>
                </a:solidFill>
                <a:latin typeface="Arial" pitchFamily="34" charset="0"/>
                <a:ea typeface="Arial" pitchFamily="34" charset="-122"/>
                <a:cs typeface="Arial" pitchFamily="34" charset="-120"/>
              </a:rPr>
              <a:t>Can anyone prove the new program behaves identically to the old one?</a:t>
            </a:r>
            <a:endParaRPr lang="en-US" sz="1800" dirty="0"/>
          </a:p>
        </p:txBody>
      </p:sp>
      <p:sp>
        <p:nvSpPr>
          <p:cNvPr id="20" name="Text 18"/>
          <p:cNvSpPr/>
          <p:nvPr/>
        </p:nvSpPr>
        <p:spPr>
          <a:xfrm>
            <a:off x="14603711" y="2923778"/>
            <a:ext cx="400050" cy="481012"/>
          </a:xfrm>
          <a:prstGeom prst="rect">
            <a:avLst/>
          </a:prstGeom>
          <a:noFill/>
          <a:ln/>
        </p:spPr>
        <p:txBody>
          <a:bodyPr wrap="square" lIns="25400" tIns="25400" rIns="25400" bIns="25400" rtlCol="0" anchor="t">
            <a:normAutofit/>
          </a:bodyPr>
          <a:lstStyle/>
          <a:p>
            <a:pPr marL="0" indent="0" algn="ctr">
              <a:lnSpc>
                <a:spcPct val="134135"/>
              </a:lnSpc>
              <a:buNone/>
            </a:pPr>
            <a:r>
              <a:rPr lang="en-US" sz="2250" dirty="0">
                <a:solidFill>
                  <a:srgbClr val="201E1C">
                    <a:alpha val="60000"/>
                  </a:srgbClr>
                </a:solidFill>
                <a:latin typeface="Arial" pitchFamily="34" charset="0"/>
                <a:ea typeface="Arial" pitchFamily="34" charset="-122"/>
                <a:cs typeface="Arial" pitchFamily="34" charset="-120"/>
              </a:rPr>
              <a:t>→</a:t>
            </a:r>
            <a:endParaRPr lang="en-US" sz="2250" dirty="0"/>
          </a:p>
        </p:txBody>
      </p:sp>
      <p:sp>
        <p:nvSpPr>
          <p:cNvPr id="21" name="Shape 19"/>
          <p:cNvSpPr/>
          <p:nvPr/>
        </p:nvSpPr>
        <p:spPr>
          <a:xfrm>
            <a:off x="15099011" y="2771378"/>
            <a:ext cx="2045990" cy="19050"/>
          </a:xfrm>
          <a:prstGeom prst="rect">
            <a:avLst/>
          </a:prstGeom>
          <a:solidFill>
            <a:srgbClr val="201E1E">
              <a:alpha val="40000"/>
            </a:srgbClr>
          </a:solidFill>
          <a:ln/>
        </p:spPr>
      </p:sp>
      <p:sp>
        <p:nvSpPr>
          <p:cNvPr id="22" name="Text 20"/>
          <p:cNvSpPr/>
          <p:nvPr/>
        </p:nvSpPr>
        <p:spPr>
          <a:xfrm>
            <a:off x="15099011" y="2961878"/>
            <a:ext cx="2250589" cy="366713"/>
          </a:xfrm>
          <a:prstGeom prst="rect">
            <a:avLst/>
          </a:prstGeom>
          <a:noFill/>
          <a:ln/>
        </p:spPr>
        <p:txBody>
          <a:bodyPr wrap="square" lIns="25400" tIns="25400" rIns="25400" bIns="25400" rtlCol="0" anchor="t">
            <a:normAutofit/>
          </a:bodyPr>
          <a:lstStyle/>
          <a:p>
            <a:pPr marL="0" indent="0" algn="l">
              <a:lnSpc>
                <a:spcPct val="80859"/>
              </a:lnSpc>
              <a:buNone/>
            </a:pPr>
            <a:r>
              <a:rPr lang="en-US" sz="2250" b="1" kern="0" spc="-34" dirty="0">
                <a:solidFill>
                  <a:srgbClr val="201E1D"/>
                </a:solidFill>
                <a:latin typeface="Arial" pitchFamily="34" charset="0"/>
                <a:ea typeface="Arial" pitchFamily="34" charset="-122"/>
                <a:cs typeface="Arial" pitchFamily="34" charset="-120"/>
              </a:rPr>
              <a:t>Production</a:t>
            </a:r>
            <a:endParaRPr lang="en-US" sz="2250" dirty="0"/>
          </a:p>
        </p:txBody>
      </p:sp>
      <p:sp>
        <p:nvSpPr>
          <p:cNvPr id="23" name="Text 21"/>
          <p:cNvSpPr/>
          <p:nvPr/>
        </p:nvSpPr>
        <p:spPr>
          <a:xfrm>
            <a:off x="15099011" y="3404791"/>
            <a:ext cx="2250589" cy="333375"/>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never reached</a:t>
            </a:r>
            <a:endParaRPr lang="en-US" sz="1800" dirty="0"/>
          </a:p>
        </p:txBody>
      </p:sp>
      <p:sp>
        <p:nvSpPr>
          <p:cNvPr id="24" name="Text 22"/>
          <p:cNvSpPr/>
          <p:nvPr/>
        </p:nvSpPr>
        <p:spPr>
          <a:xfrm>
            <a:off x="1143000" y="4595416"/>
            <a:ext cx="9275553" cy="704850"/>
          </a:xfrm>
          <a:prstGeom prst="rect">
            <a:avLst/>
          </a:prstGeom>
          <a:noFill/>
          <a:ln/>
        </p:spPr>
        <p:txBody>
          <a:bodyPr wrap="square" lIns="25400" tIns="25400" rIns="25400" bIns="25400" rtlCol="0" anchor="t">
            <a:normAutofit/>
          </a:bodyPr>
          <a:lstStyle/>
          <a:p>
            <a:pPr marL="0" indent="0" algn="l">
              <a:lnSpc>
                <a:spcPct val="122093"/>
              </a:lnSpc>
              <a:buNone/>
            </a:pPr>
            <a:r>
              <a:rPr lang="en-US" sz="1875" dirty="0">
                <a:solidFill>
                  <a:srgbClr val="201E1C">
                    <a:alpha val="60000"/>
                  </a:srgbClr>
                </a:solidFill>
                <a:latin typeface="Arial" pitchFamily="34" charset="0"/>
                <a:ea typeface="Arial" pitchFamily="34" charset="-122"/>
                <a:cs typeface="Arial" pitchFamily="34" charset="-120"/>
              </a:rPr>
              <a:t>No specification was ever written — the rules live only inside the code. Asking an AI to explain them looks excellent, and a meaningful share of the output is wrong:</a:t>
            </a:r>
            <a:endParaRPr lang="en-US" sz="1875" dirty="0"/>
          </a:p>
        </p:txBody>
      </p:sp>
      <p:sp>
        <p:nvSpPr>
          <p:cNvPr id="25" name="Shape 23"/>
          <p:cNvSpPr/>
          <p:nvPr/>
        </p:nvSpPr>
        <p:spPr>
          <a:xfrm>
            <a:off x="1143000" y="5490766"/>
            <a:ext cx="5029200" cy="19050"/>
          </a:xfrm>
          <a:prstGeom prst="rect">
            <a:avLst/>
          </a:prstGeom>
          <a:solidFill>
            <a:srgbClr val="201E1E">
              <a:alpha val="40000"/>
            </a:srgbClr>
          </a:solidFill>
          <a:ln/>
        </p:spPr>
      </p:sp>
      <p:sp>
        <p:nvSpPr>
          <p:cNvPr id="26" name="Text 24"/>
          <p:cNvSpPr/>
          <p:nvPr/>
        </p:nvSpPr>
        <p:spPr>
          <a:xfrm>
            <a:off x="1143000" y="5719366"/>
            <a:ext cx="5532120" cy="838200"/>
          </a:xfrm>
          <a:prstGeom prst="rect">
            <a:avLst/>
          </a:prstGeom>
          <a:noFill/>
          <a:ln/>
        </p:spPr>
        <p:txBody>
          <a:bodyPr wrap="square" lIns="25400" tIns="25400" rIns="25400" bIns="25400" rtlCol="0" anchor="t">
            <a:normAutofit/>
          </a:bodyPr>
          <a:lstStyle/>
          <a:p>
            <a:pPr marL="0" indent="0" algn="l">
              <a:lnSpc>
                <a:spcPct val="70787"/>
              </a:lnSpc>
              <a:buNone/>
            </a:pPr>
            <a:r>
              <a:rPr lang="en-US" sz="6300" b="1" kern="0" spc="-126" dirty="0">
                <a:solidFill>
                  <a:srgbClr val="201E1D"/>
                </a:solidFill>
                <a:latin typeface="Arial" pitchFamily="34" charset="0"/>
                <a:ea typeface="Arial" pitchFamily="34" charset="-122"/>
                <a:cs typeface="Arial" pitchFamily="34" charset="-120"/>
              </a:rPr>
              <a:t>62%</a:t>
            </a:r>
            <a:endParaRPr lang="en-US" sz="6300" dirty="0"/>
          </a:p>
        </p:txBody>
      </p:sp>
      <p:sp>
        <p:nvSpPr>
          <p:cNvPr id="27" name="Text 25"/>
          <p:cNvSpPr/>
          <p:nvPr/>
        </p:nvSpPr>
        <p:spPr>
          <a:xfrm>
            <a:off x="1143000" y="6652816"/>
            <a:ext cx="5180076" cy="666750"/>
          </a:xfrm>
          <a:prstGeom prst="rect">
            <a:avLst/>
          </a:prstGeom>
          <a:noFill/>
          <a:ln/>
        </p:spPr>
        <p:txBody>
          <a:bodyPr wrap="square" lIns="25400" tIns="25400" rIns="25400" bIns="25400" rtlCol="0" anchor="t">
            <a:normAutofit/>
          </a:bodyPr>
          <a:lstStyle/>
          <a:p>
            <a:pPr marL="0" indent="0" algn="l">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precision of the best published COBOL rule extractor</a:t>
            </a:r>
            <a:endParaRPr lang="en-US" sz="1875" dirty="0"/>
          </a:p>
        </p:txBody>
      </p:sp>
      <p:sp>
        <p:nvSpPr>
          <p:cNvPr id="28" name="Text 26"/>
          <p:cNvSpPr/>
          <p:nvPr/>
        </p:nvSpPr>
        <p:spPr>
          <a:xfrm>
            <a:off x="1143000" y="7395766"/>
            <a:ext cx="5532120" cy="323850"/>
          </a:xfrm>
          <a:prstGeom prst="rect">
            <a:avLst/>
          </a:prstGeom>
          <a:noFill/>
          <a:ln/>
        </p:spPr>
        <p:txBody>
          <a:bodyPr wrap="square" lIns="25400" tIns="25400" rIns="25400" bIns="25400" rtlCol="0" anchor="t">
            <a:normAutofit/>
          </a:bodyPr>
          <a:lstStyle/>
          <a:p>
            <a:pPr marL="0" indent="0" algn="l">
              <a:lnSpc>
                <a:spcPct val="107143"/>
              </a:lnSpc>
              <a:buNone/>
            </a:pPr>
            <a:r>
              <a:rPr lang="en-US" sz="1800" dirty="0">
                <a:solidFill>
                  <a:srgbClr val="AE1800"/>
                </a:solidFill>
                <a:latin typeface="Arial" pitchFamily="34" charset="0"/>
                <a:ea typeface="Arial" pitchFamily="34" charset="-122"/>
                <a:cs typeface="Arial" pitchFamily="34" charset="-120"/>
              </a:rPr>
              <a:t>A-COBREX, ICSE 2025</a:t>
            </a:r>
            <a:endParaRPr lang="en-US" sz="1800" dirty="0"/>
          </a:p>
        </p:txBody>
      </p:sp>
      <p:sp>
        <p:nvSpPr>
          <p:cNvPr id="29" name="Shape 27"/>
          <p:cNvSpPr/>
          <p:nvPr/>
        </p:nvSpPr>
        <p:spPr>
          <a:xfrm>
            <a:off x="6629400" y="5490766"/>
            <a:ext cx="5029200" cy="19050"/>
          </a:xfrm>
          <a:prstGeom prst="rect">
            <a:avLst/>
          </a:prstGeom>
          <a:solidFill>
            <a:srgbClr val="201E1E">
              <a:alpha val="40000"/>
            </a:srgbClr>
          </a:solidFill>
          <a:ln/>
        </p:spPr>
      </p:sp>
      <p:sp>
        <p:nvSpPr>
          <p:cNvPr id="30" name="Text 28"/>
          <p:cNvSpPr/>
          <p:nvPr/>
        </p:nvSpPr>
        <p:spPr>
          <a:xfrm>
            <a:off x="6629400" y="5719366"/>
            <a:ext cx="5532120" cy="838200"/>
          </a:xfrm>
          <a:prstGeom prst="rect">
            <a:avLst/>
          </a:prstGeom>
          <a:noFill/>
          <a:ln/>
        </p:spPr>
        <p:txBody>
          <a:bodyPr wrap="square" lIns="25400" tIns="25400" rIns="25400" bIns="25400" rtlCol="0" anchor="t">
            <a:normAutofit/>
          </a:bodyPr>
          <a:lstStyle/>
          <a:p>
            <a:pPr marL="0" indent="0" algn="l">
              <a:lnSpc>
                <a:spcPct val="70787"/>
              </a:lnSpc>
              <a:buNone/>
            </a:pPr>
            <a:r>
              <a:rPr lang="en-US" sz="6300" b="1" kern="0" spc="-126" dirty="0">
                <a:solidFill>
                  <a:srgbClr val="201E1D"/>
                </a:solidFill>
                <a:latin typeface="Arial" pitchFamily="34" charset="0"/>
                <a:ea typeface="Arial" pitchFamily="34" charset="-122"/>
                <a:cs typeface="Arial" pitchFamily="34" charset="-120"/>
              </a:rPr>
              <a:t>91.2%</a:t>
            </a:r>
            <a:endParaRPr lang="en-US" sz="6300" dirty="0"/>
          </a:p>
        </p:txBody>
      </p:sp>
      <p:sp>
        <p:nvSpPr>
          <p:cNvPr id="31" name="Text 29"/>
          <p:cNvSpPr/>
          <p:nvPr/>
        </p:nvSpPr>
        <p:spPr>
          <a:xfrm>
            <a:off x="6629400" y="6652816"/>
            <a:ext cx="5180076" cy="666750"/>
          </a:xfrm>
          <a:prstGeom prst="rect">
            <a:avLst/>
          </a:prstGeom>
          <a:noFill/>
          <a:ln/>
        </p:spPr>
        <p:txBody>
          <a:bodyPr wrap="square" lIns="25400" tIns="25400" rIns="25400" bIns="25400" rtlCol="0" anchor="t">
            <a:normAutofit/>
          </a:bodyPr>
          <a:lstStyle/>
          <a:p>
            <a:pPr marL="0" indent="0" algn="l">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of business rules successfully extracted by a 2026 system</a:t>
            </a:r>
            <a:endParaRPr lang="en-US" sz="1875" dirty="0"/>
          </a:p>
        </p:txBody>
      </p:sp>
      <p:sp>
        <p:nvSpPr>
          <p:cNvPr id="32" name="Text 30"/>
          <p:cNvSpPr/>
          <p:nvPr/>
        </p:nvSpPr>
        <p:spPr>
          <a:xfrm>
            <a:off x="6629400" y="7395766"/>
            <a:ext cx="5532120" cy="323850"/>
          </a:xfrm>
          <a:prstGeom prst="rect">
            <a:avLst/>
          </a:prstGeom>
          <a:noFill/>
          <a:ln/>
        </p:spPr>
        <p:txBody>
          <a:bodyPr wrap="square" lIns="25400" tIns="25400" rIns="25400" bIns="25400" rtlCol="0" anchor="t">
            <a:normAutofit/>
          </a:bodyPr>
          <a:lstStyle/>
          <a:p>
            <a:pPr marL="0" indent="0" algn="l">
              <a:lnSpc>
                <a:spcPct val="107143"/>
              </a:lnSpc>
              <a:buNone/>
            </a:pPr>
            <a:r>
              <a:rPr lang="en-US" sz="1800" dirty="0">
                <a:solidFill>
                  <a:srgbClr val="AE1800"/>
                </a:solidFill>
                <a:latin typeface="Arial" pitchFamily="34" charset="0"/>
                <a:ea typeface="Arial" pitchFamily="34" charset="-122"/>
                <a:cs typeface="Arial" pitchFamily="34" charset="-120"/>
              </a:rPr>
              <a:t>AgentModernize, arXiv 2605.17535</a:t>
            </a:r>
            <a:endParaRPr lang="en-US" sz="1800" dirty="0"/>
          </a:p>
        </p:txBody>
      </p:sp>
      <p:sp>
        <p:nvSpPr>
          <p:cNvPr id="33" name="Shape 31"/>
          <p:cNvSpPr/>
          <p:nvPr/>
        </p:nvSpPr>
        <p:spPr>
          <a:xfrm>
            <a:off x="12115800" y="5490766"/>
            <a:ext cx="5029200" cy="19050"/>
          </a:xfrm>
          <a:prstGeom prst="rect">
            <a:avLst/>
          </a:prstGeom>
          <a:solidFill>
            <a:srgbClr val="201E1E">
              <a:alpha val="40000"/>
            </a:srgbClr>
          </a:solidFill>
          <a:ln/>
        </p:spPr>
      </p:sp>
      <p:sp>
        <p:nvSpPr>
          <p:cNvPr id="34" name="Text 32"/>
          <p:cNvSpPr/>
          <p:nvPr/>
        </p:nvSpPr>
        <p:spPr>
          <a:xfrm>
            <a:off x="12115800" y="5719366"/>
            <a:ext cx="5532120" cy="838200"/>
          </a:xfrm>
          <a:prstGeom prst="rect">
            <a:avLst/>
          </a:prstGeom>
          <a:noFill/>
          <a:ln/>
        </p:spPr>
        <p:txBody>
          <a:bodyPr wrap="square" lIns="25400" tIns="25400" rIns="25400" bIns="25400" rtlCol="0" anchor="t">
            <a:normAutofit/>
          </a:bodyPr>
          <a:lstStyle/>
          <a:p>
            <a:pPr marL="0" indent="0" algn="l">
              <a:lnSpc>
                <a:spcPct val="70787"/>
              </a:lnSpc>
              <a:buNone/>
            </a:pPr>
            <a:r>
              <a:rPr lang="en-US" sz="6300" b="1" kern="0" spc="-126" dirty="0">
                <a:solidFill>
                  <a:srgbClr val="EC3013"/>
                </a:solidFill>
                <a:latin typeface="Arial" pitchFamily="34" charset="0"/>
                <a:ea typeface="Arial" pitchFamily="34" charset="-122"/>
                <a:cs typeface="Arial" pitchFamily="34" charset="-120"/>
              </a:rPr>
              <a:t>&lt;20%</a:t>
            </a:r>
            <a:endParaRPr lang="en-US" sz="6300" dirty="0"/>
          </a:p>
        </p:txBody>
      </p:sp>
      <p:sp>
        <p:nvSpPr>
          <p:cNvPr id="35" name="Text 33"/>
          <p:cNvSpPr/>
          <p:nvPr/>
        </p:nvSpPr>
        <p:spPr>
          <a:xfrm>
            <a:off x="12115800" y="6652816"/>
            <a:ext cx="5180076" cy="666750"/>
          </a:xfrm>
          <a:prstGeom prst="rect">
            <a:avLst/>
          </a:prstGeom>
          <a:noFill/>
          <a:ln/>
        </p:spPr>
        <p:txBody>
          <a:bodyPr wrap="square" lIns="25400" tIns="25400" rIns="25400" bIns="25400" rtlCol="0" anchor="t">
            <a:normAutofit/>
          </a:bodyPr>
          <a:lstStyle/>
          <a:p>
            <a:pPr marL="0" indent="0" algn="l">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behavioural equivalence reached by that same system</a:t>
            </a:r>
            <a:endParaRPr lang="en-US" sz="1875" dirty="0"/>
          </a:p>
        </p:txBody>
      </p:sp>
      <p:sp>
        <p:nvSpPr>
          <p:cNvPr id="36" name="Text 34"/>
          <p:cNvSpPr/>
          <p:nvPr/>
        </p:nvSpPr>
        <p:spPr>
          <a:xfrm>
            <a:off x="12115800" y="7395766"/>
            <a:ext cx="5532120" cy="323850"/>
          </a:xfrm>
          <a:prstGeom prst="rect">
            <a:avLst/>
          </a:prstGeom>
          <a:noFill/>
          <a:ln/>
        </p:spPr>
        <p:txBody>
          <a:bodyPr wrap="square" lIns="25400" tIns="25400" rIns="25400" bIns="25400" rtlCol="0" anchor="t">
            <a:normAutofit/>
          </a:bodyPr>
          <a:lstStyle/>
          <a:p>
            <a:pPr marL="0" indent="0" algn="l">
              <a:lnSpc>
                <a:spcPct val="107143"/>
              </a:lnSpc>
              <a:buNone/>
            </a:pPr>
            <a:r>
              <a:rPr lang="en-US" sz="1800" dirty="0">
                <a:solidFill>
                  <a:srgbClr val="AE1800"/>
                </a:solidFill>
                <a:latin typeface="Arial" pitchFamily="34" charset="0"/>
                <a:ea typeface="Arial" pitchFamily="34" charset="-122"/>
                <a:cs typeface="Arial" pitchFamily="34" charset="-120"/>
              </a:rPr>
              <a:t>baselines scored 0.0%</a:t>
            </a:r>
            <a:endParaRPr lang="en-US" sz="1800" dirty="0"/>
          </a:p>
        </p:txBody>
      </p:sp>
      <p:sp>
        <p:nvSpPr>
          <p:cNvPr id="37" name="Shape 35"/>
          <p:cNvSpPr/>
          <p:nvPr/>
        </p:nvSpPr>
        <p:spPr>
          <a:xfrm>
            <a:off x="1143000" y="7910116"/>
            <a:ext cx="11811000" cy="19050"/>
          </a:xfrm>
          <a:prstGeom prst="rect">
            <a:avLst/>
          </a:prstGeom>
          <a:solidFill>
            <a:srgbClr val="201E1E">
              <a:alpha val="40000"/>
            </a:srgbClr>
          </a:solidFill>
          <a:ln/>
        </p:spPr>
      </p:sp>
      <p:sp>
        <p:nvSpPr>
          <p:cNvPr id="38" name="Text 36"/>
          <p:cNvSpPr/>
          <p:nvPr/>
        </p:nvSpPr>
        <p:spPr>
          <a:xfrm>
            <a:off x="1143000" y="8100616"/>
            <a:ext cx="12992100" cy="336748"/>
          </a:xfrm>
          <a:prstGeom prst="rect">
            <a:avLst/>
          </a:prstGeom>
          <a:noFill/>
          <a:ln/>
        </p:spPr>
        <p:txBody>
          <a:bodyPr wrap="square" lIns="25400" tIns="25400" rIns="25400" bIns="25400" rtlCol="0" anchor="t">
            <a:normAutofit/>
          </a:bodyPr>
          <a:lstStyle/>
          <a:p>
            <a:pPr marL="0" indent="0" algn="l">
              <a:lnSpc>
                <a:spcPct val="79729"/>
              </a:lnSpc>
              <a:buNone/>
            </a:pPr>
            <a:r>
              <a:rPr lang="en-US" sz="2100" b="1" kern="0" spc="-31" dirty="0">
                <a:solidFill>
                  <a:srgbClr val="201E1D"/>
                </a:solidFill>
                <a:latin typeface="Arial" pitchFamily="34" charset="0"/>
                <a:ea typeface="Arial" pitchFamily="34" charset="-122"/>
                <a:cs typeface="Arial" pitchFamily="34" charset="-120"/>
              </a:rPr>
              <a:t>Extraction works. Behavioural equivalence does not follow from it. </a:t>
            </a:r>
            <a:r>
              <a:rPr lang="en-US" sz="2100" b="1" kern="0" spc="-31" dirty="0">
                <a:solidFill>
                  <a:srgbClr val="AE1800"/>
                </a:solidFill>
                <a:latin typeface="Arial" pitchFamily="34" charset="0"/>
                <a:ea typeface="Arial" pitchFamily="34" charset="-122"/>
                <a:cs typeface="Arial" pitchFamily="34" charset="-120"/>
              </a:rPr>
              <a:t>Verification has to be the product.</a:t>
            </a:r>
            <a:endParaRPr lang="en-US" sz="2100" dirty="0"/>
          </a:p>
        </p:txBody>
      </p:sp>
      <p:sp>
        <p:nvSpPr>
          <p:cNvPr id="39" name="Text 37"/>
          <p:cNvSpPr/>
          <p:nvPr/>
        </p:nvSpPr>
        <p:spPr>
          <a:xfrm>
            <a:off x="1143000" y="9029700"/>
            <a:ext cx="16482060" cy="685800"/>
          </a:xfrm>
          <a:prstGeom prst="rect">
            <a:avLst/>
          </a:prstGeom>
          <a:noFill/>
          <a:ln/>
        </p:spPr>
        <p:txBody>
          <a:bodyPr wrap="square" lIns="25400" tIns="25400" rIns="25400" bIns="25400" rtlCol="0" anchor="t">
            <a:normAutofit/>
          </a:bodyPr>
          <a:lstStyle/>
          <a:p>
            <a:pPr marL="0" indent="0" algn="l">
              <a:lnSpc>
                <a:spcPct val="121429"/>
              </a:lnSpc>
              <a:buNone/>
            </a:pPr>
            <a:endParaRPr lang="en-US" sz="1800" dirty="0"/>
          </a:p>
        </p:txBody>
      </p:sp>
      <p:sp>
        <p:nvSpPr>
          <p:cNvPr id="40" name="TextBox 39"/>
          <p:cNvSpPr txBox="1"/>
          <p:nvPr/>
        </p:nvSpPr>
        <p:spPr>
          <a:xfrm>
            <a:off x="17236440" y="9784080"/>
            <a:ext cx="502920" cy="274320"/>
          </a:xfrm>
          <a:prstGeom prst="rect">
            <a:avLst/>
          </a:prstGeom>
          <a:noFill/>
        </p:spPr>
        <p:txBody>
          <a:bodyPr wrap="square" lIns="0" rIns="0" tIns="0" bIns="0" anchor="t">
            <a:spAutoFit/>
          </a:bodyPr>
          <a:lstStyle/>
          <a:p>
            <a:pPr algn="r">
              <a:lnSpc>
                <a:spcPct val="125000"/>
              </a:lnSpc>
            </a:pPr>
            <a:r>
              <a:rPr sz="1200" b="0">
                <a:solidFill>
                  <a:srgbClr val="8C8886"/>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3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612648"/>
            <a:ext cx="16477488" cy="393192"/>
          </a:xfrm>
          <a:prstGeom prst="rect">
            <a:avLst/>
          </a:prstGeom>
          <a:noFill/>
        </p:spPr>
        <p:txBody>
          <a:bodyPr wrap="square" lIns="0" rIns="0" tIns="0" bIns="0" anchor="t">
            <a:spAutoFit/>
          </a:bodyPr>
          <a:lstStyle/>
          <a:p>
            <a:pPr algn="l">
              <a:lnSpc>
                <a:spcPct val="128000"/>
              </a:lnSpc>
            </a:pPr>
            <a:r>
              <a:rPr sz="1800" b="1" spc="150">
                <a:solidFill>
                  <a:srgbClr val="EC3013"/>
                </a:solidFill>
                <a:latin typeface="Arial"/>
              </a:rPr>
              <a:t>TARGET USERS &amp; STAKEHOLDERS</a:t>
            </a:r>
          </a:p>
        </p:txBody>
      </p:sp>
      <p:sp>
        <p:nvSpPr>
          <p:cNvPr id="4" name="Rectangle 3"/>
          <p:cNvSpPr/>
          <p:nvPr/>
        </p:nvSpPr>
        <p:spPr>
          <a:xfrm>
            <a:off x="1143000" y="1207008"/>
            <a:ext cx="160020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5568" y="1792224"/>
            <a:ext cx="17629632" cy="822960"/>
          </a:xfrm>
          <a:prstGeom prst="rect">
            <a:avLst/>
          </a:prstGeom>
          <a:noFill/>
        </p:spPr>
        <p:txBody>
          <a:bodyPr wrap="square" lIns="0" rIns="0" tIns="0" bIns="0" anchor="t">
            <a:spAutoFit/>
          </a:bodyPr>
          <a:lstStyle/>
          <a:p>
            <a:pPr algn="l">
              <a:lnSpc>
                <a:spcPct val="102000"/>
              </a:lnSpc>
            </a:pPr>
            <a:r>
              <a:rPr sz="4650" b="1">
                <a:solidFill>
                  <a:srgbClr val="201E1D"/>
                </a:solidFill>
                <a:latin typeface="Arial"/>
              </a:rPr>
              <a:t>Who is stuck, and what they are stuck on</a:t>
            </a:r>
          </a:p>
        </p:txBody>
      </p:sp>
      <p:sp>
        <p:nvSpPr>
          <p:cNvPr id="6" name="Rectangle 5"/>
          <p:cNvSpPr/>
          <p:nvPr/>
        </p:nvSpPr>
        <p:spPr>
          <a:xfrm>
            <a:off x="1143000" y="2734056"/>
            <a:ext cx="160020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962656"/>
            <a:ext cx="5577840" cy="356616"/>
          </a:xfrm>
          <a:prstGeom prst="rect">
            <a:avLst/>
          </a:prstGeom>
          <a:noFill/>
        </p:spPr>
        <p:txBody>
          <a:bodyPr wrap="square" lIns="0" rIns="0" tIns="0" bIns="0" anchor="t">
            <a:spAutoFit/>
          </a:bodyPr>
          <a:lstStyle/>
          <a:p>
            <a:pPr algn="l">
              <a:lnSpc>
                <a:spcPct val="128000"/>
              </a:lnSpc>
            </a:pPr>
            <a:r>
              <a:rPr sz="2175" b="1">
                <a:solidFill>
                  <a:srgbClr val="201E1D"/>
                </a:solidFill>
                <a:latin typeface="Arial"/>
              </a:rPr>
              <a:t>Bank CIO / core banking head</a:t>
            </a:r>
          </a:p>
        </p:txBody>
      </p:sp>
      <p:sp>
        <p:nvSpPr>
          <p:cNvPr id="8" name="TextBox 7"/>
          <p:cNvSpPr txBox="1"/>
          <p:nvPr/>
        </p:nvSpPr>
        <p:spPr>
          <a:xfrm>
            <a:off x="6949440" y="2980944"/>
            <a:ext cx="4663440" cy="822960"/>
          </a:xfrm>
          <a:prstGeom prst="rect">
            <a:avLst/>
          </a:prstGeom>
          <a:noFill/>
        </p:spPr>
        <p:txBody>
          <a:bodyPr wrap="square" lIns="0" rIns="0" tIns="0" bIns="0" anchor="t">
            <a:spAutoFit/>
          </a:bodyPr>
          <a:lstStyle/>
          <a:p>
            <a:pPr algn="l">
              <a:lnSpc>
                <a:spcPct val="130000"/>
              </a:lnSpc>
            </a:pPr>
            <a:r>
              <a:rPr sz="1600" b="0">
                <a:solidFill>
                  <a:srgbClr val="6F6C6B"/>
                </a:solidFill>
                <a:latin typeface="Arial"/>
              </a:rPr>
              <a:t>Owns the migration decision and the cutover date.</a:t>
            </a:r>
          </a:p>
        </p:txBody>
      </p:sp>
      <p:sp>
        <p:nvSpPr>
          <p:cNvPr id="9" name="TextBox 8"/>
          <p:cNvSpPr txBox="1"/>
          <p:nvPr/>
        </p:nvSpPr>
        <p:spPr>
          <a:xfrm>
            <a:off x="12115800" y="2980944"/>
            <a:ext cx="5029200" cy="822960"/>
          </a:xfrm>
          <a:prstGeom prst="rect">
            <a:avLst/>
          </a:prstGeom>
          <a:noFill/>
        </p:spPr>
        <p:txBody>
          <a:bodyPr wrap="square" lIns="0" rIns="0" tIns="0" bIns="0" anchor="t">
            <a:spAutoFit/>
          </a:bodyPr>
          <a:lstStyle/>
          <a:p>
            <a:pPr algn="l">
              <a:lnSpc>
                <a:spcPct val="130000"/>
              </a:lnSpc>
            </a:pPr>
            <a:r>
              <a:rPr sz="1600" b="1">
                <a:solidFill>
                  <a:srgbClr val="AE1800"/>
                </a:solidFill>
                <a:latin typeface="Arial"/>
              </a:rPr>
              <a:t>Pain:  </a:t>
            </a:r>
            <a:r>
              <a:rPr sz="1600" b="0">
                <a:solidFill>
                  <a:srgbClr val="201E1C"/>
                </a:solidFill>
                <a:latin typeface="Arial"/>
              </a:rPr>
              <a:t>Cannot sign off a replacement nobody can prove behaves identically.</a:t>
            </a:r>
          </a:p>
        </p:txBody>
      </p:sp>
      <p:sp>
        <p:nvSpPr>
          <p:cNvPr id="10" name="Rectangle 9"/>
          <p:cNvSpPr/>
          <p:nvPr/>
        </p:nvSpPr>
        <p:spPr>
          <a:xfrm>
            <a:off x="1143000" y="3913632"/>
            <a:ext cx="16002000" cy="9144"/>
          </a:xfrm>
          <a:prstGeom prst="rect">
            <a:avLst/>
          </a:prstGeom>
          <a:solidFill>
            <a:srgbClr val="C9C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187952"/>
            <a:ext cx="5577840" cy="356616"/>
          </a:xfrm>
          <a:prstGeom prst="rect">
            <a:avLst/>
          </a:prstGeom>
          <a:noFill/>
        </p:spPr>
        <p:txBody>
          <a:bodyPr wrap="square" lIns="0" rIns="0" tIns="0" bIns="0" anchor="t">
            <a:spAutoFit/>
          </a:bodyPr>
          <a:lstStyle/>
          <a:p>
            <a:pPr algn="l">
              <a:lnSpc>
                <a:spcPct val="128000"/>
              </a:lnSpc>
            </a:pPr>
            <a:r>
              <a:rPr sz="2175" b="1">
                <a:solidFill>
                  <a:srgbClr val="201E1D"/>
                </a:solidFill>
                <a:latin typeface="Arial"/>
              </a:rPr>
              <a:t>Risk, compliance and internal audit</a:t>
            </a:r>
          </a:p>
        </p:txBody>
      </p:sp>
      <p:sp>
        <p:nvSpPr>
          <p:cNvPr id="12" name="TextBox 11"/>
          <p:cNvSpPr txBox="1"/>
          <p:nvPr/>
        </p:nvSpPr>
        <p:spPr>
          <a:xfrm>
            <a:off x="6949440" y="4206240"/>
            <a:ext cx="4663440" cy="822960"/>
          </a:xfrm>
          <a:prstGeom prst="rect">
            <a:avLst/>
          </a:prstGeom>
          <a:noFill/>
        </p:spPr>
        <p:txBody>
          <a:bodyPr wrap="square" lIns="0" rIns="0" tIns="0" bIns="0" anchor="t">
            <a:spAutoFit/>
          </a:bodyPr>
          <a:lstStyle/>
          <a:p>
            <a:pPr algn="l">
              <a:lnSpc>
                <a:spcPct val="130000"/>
              </a:lnSpc>
            </a:pPr>
            <a:r>
              <a:rPr sz="1600" b="0">
                <a:solidFill>
                  <a:srgbClr val="6F6C6B"/>
                </a:solidFill>
                <a:latin typeface="Arial"/>
              </a:rPr>
              <a:t>Owns the board-approved Change Management Policy required by RBI's IT Governance Direction (2023).</a:t>
            </a:r>
          </a:p>
        </p:txBody>
      </p:sp>
      <p:sp>
        <p:nvSpPr>
          <p:cNvPr id="13" name="TextBox 12"/>
          <p:cNvSpPr txBox="1"/>
          <p:nvPr/>
        </p:nvSpPr>
        <p:spPr>
          <a:xfrm>
            <a:off x="12115800" y="4206240"/>
            <a:ext cx="5029200" cy="822960"/>
          </a:xfrm>
          <a:prstGeom prst="rect">
            <a:avLst/>
          </a:prstGeom>
          <a:noFill/>
        </p:spPr>
        <p:txBody>
          <a:bodyPr wrap="square" lIns="0" rIns="0" tIns="0" bIns="0" anchor="t">
            <a:spAutoFit/>
          </a:bodyPr>
          <a:lstStyle/>
          <a:p>
            <a:pPr algn="l">
              <a:lnSpc>
                <a:spcPct val="130000"/>
              </a:lnSpc>
            </a:pPr>
            <a:r>
              <a:rPr sz="1600" b="1">
                <a:solidFill>
                  <a:srgbClr val="AE1800"/>
                </a:solidFill>
                <a:latin typeface="Arial"/>
              </a:rPr>
              <a:t>Pain:  </a:t>
            </a:r>
            <a:r>
              <a:rPr sz="1600" b="0">
                <a:solidFill>
                  <a:srgbClr val="201E1C"/>
                </a:solidFill>
                <a:latin typeface="Arial"/>
              </a:rPr>
              <a:t>No auditable artefact showing old and new agree, case by case.</a:t>
            </a:r>
          </a:p>
        </p:txBody>
      </p:sp>
      <p:sp>
        <p:nvSpPr>
          <p:cNvPr id="14" name="Rectangle 13"/>
          <p:cNvSpPr/>
          <p:nvPr/>
        </p:nvSpPr>
        <p:spPr>
          <a:xfrm>
            <a:off x="1143000" y="5138928"/>
            <a:ext cx="16002000" cy="9144"/>
          </a:xfrm>
          <a:prstGeom prst="rect">
            <a:avLst/>
          </a:prstGeom>
          <a:solidFill>
            <a:srgbClr val="C9C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5413248"/>
            <a:ext cx="5577840" cy="356616"/>
          </a:xfrm>
          <a:prstGeom prst="rect">
            <a:avLst/>
          </a:prstGeom>
          <a:noFill/>
        </p:spPr>
        <p:txBody>
          <a:bodyPr wrap="square" lIns="0" rIns="0" tIns="0" bIns="0" anchor="t">
            <a:spAutoFit/>
          </a:bodyPr>
          <a:lstStyle/>
          <a:p>
            <a:pPr algn="l">
              <a:lnSpc>
                <a:spcPct val="128000"/>
              </a:lnSpc>
            </a:pPr>
            <a:r>
              <a:rPr sz="2175" b="1">
                <a:solidFill>
                  <a:srgbClr val="201E1D"/>
                </a:solidFill>
                <a:latin typeface="Arial"/>
              </a:rPr>
              <a:t>Modernisation vendors and system integrators</a:t>
            </a:r>
          </a:p>
        </p:txBody>
      </p:sp>
      <p:sp>
        <p:nvSpPr>
          <p:cNvPr id="16" name="TextBox 15"/>
          <p:cNvSpPr txBox="1"/>
          <p:nvPr/>
        </p:nvSpPr>
        <p:spPr>
          <a:xfrm>
            <a:off x="6949440" y="5431536"/>
            <a:ext cx="4663440" cy="822960"/>
          </a:xfrm>
          <a:prstGeom prst="rect">
            <a:avLst/>
          </a:prstGeom>
          <a:noFill/>
        </p:spPr>
        <p:txBody>
          <a:bodyPr wrap="square" lIns="0" rIns="0" tIns="0" bIns="0" anchor="t">
            <a:spAutoFit/>
          </a:bodyPr>
          <a:lstStyle/>
          <a:p>
            <a:pPr algn="l">
              <a:lnSpc>
                <a:spcPct val="130000"/>
              </a:lnSpc>
            </a:pPr>
            <a:r>
              <a:rPr sz="1600" b="0">
                <a:solidFill>
                  <a:srgbClr val="6F6C6B"/>
                </a:solidFill>
                <a:latin typeface="Arial"/>
              </a:rPr>
              <a:t>Cognizant, TCS, Infosys and in-house delivery teams.</a:t>
            </a:r>
          </a:p>
        </p:txBody>
      </p:sp>
      <p:sp>
        <p:nvSpPr>
          <p:cNvPr id="17" name="TextBox 16"/>
          <p:cNvSpPr txBox="1"/>
          <p:nvPr/>
        </p:nvSpPr>
        <p:spPr>
          <a:xfrm>
            <a:off x="12115800" y="5431536"/>
            <a:ext cx="5029200" cy="822960"/>
          </a:xfrm>
          <a:prstGeom prst="rect">
            <a:avLst/>
          </a:prstGeom>
          <a:noFill/>
        </p:spPr>
        <p:txBody>
          <a:bodyPr wrap="square" lIns="0" rIns="0" tIns="0" bIns="0" anchor="t">
            <a:spAutoFit/>
          </a:bodyPr>
          <a:lstStyle/>
          <a:p>
            <a:pPr algn="l">
              <a:lnSpc>
                <a:spcPct val="130000"/>
              </a:lnSpc>
            </a:pPr>
            <a:r>
              <a:rPr sz="1600" b="1">
                <a:solidFill>
                  <a:srgbClr val="AE1800"/>
                </a:solidFill>
                <a:latin typeface="Arial"/>
              </a:rPr>
              <a:t>Pain:  </a:t>
            </a:r>
            <a:r>
              <a:rPr sz="1600" b="0">
                <a:solidFill>
                  <a:srgbClr val="201E1C"/>
                </a:solidFill>
                <a:latin typeface="Arial"/>
              </a:rPr>
              <a:t>Translation is already commoditised; assurance is what stretches the programme.</a:t>
            </a:r>
          </a:p>
        </p:txBody>
      </p:sp>
      <p:sp>
        <p:nvSpPr>
          <p:cNvPr id="18" name="Rectangle 17"/>
          <p:cNvSpPr/>
          <p:nvPr/>
        </p:nvSpPr>
        <p:spPr>
          <a:xfrm>
            <a:off x="1143000" y="6364224"/>
            <a:ext cx="16002000" cy="9144"/>
          </a:xfrm>
          <a:prstGeom prst="rect">
            <a:avLst/>
          </a:prstGeom>
          <a:solidFill>
            <a:srgbClr val="C9C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6638544"/>
            <a:ext cx="5577840" cy="356616"/>
          </a:xfrm>
          <a:prstGeom prst="rect">
            <a:avLst/>
          </a:prstGeom>
          <a:noFill/>
        </p:spPr>
        <p:txBody>
          <a:bodyPr wrap="square" lIns="0" rIns="0" tIns="0" bIns="0" anchor="t">
            <a:spAutoFit/>
          </a:bodyPr>
          <a:lstStyle/>
          <a:p>
            <a:pPr algn="l">
              <a:lnSpc>
                <a:spcPct val="128000"/>
              </a:lnSpc>
            </a:pPr>
            <a:r>
              <a:rPr sz="2175" b="1">
                <a:solidFill>
                  <a:srgbClr val="201E1D"/>
                </a:solidFill>
                <a:latin typeface="Arial"/>
              </a:rPr>
              <a:t>The supervisor</a:t>
            </a:r>
          </a:p>
        </p:txBody>
      </p:sp>
      <p:sp>
        <p:nvSpPr>
          <p:cNvPr id="20" name="TextBox 19"/>
          <p:cNvSpPr txBox="1"/>
          <p:nvPr/>
        </p:nvSpPr>
        <p:spPr>
          <a:xfrm>
            <a:off x="6949440" y="6656831"/>
            <a:ext cx="4663440" cy="822960"/>
          </a:xfrm>
          <a:prstGeom prst="rect">
            <a:avLst/>
          </a:prstGeom>
          <a:noFill/>
        </p:spPr>
        <p:txBody>
          <a:bodyPr wrap="square" lIns="0" rIns="0" tIns="0" bIns="0" anchor="t">
            <a:spAutoFit/>
          </a:bodyPr>
          <a:lstStyle/>
          <a:p>
            <a:pPr algn="l">
              <a:lnSpc>
                <a:spcPct val="130000"/>
              </a:lnSpc>
            </a:pPr>
            <a:r>
              <a:rPr sz="1600" b="0">
                <a:solidFill>
                  <a:srgbClr val="6F6C6B"/>
                </a:solidFill>
                <a:latin typeface="Arial"/>
              </a:rPr>
              <a:t>RBI, and the bank's own board.</a:t>
            </a:r>
          </a:p>
        </p:txBody>
      </p:sp>
      <p:sp>
        <p:nvSpPr>
          <p:cNvPr id="21" name="TextBox 20"/>
          <p:cNvSpPr txBox="1"/>
          <p:nvPr/>
        </p:nvSpPr>
        <p:spPr>
          <a:xfrm>
            <a:off x="12115800" y="6656831"/>
            <a:ext cx="5029200" cy="822960"/>
          </a:xfrm>
          <a:prstGeom prst="rect">
            <a:avLst/>
          </a:prstGeom>
          <a:noFill/>
        </p:spPr>
        <p:txBody>
          <a:bodyPr wrap="square" lIns="0" rIns="0" tIns="0" bIns="0" anchor="t">
            <a:spAutoFit/>
          </a:bodyPr>
          <a:lstStyle/>
          <a:p>
            <a:pPr algn="l">
              <a:lnSpc>
                <a:spcPct val="130000"/>
              </a:lnSpc>
            </a:pPr>
            <a:r>
              <a:rPr sz="1600" b="1">
                <a:solidFill>
                  <a:srgbClr val="AE1800"/>
                </a:solidFill>
                <a:latin typeface="Arial"/>
              </a:rPr>
              <a:t>Pain:  </a:t>
            </a:r>
            <a:r>
              <a:rPr sz="1600" b="0">
                <a:solidFill>
                  <a:srgbClr val="201E1C"/>
                </a:solidFill>
                <a:latin typeface="Arial"/>
              </a:rPr>
              <a:t>An IT failure is a supervisory event, not an engineering incident.</a:t>
            </a:r>
          </a:p>
        </p:txBody>
      </p:sp>
      <p:sp>
        <p:nvSpPr>
          <p:cNvPr id="22" name="Rectangle 21"/>
          <p:cNvSpPr/>
          <p:nvPr/>
        </p:nvSpPr>
        <p:spPr>
          <a:xfrm>
            <a:off x="1143000" y="7589519"/>
            <a:ext cx="16002000" cy="9144"/>
          </a:xfrm>
          <a:prstGeom prst="rect">
            <a:avLst/>
          </a:prstGeom>
          <a:solidFill>
            <a:srgbClr val="C9C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43000" y="8321040"/>
            <a:ext cx="16002000" cy="457200"/>
          </a:xfrm>
          <a:prstGeom prst="rect">
            <a:avLst/>
          </a:prstGeom>
          <a:noFill/>
        </p:spPr>
        <p:txBody>
          <a:bodyPr wrap="square" lIns="0" rIns="0" tIns="0" bIns="0" anchor="t">
            <a:spAutoFit/>
          </a:bodyPr>
          <a:lstStyle/>
          <a:p>
            <a:pPr algn="l">
              <a:lnSpc>
                <a:spcPct val="128000"/>
              </a:lnSpc>
            </a:pPr>
            <a:r>
              <a:rPr sz="2400" b="1">
                <a:solidFill>
                  <a:srgbClr val="201E1D"/>
                </a:solidFill>
                <a:latin typeface="Arial"/>
              </a:rPr>
              <a:t>Nobody on this list is short of a translator. Everybody on this list is short of proof.</a:t>
            </a:r>
          </a:p>
        </p:txBody>
      </p:sp>
      <p:sp>
        <p:nvSpPr>
          <p:cNvPr id="24" name="TextBox 23"/>
          <p:cNvSpPr txBox="1"/>
          <p:nvPr/>
        </p:nvSpPr>
        <p:spPr>
          <a:xfrm>
            <a:off x="1143000" y="8961120"/>
            <a:ext cx="16002000" cy="457200"/>
          </a:xfrm>
          <a:prstGeom prst="rect">
            <a:avLst/>
          </a:prstGeom>
          <a:noFill/>
        </p:spPr>
        <p:txBody>
          <a:bodyPr wrap="square" lIns="0" rIns="0" tIns="0" bIns="0" anchor="t">
            <a:spAutoFit/>
          </a:bodyPr>
          <a:lstStyle/>
          <a:p>
            <a:pPr algn="l">
              <a:lnSpc>
                <a:spcPct val="128000"/>
              </a:lnSpc>
            </a:pPr>
            <a:r>
              <a:rPr sz="1600" b="0">
                <a:solidFill>
                  <a:srgbClr val="6F6C6B"/>
                </a:solidFill>
                <a:latin typeface="Arial"/>
              </a:rPr>
              <a:t>Our buyer is the person who has to sign the cutover memo — and today has nothing to attach to it.</a:t>
            </a:r>
          </a:p>
        </p:txBody>
      </p:sp>
      <p:sp>
        <p:nvSpPr>
          <p:cNvPr id="25" name="TextBox 24"/>
          <p:cNvSpPr txBox="1"/>
          <p:nvPr/>
        </p:nvSpPr>
        <p:spPr>
          <a:xfrm>
            <a:off x="17236440" y="9784080"/>
            <a:ext cx="502920" cy="274320"/>
          </a:xfrm>
          <a:prstGeom prst="rect">
            <a:avLst/>
          </a:prstGeom>
          <a:noFill/>
        </p:spPr>
        <p:txBody>
          <a:bodyPr wrap="square" lIns="0" rIns="0" tIns="0" bIns="0" anchor="t">
            <a:spAutoFit/>
          </a:bodyPr>
          <a:lstStyle/>
          <a:p>
            <a:pPr algn="r">
              <a:lnSpc>
                <a:spcPct val="125000"/>
              </a:lnSpc>
            </a:pPr>
            <a:r>
              <a:rPr sz="1200" b="0">
                <a:solidFill>
                  <a:srgbClr val="8C8886"/>
                </a:solidFill>
                <a:latin typeface="Arial"/>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3F2F2"/>
        </a:solidFill>
        <a:effectLst/>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16482060" cy="392410"/>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144" dirty="0">
                <a:solidFill>
                  <a:srgbClr val="EC3013"/>
                </a:solidFill>
                <a:latin typeface="Arial" pitchFamily="34" charset="0"/>
                <a:ea typeface="Arial" pitchFamily="34" charset="-122"/>
                <a:cs typeface="Arial" pitchFamily="34" charset="-120"/>
              </a:rPr>
              <a:t>OUR SOLUTION</a:t>
            </a:r>
            <a:endParaRPr lang="en-US" sz="1800" dirty="0"/>
          </a:p>
        </p:txBody>
      </p:sp>
      <p:sp>
        <p:nvSpPr>
          <p:cNvPr id="4" name="Text 2"/>
          <p:cNvSpPr/>
          <p:nvPr/>
        </p:nvSpPr>
        <p:spPr>
          <a:xfrm>
            <a:off x="1116509" y="1790700"/>
            <a:ext cx="17631341" cy="675878"/>
          </a:xfrm>
          <a:prstGeom prst="rect">
            <a:avLst/>
          </a:prstGeom>
          <a:noFill/>
          <a:ln/>
        </p:spPr>
        <p:txBody>
          <a:bodyPr wrap="square" lIns="25400" tIns="25400" rIns="25400" bIns="25400" rtlCol="0" anchor="t">
            <a:normAutofit/>
          </a:bodyPr>
          <a:lstStyle/>
          <a:p>
            <a:pPr marL="0" indent="0" algn="l">
              <a:lnSpc>
                <a:spcPct val="76672"/>
              </a:lnSpc>
              <a:buNone/>
            </a:pPr>
            <a:r>
              <a:rPr lang="en-US" sz="4650" b="1" kern="0" spc="-70" dirty="0">
                <a:solidFill>
                  <a:srgbClr val="201E1D"/>
                </a:solidFill>
                <a:latin typeface="Arial" pitchFamily="34" charset="0"/>
                <a:ea typeface="Arial" pitchFamily="34" charset="-122"/>
                <a:cs typeface="Arial" pitchFamily="34" charset="-120"/>
              </a:rPr>
              <a:t>A deterministic pipeline, with the AI on a short leash</a:t>
            </a:r>
            <a:endParaRPr lang="en-US" sz="4650" dirty="0"/>
          </a:p>
        </p:txBody>
      </p:sp>
      <p:sp>
        <p:nvSpPr>
          <p:cNvPr id="5" name="Shape 3"/>
          <p:cNvSpPr/>
          <p:nvPr/>
        </p:nvSpPr>
        <p:spPr>
          <a:xfrm>
            <a:off x="1143000" y="2733278"/>
            <a:ext cx="16002000" cy="19050"/>
          </a:xfrm>
          <a:prstGeom prst="rect">
            <a:avLst/>
          </a:prstGeom>
          <a:solidFill>
            <a:srgbClr val="201E1E">
              <a:alpha val="40000"/>
            </a:srgbClr>
          </a:solidFill>
          <a:ln/>
        </p:spPr>
      </p:sp>
      <p:sp>
        <p:nvSpPr>
          <p:cNvPr id="6" name="Text 4"/>
          <p:cNvSpPr/>
          <p:nvPr/>
        </p:nvSpPr>
        <p:spPr>
          <a:xfrm>
            <a:off x="1143000" y="2914253"/>
            <a:ext cx="609600" cy="451445"/>
          </a:xfrm>
          <a:prstGeom prst="rect">
            <a:avLst/>
          </a:prstGeom>
          <a:noFill/>
          <a:ln/>
        </p:spPr>
        <p:txBody>
          <a:bodyPr wrap="square" lIns="25400" tIns="25400" rIns="25400" bIns="25400" rtlCol="0" anchor="t">
            <a:normAutofit/>
          </a:bodyPr>
          <a:lstStyle/>
          <a:p>
            <a:pPr marL="0" indent="0" algn="l">
              <a:lnSpc>
                <a:spcPct val="110339"/>
              </a:lnSpc>
              <a:buNone/>
            </a:pPr>
            <a:r>
              <a:rPr lang="en-US" sz="2100" b="1" dirty="0">
                <a:solidFill>
                  <a:srgbClr val="EC3013"/>
                </a:solidFill>
                <a:latin typeface="Arial" pitchFamily="34" charset="0"/>
                <a:ea typeface="Arial" pitchFamily="34" charset="-122"/>
                <a:cs typeface="Arial" pitchFamily="34" charset="-120"/>
              </a:rPr>
              <a:t>0</a:t>
            </a:r>
            <a:endParaRPr lang="en-US" sz="2100" dirty="0"/>
          </a:p>
        </p:txBody>
      </p:sp>
      <p:sp>
        <p:nvSpPr>
          <p:cNvPr id="7" name="Text 5"/>
          <p:cNvSpPr/>
          <p:nvPr/>
        </p:nvSpPr>
        <p:spPr>
          <a:xfrm>
            <a:off x="2019300" y="2958703"/>
            <a:ext cx="4924425" cy="355699"/>
          </a:xfrm>
          <a:prstGeom prst="rect">
            <a:avLst/>
          </a:prstGeom>
          <a:noFill/>
          <a:ln/>
        </p:spPr>
        <p:txBody>
          <a:bodyPr wrap="square" lIns="25400" tIns="25400" rIns="25400" bIns="25400" rtlCol="0" anchor="t">
            <a:normAutofit/>
          </a:bodyPr>
          <a:lstStyle/>
          <a:p>
            <a:pPr marL="0" indent="0" algn="l">
              <a:lnSpc>
                <a:spcPct val="82008"/>
              </a:lnSpc>
              <a:buNone/>
            </a:pPr>
            <a:r>
              <a:rPr lang="en-US" sz="2175" b="1" dirty="0">
                <a:solidFill>
                  <a:srgbClr val="201E1D"/>
                </a:solidFill>
                <a:latin typeface="Arial" pitchFamily="34" charset="0"/>
                <a:ea typeface="Arial" pitchFamily="34" charset="-122"/>
                <a:cs typeface="Arial" pitchFamily="34" charset="-120"/>
              </a:rPr>
              <a:t>Intake gate</a:t>
            </a:r>
            <a:endParaRPr lang="en-US" sz="2175" dirty="0"/>
          </a:p>
        </p:txBody>
      </p:sp>
      <p:sp>
        <p:nvSpPr>
          <p:cNvPr id="8" name="Text 6"/>
          <p:cNvSpPr/>
          <p:nvPr/>
        </p:nvSpPr>
        <p:spPr>
          <a:xfrm>
            <a:off x="6838950" y="2990453"/>
            <a:ext cx="7613142" cy="628650"/>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clock / DB / CICS detected? REFUSED — non-deterministic, cannot be verified soundly</a:t>
            </a:r>
            <a:endParaRPr lang="en-US" sz="1800" dirty="0"/>
          </a:p>
        </p:txBody>
      </p:sp>
      <p:sp>
        <p:nvSpPr>
          <p:cNvPr id="9" name="Shape 7"/>
          <p:cNvSpPr/>
          <p:nvPr/>
        </p:nvSpPr>
        <p:spPr>
          <a:xfrm>
            <a:off x="14876066" y="2955528"/>
            <a:ext cx="2268934" cy="361950"/>
          </a:xfrm>
          <a:prstGeom prst="rect">
            <a:avLst/>
          </a:prstGeom>
          <a:ln w="19050">
            <a:solidFill>
              <a:srgbClr val="201E1E">
                <a:alpha val="40000"/>
              </a:srgbClr>
            </a:solidFill>
            <a:prstDash val="solid"/>
          </a:ln>
        </p:spPr>
      </p:sp>
      <p:sp>
        <p:nvSpPr>
          <p:cNvPr id="10" name="Text 8"/>
          <p:cNvSpPr/>
          <p:nvPr/>
        </p:nvSpPr>
        <p:spPr>
          <a:xfrm>
            <a:off x="15028466" y="3022203"/>
            <a:ext cx="2191028" cy="266700"/>
          </a:xfrm>
          <a:prstGeom prst="rect">
            <a:avLst/>
          </a:prstGeom>
          <a:noFill/>
          <a:ln/>
        </p:spPr>
        <p:txBody>
          <a:bodyPr wrap="none" lIns="25400" tIns="25400" rIns="25400" bIns="25400" rtlCol="0" anchor="t">
            <a:normAutofit/>
          </a:bodyPr>
          <a:lstStyle/>
          <a:p>
            <a:pPr marL="0" indent="0" algn="l">
              <a:lnSpc>
                <a:spcPct val="85714"/>
              </a:lnSpc>
              <a:buNone/>
            </a:pPr>
            <a:r>
              <a:rPr lang="en-US" sz="1800" kern="0" spc="108" dirty="0">
                <a:solidFill>
                  <a:srgbClr val="201E1C">
                    <a:alpha val="60000"/>
                  </a:srgbClr>
                </a:solidFill>
                <a:latin typeface="Arial" pitchFamily="34" charset="0"/>
                <a:ea typeface="Arial" pitchFamily="34" charset="-122"/>
                <a:cs typeface="Arial" pitchFamily="34" charset="-120"/>
              </a:rPr>
              <a:t>DETERMINISTIC</a:t>
            </a:r>
            <a:endParaRPr lang="en-US" sz="1800" dirty="0"/>
          </a:p>
        </p:txBody>
      </p:sp>
      <p:sp>
        <p:nvSpPr>
          <p:cNvPr id="11" name="Shape 9"/>
          <p:cNvSpPr/>
          <p:nvPr/>
        </p:nvSpPr>
        <p:spPr>
          <a:xfrm>
            <a:off x="1143000" y="3761978"/>
            <a:ext cx="16002000" cy="19050"/>
          </a:xfrm>
          <a:prstGeom prst="rect">
            <a:avLst/>
          </a:prstGeom>
          <a:solidFill>
            <a:srgbClr val="201E1E">
              <a:alpha val="40000"/>
            </a:srgbClr>
          </a:solidFill>
          <a:ln/>
        </p:spPr>
      </p:sp>
      <p:sp>
        <p:nvSpPr>
          <p:cNvPr id="12" name="Text 10"/>
          <p:cNvSpPr/>
          <p:nvPr/>
        </p:nvSpPr>
        <p:spPr>
          <a:xfrm>
            <a:off x="1143000" y="3942953"/>
            <a:ext cx="609600" cy="451445"/>
          </a:xfrm>
          <a:prstGeom prst="rect">
            <a:avLst/>
          </a:prstGeom>
          <a:noFill/>
          <a:ln/>
        </p:spPr>
        <p:txBody>
          <a:bodyPr wrap="square" lIns="25400" tIns="25400" rIns="25400" bIns="25400" rtlCol="0" anchor="t">
            <a:normAutofit/>
          </a:bodyPr>
          <a:lstStyle/>
          <a:p>
            <a:pPr marL="0" indent="0" algn="l">
              <a:lnSpc>
                <a:spcPct val="110339"/>
              </a:lnSpc>
              <a:buNone/>
            </a:pPr>
            <a:r>
              <a:rPr lang="en-US" sz="2100" b="1" dirty="0">
                <a:solidFill>
                  <a:srgbClr val="EC3013"/>
                </a:solidFill>
                <a:latin typeface="Arial" pitchFamily="34" charset="0"/>
                <a:ea typeface="Arial" pitchFamily="34" charset="-122"/>
                <a:cs typeface="Arial" pitchFamily="34" charset="-120"/>
              </a:rPr>
              <a:t>1</a:t>
            </a:r>
            <a:endParaRPr lang="en-US" sz="2100" dirty="0"/>
          </a:p>
        </p:txBody>
      </p:sp>
      <p:sp>
        <p:nvSpPr>
          <p:cNvPr id="13" name="Text 11"/>
          <p:cNvSpPr/>
          <p:nvPr/>
        </p:nvSpPr>
        <p:spPr>
          <a:xfrm>
            <a:off x="2019300" y="3987403"/>
            <a:ext cx="4924425" cy="355699"/>
          </a:xfrm>
          <a:prstGeom prst="rect">
            <a:avLst/>
          </a:prstGeom>
          <a:noFill/>
          <a:ln/>
        </p:spPr>
        <p:txBody>
          <a:bodyPr wrap="square" lIns="25400" tIns="25400" rIns="25400" bIns="25400" rtlCol="0" anchor="t">
            <a:normAutofit/>
          </a:bodyPr>
          <a:lstStyle/>
          <a:p>
            <a:pPr marL="0" indent="0" algn="l">
              <a:lnSpc>
                <a:spcPct val="82008"/>
              </a:lnSpc>
              <a:buNone/>
            </a:pPr>
            <a:r>
              <a:rPr lang="en-US" sz="2175" b="1" dirty="0">
                <a:solidFill>
                  <a:srgbClr val="201E1D"/>
                </a:solidFill>
                <a:latin typeface="Arial" pitchFamily="34" charset="0"/>
                <a:ea typeface="Arial" pitchFamily="34" charset="-122"/>
                <a:cs typeface="Arial" pitchFamily="34" charset="-120"/>
              </a:rPr>
              <a:t>Parse &amp; slice</a:t>
            </a:r>
            <a:endParaRPr lang="en-US" sz="2175" dirty="0"/>
          </a:p>
        </p:txBody>
      </p:sp>
      <p:sp>
        <p:nvSpPr>
          <p:cNvPr id="14" name="Text 12"/>
          <p:cNvSpPr/>
          <p:nvPr/>
        </p:nvSpPr>
        <p:spPr>
          <a:xfrm>
            <a:off x="6838950" y="4019153"/>
            <a:ext cx="8130540" cy="333375"/>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ProLeap AST → rule slices</a:t>
            </a:r>
            <a:endParaRPr lang="en-US" sz="1800" dirty="0"/>
          </a:p>
        </p:txBody>
      </p:sp>
      <p:sp>
        <p:nvSpPr>
          <p:cNvPr id="15" name="Shape 13"/>
          <p:cNvSpPr/>
          <p:nvPr/>
        </p:nvSpPr>
        <p:spPr>
          <a:xfrm>
            <a:off x="14876066" y="3984228"/>
            <a:ext cx="2268934" cy="361950"/>
          </a:xfrm>
          <a:prstGeom prst="rect">
            <a:avLst/>
          </a:prstGeom>
          <a:ln w="19050">
            <a:solidFill>
              <a:srgbClr val="201E1E">
                <a:alpha val="40000"/>
              </a:srgbClr>
            </a:solidFill>
            <a:prstDash val="solid"/>
          </a:ln>
        </p:spPr>
      </p:sp>
      <p:sp>
        <p:nvSpPr>
          <p:cNvPr id="16" name="Text 14"/>
          <p:cNvSpPr/>
          <p:nvPr/>
        </p:nvSpPr>
        <p:spPr>
          <a:xfrm>
            <a:off x="15028466" y="4050903"/>
            <a:ext cx="2191028" cy="266700"/>
          </a:xfrm>
          <a:prstGeom prst="rect">
            <a:avLst/>
          </a:prstGeom>
          <a:noFill/>
          <a:ln/>
        </p:spPr>
        <p:txBody>
          <a:bodyPr wrap="none" lIns="25400" tIns="25400" rIns="25400" bIns="25400" rtlCol="0" anchor="t">
            <a:normAutofit/>
          </a:bodyPr>
          <a:lstStyle/>
          <a:p>
            <a:pPr marL="0" indent="0" algn="l">
              <a:lnSpc>
                <a:spcPct val="85714"/>
              </a:lnSpc>
              <a:buNone/>
            </a:pPr>
            <a:r>
              <a:rPr lang="en-US" sz="1800" kern="0" spc="108" dirty="0">
                <a:solidFill>
                  <a:srgbClr val="201E1C">
                    <a:alpha val="60000"/>
                  </a:srgbClr>
                </a:solidFill>
                <a:latin typeface="Arial" pitchFamily="34" charset="0"/>
                <a:ea typeface="Arial" pitchFamily="34" charset="-122"/>
                <a:cs typeface="Arial" pitchFamily="34" charset="-120"/>
              </a:rPr>
              <a:t>DETERMINISTIC</a:t>
            </a:r>
            <a:endParaRPr lang="en-US" sz="1800" dirty="0"/>
          </a:p>
        </p:txBody>
      </p:sp>
      <p:sp>
        <p:nvSpPr>
          <p:cNvPr id="17" name="Shape 15"/>
          <p:cNvSpPr/>
          <p:nvPr/>
        </p:nvSpPr>
        <p:spPr>
          <a:xfrm>
            <a:off x="1143000" y="4537274"/>
            <a:ext cx="16002000" cy="19050"/>
          </a:xfrm>
          <a:prstGeom prst="rect">
            <a:avLst/>
          </a:prstGeom>
          <a:solidFill>
            <a:srgbClr val="201E1E">
              <a:alpha val="40000"/>
            </a:srgbClr>
          </a:solidFill>
          <a:ln/>
        </p:spPr>
      </p:sp>
      <p:sp>
        <p:nvSpPr>
          <p:cNvPr id="18" name="Text 16"/>
          <p:cNvSpPr/>
          <p:nvPr/>
        </p:nvSpPr>
        <p:spPr>
          <a:xfrm>
            <a:off x="1143000" y="4718249"/>
            <a:ext cx="609600" cy="451445"/>
          </a:xfrm>
          <a:prstGeom prst="rect">
            <a:avLst/>
          </a:prstGeom>
          <a:noFill/>
          <a:ln/>
        </p:spPr>
        <p:txBody>
          <a:bodyPr wrap="square" lIns="25400" tIns="25400" rIns="25400" bIns="25400" rtlCol="0" anchor="t">
            <a:normAutofit/>
          </a:bodyPr>
          <a:lstStyle/>
          <a:p>
            <a:pPr marL="0" indent="0" algn="l">
              <a:lnSpc>
                <a:spcPct val="110339"/>
              </a:lnSpc>
              <a:buNone/>
            </a:pPr>
            <a:r>
              <a:rPr lang="en-US" sz="2100" b="1" dirty="0">
                <a:solidFill>
                  <a:srgbClr val="EC3013"/>
                </a:solidFill>
                <a:latin typeface="Arial" pitchFamily="34" charset="0"/>
                <a:ea typeface="Arial" pitchFamily="34" charset="-122"/>
                <a:cs typeface="Arial" pitchFamily="34" charset="-120"/>
              </a:rPr>
              <a:t>2</a:t>
            </a:r>
            <a:endParaRPr lang="en-US" sz="2100" dirty="0"/>
          </a:p>
        </p:txBody>
      </p:sp>
      <p:sp>
        <p:nvSpPr>
          <p:cNvPr id="19" name="Text 17"/>
          <p:cNvSpPr/>
          <p:nvPr/>
        </p:nvSpPr>
        <p:spPr>
          <a:xfrm>
            <a:off x="2019300" y="4762699"/>
            <a:ext cx="4924425" cy="355699"/>
          </a:xfrm>
          <a:prstGeom prst="rect">
            <a:avLst/>
          </a:prstGeom>
          <a:noFill/>
          <a:ln/>
        </p:spPr>
        <p:txBody>
          <a:bodyPr wrap="square" lIns="25400" tIns="25400" rIns="25400" bIns="25400" rtlCol="0" anchor="t">
            <a:normAutofit/>
          </a:bodyPr>
          <a:lstStyle/>
          <a:p>
            <a:pPr marL="0" indent="0" algn="l">
              <a:lnSpc>
                <a:spcPct val="82008"/>
              </a:lnSpc>
              <a:buNone/>
            </a:pPr>
            <a:r>
              <a:rPr lang="en-US" sz="2175" b="1" dirty="0">
                <a:solidFill>
                  <a:srgbClr val="201E1D"/>
                </a:solidFill>
                <a:latin typeface="Arial" pitchFamily="34" charset="0"/>
                <a:ea typeface="Arial" pitchFamily="34" charset="-122"/>
                <a:cs typeface="Arial" pitchFamily="34" charset="-120"/>
              </a:rPr>
              <a:t>Extract rules</a:t>
            </a:r>
            <a:endParaRPr lang="en-US" sz="2175" dirty="0"/>
          </a:p>
        </p:txBody>
      </p:sp>
      <p:sp>
        <p:nvSpPr>
          <p:cNvPr id="20" name="Text 18"/>
          <p:cNvSpPr/>
          <p:nvPr/>
        </p:nvSpPr>
        <p:spPr>
          <a:xfrm>
            <a:off x="6838950" y="4794449"/>
            <a:ext cx="8130540" cy="333375"/>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with line citations from the slice</a:t>
            </a:r>
            <a:endParaRPr lang="en-US" sz="1800" dirty="0"/>
          </a:p>
        </p:txBody>
      </p:sp>
      <p:sp>
        <p:nvSpPr>
          <p:cNvPr id="21" name="Shape 19"/>
          <p:cNvSpPr/>
          <p:nvPr/>
        </p:nvSpPr>
        <p:spPr>
          <a:xfrm>
            <a:off x="14353680" y="4759523"/>
            <a:ext cx="2791321" cy="361950"/>
          </a:xfrm>
          <a:prstGeom prst="rect">
            <a:avLst/>
          </a:prstGeom>
          <a:solidFill>
            <a:srgbClr val="EC3013"/>
          </a:solidFill>
          <a:ln/>
        </p:spPr>
      </p:sp>
      <p:sp>
        <p:nvSpPr>
          <p:cNvPr id="22" name="Text 20"/>
          <p:cNvSpPr/>
          <p:nvPr/>
        </p:nvSpPr>
        <p:spPr>
          <a:xfrm>
            <a:off x="14506080" y="4826198"/>
            <a:ext cx="2765653" cy="266700"/>
          </a:xfrm>
          <a:prstGeom prst="rect">
            <a:avLst/>
          </a:prstGeom>
          <a:noFill/>
          <a:ln/>
        </p:spPr>
        <p:txBody>
          <a:bodyPr wrap="none" lIns="25400" tIns="25400" rIns="25400" bIns="25400" rtlCol="0" anchor="t">
            <a:normAutofit/>
          </a:bodyPr>
          <a:lstStyle/>
          <a:p>
            <a:pPr marL="0" indent="0" algn="l">
              <a:lnSpc>
                <a:spcPct val="85714"/>
              </a:lnSpc>
              <a:buNone/>
            </a:pPr>
            <a:r>
              <a:rPr lang="en-US" sz="1800" kern="0" spc="108" dirty="0">
                <a:solidFill>
                  <a:srgbClr val="F3F2F2"/>
                </a:solidFill>
                <a:latin typeface="Arial" pitchFamily="34" charset="0"/>
                <a:ea typeface="Arial" pitchFamily="34" charset="-122"/>
                <a:cs typeface="Arial" pitchFamily="34" charset="-120"/>
              </a:rPr>
              <a:t>BOUNDED LLM CALL</a:t>
            </a:r>
            <a:endParaRPr lang="en-US" sz="1800" dirty="0"/>
          </a:p>
        </p:txBody>
      </p:sp>
      <p:sp>
        <p:nvSpPr>
          <p:cNvPr id="23" name="Shape 21"/>
          <p:cNvSpPr/>
          <p:nvPr/>
        </p:nvSpPr>
        <p:spPr>
          <a:xfrm>
            <a:off x="1143000" y="5312569"/>
            <a:ext cx="16002000" cy="19050"/>
          </a:xfrm>
          <a:prstGeom prst="rect">
            <a:avLst/>
          </a:prstGeom>
          <a:solidFill>
            <a:srgbClr val="201E1E">
              <a:alpha val="40000"/>
            </a:srgbClr>
          </a:solidFill>
          <a:ln/>
        </p:spPr>
      </p:sp>
      <p:sp>
        <p:nvSpPr>
          <p:cNvPr id="24" name="Text 22"/>
          <p:cNvSpPr/>
          <p:nvPr/>
        </p:nvSpPr>
        <p:spPr>
          <a:xfrm>
            <a:off x="1143000" y="5455444"/>
            <a:ext cx="609600" cy="451445"/>
          </a:xfrm>
          <a:prstGeom prst="rect">
            <a:avLst/>
          </a:prstGeom>
          <a:noFill/>
          <a:ln/>
        </p:spPr>
        <p:txBody>
          <a:bodyPr wrap="square" lIns="25400" tIns="25400" rIns="25400" bIns="25400" rtlCol="0" anchor="t">
            <a:normAutofit/>
          </a:bodyPr>
          <a:lstStyle/>
          <a:p>
            <a:pPr marL="0" indent="0" algn="l">
              <a:lnSpc>
                <a:spcPct val="110339"/>
              </a:lnSpc>
              <a:buNone/>
            </a:pPr>
            <a:r>
              <a:rPr lang="en-US" sz="2100" b="1" dirty="0">
                <a:solidFill>
                  <a:srgbClr val="EC3013"/>
                </a:solidFill>
                <a:latin typeface="Arial" pitchFamily="34" charset="0"/>
                <a:ea typeface="Arial" pitchFamily="34" charset="-122"/>
                <a:cs typeface="Arial" pitchFamily="34" charset="-120"/>
              </a:rPr>
              <a:t>3</a:t>
            </a:r>
            <a:endParaRPr lang="en-US" sz="2100" dirty="0"/>
          </a:p>
        </p:txBody>
      </p:sp>
      <p:sp>
        <p:nvSpPr>
          <p:cNvPr id="25" name="Text 23"/>
          <p:cNvSpPr/>
          <p:nvPr/>
        </p:nvSpPr>
        <p:spPr>
          <a:xfrm>
            <a:off x="2019300" y="5499894"/>
            <a:ext cx="4924425" cy="355699"/>
          </a:xfrm>
          <a:prstGeom prst="rect">
            <a:avLst/>
          </a:prstGeom>
          <a:noFill/>
          <a:ln/>
        </p:spPr>
        <p:txBody>
          <a:bodyPr wrap="square" lIns="25400" tIns="25400" rIns="25400" bIns="25400" rtlCol="0" anchor="t">
            <a:normAutofit/>
          </a:bodyPr>
          <a:lstStyle/>
          <a:p>
            <a:pPr marL="0" indent="0" algn="l">
              <a:lnSpc>
                <a:spcPct val="82008"/>
              </a:lnSpc>
              <a:buNone/>
            </a:pPr>
            <a:r>
              <a:rPr lang="en-US" sz="2175" b="1" dirty="0">
                <a:solidFill>
                  <a:srgbClr val="201E1D"/>
                </a:solidFill>
                <a:latin typeface="Arial" pitchFamily="34" charset="0"/>
                <a:ea typeface="Arial" pitchFamily="34" charset="-122"/>
                <a:cs typeface="Arial" pitchFamily="34" charset="-120"/>
              </a:rPr>
              <a:t>Rule-directed input generation</a:t>
            </a:r>
            <a:endParaRPr lang="en-US" sz="2175" dirty="0"/>
          </a:p>
        </p:txBody>
      </p:sp>
      <p:sp>
        <p:nvSpPr>
          <p:cNvPr id="26" name="Text 24"/>
          <p:cNvSpPr/>
          <p:nvPr/>
        </p:nvSpPr>
        <p:spPr>
          <a:xfrm>
            <a:off x="6838950" y="5531644"/>
            <a:ext cx="7613142" cy="923925"/>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the extracted rules say where the boundaries are — ₹99,999 / ₹1,00,000 / ₹1,00,001 · ₹0.50 rounding midpoints · 29 February · month and quarter ends · zero and maximum values</a:t>
            </a:r>
            <a:endParaRPr lang="en-US" sz="1800" dirty="0"/>
          </a:p>
        </p:txBody>
      </p:sp>
      <p:sp>
        <p:nvSpPr>
          <p:cNvPr id="27" name="Shape 25"/>
          <p:cNvSpPr/>
          <p:nvPr/>
        </p:nvSpPr>
        <p:spPr>
          <a:xfrm>
            <a:off x="14876066" y="5496719"/>
            <a:ext cx="2268934" cy="361950"/>
          </a:xfrm>
          <a:prstGeom prst="rect">
            <a:avLst/>
          </a:prstGeom>
          <a:ln w="19050">
            <a:solidFill>
              <a:srgbClr val="201E1E">
                <a:alpha val="40000"/>
              </a:srgbClr>
            </a:solidFill>
            <a:prstDash val="solid"/>
          </a:ln>
        </p:spPr>
      </p:sp>
      <p:sp>
        <p:nvSpPr>
          <p:cNvPr id="28" name="Text 26"/>
          <p:cNvSpPr/>
          <p:nvPr/>
        </p:nvSpPr>
        <p:spPr>
          <a:xfrm>
            <a:off x="15028466" y="5563394"/>
            <a:ext cx="2191028" cy="266700"/>
          </a:xfrm>
          <a:prstGeom prst="rect">
            <a:avLst/>
          </a:prstGeom>
          <a:noFill/>
          <a:ln/>
        </p:spPr>
        <p:txBody>
          <a:bodyPr wrap="none" lIns="25400" tIns="25400" rIns="25400" bIns="25400" rtlCol="0" anchor="t">
            <a:normAutofit/>
          </a:bodyPr>
          <a:lstStyle/>
          <a:p>
            <a:pPr marL="0" indent="0" algn="l">
              <a:lnSpc>
                <a:spcPct val="85714"/>
              </a:lnSpc>
              <a:buNone/>
            </a:pPr>
            <a:r>
              <a:rPr lang="en-US" sz="1800" kern="0" spc="108" dirty="0">
                <a:solidFill>
                  <a:srgbClr val="201E1C">
                    <a:alpha val="60000"/>
                  </a:srgbClr>
                </a:solidFill>
                <a:latin typeface="Arial" pitchFamily="34" charset="0"/>
                <a:ea typeface="Arial" pitchFamily="34" charset="-122"/>
                <a:cs typeface="Arial" pitchFamily="34" charset="-120"/>
              </a:rPr>
              <a:t>DETERMINISTIC</a:t>
            </a:r>
            <a:endParaRPr lang="en-US" sz="1800" dirty="0"/>
          </a:p>
        </p:txBody>
      </p:sp>
      <p:sp>
        <p:nvSpPr>
          <p:cNvPr id="29" name="Shape 27"/>
          <p:cNvSpPr/>
          <p:nvPr/>
        </p:nvSpPr>
        <p:spPr>
          <a:xfrm>
            <a:off x="1143000" y="7808119"/>
            <a:ext cx="16002000" cy="19050"/>
          </a:xfrm>
          <a:prstGeom prst="rect">
            <a:avLst/>
          </a:prstGeom>
          <a:solidFill>
            <a:srgbClr val="201E1E">
              <a:alpha val="40000"/>
            </a:srgbClr>
          </a:solidFill>
          <a:ln/>
        </p:spPr>
      </p:sp>
      <p:sp>
        <p:nvSpPr>
          <p:cNvPr id="30" name="Shape 28"/>
          <p:cNvSpPr/>
          <p:nvPr/>
        </p:nvSpPr>
        <p:spPr>
          <a:xfrm>
            <a:off x="1143000" y="6560344"/>
            <a:ext cx="16002000" cy="19050"/>
          </a:xfrm>
          <a:prstGeom prst="rect">
            <a:avLst/>
          </a:prstGeom>
          <a:solidFill>
            <a:srgbClr val="201E1E">
              <a:alpha val="40000"/>
            </a:srgbClr>
          </a:solidFill>
          <a:ln/>
        </p:spPr>
      </p:sp>
      <p:sp>
        <p:nvSpPr>
          <p:cNvPr id="31" name="Text 29"/>
          <p:cNvSpPr/>
          <p:nvPr/>
        </p:nvSpPr>
        <p:spPr>
          <a:xfrm>
            <a:off x="1143000" y="6703219"/>
            <a:ext cx="609600" cy="451445"/>
          </a:xfrm>
          <a:prstGeom prst="rect">
            <a:avLst/>
          </a:prstGeom>
          <a:noFill/>
          <a:ln/>
        </p:spPr>
        <p:txBody>
          <a:bodyPr wrap="square" lIns="25400" tIns="25400" rIns="25400" bIns="25400" rtlCol="0" anchor="t">
            <a:normAutofit/>
          </a:bodyPr>
          <a:lstStyle/>
          <a:p>
            <a:pPr marL="0" indent="0" algn="l">
              <a:lnSpc>
                <a:spcPct val="110339"/>
              </a:lnSpc>
              <a:buNone/>
            </a:pPr>
            <a:r>
              <a:rPr lang="en-US" sz="2100" b="1" dirty="0">
                <a:solidFill>
                  <a:srgbClr val="EC3013"/>
                </a:solidFill>
                <a:latin typeface="Arial" pitchFamily="34" charset="0"/>
                <a:ea typeface="Arial" pitchFamily="34" charset="-122"/>
                <a:cs typeface="Arial" pitchFamily="34" charset="-120"/>
              </a:rPr>
              <a:t>4</a:t>
            </a:r>
            <a:endParaRPr lang="en-US" sz="2100" dirty="0"/>
          </a:p>
        </p:txBody>
      </p:sp>
      <p:sp>
        <p:nvSpPr>
          <p:cNvPr id="32" name="Text 30"/>
          <p:cNvSpPr/>
          <p:nvPr/>
        </p:nvSpPr>
        <p:spPr>
          <a:xfrm>
            <a:off x="2019300" y="6747669"/>
            <a:ext cx="4924425" cy="355699"/>
          </a:xfrm>
          <a:prstGeom prst="rect">
            <a:avLst/>
          </a:prstGeom>
          <a:noFill/>
          <a:ln/>
        </p:spPr>
        <p:txBody>
          <a:bodyPr wrap="square" lIns="25400" tIns="25400" rIns="25400" bIns="25400" rtlCol="0" anchor="t">
            <a:normAutofit/>
          </a:bodyPr>
          <a:lstStyle/>
          <a:p>
            <a:pPr marL="0" indent="0" algn="l">
              <a:lnSpc>
                <a:spcPct val="82008"/>
              </a:lnSpc>
              <a:buNone/>
            </a:pPr>
            <a:r>
              <a:rPr lang="en-US" sz="2175" b="1" dirty="0">
                <a:solidFill>
                  <a:srgbClr val="201E1D"/>
                </a:solidFill>
                <a:latin typeface="Arial" pitchFamily="34" charset="0"/>
                <a:ea typeface="Arial" pitchFamily="34" charset="-122"/>
                <a:cs typeface="Arial" pitchFamily="34" charset="-120"/>
              </a:rPr>
              <a:t>Execute and compare — three ways</a:t>
            </a:r>
            <a:endParaRPr lang="en-US" sz="2175" dirty="0"/>
          </a:p>
        </p:txBody>
      </p:sp>
      <p:sp>
        <p:nvSpPr>
          <p:cNvPr id="33" name="Text 31"/>
          <p:cNvSpPr/>
          <p:nvPr/>
        </p:nvSpPr>
        <p:spPr>
          <a:xfrm>
            <a:off x="6838950" y="6779419"/>
            <a:ext cx="7613142" cy="923925"/>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same input, three outputs: legacy COBOL (GnuCOBOL — the oracle) · reimplementation (generated Java, untrusted) · RBI Direction (the third reference)</a:t>
            </a:r>
            <a:endParaRPr lang="en-US" sz="1800" dirty="0"/>
          </a:p>
        </p:txBody>
      </p:sp>
      <p:sp>
        <p:nvSpPr>
          <p:cNvPr id="34" name="Shape 32"/>
          <p:cNvSpPr/>
          <p:nvPr/>
        </p:nvSpPr>
        <p:spPr>
          <a:xfrm>
            <a:off x="14876066" y="6744494"/>
            <a:ext cx="2268934" cy="361950"/>
          </a:xfrm>
          <a:prstGeom prst="rect">
            <a:avLst/>
          </a:prstGeom>
          <a:ln w="19050">
            <a:solidFill>
              <a:srgbClr val="201E1E">
                <a:alpha val="40000"/>
              </a:srgbClr>
            </a:solidFill>
            <a:prstDash val="solid"/>
          </a:ln>
        </p:spPr>
      </p:sp>
      <p:sp>
        <p:nvSpPr>
          <p:cNvPr id="35" name="Text 33"/>
          <p:cNvSpPr/>
          <p:nvPr/>
        </p:nvSpPr>
        <p:spPr>
          <a:xfrm>
            <a:off x="15028466" y="6811169"/>
            <a:ext cx="2191028" cy="266700"/>
          </a:xfrm>
          <a:prstGeom prst="rect">
            <a:avLst/>
          </a:prstGeom>
          <a:noFill/>
          <a:ln/>
        </p:spPr>
        <p:txBody>
          <a:bodyPr wrap="none" lIns="25400" tIns="25400" rIns="25400" bIns="25400" rtlCol="0" anchor="t">
            <a:normAutofit/>
          </a:bodyPr>
          <a:lstStyle/>
          <a:p>
            <a:pPr marL="0" indent="0" algn="l">
              <a:lnSpc>
                <a:spcPct val="85714"/>
              </a:lnSpc>
              <a:buNone/>
            </a:pPr>
            <a:r>
              <a:rPr lang="en-US" sz="1800" kern="0" spc="108" dirty="0">
                <a:solidFill>
                  <a:srgbClr val="201E1C">
                    <a:alpha val="60000"/>
                  </a:srgbClr>
                </a:solidFill>
                <a:latin typeface="Arial" pitchFamily="34" charset="0"/>
                <a:ea typeface="Arial" pitchFamily="34" charset="-122"/>
                <a:cs typeface="Arial" pitchFamily="34" charset="-120"/>
              </a:rPr>
              <a:t>DETERMINISTIC</a:t>
            </a:r>
            <a:endParaRPr lang="en-US" sz="1800" dirty="0"/>
          </a:p>
        </p:txBody>
      </p:sp>
      <p:sp>
        <p:nvSpPr>
          <p:cNvPr id="36" name="Shape 34"/>
          <p:cNvSpPr/>
          <p:nvPr/>
        </p:nvSpPr>
        <p:spPr>
          <a:xfrm>
            <a:off x="1143000" y="8131969"/>
            <a:ext cx="3657600" cy="19050"/>
          </a:xfrm>
          <a:prstGeom prst="rect">
            <a:avLst/>
          </a:prstGeom>
          <a:solidFill>
            <a:srgbClr val="EC3013"/>
          </a:solidFill>
          <a:ln/>
        </p:spPr>
      </p:sp>
      <p:sp>
        <p:nvSpPr>
          <p:cNvPr id="37" name="Text 35"/>
          <p:cNvSpPr/>
          <p:nvPr/>
        </p:nvSpPr>
        <p:spPr>
          <a:xfrm>
            <a:off x="1143000" y="8322469"/>
            <a:ext cx="4023360" cy="333772"/>
          </a:xfrm>
          <a:prstGeom prst="rect">
            <a:avLst/>
          </a:prstGeom>
          <a:noFill/>
          <a:ln/>
        </p:spPr>
        <p:txBody>
          <a:bodyPr wrap="square" lIns="25400" tIns="25400" rIns="25400" bIns="25400" rtlCol="0" anchor="t">
            <a:normAutofit/>
          </a:bodyPr>
          <a:lstStyle/>
          <a:p>
            <a:pPr marL="0" indent="0" algn="l">
              <a:lnSpc>
                <a:spcPct val="80302"/>
              </a:lnSpc>
              <a:buNone/>
            </a:pPr>
            <a:r>
              <a:rPr lang="en-US" sz="2025" b="1" kern="0" spc="-30" dirty="0">
                <a:solidFill>
                  <a:srgbClr val="201E1D"/>
                </a:solidFill>
                <a:latin typeface="Arial" pitchFamily="34" charset="0"/>
                <a:ea typeface="Arial" pitchFamily="34" charset="-122"/>
                <a:cs typeface="Arial" pitchFamily="34" charset="-120"/>
              </a:rPr>
              <a:t>Rule verdicts</a:t>
            </a:r>
            <a:endParaRPr lang="en-US" sz="2025" dirty="0"/>
          </a:p>
        </p:txBody>
      </p:sp>
      <p:sp>
        <p:nvSpPr>
          <p:cNvPr id="38" name="Text 36"/>
          <p:cNvSpPr/>
          <p:nvPr/>
        </p:nvSpPr>
        <p:spPr>
          <a:xfrm>
            <a:off x="1143000" y="8751491"/>
            <a:ext cx="4023360" cy="333375"/>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proven · unproven · refuted</a:t>
            </a:r>
            <a:endParaRPr lang="en-US" sz="1800" dirty="0"/>
          </a:p>
        </p:txBody>
      </p:sp>
      <p:sp>
        <p:nvSpPr>
          <p:cNvPr id="39" name="Shape 37"/>
          <p:cNvSpPr/>
          <p:nvPr/>
        </p:nvSpPr>
        <p:spPr>
          <a:xfrm>
            <a:off x="5257800" y="8131969"/>
            <a:ext cx="3657600" cy="19050"/>
          </a:xfrm>
          <a:prstGeom prst="rect">
            <a:avLst/>
          </a:prstGeom>
          <a:solidFill>
            <a:srgbClr val="EC3013"/>
          </a:solidFill>
          <a:ln/>
        </p:spPr>
      </p:sp>
      <p:sp>
        <p:nvSpPr>
          <p:cNvPr id="40" name="Text 38"/>
          <p:cNvSpPr/>
          <p:nvPr/>
        </p:nvSpPr>
        <p:spPr>
          <a:xfrm>
            <a:off x="5257800" y="8322469"/>
            <a:ext cx="4023360" cy="333772"/>
          </a:xfrm>
          <a:prstGeom prst="rect">
            <a:avLst/>
          </a:prstGeom>
          <a:noFill/>
          <a:ln/>
        </p:spPr>
        <p:txBody>
          <a:bodyPr wrap="square" lIns="25400" tIns="25400" rIns="25400" bIns="25400" rtlCol="0" anchor="t">
            <a:normAutofit/>
          </a:bodyPr>
          <a:lstStyle/>
          <a:p>
            <a:pPr marL="0" indent="0" algn="l">
              <a:lnSpc>
                <a:spcPct val="80302"/>
              </a:lnSpc>
              <a:buNone/>
            </a:pPr>
            <a:r>
              <a:rPr lang="en-US" sz="2025" b="1" kern="0" spc="-30" dirty="0">
                <a:solidFill>
                  <a:srgbClr val="201E1D"/>
                </a:solidFill>
                <a:latin typeface="Arial" pitchFamily="34" charset="0"/>
                <a:ea typeface="Arial" pitchFamily="34" charset="-122"/>
                <a:cs typeface="Arial" pitchFamily="34" charset="-120"/>
              </a:rPr>
              <a:t>Mutation score</a:t>
            </a:r>
            <a:endParaRPr lang="en-US" sz="2025" dirty="0"/>
          </a:p>
        </p:txBody>
      </p:sp>
      <p:sp>
        <p:nvSpPr>
          <p:cNvPr id="41" name="Text 39"/>
          <p:cNvSpPr/>
          <p:nvPr/>
        </p:nvSpPr>
        <p:spPr>
          <a:xfrm>
            <a:off x="5257800" y="8751491"/>
            <a:ext cx="4023360" cy="333375"/>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how strong is this claim?</a:t>
            </a:r>
            <a:endParaRPr lang="en-US" sz="1800" dirty="0"/>
          </a:p>
        </p:txBody>
      </p:sp>
      <p:sp>
        <p:nvSpPr>
          <p:cNvPr id="42" name="Shape 40"/>
          <p:cNvSpPr/>
          <p:nvPr/>
        </p:nvSpPr>
        <p:spPr>
          <a:xfrm>
            <a:off x="9372600" y="8131969"/>
            <a:ext cx="3657600" cy="19050"/>
          </a:xfrm>
          <a:prstGeom prst="rect">
            <a:avLst/>
          </a:prstGeom>
          <a:solidFill>
            <a:srgbClr val="EC3013"/>
          </a:solidFill>
          <a:ln/>
        </p:spPr>
      </p:sp>
      <p:sp>
        <p:nvSpPr>
          <p:cNvPr id="43" name="Text 41"/>
          <p:cNvSpPr/>
          <p:nvPr/>
        </p:nvSpPr>
        <p:spPr>
          <a:xfrm>
            <a:off x="9372600" y="8322469"/>
            <a:ext cx="4023360" cy="333772"/>
          </a:xfrm>
          <a:prstGeom prst="rect">
            <a:avLst/>
          </a:prstGeom>
          <a:noFill/>
          <a:ln/>
        </p:spPr>
        <p:txBody>
          <a:bodyPr wrap="square" lIns="25400" tIns="25400" rIns="25400" bIns="25400" rtlCol="0" anchor="t">
            <a:normAutofit/>
          </a:bodyPr>
          <a:lstStyle/>
          <a:p>
            <a:pPr marL="0" indent="0" algn="l">
              <a:lnSpc>
                <a:spcPct val="80302"/>
              </a:lnSpc>
              <a:buNone/>
            </a:pPr>
            <a:r>
              <a:rPr lang="en-US" sz="2025" b="1" kern="0" spc="-30" dirty="0">
                <a:solidFill>
                  <a:srgbClr val="201E1D"/>
                </a:solidFill>
                <a:latin typeface="Arial" pitchFamily="34" charset="0"/>
                <a:ea typeface="Arial" pitchFamily="34" charset="-122"/>
                <a:cs typeface="Arial" pitchFamily="34" charset="-120"/>
              </a:rPr>
              <a:t>Compliance findings</a:t>
            </a:r>
            <a:endParaRPr lang="en-US" sz="2025" dirty="0"/>
          </a:p>
        </p:txBody>
      </p:sp>
      <p:sp>
        <p:nvSpPr>
          <p:cNvPr id="44" name="Text 42"/>
          <p:cNvSpPr/>
          <p:nvPr/>
        </p:nvSpPr>
        <p:spPr>
          <a:xfrm>
            <a:off x="9372600" y="8751491"/>
            <a:ext cx="4023360" cy="333375"/>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legacy vs the regulator</a:t>
            </a:r>
            <a:endParaRPr lang="en-US" sz="1800" dirty="0"/>
          </a:p>
        </p:txBody>
      </p:sp>
      <p:sp>
        <p:nvSpPr>
          <p:cNvPr id="45" name="Shape 43"/>
          <p:cNvSpPr/>
          <p:nvPr/>
        </p:nvSpPr>
        <p:spPr>
          <a:xfrm>
            <a:off x="13487400" y="8131969"/>
            <a:ext cx="3657600" cy="19050"/>
          </a:xfrm>
          <a:prstGeom prst="rect">
            <a:avLst/>
          </a:prstGeom>
          <a:solidFill>
            <a:srgbClr val="EC3013"/>
          </a:solidFill>
          <a:ln/>
        </p:spPr>
      </p:sp>
      <p:sp>
        <p:nvSpPr>
          <p:cNvPr id="46" name="Text 44"/>
          <p:cNvSpPr/>
          <p:nvPr/>
        </p:nvSpPr>
        <p:spPr>
          <a:xfrm>
            <a:off x="13487400" y="8322469"/>
            <a:ext cx="4023360" cy="333772"/>
          </a:xfrm>
          <a:prstGeom prst="rect">
            <a:avLst/>
          </a:prstGeom>
          <a:noFill/>
          <a:ln/>
        </p:spPr>
        <p:txBody>
          <a:bodyPr wrap="square" lIns="25400" tIns="25400" rIns="25400" bIns="25400" rtlCol="0" anchor="t">
            <a:normAutofit/>
          </a:bodyPr>
          <a:lstStyle/>
          <a:p>
            <a:pPr marL="0" indent="0" algn="l">
              <a:lnSpc>
                <a:spcPct val="80302"/>
              </a:lnSpc>
              <a:buNone/>
            </a:pPr>
            <a:r>
              <a:rPr lang="en-US" sz="2025" b="1" kern="0" spc="-30" dirty="0">
                <a:solidFill>
                  <a:srgbClr val="201E1D"/>
                </a:solidFill>
                <a:latin typeface="Arial" pitchFamily="34" charset="0"/>
                <a:ea typeface="Arial" pitchFamily="34" charset="-122"/>
                <a:cs typeface="Arial" pitchFamily="34" charset="-120"/>
              </a:rPr>
              <a:t>Evidence bundle</a:t>
            </a:r>
            <a:endParaRPr lang="en-US" sz="2025" dirty="0"/>
          </a:p>
        </p:txBody>
      </p:sp>
      <p:sp>
        <p:nvSpPr>
          <p:cNvPr id="47" name="Text 45"/>
          <p:cNvSpPr/>
          <p:nvPr/>
        </p:nvSpPr>
        <p:spPr>
          <a:xfrm>
            <a:off x="13487400" y="8751491"/>
            <a:ext cx="4023360" cy="333375"/>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spec · tests · signed claim</a:t>
            </a:r>
            <a:endParaRPr lang="en-US" sz="1800" dirty="0"/>
          </a:p>
        </p:txBody>
      </p:sp>
      <p:sp>
        <p:nvSpPr>
          <p:cNvPr id="48" name="Text 46"/>
          <p:cNvSpPr/>
          <p:nvPr/>
        </p:nvSpPr>
        <p:spPr>
          <a:xfrm>
            <a:off x="1143000" y="9029700"/>
            <a:ext cx="16482060" cy="685800"/>
          </a:xfrm>
          <a:prstGeom prst="rect">
            <a:avLst/>
          </a:prstGeom>
          <a:noFill/>
          <a:ln/>
        </p:spPr>
        <p:txBody>
          <a:bodyPr wrap="square" lIns="25400" tIns="25400" rIns="25400" bIns="25400" rtlCol="0" anchor="t">
            <a:normAutofit/>
          </a:bodyPr>
          <a:lstStyle/>
          <a:p>
            <a:pPr marL="0" indent="0" algn="l">
              <a:lnSpc>
                <a:spcPct val="121429"/>
              </a:lnSpc>
              <a:buNone/>
            </a:pPr>
            <a:endParaRPr lang="en-US" sz="1800" dirty="0"/>
          </a:p>
        </p:txBody>
      </p:sp>
      <p:sp>
        <p:nvSpPr>
          <p:cNvPr id="49" name="TextBox 48"/>
          <p:cNvSpPr txBox="1"/>
          <p:nvPr/>
        </p:nvSpPr>
        <p:spPr>
          <a:xfrm>
            <a:off x="17236440" y="9784080"/>
            <a:ext cx="502920" cy="274320"/>
          </a:xfrm>
          <a:prstGeom prst="rect">
            <a:avLst/>
          </a:prstGeom>
          <a:noFill/>
        </p:spPr>
        <p:txBody>
          <a:bodyPr wrap="square" lIns="0" rIns="0" tIns="0" bIns="0" anchor="t">
            <a:spAutoFit/>
          </a:bodyPr>
          <a:lstStyle/>
          <a:p>
            <a:pPr algn="r">
              <a:lnSpc>
                <a:spcPct val="125000"/>
              </a:lnSpc>
            </a:pPr>
            <a:r>
              <a:rPr sz="1200" b="0">
                <a:solidFill>
                  <a:srgbClr val="8C8886"/>
                </a:solidFill>
                <a:latin typeface="Arial"/>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3F2F2"/>
        </a:solidFill>
        <a:effectLst/>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16482060" cy="392410"/>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144" dirty="0">
                <a:solidFill>
                  <a:srgbClr val="EC3013"/>
                </a:solidFill>
                <a:latin typeface="Arial" pitchFamily="34" charset="0"/>
                <a:ea typeface="Arial" pitchFamily="34" charset="-122"/>
                <a:cs typeface="Arial" pitchFamily="34" charset="-120"/>
              </a:rPr>
              <a:t>HOW IT WORKS</a:t>
            </a:r>
            <a:endParaRPr lang="en-US" sz="1800" dirty="0"/>
          </a:p>
        </p:txBody>
      </p:sp>
      <p:sp>
        <p:nvSpPr>
          <p:cNvPr id="4" name="Text 2"/>
          <p:cNvSpPr/>
          <p:nvPr/>
        </p:nvSpPr>
        <p:spPr>
          <a:xfrm>
            <a:off x="1116509" y="1790700"/>
            <a:ext cx="17631341" cy="675878"/>
          </a:xfrm>
          <a:prstGeom prst="rect">
            <a:avLst/>
          </a:prstGeom>
          <a:noFill/>
          <a:ln/>
        </p:spPr>
        <p:txBody>
          <a:bodyPr wrap="square" lIns="25400" tIns="25400" rIns="25400" bIns="25400" rtlCol="0" anchor="t">
            <a:normAutofit/>
          </a:bodyPr>
          <a:lstStyle/>
          <a:p>
            <a:pPr marL="0" indent="0" algn="l">
              <a:lnSpc>
                <a:spcPct val="76672"/>
              </a:lnSpc>
              <a:buNone/>
            </a:pPr>
            <a:r>
              <a:rPr lang="en-US" sz="4650" b="1" kern="0" spc="-70" dirty="0">
                <a:solidFill>
                  <a:srgbClr val="201E1D"/>
                </a:solidFill>
                <a:latin typeface="Arial" pitchFamily="34" charset="0"/>
                <a:ea typeface="Arial" pitchFamily="34" charset="-122"/>
                <a:cs typeface="Arial" pitchFamily="34" charset="-120"/>
              </a:rPr>
              <a:t>The pipeline, end to end</a:t>
            </a:r>
            <a:endParaRPr lang="en-US" sz="4650" dirty="0"/>
          </a:p>
        </p:txBody>
      </p:sp>
      <p:sp>
        <p:nvSpPr>
          <p:cNvPr id="5" name="Shape 3"/>
          <p:cNvSpPr/>
          <p:nvPr/>
        </p:nvSpPr>
        <p:spPr>
          <a:xfrm>
            <a:off x="1143000" y="2657078"/>
            <a:ext cx="2268934" cy="361950"/>
          </a:xfrm>
          <a:prstGeom prst="rect">
            <a:avLst/>
          </a:prstGeom>
          <a:ln w="19050">
            <a:solidFill>
              <a:srgbClr val="201E1E">
                <a:alpha val="40000"/>
              </a:srgbClr>
            </a:solidFill>
            <a:prstDash val="solid"/>
          </a:ln>
        </p:spPr>
      </p:sp>
      <p:sp>
        <p:nvSpPr>
          <p:cNvPr id="6" name="Text 4"/>
          <p:cNvSpPr/>
          <p:nvPr/>
        </p:nvSpPr>
        <p:spPr>
          <a:xfrm>
            <a:off x="1295400" y="2723753"/>
            <a:ext cx="2191028" cy="266700"/>
          </a:xfrm>
          <a:prstGeom prst="rect">
            <a:avLst/>
          </a:prstGeom>
          <a:noFill/>
          <a:ln/>
        </p:spPr>
        <p:txBody>
          <a:bodyPr wrap="none" lIns="25400" tIns="25400" rIns="25400" bIns="25400" rtlCol="0" anchor="t">
            <a:normAutofit/>
          </a:bodyPr>
          <a:lstStyle/>
          <a:p>
            <a:pPr marL="0" indent="0" algn="l">
              <a:lnSpc>
                <a:spcPct val="85714"/>
              </a:lnSpc>
              <a:buNone/>
            </a:pPr>
            <a:r>
              <a:rPr lang="en-US" sz="1800" kern="0" spc="108" dirty="0">
                <a:solidFill>
                  <a:srgbClr val="201E1C">
                    <a:alpha val="60000"/>
                  </a:srgbClr>
                </a:solidFill>
                <a:latin typeface="Arial" pitchFamily="34" charset="0"/>
                <a:ea typeface="Arial" pitchFamily="34" charset="-122"/>
                <a:cs typeface="Arial" pitchFamily="34" charset="-120"/>
              </a:rPr>
              <a:t>DETERMINISTIC</a:t>
            </a:r>
            <a:endParaRPr lang="en-US" sz="1800" dirty="0"/>
          </a:p>
        </p:txBody>
      </p:sp>
      <p:sp>
        <p:nvSpPr>
          <p:cNvPr id="7" name="Shape 5"/>
          <p:cNvSpPr/>
          <p:nvPr/>
        </p:nvSpPr>
        <p:spPr>
          <a:xfrm>
            <a:off x="3602434" y="2657078"/>
            <a:ext cx="2791321" cy="361950"/>
          </a:xfrm>
          <a:prstGeom prst="rect">
            <a:avLst/>
          </a:prstGeom>
          <a:solidFill>
            <a:srgbClr val="EC3013"/>
          </a:solidFill>
          <a:ln/>
        </p:spPr>
      </p:sp>
      <p:sp>
        <p:nvSpPr>
          <p:cNvPr id="8" name="Text 6"/>
          <p:cNvSpPr/>
          <p:nvPr/>
        </p:nvSpPr>
        <p:spPr>
          <a:xfrm>
            <a:off x="3754834" y="2723753"/>
            <a:ext cx="2765653" cy="266700"/>
          </a:xfrm>
          <a:prstGeom prst="rect">
            <a:avLst/>
          </a:prstGeom>
          <a:noFill/>
          <a:ln/>
        </p:spPr>
        <p:txBody>
          <a:bodyPr wrap="none" lIns="25400" tIns="25400" rIns="25400" bIns="25400" rtlCol="0" anchor="t">
            <a:normAutofit/>
          </a:bodyPr>
          <a:lstStyle/>
          <a:p>
            <a:pPr marL="0" indent="0" algn="l">
              <a:lnSpc>
                <a:spcPct val="85714"/>
              </a:lnSpc>
              <a:buNone/>
            </a:pPr>
            <a:r>
              <a:rPr lang="en-US" sz="1800" kern="0" spc="108" dirty="0">
                <a:solidFill>
                  <a:srgbClr val="F3F2F2"/>
                </a:solidFill>
                <a:latin typeface="Arial" pitchFamily="34" charset="0"/>
                <a:ea typeface="Arial" pitchFamily="34" charset="-122"/>
                <a:cs typeface="Arial" pitchFamily="34" charset="-120"/>
              </a:rPr>
              <a:t>BOUNDED LLM CALL</a:t>
            </a:r>
            <a:endParaRPr lang="en-US" sz="1800" dirty="0"/>
          </a:p>
        </p:txBody>
      </p:sp>
      <p:sp>
        <p:nvSpPr>
          <p:cNvPr id="9" name="Text 7"/>
          <p:cNvSpPr/>
          <p:nvPr/>
        </p:nvSpPr>
        <p:spPr>
          <a:xfrm>
            <a:off x="6584256" y="2666603"/>
            <a:ext cx="8296652" cy="392410"/>
          </a:xfrm>
          <a:prstGeom prst="rect">
            <a:avLst/>
          </a:prstGeom>
          <a:noFill/>
          <a:ln/>
        </p:spPr>
        <p:txBody>
          <a:bodyPr wrap="square" lIns="25400" tIns="25400" rIns="25400" bIns="25400" rtlCol="0" anchor="t">
            <a:normAutofit/>
          </a:bodyPr>
          <a:lstStyle/>
          <a:p>
            <a:pPr marL="0" indent="0" algn="l">
              <a:lnSpc>
                <a:spcPct val="132857"/>
              </a:lnSpc>
              <a:buNone/>
            </a:pPr>
            <a:r>
              <a:rPr lang="en-US" sz="1800" dirty="0">
                <a:solidFill>
                  <a:srgbClr val="201E1C">
                    <a:alpha val="60000"/>
                  </a:srgbClr>
                </a:solidFill>
                <a:latin typeface="Arial" pitchFamily="34" charset="0"/>
                <a:ea typeface="Arial" pitchFamily="34" charset="-122"/>
                <a:cs typeface="Arial" pitchFamily="34" charset="-120"/>
              </a:rPr>
              <a:t>dashed — the reciprocal loop: rules pick the inputs, the run checks the rules</a:t>
            </a:r>
            <a:endParaRPr lang="en-US" sz="1800"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3287613"/>
            <a:ext cx="16002000" cy="6324600"/>
          </a:xfrm>
          <a:prstGeom prst="rect">
            <a:avLst/>
          </a:prstGeom>
        </p:spPr>
      </p:pic>
      <p:sp>
        <p:nvSpPr>
          <p:cNvPr id="11" name="TextBox 10"/>
          <p:cNvSpPr txBox="1"/>
          <p:nvPr/>
        </p:nvSpPr>
        <p:spPr>
          <a:xfrm>
            <a:off x="17236440" y="9784080"/>
            <a:ext cx="502920" cy="274320"/>
          </a:xfrm>
          <a:prstGeom prst="rect">
            <a:avLst/>
          </a:prstGeom>
          <a:noFill/>
        </p:spPr>
        <p:txBody>
          <a:bodyPr wrap="square" lIns="0" rIns="0" tIns="0" bIns="0" anchor="t">
            <a:spAutoFit/>
          </a:bodyPr>
          <a:lstStyle/>
          <a:p>
            <a:pPr algn="r">
              <a:lnSpc>
                <a:spcPct val="125000"/>
              </a:lnSpc>
            </a:pPr>
            <a:r>
              <a:rPr sz="1200" b="0">
                <a:solidFill>
                  <a:srgbClr val="8C8886"/>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3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612648"/>
            <a:ext cx="16477488" cy="393192"/>
          </a:xfrm>
          <a:prstGeom prst="rect">
            <a:avLst/>
          </a:prstGeom>
          <a:noFill/>
        </p:spPr>
        <p:txBody>
          <a:bodyPr wrap="square" lIns="0" rIns="0" tIns="0" bIns="0" anchor="t">
            <a:spAutoFit/>
          </a:bodyPr>
          <a:lstStyle/>
          <a:p>
            <a:pPr algn="l">
              <a:lnSpc>
                <a:spcPct val="128000"/>
              </a:lnSpc>
            </a:pPr>
            <a:r>
              <a:rPr sz="1800" b="1" spc="150">
                <a:solidFill>
                  <a:srgbClr val="EC3013"/>
                </a:solidFill>
                <a:latin typeface="Arial"/>
              </a:rPr>
              <a:t>TECHNICAL DETAILS</a:t>
            </a:r>
          </a:p>
        </p:txBody>
      </p:sp>
      <p:sp>
        <p:nvSpPr>
          <p:cNvPr id="4" name="Rectangle 3"/>
          <p:cNvSpPr/>
          <p:nvPr/>
        </p:nvSpPr>
        <p:spPr>
          <a:xfrm>
            <a:off x="1143000" y="1207008"/>
            <a:ext cx="160020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5568" y="1792224"/>
            <a:ext cx="17629632" cy="822960"/>
          </a:xfrm>
          <a:prstGeom prst="rect">
            <a:avLst/>
          </a:prstGeom>
          <a:noFill/>
        </p:spPr>
        <p:txBody>
          <a:bodyPr wrap="square" lIns="0" rIns="0" tIns="0" bIns="0" anchor="t">
            <a:spAutoFit/>
          </a:bodyPr>
          <a:lstStyle/>
          <a:p>
            <a:pPr algn="l">
              <a:lnSpc>
                <a:spcPct val="102000"/>
              </a:lnSpc>
            </a:pPr>
            <a:r>
              <a:rPr sz="4650" b="1">
                <a:solidFill>
                  <a:srgbClr val="201E1D"/>
                </a:solidFill>
                <a:latin typeface="Arial"/>
              </a:rPr>
              <a:t>The stack, and why each piece is there</a:t>
            </a:r>
          </a:p>
        </p:txBody>
      </p:sp>
      <p:sp>
        <p:nvSpPr>
          <p:cNvPr id="6" name="Rectangle 5"/>
          <p:cNvSpPr/>
          <p:nvPr/>
        </p:nvSpPr>
        <p:spPr>
          <a:xfrm>
            <a:off x="1143000" y="2734056"/>
            <a:ext cx="50292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926080"/>
            <a:ext cx="5029200" cy="356616"/>
          </a:xfrm>
          <a:prstGeom prst="rect">
            <a:avLst/>
          </a:prstGeom>
          <a:noFill/>
        </p:spPr>
        <p:txBody>
          <a:bodyPr wrap="square" lIns="0" rIns="0" tIns="0" bIns="0" anchor="t">
            <a:spAutoFit/>
          </a:bodyPr>
          <a:lstStyle/>
          <a:p>
            <a:pPr algn="l">
              <a:lnSpc>
                <a:spcPct val="128000"/>
              </a:lnSpc>
            </a:pPr>
            <a:r>
              <a:rPr sz="2175" b="1">
                <a:solidFill>
                  <a:srgbClr val="201E1D"/>
                </a:solidFill>
                <a:latin typeface="Arial"/>
              </a:rPr>
              <a:t>Legacy execution</a:t>
            </a:r>
          </a:p>
        </p:txBody>
      </p:sp>
      <p:sp>
        <p:nvSpPr>
          <p:cNvPr id="8" name="TextBox 7"/>
          <p:cNvSpPr txBox="1"/>
          <p:nvPr/>
        </p:nvSpPr>
        <p:spPr>
          <a:xfrm>
            <a:off x="1143000" y="3456432"/>
            <a:ext cx="5029200" cy="292608"/>
          </a:xfrm>
          <a:prstGeom prst="rect">
            <a:avLst/>
          </a:prstGeom>
          <a:noFill/>
        </p:spPr>
        <p:txBody>
          <a:bodyPr wrap="square" lIns="0" rIns="0" tIns="0" bIns="0" anchor="t">
            <a:spAutoFit/>
          </a:bodyPr>
          <a:lstStyle/>
          <a:p>
            <a:pPr algn="l">
              <a:lnSpc>
                <a:spcPct val="128000"/>
              </a:lnSpc>
            </a:pPr>
            <a:r>
              <a:rPr sz="1800" b="1">
                <a:solidFill>
                  <a:srgbClr val="201E1D"/>
                </a:solidFill>
                <a:latin typeface="Arial"/>
              </a:rPr>
              <a:t>GnuCOBOL</a:t>
            </a:r>
          </a:p>
        </p:txBody>
      </p:sp>
      <p:sp>
        <p:nvSpPr>
          <p:cNvPr id="9" name="TextBox 8"/>
          <p:cNvSpPr txBox="1"/>
          <p:nvPr/>
        </p:nvSpPr>
        <p:spPr>
          <a:xfrm>
            <a:off x="1143000" y="3785615"/>
            <a:ext cx="5029200" cy="1005840"/>
          </a:xfrm>
          <a:prstGeom prst="rect">
            <a:avLst/>
          </a:prstGeom>
          <a:noFill/>
        </p:spPr>
        <p:txBody>
          <a:bodyPr wrap="square" lIns="0" rIns="0" tIns="0" bIns="0" anchor="t">
            <a:spAutoFit/>
          </a:bodyPr>
          <a:lstStyle/>
          <a:p>
            <a:pPr algn="l">
              <a:lnSpc>
                <a:spcPct val="132000"/>
              </a:lnSpc>
            </a:pPr>
            <a:r>
              <a:rPr sz="1550" b="0">
                <a:solidFill>
                  <a:srgbClr val="6F6C6B"/>
                </a:solidFill>
                <a:latin typeface="Arial"/>
              </a:rPr>
              <a:t>cobc / libcob, GPL and LGPL. 19 COBOL dialects, -std=ibm-strict against Enterprise COBOL 6.3.</a:t>
            </a:r>
          </a:p>
        </p:txBody>
      </p:sp>
      <p:sp>
        <p:nvSpPr>
          <p:cNvPr id="10" name="TextBox 9"/>
          <p:cNvSpPr txBox="1"/>
          <p:nvPr/>
        </p:nvSpPr>
        <p:spPr>
          <a:xfrm>
            <a:off x="1143000" y="4992624"/>
            <a:ext cx="5029200" cy="292608"/>
          </a:xfrm>
          <a:prstGeom prst="rect">
            <a:avLst/>
          </a:prstGeom>
          <a:noFill/>
        </p:spPr>
        <p:txBody>
          <a:bodyPr wrap="square" lIns="0" rIns="0" tIns="0" bIns="0" anchor="t">
            <a:spAutoFit/>
          </a:bodyPr>
          <a:lstStyle/>
          <a:p>
            <a:pPr algn="l">
              <a:lnSpc>
                <a:spcPct val="128000"/>
              </a:lnSpc>
            </a:pPr>
            <a:r>
              <a:rPr sz="1800" b="1">
                <a:solidFill>
                  <a:srgbClr val="201E1D"/>
                </a:solidFill>
                <a:latin typeface="Arial"/>
              </a:rPr>
              <a:t>Conformance</a:t>
            </a:r>
          </a:p>
        </p:txBody>
      </p:sp>
      <p:sp>
        <p:nvSpPr>
          <p:cNvPr id="11" name="TextBox 10"/>
          <p:cNvSpPr txBox="1"/>
          <p:nvPr/>
        </p:nvSpPr>
        <p:spPr>
          <a:xfrm>
            <a:off x="1143000" y="5321808"/>
            <a:ext cx="5029200" cy="1005840"/>
          </a:xfrm>
          <a:prstGeom prst="rect">
            <a:avLst/>
          </a:prstGeom>
          <a:noFill/>
        </p:spPr>
        <p:txBody>
          <a:bodyPr wrap="square" lIns="0" rIns="0" tIns="0" bIns="0" anchor="t">
            <a:spAutoFit/>
          </a:bodyPr>
          <a:lstStyle/>
          <a:p>
            <a:pPr algn="l">
              <a:lnSpc>
                <a:spcPct val="132000"/>
              </a:lnSpc>
            </a:pPr>
            <a:r>
              <a:rPr sz="1550" b="0">
                <a:solidFill>
                  <a:srgbClr val="6F6C6B"/>
                </a:solidFill>
                <a:latin typeface="Arial"/>
              </a:rPr>
              <a:t>passes 9,700 of 9,748 NIST CCVS85 tests. The project does not claim standard conformance — we state that ourselves.</a:t>
            </a:r>
          </a:p>
        </p:txBody>
      </p:sp>
      <p:sp>
        <p:nvSpPr>
          <p:cNvPr id="12" name="TextBox 11"/>
          <p:cNvSpPr txBox="1"/>
          <p:nvPr/>
        </p:nvSpPr>
        <p:spPr>
          <a:xfrm>
            <a:off x="1143000" y="6528816"/>
            <a:ext cx="5029200" cy="292608"/>
          </a:xfrm>
          <a:prstGeom prst="rect">
            <a:avLst/>
          </a:prstGeom>
          <a:noFill/>
        </p:spPr>
        <p:txBody>
          <a:bodyPr wrap="square" lIns="0" rIns="0" tIns="0" bIns="0" anchor="t">
            <a:spAutoFit/>
          </a:bodyPr>
          <a:lstStyle/>
          <a:p>
            <a:pPr algn="l">
              <a:lnSpc>
                <a:spcPct val="128000"/>
              </a:lnSpc>
            </a:pPr>
            <a:r>
              <a:rPr sz="1800" b="1">
                <a:solidFill>
                  <a:srgbClr val="201E1D"/>
                </a:solidFill>
                <a:latin typeface="Arial"/>
              </a:rPr>
              <a:t>Why</a:t>
            </a:r>
          </a:p>
        </p:txBody>
      </p:sp>
      <p:sp>
        <p:nvSpPr>
          <p:cNvPr id="13" name="TextBox 12"/>
          <p:cNvSpPr txBox="1"/>
          <p:nvPr/>
        </p:nvSpPr>
        <p:spPr>
          <a:xfrm>
            <a:off x="1143000" y="6858000"/>
            <a:ext cx="5029200" cy="1005840"/>
          </a:xfrm>
          <a:prstGeom prst="rect">
            <a:avLst/>
          </a:prstGeom>
          <a:noFill/>
        </p:spPr>
        <p:txBody>
          <a:bodyPr wrap="square" lIns="0" rIns="0" tIns="0" bIns="0" anchor="t">
            <a:spAutoFit/>
          </a:bodyPr>
          <a:lstStyle/>
          <a:p>
            <a:pPr algn="l">
              <a:lnSpc>
                <a:spcPct val="132000"/>
              </a:lnSpc>
            </a:pPr>
            <a:r>
              <a:rPr sz="1550" b="0">
                <a:solidFill>
                  <a:srgbClr val="6F6C6B"/>
                </a:solidFill>
                <a:latin typeface="Arial"/>
              </a:rPr>
              <a:t>compiles COBOL to C to a native binary, so the legacy side is a real executable we can run, time and instrument.</a:t>
            </a:r>
          </a:p>
        </p:txBody>
      </p:sp>
      <p:sp>
        <p:nvSpPr>
          <p:cNvPr id="14" name="Rectangle 13"/>
          <p:cNvSpPr/>
          <p:nvPr/>
        </p:nvSpPr>
        <p:spPr>
          <a:xfrm>
            <a:off x="6629400" y="2734056"/>
            <a:ext cx="50292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2926080"/>
            <a:ext cx="5029200" cy="356616"/>
          </a:xfrm>
          <a:prstGeom prst="rect">
            <a:avLst/>
          </a:prstGeom>
          <a:noFill/>
        </p:spPr>
        <p:txBody>
          <a:bodyPr wrap="square" lIns="0" rIns="0" tIns="0" bIns="0" anchor="t">
            <a:spAutoFit/>
          </a:bodyPr>
          <a:lstStyle/>
          <a:p>
            <a:pPr algn="l">
              <a:lnSpc>
                <a:spcPct val="128000"/>
              </a:lnSpc>
            </a:pPr>
            <a:r>
              <a:rPr sz="2175" b="1">
                <a:solidFill>
                  <a:srgbClr val="201E1D"/>
                </a:solidFill>
                <a:latin typeface="Arial"/>
              </a:rPr>
              <a:t>Analysis and extraction</a:t>
            </a:r>
          </a:p>
        </p:txBody>
      </p:sp>
      <p:sp>
        <p:nvSpPr>
          <p:cNvPr id="16" name="TextBox 15"/>
          <p:cNvSpPr txBox="1"/>
          <p:nvPr/>
        </p:nvSpPr>
        <p:spPr>
          <a:xfrm>
            <a:off x="6629400" y="3456432"/>
            <a:ext cx="5029200" cy="292608"/>
          </a:xfrm>
          <a:prstGeom prst="rect">
            <a:avLst/>
          </a:prstGeom>
          <a:noFill/>
        </p:spPr>
        <p:txBody>
          <a:bodyPr wrap="square" lIns="0" rIns="0" tIns="0" bIns="0" anchor="t">
            <a:spAutoFit/>
          </a:bodyPr>
          <a:lstStyle/>
          <a:p>
            <a:pPr algn="l">
              <a:lnSpc>
                <a:spcPct val="128000"/>
              </a:lnSpc>
            </a:pPr>
            <a:r>
              <a:rPr sz="1800" b="1">
                <a:solidFill>
                  <a:srgbClr val="201E1D"/>
                </a:solidFill>
                <a:latin typeface="Arial"/>
              </a:rPr>
              <a:t>ProLeap COBOL parser</a:t>
            </a:r>
          </a:p>
        </p:txBody>
      </p:sp>
      <p:sp>
        <p:nvSpPr>
          <p:cNvPr id="17" name="TextBox 16"/>
          <p:cNvSpPr txBox="1"/>
          <p:nvPr/>
        </p:nvSpPr>
        <p:spPr>
          <a:xfrm>
            <a:off x="6629400" y="3785615"/>
            <a:ext cx="5029200" cy="1005840"/>
          </a:xfrm>
          <a:prstGeom prst="rect">
            <a:avLst/>
          </a:prstGeom>
          <a:noFill/>
        </p:spPr>
        <p:txBody>
          <a:bodyPr wrap="square" lIns="0" rIns="0" tIns="0" bIns="0" anchor="t">
            <a:spAutoFit/>
          </a:bodyPr>
          <a:lstStyle/>
          <a:p>
            <a:pPr algn="l">
              <a:lnSpc>
                <a:spcPct val="132000"/>
              </a:lnSpc>
            </a:pPr>
            <a:r>
              <a:rPr sz="1550" b="0">
                <a:solidFill>
                  <a:srgbClr val="6F6C6B"/>
                </a:solidFill>
                <a:latin typeface="Arial"/>
              </a:rPr>
              <a:t>ANTLR4, MIT licence. Produces AST plus an abstract semantic graph with data and control flow.</a:t>
            </a:r>
          </a:p>
        </p:txBody>
      </p:sp>
      <p:sp>
        <p:nvSpPr>
          <p:cNvPr id="18" name="TextBox 17"/>
          <p:cNvSpPr txBox="1"/>
          <p:nvPr/>
        </p:nvSpPr>
        <p:spPr>
          <a:xfrm>
            <a:off x="6629400" y="4992624"/>
            <a:ext cx="5029200" cy="292608"/>
          </a:xfrm>
          <a:prstGeom prst="rect">
            <a:avLst/>
          </a:prstGeom>
          <a:noFill/>
        </p:spPr>
        <p:txBody>
          <a:bodyPr wrap="square" lIns="0" rIns="0" tIns="0" bIns="0" anchor="t">
            <a:spAutoFit/>
          </a:bodyPr>
          <a:lstStyle/>
          <a:p>
            <a:pPr algn="l">
              <a:lnSpc>
                <a:spcPct val="128000"/>
              </a:lnSpc>
            </a:pPr>
            <a:r>
              <a:rPr sz="1800" b="1">
                <a:solidFill>
                  <a:srgbClr val="201E1D"/>
                </a:solidFill>
                <a:latin typeface="Arial"/>
              </a:rPr>
              <a:t>Program slicing</a:t>
            </a:r>
          </a:p>
        </p:txBody>
      </p:sp>
      <p:sp>
        <p:nvSpPr>
          <p:cNvPr id="19" name="TextBox 18"/>
          <p:cNvSpPr txBox="1"/>
          <p:nvPr/>
        </p:nvSpPr>
        <p:spPr>
          <a:xfrm>
            <a:off x="6629400" y="5321808"/>
            <a:ext cx="5029200" cy="1005840"/>
          </a:xfrm>
          <a:prstGeom prst="rect">
            <a:avLst/>
          </a:prstGeom>
          <a:noFill/>
        </p:spPr>
        <p:txBody>
          <a:bodyPr wrap="square" lIns="0" rIns="0" tIns="0" bIns="0" anchor="t">
            <a:spAutoFit/>
          </a:bodyPr>
          <a:lstStyle/>
          <a:p>
            <a:pPr algn="l">
              <a:lnSpc>
                <a:spcPct val="132000"/>
              </a:lnSpc>
            </a:pPr>
            <a:r>
              <a:rPr sz="1550" b="0">
                <a:solidFill>
                  <a:srgbClr val="6F6C6B"/>
                </a:solidFill>
                <a:latin typeface="Arial"/>
              </a:rPr>
              <a:t>on business-concept variables. A slice is a set of source lines — which is exactly the traceability we promise.</a:t>
            </a:r>
          </a:p>
        </p:txBody>
      </p:sp>
      <p:sp>
        <p:nvSpPr>
          <p:cNvPr id="20" name="TextBox 19"/>
          <p:cNvSpPr txBox="1"/>
          <p:nvPr/>
        </p:nvSpPr>
        <p:spPr>
          <a:xfrm>
            <a:off x="6629400" y="6528816"/>
            <a:ext cx="5029200" cy="292608"/>
          </a:xfrm>
          <a:prstGeom prst="rect">
            <a:avLst/>
          </a:prstGeom>
          <a:noFill/>
        </p:spPr>
        <p:txBody>
          <a:bodyPr wrap="square" lIns="0" rIns="0" tIns="0" bIns="0" anchor="t">
            <a:spAutoFit/>
          </a:bodyPr>
          <a:lstStyle/>
          <a:p>
            <a:pPr algn="l">
              <a:lnSpc>
                <a:spcPct val="128000"/>
              </a:lnSpc>
            </a:pPr>
            <a:r>
              <a:rPr sz="1800" b="1">
                <a:solidFill>
                  <a:srgbClr val="201E1D"/>
                </a:solidFill>
                <a:latin typeface="Arial"/>
              </a:rPr>
              <a:t>Bounded LLM call</a:t>
            </a:r>
          </a:p>
        </p:txBody>
      </p:sp>
      <p:sp>
        <p:nvSpPr>
          <p:cNvPr id="21" name="TextBox 20"/>
          <p:cNvSpPr txBox="1"/>
          <p:nvPr/>
        </p:nvSpPr>
        <p:spPr>
          <a:xfrm>
            <a:off x="6629400" y="6858000"/>
            <a:ext cx="5029200" cy="1005840"/>
          </a:xfrm>
          <a:prstGeom prst="rect">
            <a:avLst/>
          </a:prstGeom>
          <a:noFill/>
        </p:spPr>
        <p:txBody>
          <a:bodyPr wrap="square" lIns="0" rIns="0" tIns="0" bIns="0" anchor="t">
            <a:spAutoFit/>
          </a:bodyPr>
          <a:lstStyle/>
          <a:p>
            <a:pPr algn="l">
              <a:lnSpc>
                <a:spcPct val="132000"/>
              </a:lnSpc>
            </a:pPr>
            <a:r>
              <a:rPr sz="1550" b="0">
                <a:solidFill>
                  <a:srgbClr val="6F6C6B"/>
                </a:solidFill>
                <a:latin typeface="Arial"/>
              </a:rPr>
              <a:t>one call per slice, never over the whole file. The model cannot invent a line reference the slice does not contain.</a:t>
            </a:r>
          </a:p>
        </p:txBody>
      </p:sp>
      <p:sp>
        <p:nvSpPr>
          <p:cNvPr id="22" name="Rectangle 21"/>
          <p:cNvSpPr/>
          <p:nvPr/>
        </p:nvSpPr>
        <p:spPr>
          <a:xfrm>
            <a:off x="12115800" y="2734056"/>
            <a:ext cx="50292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115800" y="2926080"/>
            <a:ext cx="5029200" cy="356616"/>
          </a:xfrm>
          <a:prstGeom prst="rect">
            <a:avLst/>
          </a:prstGeom>
          <a:noFill/>
        </p:spPr>
        <p:txBody>
          <a:bodyPr wrap="square" lIns="0" rIns="0" tIns="0" bIns="0" anchor="t">
            <a:spAutoFit/>
          </a:bodyPr>
          <a:lstStyle/>
          <a:p>
            <a:pPr algn="l">
              <a:lnSpc>
                <a:spcPct val="128000"/>
              </a:lnSpc>
            </a:pPr>
            <a:r>
              <a:rPr sz="2175" b="1">
                <a:solidFill>
                  <a:srgbClr val="201E1D"/>
                </a:solidFill>
                <a:latin typeface="Arial"/>
              </a:rPr>
              <a:t>Verification and coverage</a:t>
            </a:r>
          </a:p>
        </p:txBody>
      </p:sp>
      <p:sp>
        <p:nvSpPr>
          <p:cNvPr id="24" name="TextBox 23"/>
          <p:cNvSpPr txBox="1"/>
          <p:nvPr/>
        </p:nvSpPr>
        <p:spPr>
          <a:xfrm>
            <a:off x="12115800" y="3456432"/>
            <a:ext cx="5029200" cy="292608"/>
          </a:xfrm>
          <a:prstGeom prst="rect">
            <a:avLst/>
          </a:prstGeom>
          <a:noFill/>
        </p:spPr>
        <p:txBody>
          <a:bodyPr wrap="square" lIns="0" rIns="0" tIns="0" bIns="0" anchor="t">
            <a:spAutoFit/>
          </a:bodyPr>
          <a:lstStyle/>
          <a:p>
            <a:pPr algn="l">
              <a:lnSpc>
                <a:spcPct val="128000"/>
              </a:lnSpc>
            </a:pPr>
            <a:r>
              <a:rPr sz="1800" b="1">
                <a:solidFill>
                  <a:srgbClr val="201E1D"/>
                </a:solidFill>
                <a:latin typeface="Arial"/>
              </a:rPr>
              <a:t>gcov</a:t>
            </a:r>
          </a:p>
        </p:txBody>
      </p:sp>
      <p:sp>
        <p:nvSpPr>
          <p:cNvPr id="25" name="TextBox 24"/>
          <p:cNvSpPr txBox="1"/>
          <p:nvPr/>
        </p:nvSpPr>
        <p:spPr>
          <a:xfrm>
            <a:off x="12115800" y="3785615"/>
            <a:ext cx="5029200" cy="1005840"/>
          </a:xfrm>
          <a:prstGeom prst="rect">
            <a:avLst/>
          </a:prstGeom>
          <a:noFill/>
        </p:spPr>
        <p:txBody>
          <a:bodyPr wrap="square" lIns="0" rIns="0" tIns="0" bIns="0" anchor="t">
            <a:spAutoFit/>
          </a:bodyPr>
          <a:lstStyle/>
          <a:p>
            <a:pPr algn="l">
              <a:lnSpc>
                <a:spcPct val="132000"/>
              </a:lnSpc>
            </a:pPr>
            <a:r>
              <a:rPr sz="1550" b="0">
                <a:solidFill>
                  <a:srgbClr val="6F6C6B"/>
                </a:solidFill>
                <a:latin typeface="Arial"/>
              </a:rPr>
              <a:t>statement execution counts, via -fprofile-arcs. Fallback: paragraph-level DISPLAY trace with -fgen-c-line-directives.</a:t>
            </a:r>
          </a:p>
        </p:txBody>
      </p:sp>
      <p:sp>
        <p:nvSpPr>
          <p:cNvPr id="26" name="TextBox 25"/>
          <p:cNvSpPr txBox="1"/>
          <p:nvPr/>
        </p:nvSpPr>
        <p:spPr>
          <a:xfrm>
            <a:off x="12115800" y="4992624"/>
            <a:ext cx="5029200" cy="292608"/>
          </a:xfrm>
          <a:prstGeom prst="rect">
            <a:avLst/>
          </a:prstGeom>
          <a:noFill/>
        </p:spPr>
        <p:txBody>
          <a:bodyPr wrap="square" lIns="0" rIns="0" tIns="0" bIns="0" anchor="t">
            <a:spAutoFit/>
          </a:bodyPr>
          <a:lstStyle/>
          <a:p>
            <a:pPr algn="l">
              <a:lnSpc>
                <a:spcPct val="128000"/>
              </a:lnSpc>
            </a:pPr>
            <a:r>
              <a:rPr sz="1800" b="1">
                <a:solidFill>
                  <a:srgbClr val="201E1D"/>
                </a:solidFill>
                <a:latin typeface="Arial"/>
              </a:rPr>
              <a:t>Differential runner</a:t>
            </a:r>
          </a:p>
        </p:txBody>
      </p:sp>
      <p:sp>
        <p:nvSpPr>
          <p:cNvPr id="27" name="TextBox 26"/>
          <p:cNvSpPr txBox="1"/>
          <p:nvPr/>
        </p:nvSpPr>
        <p:spPr>
          <a:xfrm>
            <a:off x="12115800" y="5321808"/>
            <a:ext cx="5029200" cy="1005840"/>
          </a:xfrm>
          <a:prstGeom prst="rect">
            <a:avLst/>
          </a:prstGeom>
          <a:noFill/>
        </p:spPr>
        <p:txBody>
          <a:bodyPr wrap="square" lIns="0" rIns="0" tIns="0" bIns="0" anchor="t">
            <a:spAutoFit/>
          </a:bodyPr>
          <a:lstStyle/>
          <a:p>
            <a:pPr algn="l">
              <a:lnSpc>
                <a:spcPct val="132000"/>
              </a:lnSpc>
            </a:pPr>
            <a:r>
              <a:rPr sz="1550" b="0">
                <a:solidFill>
                  <a:srgbClr val="6F6C6B"/>
                </a:solidFill>
                <a:latin typeface="Arial"/>
              </a:rPr>
              <a:t>same input, three outputs — legacy COBOL, generated Java, and the RBI Direction as a third reference.</a:t>
            </a:r>
          </a:p>
        </p:txBody>
      </p:sp>
      <p:sp>
        <p:nvSpPr>
          <p:cNvPr id="28" name="TextBox 27"/>
          <p:cNvSpPr txBox="1"/>
          <p:nvPr/>
        </p:nvSpPr>
        <p:spPr>
          <a:xfrm>
            <a:off x="12115800" y="6528816"/>
            <a:ext cx="5029200" cy="292608"/>
          </a:xfrm>
          <a:prstGeom prst="rect">
            <a:avLst/>
          </a:prstGeom>
          <a:noFill/>
        </p:spPr>
        <p:txBody>
          <a:bodyPr wrap="square" lIns="0" rIns="0" tIns="0" bIns="0" anchor="t">
            <a:spAutoFit/>
          </a:bodyPr>
          <a:lstStyle/>
          <a:p>
            <a:pPr algn="l">
              <a:lnSpc>
                <a:spcPct val="128000"/>
              </a:lnSpc>
            </a:pPr>
            <a:r>
              <a:rPr sz="1800" b="1">
                <a:solidFill>
                  <a:srgbClr val="201E1D"/>
                </a:solidFill>
                <a:latin typeface="Arial"/>
              </a:rPr>
              <a:t>Delta debugging</a:t>
            </a:r>
          </a:p>
        </p:txBody>
      </p:sp>
      <p:sp>
        <p:nvSpPr>
          <p:cNvPr id="29" name="TextBox 28"/>
          <p:cNvSpPr txBox="1"/>
          <p:nvPr/>
        </p:nvSpPr>
        <p:spPr>
          <a:xfrm>
            <a:off x="12115800" y="6858000"/>
            <a:ext cx="5029200" cy="1005840"/>
          </a:xfrm>
          <a:prstGeom prst="rect">
            <a:avLst/>
          </a:prstGeom>
          <a:noFill/>
        </p:spPr>
        <p:txBody>
          <a:bodyPr wrap="square" lIns="0" rIns="0" tIns="0" bIns="0" anchor="t">
            <a:spAutoFit/>
          </a:bodyPr>
          <a:lstStyle/>
          <a:p>
            <a:pPr algn="l">
              <a:lnSpc>
                <a:spcPct val="132000"/>
              </a:lnSpc>
            </a:pPr>
            <a:r>
              <a:rPr sz="1550" b="0">
                <a:solidFill>
                  <a:srgbClr val="6F6C6B"/>
                </a:solidFill>
                <a:latin typeface="Arial"/>
              </a:rPr>
              <a:t>shrinks 73 failing inputs to one minimal counterexample.</a:t>
            </a:r>
          </a:p>
        </p:txBody>
      </p:sp>
      <p:sp>
        <p:nvSpPr>
          <p:cNvPr id="30" name="Rectangle 29"/>
          <p:cNvSpPr/>
          <p:nvPr/>
        </p:nvSpPr>
        <p:spPr>
          <a:xfrm>
            <a:off x="1143000" y="7882127"/>
            <a:ext cx="160020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43000" y="8101583"/>
            <a:ext cx="7589520" cy="310896"/>
          </a:xfrm>
          <a:prstGeom prst="rect">
            <a:avLst/>
          </a:prstGeom>
          <a:noFill/>
        </p:spPr>
        <p:txBody>
          <a:bodyPr wrap="square" lIns="0" rIns="0" tIns="0" bIns="0" anchor="t">
            <a:spAutoFit/>
          </a:bodyPr>
          <a:lstStyle/>
          <a:p>
            <a:pPr algn="l">
              <a:lnSpc>
                <a:spcPct val="128000"/>
              </a:lnSpc>
            </a:pPr>
            <a:r>
              <a:rPr sz="1800" b="1">
                <a:solidFill>
                  <a:srgbClr val="201E1D"/>
                </a:solidFill>
                <a:latin typeface="Arial"/>
              </a:rPr>
              <a:t>Data sources</a:t>
            </a:r>
          </a:p>
        </p:txBody>
      </p:sp>
      <p:sp>
        <p:nvSpPr>
          <p:cNvPr id="32" name="TextBox 31"/>
          <p:cNvSpPr txBox="1"/>
          <p:nvPr/>
        </p:nvSpPr>
        <p:spPr>
          <a:xfrm>
            <a:off x="1143000" y="8467344"/>
            <a:ext cx="7589520" cy="914400"/>
          </a:xfrm>
          <a:prstGeom prst="rect">
            <a:avLst/>
          </a:prstGeom>
          <a:noFill/>
        </p:spPr>
        <p:txBody>
          <a:bodyPr wrap="square" lIns="0" rIns="0" tIns="0" bIns="0" anchor="t">
            <a:spAutoFit/>
          </a:bodyPr>
          <a:lstStyle/>
          <a:p>
            <a:pPr algn="l">
              <a:lnSpc>
                <a:spcPct val="132000"/>
              </a:lnSpc>
            </a:pPr>
            <a:r>
              <a:rPr sz="1550" b="0">
                <a:solidFill>
                  <a:srgbClr val="6F6C6B"/>
                </a:solidFill>
                <a:latin typeface="Arial"/>
              </a:rPr>
              <a:t>AWS mainframe-modernisation CardDemo corpus (Apache 2.0) · NIST CCVS85, 512 programs and 8,800+ cases, public domain · RBI Master Direction clauses encoded as the third reference.</a:t>
            </a:r>
          </a:p>
        </p:txBody>
      </p:sp>
      <p:sp>
        <p:nvSpPr>
          <p:cNvPr id="33" name="TextBox 32"/>
          <p:cNvSpPr txBox="1"/>
          <p:nvPr/>
        </p:nvSpPr>
        <p:spPr>
          <a:xfrm>
            <a:off x="9555480" y="8101583"/>
            <a:ext cx="7589520" cy="310896"/>
          </a:xfrm>
          <a:prstGeom prst="rect">
            <a:avLst/>
          </a:prstGeom>
          <a:noFill/>
        </p:spPr>
        <p:txBody>
          <a:bodyPr wrap="square" lIns="0" rIns="0" tIns="0" bIns="0" anchor="t">
            <a:spAutoFit/>
          </a:bodyPr>
          <a:lstStyle/>
          <a:p>
            <a:pPr algn="l">
              <a:lnSpc>
                <a:spcPct val="128000"/>
              </a:lnSpc>
            </a:pPr>
            <a:r>
              <a:rPr sz="1800" b="1">
                <a:solidFill>
                  <a:srgbClr val="201E1D"/>
                </a:solidFill>
                <a:latin typeface="Arial"/>
              </a:rPr>
              <a:t>Integration and interoperability</a:t>
            </a:r>
          </a:p>
        </p:txBody>
      </p:sp>
      <p:sp>
        <p:nvSpPr>
          <p:cNvPr id="34" name="TextBox 33"/>
          <p:cNvSpPr txBox="1"/>
          <p:nvPr/>
        </p:nvSpPr>
        <p:spPr>
          <a:xfrm>
            <a:off x="9555480" y="8467344"/>
            <a:ext cx="7589520" cy="914400"/>
          </a:xfrm>
          <a:prstGeom prst="rect">
            <a:avLst/>
          </a:prstGeom>
          <a:noFill/>
        </p:spPr>
        <p:txBody>
          <a:bodyPr wrap="square" lIns="0" rIns="0" tIns="0" bIns="0" anchor="t">
            <a:spAutoFit/>
          </a:bodyPr>
          <a:lstStyle/>
          <a:p>
            <a:pPr algn="l">
              <a:lnSpc>
                <a:spcPct val="132000"/>
              </a:lnSpc>
            </a:pPr>
            <a:r>
              <a:rPr sz="1550" b="0">
                <a:solidFill>
                  <a:srgbClr val="6F6C6B"/>
                </a:solidFill>
                <a:latin typeface="Arial"/>
              </a:rPr>
              <a:t>CLI plus a JSON evidence bundle. The methodology is compiler-agnostic — swap GnuCOBOL for IBM Enterprise COBOL inside the bank and the harness is unchanged. No mainframe access required.</a:t>
            </a:r>
          </a:p>
        </p:txBody>
      </p:sp>
      <p:sp>
        <p:nvSpPr>
          <p:cNvPr id="35" name="TextBox 34"/>
          <p:cNvSpPr txBox="1"/>
          <p:nvPr/>
        </p:nvSpPr>
        <p:spPr>
          <a:xfrm>
            <a:off x="17236440" y="9784080"/>
            <a:ext cx="502920" cy="274320"/>
          </a:xfrm>
          <a:prstGeom prst="rect">
            <a:avLst/>
          </a:prstGeom>
          <a:noFill/>
        </p:spPr>
        <p:txBody>
          <a:bodyPr wrap="square" lIns="0" rIns="0" tIns="0" bIns="0" anchor="t">
            <a:spAutoFit/>
          </a:bodyPr>
          <a:lstStyle/>
          <a:p>
            <a:pPr algn="r">
              <a:lnSpc>
                <a:spcPct val="125000"/>
              </a:lnSpc>
            </a:pPr>
            <a:r>
              <a:rPr sz="1200" b="0">
                <a:solidFill>
                  <a:srgbClr val="8C8886"/>
                </a:solidFill>
                <a:latin typeface="Arial"/>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3F2F2"/>
        </a:solidFill>
        <a:effectLst/>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16482060" cy="392410"/>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144" dirty="0">
                <a:solidFill>
                  <a:srgbClr val="EC3013"/>
                </a:solidFill>
                <a:latin typeface="Arial" pitchFamily="34" charset="0"/>
                <a:ea typeface="Arial" pitchFamily="34" charset="-122"/>
                <a:cs typeface="Arial" pitchFamily="34" charset="-120"/>
              </a:rPr>
              <a:t>WHAT MAKES IT DIFFERENT</a:t>
            </a:r>
            <a:endParaRPr lang="en-US" sz="1800" dirty="0"/>
          </a:p>
        </p:txBody>
      </p:sp>
      <p:sp>
        <p:nvSpPr>
          <p:cNvPr id="4" name="Text 2"/>
          <p:cNvSpPr/>
          <p:nvPr/>
        </p:nvSpPr>
        <p:spPr>
          <a:xfrm>
            <a:off x="1116509" y="1790700"/>
            <a:ext cx="17631341" cy="675878"/>
          </a:xfrm>
          <a:prstGeom prst="rect">
            <a:avLst/>
          </a:prstGeom>
          <a:noFill/>
          <a:ln/>
        </p:spPr>
        <p:txBody>
          <a:bodyPr wrap="square" lIns="25400" tIns="25400" rIns="25400" bIns="25400" rtlCol="0" anchor="t">
            <a:normAutofit/>
          </a:bodyPr>
          <a:lstStyle/>
          <a:p>
            <a:pPr marL="0" indent="0" algn="l">
              <a:lnSpc>
                <a:spcPct val="76672"/>
              </a:lnSpc>
              <a:buNone/>
            </a:pPr>
            <a:r>
              <a:rPr lang="en-US" sz="4650" b="1" kern="0" spc="-70" dirty="0">
                <a:solidFill>
                  <a:srgbClr val="201E1D"/>
                </a:solidFill>
                <a:latin typeface="Arial" pitchFamily="34" charset="0"/>
                <a:ea typeface="Arial" pitchFamily="34" charset="-122"/>
                <a:cs typeface="Arial" pitchFamily="34" charset="-120"/>
              </a:rPr>
              <a:t>Three things nobody else does</a:t>
            </a:r>
            <a:endParaRPr lang="en-US" sz="4650" dirty="0"/>
          </a:p>
        </p:txBody>
      </p:sp>
      <p:sp>
        <p:nvSpPr>
          <p:cNvPr id="5" name="Text 3"/>
          <p:cNvSpPr/>
          <p:nvPr/>
        </p:nvSpPr>
        <p:spPr>
          <a:xfrm>
            <a:off x="1143000" y="2695178"/>
            <a:ext cx="10961980" cy="685800"/>
          </a:xfrm>
          <a:prstGeom prst="rect">
            <a:avLst/>
          </a:prstGeom>
          <a:noFill/>
          <a:ln/>
        </p:spPr>
        <p:txBody>
          <a:bodyPr wrap="square" lIns="25400" tIns="25400" rIns="25400" bIns="25400" rtlCol="0" anchor="t">
            <a:normAutofit/>
          </a:bodyPr>
          <a:lstStyle/>
          <a:p>
            <a:pPr marL="0" indent="0" algn="l">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The differential mechanism itself is prior art. IBM, AWS, Mechanical Orchard and a paper published five days ago all ship a version of it, and we say so. These three are ours.</a:t>
            </a:r>
            <a:endParaRPr lang="en-US" sz="1875" dirty="0"/>
          </a:p>
        </p:txBody>
      </p:sp>
      <p:sp>
        <p:nvSpPr>
          <p:cNvPr id="6" name="Shape 4"/>
          <p:cNvSpPr/>
          <p:nvPr/>
        </p:nvSpPr>
        <p:spPr>
          <a:xfrm>
            <a:off x="1143000" y="3647678"/>
            <a:ext cx="5105400" cy="5356821"/>
          </a:xfrm>
          <a:prstGeom prst="rect">
            <a:avLst/>
          </a:prstGeom>
          <a:solidFill>
            <a:srgbClr val="EAE9E9"/>
          </a:solidFill>
          <a:ln/>
        </p:spPr>
      </p:sp>
      <p:sp>
        <p:nvSpPr>
          <p:cNvPr id="7" name="Shape 5"/>
          <p:cNvSpPr/>
          <p:nvPr/>
        </p:nvSpPr>
        <p:spPr>
          <a:xfrm>
            <a:off x="1409700" y="3963888"/>
            <a:ext cx="438150" cy="438150"/>
          </a:xfrm>
          <a:prstGeom prst="rect">
            <a:avLst/>
          </a:prstGeom>
          <a:solidFill>
            <a:srgbClr val="EC3013"/>
          </a:solidFill>
          <a:ln/>
        </p:spPr>
      </p:sp>
      <p:sp>
        <p:nvSpPr>
          <p:cNvPr id="8" name="Text 6"/>
          <p:cNvSpPr/>
          <p:nvPr/>
        </p:nvSpPr>
        <p:spPr>
          <a:xfrm>
            <a:off x="1371600" y="3963888"/>
            <a:ext cx="514350" cy="476250"/>
          </a:xfrm>
          <a:prstGeom prst="rect">
            <a:avLst/>
          </a:prstGeom>
          <a:noFill/>
          <a:ln/>
        </p:spPr>
        <p:txBody>
          <a:bodyPr wrap="square" lIns="25400" tIns="25400" rIns="25400" bIns="25400" rtlCol="0" anchor="ctr">
            <a:normAutofit/>
          </a:bodyPr>
          <a:lstStyle/>
          <a:p>
            <a:pPr marL="0" indent="0" algn="ctr">
              <a:lnSpc>
                <a:spcPct val="109412"/>
              </a:lnSpc>
              <a:buNone/>
            </a:pPr>
            <a:r>
              <a:rPr lang="en-US" sz="1800" b="1" dirty="0">
                <a:solidFill>
                  <a:srgbClr val="F3F2F2"/>
                </a:solidFill>
                <a:latin typeface="Arial" pitchFamily="34" charset="0"/>
                <a:ea typeface="Arial" pitchFamily="34" charset="-122"/>
                <a:cs typeface="Arial" pitchFamily="34" charset="-120"/>
              </a:rPr>
              <a:t>01</a:t>
            </a:r>
            <a:endParaRPr lang="en-US" sz="1800" dirty="0"/>
          </a:p>
        </p:txBody>
      </p:sp>
      <p:sp>
        <p:nvSpPr>
          <p:cNvPr id="9" name="Text 7"/>
          <p:cNvSpPr/>
          <p:nvPr/>
        </p:nvSpPr>
        <p:spPr>
          <a:xfrm>
            <a:off x="2019300" y="3876278"/>
            <a:ext cx="4081272" cy="651470"/>
          </a:xfrm>
          <a:prstGeom prst="rect">
            <a:avLst/>
          </a:prstGeom>
          <a:noFill/>
          <a:ln/>
        </p:spPr>
        <p:txBody>
          <a:bodyPr wrap="square" lIns="25400" tIns="25400" rIns="25400" bIns="25400" rtlCol="0" anchor="t">
            <a:normAutofit/>
          </a:bodyPr>
          <a:lstStyle/>
          <a:p>
            <a:pPr marL="0" indent="0" algn="l">
              <a:lnSpc>
                <a:spcPct val="81864"/>
              </a:lnSpc>
              <a:buNone/>
            </a:pPr>
            <a:r>
              <a:rPr lang="en-US" sz="2100" b="1" kern="0" spc="-31" dirty="0">
                <a:solidFill>
                  <a:srgbClr val="201E1D"/>
                </a:solidFill>
                <a:latin typeface="Arial" pitchFamily="34" charset="0"/>
                <a:ea typeface="Arial" pitchFamily="34" charset="-122"/>
                <a:cs typeface="Arial" pitchFamily="34" charset="-120"/>
              </a:rPr>
              <a:t>We check the legacy against the regulator</a:t>
            </a:r>
            <a:endParaRPr lang="en-US" sz="2100" dirty="0"/>
          </a:p>
        </p:txBody>
      </p:sp>
      <p:sp>
        <p:nvSpPr>
          <p:cNvPr id="10" name="Text 8"/>
          <p:cNvSpPr/>
          <p:nvPr/>
        </p:nvSpPr>
        <p:spPr>
          <a:xfrm>
            <a:off x="1409700" y="4622999"/>
            <a:ext cx="4709160" cy="1219200"/>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Every tool treats the legacy as correct by definition. A program written in 1987 can breach a Direction issued decades later, so we add a third reference.</a:t>
            </a:r>
            <a:endParaRPr lang="en-US" sz="1800" dirty="0"/>
          </a:p>
        </p:txBody>
      </p:sp>
      <p:sp>
        <p:nvSpPr>
          <p:cNvPr id="11" name="Shape 9"/>
          <p:cNvSpPr/>
          <p:nvPr/>
        </p:nvSpPr>
        <p:spPr>
          <a:xfrm>
            <a:off x="1409700" y="5937449"/>
            <a:ext cx="4572000" cy="504825"/>
          </a:xfrm>
          <a:prstGeom prst="rect">
            <a:avLst/>
          </a:prstGeom>
          <a:solidFill>
            <a:srgbClr val="F3F2F2"/>
          </a:solidFill>
          <a:ln/>
        </p:spPr>
      </p:sp>
      <p:sp>
        <p:nvSpPr>
          <p:cNvPr id="12" name="Text 10"/>
          <p:cNvSpPr/>
          <p:nvPr/>
        </p:nvSpPr>
        <p:spPr>
          <a:xfrm>
            <a:off x="1562100" y="6042224"/>
            <a:ext cx="1346577" cy="333375"/>
          </a:xfrm>
          <a:prstGeom prst="rect">
            <a:avLst/>
          </a:prstGeom>
          <a:noFill/>
          <a:ln/>
        </p:spPr>
        <p:txBody>
          <a:bodyPr wrap="square" lIns="25400" tIns="25400" rIns="25400" bIns="25400" rtlCol="0" anchor="t">
            <a:normAutofit/>
          </a:bodyPr>
          <a:lstStyle/>
          <a:p>
            <a:pPr marL="0" indent="0" algn="l">
              <a:lnSpc>
                <a:spcPct val="110714"/>
              </a:lnSpc>
              <a:buNone/>
            </a:pPr>
            <a:r>
              <a:rPr lang="en-US" sz="1800" b="1" dirty="0">
                <a:solidFill>
                  <a:srgbClr val="201E1D"/>
                </a:solidFill>
                <a:latin typeface="Arial" pitchFamily="34" charset="0"/>
                <a:ea typeface="Arial" pitchFamily="34" charset="-122"/>
                <a:cs typeface="Arial" pitchFamily="34" charset="-120"/>
              </a:rPr>
              <a:t>L = R = Reg</a:t>
            </a:r>
            <a:endParaRPr lang="en-US" sz="1800" dirty="0"/>
          </a:p>
        </p:txBody>
      </p:sp>
      <p:sp>
        <p:nvSpPr>
          <p:cNvPr id="13" name="Text 11"/>
          <p:cNvSpPr/>
          <p:nvPr/>
        </p:nvSpPr>
        <p:spPr>
          <a:xfrm>
            <a:off x="4044950" y="6042224"/>
            <a:ext cx="1962785" cy="333375"/>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verified compliant</a:t>
            </a:r>
            <a:endParaRPr lang="en-US" sz="1800" dirty="0"/>
          </a:p>
        </p:txBody>
      </p:sp>
      <p:sp>
        <p:nvSpPr>
          <p:cNvPr id="14" name="Shape 12"/>
          <p:cNvSpPr/>
          <p:nvPr/>
        </p:nvSpPr>
        <p:spPr>
          <a:xfrm>
            <a:off x="1409700" y="6518474"/>
            <a:ext cx="4572000" cy="504825"/>
          </a:xfrm>
          <a:prstGeom prst="rect">
            <a:avLst/>
          </a:prstGeom>
          <a:solidFill>
            <a:srgbClr val="F3F2F2"/>
          </a:solidFill>
          <a:ln/>
        </p:spPr>
      </p:sp>
      <p:sp>
        <p:nvSpPr>
          <p:cNvPr id="15" name="Text 13"/>
          <p:cNvSpPr/>
          <p:nvPr/>
        </p:nvSpPr>
        <p:spPr>
          <a:xfrm>
            <a:off x="1562100" y="6623249"/>
            <a:ext cx="612477" cy="333375"/>
          </a:xfrm>
          <a:prstGeom prst="rect">
            <a:avLst/>
          </a:prstGeom>
          <a:noFill/>
          <a:ln/>
        </p:spPr>
        <p:txBody>
          <a:bodyPr wrap="square" lIns="25400" tIns="25400" rIns="25400" bIns="25400" rtlCol="0" anchor="t">
            <a:normAutofit/>
          </a:bodyPr>
          <a:lstStyle/>
          <a:p>
            <a:pPr marL="0" indent="0" algn="l">
              <a:lnSpc>
                <a:spcPct val="110714"/>
              </a:lnSpc>
              <a:buNone/>
            </a:pPr>
            <a:r>
              <a:rPr lang="en-US" sz="1800" b="1" dirty="0">
                <a:solidFill>
                  <a:srgbClr val="201E1D"/>
                </a:solidFill>
                <a:latin typeface="Arial" pitchFamily="34" charset="0"/>
                <a:ea typeface="Arial" pitchFamily="34" charset="-122"/>
                <a:cs typeface="Arial" pitchFamily="34" charset="-120"/>
              </a:rPr>
              <a:t>L ≠ R</a:t>
            </a:r>
            <a:endParaRPr lang="en-US" sz="1800" dirty="0"/>
          </a:p>
        </p:txBody>
      </p:sp>
      <p:sp>
        <p:nvSpPr>
          <p:cNvPr id="16" name="Text 14"/>
          <p:cNvSpPr/>
          <p:nvPr/>
        </p:nvSpPr>
        <p:spPr>
          <a:xfrm>
            <a:off x="4086225" y="6623249"/>
            <a:ext cx="1917382" cy="333375"/>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translation defect</a:t>
            </a:r>
            <a:endParaRPr lang="en-US" sz="1800" dirty="0"/>
          </a:p>
        </p:txBody>
      </p:sp>
      <p:sp>
        <p:nvSpPr>
          <p:cNvPr id="17" name="Shape 15"/>
          <p:cNvSpPr/>
          <p:nvPr/>
        </p:nvSpPr>
        <p:spPr>
          <a:xfrm>
            <a:off x="1409700" y="7099499"/>
            <a:ext cx="4572000" cy="504825"/>
          </a:xfrm>
          <a:prstGeom prst="rect">
            <a:avLst/>
          </a:prstGeom>
          <a:solidFill>
            <a:srgbClr val="F3F2F2"/>
          </a:solidFill>
          <a:ln/>
        </p:spPr>
      </p:sp>
      <p:sp>
        <p:nvSpPr>
          <p:cNvPr id="18" name="Text 16"/>
          <p:cNvSpPr/>
          <p:nvPr/>
        </p:nvSpPr>
        <p:spPr>
          <a:xfrm>
            <a:off x="1562100" y="7204274"/>
            <a:ext cx="1337737" cy="333375"/>
          </a:xfrm>
          <a:prstGeom prst="rect">
            <a:avLst/>
          </a:prstGeom>
          <a:noFill/>
          <a:ln/>
        </p:spPr>
        <p:txBody>
          <a:bodyPr wrap="square" lIns="25400" tIns="25400" rIns="25400" bIns="25400" rtlCol="0" anchor="t">
            <a:normAutofit/>
          </a:bodyPr>
          <a:lstStyle/>
          <a:p>
            <a:pPr marL="0" indent="0" algn="l">
              <a:lnSpc>
                <a:spcPct val="110714"/>
              </a:lnSpc>
              <a:buNone/>
            </a:pPr>
            <a:r>
              <a:rPr lang="en-US" sz="1800" b="1" dirty="0">
                <a:solidFill>
                  <a:srgbClr val="AE1800"/>
                </a:solidFill>
                <a:latin typeface="Arial" pitchFamily="34" charset="0"/>
                <a:ea typeface="Arial" pitchFamily="34" charset="-122"/>
                <a:cs typeface="Arial" pitchFamily="34" charset="-120"/>
              </a:rPr>
              <a:t>L = R ≠ Reg</a:t>
            </a:r>
            <a:endParaRPr lang="en-US" sz="1800" dirty="0"/>
          </a:p>
        </p:txBody>
      </p:sp>
      <p:sp>
        <p:nvSpPr>
          <p:cNvPr id="19" name="Text 17"/>
          <p:cNvSpPr/>
          <p:nvPr/>
        </p:nvSpPr>
        <p:spPr>
          <a:xfrm>
            <a:off x="4196854" y="7204274"/>
            <a:ext cx="1795691" cy="333375"/>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AE1800"/>
                </a:solidFill>
                <a:latin typeface="Arial" pitchFamily="34" charset="0"/>
                <a:ea typeface="Arial" pitchFamily="34" charset="-122"/>
                <a:cs typeface="Arial" pitchFamily="34" charset="-120"/>
              </a:rPr>
              <a:t>inherited breach</a:t>
            </a:r>
            <a:endParaRPr lang="en-US" sz="1800" dirty="0"/>
          </a:p>
        </p:txBody>
      </p:sp>
      <p:sp>
        <p:nvSpPr>
          <p:cNvPr id="20" name="Shape 18"/>
          <p:cNvSpPr/>
          <p:nvPr/>
        </p:nvSpPr>
        <p:spPr>
          <a:xfrm>
            <a:off x="1409700" y="7680524"/>
            <a:ext cx="4572000" cy="504825"/>
          </a:xfrm>
          <a:prstGeom prst="rect">
            <a:avLst/>
          </a:prstGeom>
          <a:solidFill>
            <a:srgbClr val="F3F2F2"/>
          </a:solidFill>
          <a:ln/>
        </p:spPr>
      </p:sp>
      <p:sp>
        <p:nvSpPr>
          <p:cNvPr id="21" name="Text 19"/>
          <p:cNvSpPr/>
          <p:nvPr/>
        </p:nvSpPr>
        <p:spPr>
          <a:xfrm>
            <a:off x="1562100" y="7785299"/>
            <a:ext cx="1337737" cy="333375"/>
          </a:xfrm>
          <a:prstGeom prst="rect">
            <a:avLst/>
          </a:prstGeom>
          <a:noFill/>
          <a:ln/>
        </p:spPr>
        <p:txBody>
          <a:bodyPr wrap="square" lIns="25400" tIns="25400" rIns="25400" bIns="25400" rtlCol="0" anchor="t">
            <a:normAutofit/>
          </a:bodyPr>
          <a:lstStyle/>
          <a:p>
            <a:pPr marL="0" indent="0" algn="l">
              <a:lnSpc>
                <a:spcPct val="110714"/>
              </a:lnSpc>
              <a:buNone/>
            </a:pPr>
            <a:r>
              <a:rPr lang="en-US" sz="1800" b="1" dirty="0">
                <a:solidFill>
                  <a:srgbClr val="201E1D"/>
                </a:solidFill>
                <a:latin typeface="Arial" pitchFamily="34" charset="0"/>
                <a:ea typeface="Arial" pitchFamily="34" charset="-122"/>
                <a:cs typeface="Arial" pitchFamily="34" charset="-120"/>
              </a:rPr>
              <a:t>L ≠ R = Reg</a:t>
            </a:r>
            <a:endParaRPr lang="en-US" sz="1800" dirty="0"/>
          </a:p>
        </p:txBody>
      </p:sp>
      <p:sp>
        <p:nvSpPr>
          <p:cNvPr id="22" name="Text 20"/>
          <p:cNvSpPr/>
          <p:nvPr/>
        </p:nvSpPr>
        <p:spPr>
          <a:xfrm>
            <a:off x="4219476" y="7785299"/>
            <a:ext cx="1770807" cy="333375"/>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silent correction</a:t>
            </a:r>
            <a:endParaRPr lang="en-US" sz="1800" dirty="0"/>
          </a:p>
        </p:txBody>
      </p:sp>
      <p:sp>
        <p:nvSpPr>
          <p:cNvPr id="23" name="Text 21"/>
          <p:cNvSpPr/>
          <p:nvPr/>
        </p:nvSpPr>
        <p:spPr>
          <a:xfrm>
            <a:off x="1409700" y="8318699"/>
            <a:ext cx="4709160" cy="609600"/>
          </a:xfrm>
          <a:prstGeom prst="rect">
            <a:avLst/>
          </a:prstGeom>
          <a:noFill/>
          <a:ln/>
        </p:spPr>
        <p:txBody>
          <a:bodyPr wrap="square" lIns="25400" tIns="25400" rIns="25400" bIns="25400" rtlCol="0" anchor="t">
            <a:normAutofit/>
          </a:bodyPr>
          <a:lstStyle/>
          <a:p>
            <a:pPr marL="0" indent="0" algn="l">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Only the third row needs a regulator. No other tool can see it.</a:t>
            </a:r>
            <a:endParaRPr lang="en-US" sz="1800" dirty="0"/>
          </a:p>
        </p:txBody>
      </p:sp>
      <p:sp>
        <p:nvSpPr>
          <p:cNvPr id="24" name="Shape 22"/>
          <p:cNvSpPr/>
          <p:nvPr/>
        </p:nvSpPr>
        <p:spPr>
          <a:xfrm>
            <a:off x="6591300" y="3647678"/>
            <a:ext cx="5105400" cy="5356821"/>
          </a:xfrm>
          <a:prstGeom prst="rect">
            <a:avLst/>
          </a:prstGeom>
          <a:solidFill>
            <a:srgbClr val="EAE9E9"/>
          </a:solidFill>
          <a:ln/>
        </p:spPr>
      </p:sp>
      <p:sp>
        <p:nvSpPr>
          <p:cNvPr id="25" name="Shape 23"/>
          <p:cNvSpPr/>
          <p:nvPr/>
        </p:nvSpPr>
        <p:spPr>
          <a:xfrm>
            <a:off x="6858000" y="3963888"/>
            <a:ext cx="438150" cy="438150"/>
          </a:xfrm>
          <a:prstGeom prst="rect">
            <a:avLst/>
          </a:prstGeom>
          <a:solidFill>
            <a:srgbClr val="EC3013"/>
          </a:solidFill>
          <a:ln/>
        </p:spPr>
      </p:sp>
      <p:sp>
        <p:nvSpPr>
          <p:cNvPr id="26" name="Text 24"/>
          <p:cNvSpPr/>
          <p:nvPr/>
        </p:nvSpPr>
        <p:spPr>
          <a:xfrm>
            <a:off x="6819900" y="3963888"/>
            <a:ext cx="514350" cy="476250"/>
          </a:xfrm>
          <a:prstGeom prst="rect">
            <a:avLst/>
          </a:prstGeom>
          <a:noFill/>
          <a:ln/>
        </p:spPr>
        <p:txBody>
          <a:bodyPr wrap="square" lIns="25400" tIns="25400" rIns="25400" bIns="25400" rtlCol="0" anchor="ctr">
            <a:normAutofit/>
          </a:bodyPr>
          <a:lstStyle/>
          <a:p>
            <a:pPr marL="0" indent="0" algn="ctr">
              <a:lnSpc>
                <a:spcPct val="109412"/>
              </a:lnSpc>
              <a:buNone/>
            </a:pPr>
            <a:r>
              <a:rPr lang="en-US" sz="1800" b="1" dirty="0">
                <a:solidFill>
                  <a:srgbClr val="F3F2F2"/>
                </a:solidFill>
                <a:latin typeface="Arial" pitchFamily="34" charset="0"/>
                <a:ea typeface="Arial" pitchFamily="34" charset="-122"/>
                <a:cs typeface="Arial" pitchFamily="34" charset="-120"/>
              </a:rPr>
              <a:t>02</a:t>
            </a:r>
            <a:endParaRPr lang="en-US" sz="1800" dirty="0"/>
          </a:p>
        </p:txBody>
      </p:sp>
      <p:sp>
        <p:nvSpPr>
          <p:cNvPr id="27" name="Text 25"/>
          <p:cNvSpPr/>
          <p:nvPr/>
        </p:nvSpPr>
        <p:spPr>
          <a:xfrm>
            <a:off x="7467600" y="3876278"/>
            <a:ext cx="4081272" cy="651470"/>
          </a:xfrm>
          <a:prstGeom prst="rect">
            <a:avLst/>
          </a:prstGeom>
          <a:noFill/>
          <a:ln/>
        </p:spPr>
        <p:txBody>
          <a:bodyPr wrap="square" lIns="25400" tIns="25400" rIns="25400" bIns="25400" rtlCol="0" anchor="t">
            <a:normAutofit/>
          </a:bodyPr>
          <a:lstStyle/>
          <a:p>
            <a:pPr marL="0" indent="0" algn="l">
              <a:lnSpc>
                <a:spcPct val="81864"/>
              </a:lnSpc>
              <a:buNone/>
            </a:pPr>
            <a:r>
              <a:rPr lang="en-US" sz="2100" b="1" kern="0" spc="-31" dirty="0">
                <a:solidFill>
                  <a:srgbClr val="201E1D"/>
                </a:solidFill>
                <a:latin typeface="Arial" pitchFamily="34" charset="0"/>
                <a:ea typeface="Arial" pitchFamily="34" charset="-122"/>
                <a:cs typeface="Arial" pitchFamily="34" charset="-120"/>
              </a:rPr>
              <a:t>A result for every rule, not every test case</a:t>
            </a:r>
            <a:endParaRPr lang="en-US" sz="2100" dirty="0"/>
          </a:p>
        </p:txBody>
      </p:sp>
      <p:sp>
        <p:nvSpPr>
          <p:cNvPr id="28" name="Text 26"/>
          <p:cNvSpPr/>
          <p:nvPr/>
        </p:nvSpPr>
        <p:spPr>
          <a:xfrm>
            <a:off x="6858000" y="4622999"/>
            <a:ext cx="4709160" cy="923925"/>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Executing a line is not testing the rule it encodes. A rule counts as confirmed only when all three checks hold.</a:t>
            </a:r>
            <a:endParaRPr lang="en-US" sz="1800" dirty="0"/>
          </a:p>
        </p:txBody>
      </p:sp>
      <p:sp>
        <p:nvSpPr>
          <p:cNvPr id="29" name="Shape 27"/>
          <p:cNvSpPr/>
          <p:nvPr/>
        </p:nvSpPr>
        <p:spPr>
          <a:xfrm>
            <a:off x="6858000" y="5642174"/>
            <a:ext cx="4572000" cy="504825"/>
          </a:xfrm>
          <a:prstGeom prst="rect">
            <a:avLst/>
          </a:prstGeom>
          <a:solidFill>
            <a:srgbClr val="F3F2F2"/>
          </a:solidFill>
          <a:ln/>
        </p:spPr>
      </p:sp>
      <p:sp>
        <p:nvSpPr>
          <p:cNvPr id="30" name="Shape 28"/>
          <p:cNvSpPr/>
          <p:nvPr/>
        </p:nvSpPr>
        <p:spPr>
          <a:xfrm>
            <a:off x="7010400" y="5751711"/>
            <a:ext cx="285750" cy="285750"/>
          </a:xfrm>
          <a:prstGeom prst="rect">
            <a:avLst/>
          </a:prstGeom>
          <a:solidFill>
            <a:srgbClr val="444141"/>
          </a:solidFill>
          <a:ln/>
        </p:spPr>
      </p:sp>
      <p:sp>
        <p:nvSpPr>
          <p:cNvPr id="31" name="Text 29"/>
          <p:cNvSpPr/>
          <p:nvPr/>
        </p:nvSpPr>
        <p:spPr>
          <a:xfrm>
            <a:off x="6972300" y="5751711"/>
            <a:ext cx="361950" cy="323850"/>
          </a:xfrm>
          <a:prstGeom prst="rect">
            <a:avLst/>
          </a:prstGeom>
          <a:noFill/>
          <a:ln/>
        </p:spPr>
        <p:txBody>
          <a:bodyPr wrap="square" lIns="25400" tIns="25400" rIns="25400" bIns="25400" rtlCol="0" anchor="ctr">
            <a:normAutofit/>
          </a:bodyPr>
          <a:lstStyle/>
          <a:p>
            <a:pPr marL="0" indent="0" algn="ctr">
              <a:lnSpc>
                <a:spcPct val="110714"/>
              </a:lnSpc>
              <a:buNone/>
            </a:pPr>
            <a:r>
              <a:rPr lang="en-US" sz="1800" b="1" dirty="0">
                <a:solidFill>
                  <a:srgbClr val="F3F2F2"/>
                </a:solidFill>
                <a:latin typeface="Arial" pitchFamily="34" charset="0"/>
                <a:ea typeface="Arial" pitchFamily="34" charset="-122"/>
                <a:cs typeface="Arial" pitchFamily="34" charset="-120"/>
              </a:rPr>
              <a:t>1</a:t>
            </a:r>
            <a:endParaRPr lang="en-US" sz="1800" dirty="0"/>
          </a:p>
        </p:txBody>
      </p:sp>
      <p:sp>
        <p:nvSpPr>
          <p:cNvPr id="32" name="Text 30"/>
          <p:cNvSpPr/>
          <p:nvPr/>
        </p:nvSpPr>
        <p:spPr>
          <a:xfrm>
            <a:off x="7429500" y="5746949"/>
            <a:ext cx="3347780" cy="333375"/>
          </a:xfrm>
          <a:prstGeom prst="rect">
            <a:avLst/>
          </a:prstGeom>
          <a:noFill/>
          <a:ln/>
        </p:spPr>
        <p:txBody>
          <a:bodyPr wrap="square" lIns="25400" tIns="25400" rIns="25400" bIns="25400" rtlCol="0" anchor="t">
            <a:normAutofit/>
          </a:bodyPr>
          <a:lstStyle/>
          <a:p>
            <a:pPr marL="0" indent="0" algn="l">
              <a:lnSpc>
                <a:spcPct val="110714"/>
              </a:lnSpc>
              <a:buNone/>
            </a:pPr>
            <a:r>
              <a:rPr lang="en-US" sz="1800" b="1" dirty="0">
                <a:solidFill>
                  <a:srgbClr val="201E1D"/>
                </a:solidFill>
                <a:latin typeface="Arial" pitchFamily="34" charset="0"/>
                <a:ea typeface="Arial" pitchFamily="34" charset="-122"/>
                <a:cs typeface="Arial" pitchFamily="34" charset="-120"/>
              </a:rPr>
              <a:t>Reached </a:t>
            </a:r>
            <a:r>
              <a:rPr lang="en-US" sz="1800" dirty="0">
                <a:solidFill>
                  <a:srgbClr val="201E1C">
                    <a:alpha val="60000"/>
                  </a:srgbClr>
                </a:solidFill>
                <a:latin typeface="Arial" pitchFamily="34" charset="0"/>
                <a:ea typeface="Arial" pitchFamily="34" charset="-122"/>
                <a:cs typeface="Arial" pitchFamily="34" charset="-120"/>
              </a:rPr>
              <a:t>— the rule’s lines ran</a:t>
            </a:r>
            <a:endParaRPr lang="en-US" sz="1800" dirty="0"/>
          </a:p>
        </p:txBody>
      </p:sp>
      <p:sp>
        <p:nvSpPr>
          <p:cNvPr id="33" name="Shape 31"/>
          <p:cNvSpPr/>
          <p:nvPr/>
        </p:nvSpPr>
        <p:spPr>
          <a:xfrm>
            <a:off x="6858000" y="6223199"/>
            <a:ext cx="4572000" cy="800100"/>
          </a:xfrm>
          <a:prstGeom prst="rect">
            <a:avLst/>
          </a:prstGeom>
          <a:solidFill>
            <a:srgbClr val="F3F2F2"/>
          </a:solidFill>
          <a:ln/>
        </p:spPr>
      </p:sp>
      <p:sp>
        <p:nvSpPr>
          <p:cNvPr id="34" name="Shape 32"/>
          <p:cNvSpPr/>
          <p:nvPr/>
        </p:nvSpPr>
        <p:spPr>
          <a:xfrm>
            <a:off x="7010400" y="6480374"/>
            <a:ext cx="285750" cy="285750"/>
          </a:xfrm>
          <a:prstGeom prst="rect">
            <a:avLst/>
          </a:prstGeom>
          <a:solidFill>
            <a:srgbClr val="EC3013"/>
          </a:solidFill>
          <a:ln/>
        </p:spPr>
      </p:sp>
      <p:sp>
        <p:nvSpPr>
          <p:cNvPr id="35" name="Text 33"/>
          <p:cNvSpPr/>
          <p:nvPr/>
        </p:nvSpPr>
        <p:spPr>
          <a:xfrm>
            <a:off x="6972300" y="6480374"/>
            <a:ext cx="361950" cy="323850"/>
          </a:xfrm>
          <a:prstGeom prst="rect">
            <a:avLst/>
          </a:prstGeom>
          <a:noFill/>
          <a:ln/>
        </p:spPr>
        <p:txBody>
          <a:bodyPr wrap="square" lIns="25400" tIns="25400" rIns="25400" bIns="25400" rtlCol="0" anchor="ctr">
            <a:normAutofit/>
          </a:bodyPr>
          <a:lstStyle/>
          <a:p>
            <a:pPr marL="0" indent="0" algn="ctr">
              <a:lnSpc>
                <a:spcPct val="110714"/>
              </a:lnSpc>
              <a:buNone/>
            </a:pPr>
            <a:r>
              <a:rPr lang="en-US" sz="1800" b="1" dirty="0">
                <a:solidFill>
                  <a:srgbClr val="F3F2F2"/>
                </a:solidFill>
                <a:latin typeface="Arial" pitchFamily="34" charset="0"/>
                <a:ea typeface="Arial" pitchFamily="34" charset="-122"/>
                <a:cs typeface="Arial" pitchFamily="34" charset="-120"/>
              </a:rPr>
              <a:t>2</a:t>
            </a:r>
            <a:endParaRPr lang="en-US" sz="1800" dirty="0"/>
          </a:p>
        </p:txBody>
      </p:sp>
      <p:sp>
        <p:nvSpPr>
          <p:cNvPr id="36" name="Text 34"/>
          <p:cNvSpPr/>
          <p:nvPr/>
        </p:nvSpPr>
        <p:spPr>
          <a:xfrm>
            <a:off x="7429500" y="6327974"/>
            <a:ext cx="3963543" cy="628650"/>
          </a:xfrm>
          <a:prstGeom prst="rect">
            <a:avLst/>
          </a:prstGeom>
          <a:noFill/>
          <a:ln/>
        </p:spPr>
        <p:txBody>
          <a:bodyPr wrap="square" lIns="25400" tIns="25400" rIns="25400" bIns="25400" rtlCol="0" anchor="t">
            <a:normAutofit/>
          </a:bodyPr>
          <a:lstStyle/>
          <a:p>
            <a:pPr marL="0" indent="0" algn="l">
              <a:lnSpc>
                <a:spcPct val="110714"/>
              </a:lnSpc>
              <a:buNone/>
            </a:pPr>
            <a:r>
              <a:rPr lang="en-US" sz="1800" b="1" dirty="0">
                <a:solidFill>
                  <a:srgbClr val="AE1800"/>
                </a:solidFill>
                <a:latin typeface="Arial" pitchFamily="34" charset="0"/>
                <a:ea typeface="Arial" pitchFamily="34" charset="-122"/>
                <a:cs typeface="Arial" pitchFamily="34" charset="-120"/>
              </a:rPr>
              <a:t>Discriminating </a:t>
            </a:r>
            <a:r>
              <a:rPr lang="en-US" sz="1800" dirty="0">
                <a:solidFill>
                  <a:srgbClr val="201E1C">
                    <a:alpha val="60000"/>
                  </a:srgbClr>
                </a:solidFill>
                <a:latin typeface="Arial" pitchFamily="34" charset="0"/>
                <a:ea typeface="Arial" pitchFamily="34" charset="-122"/>
                <a:cs typeface="Arial" pitchFamily="34" charset="-120"/>
              </a:rPr>
              <a:t>— the boundary changed the output</a:t>
            </a:r>
            <a:endParaRPr lang="en-US" sz="1800" dirty="0"/>
          </a:p>
        </p:txBody>
      </p:sp>
      <p:sp>
        <p:nvSpPr>
          <p:cNvPr id="37" name="Shape 35"/>
          <p:cNvSpPr/>
          <p:nvPr/>
        </p:nvSpPr>
        <p:spPr>
          <a:xfrm>
            <a:off x="6858000" y="7099499"/>
            <a:ext cx="4572000" cy="800100"/>
          </a:xfrm>
          <a:prstGeom prst="rect">
            <a:avLst/>
          </a:prstGeom>
          <a:solidFill>
            <a:srgbClr val="F3F2F2"/>
          </a:solidFill>
          <a:ln/>
        </p:spPr>
      </p:sp>
      <p:sp>
        <p:nvSpPr>
          <p:cNvPr id="38" name="Shape 36"/>
          <p:cNvSpPr/>
          <p:nvPr/>
        </p:nvSpPr>
        <p:spPr>
          <a:xfrm>
            <a:off x="7010400" y="7356674"/>
            <a:ext cx="285750" cy="285750"/>
          </a:xfrm>
          <a:prstGeom prst="rect">
            <a:avLst/>
          </a:prstGeom>
          <a:solidFill>
            <a:srgbClr val="444141"/>
          </a:solidFill>
          <a:ln/>
        </p:spPr>
      </p:sp>
      <p:sp>
        <p:nvSpPr>
          <p:cNvPr id="39" name="Text 37"/>
          <p:cNvSpPr/>
          <p:nvPr/>
        </p:nvSpPr>
        <p:spPr>
          <a:xfrm>
            <a:off x="6972300" y="7356674"/>
            <a:ext cx="361950" cy="323850"/>
          </a:xfrm>
          <a:prstGeom prst="rect">
            <a:avLst/>
          </a:prstGeom>
          <a:noFill/>
          <a:ln/>
        </p:spPr>
        <p:txBody>
          <a:bodyPr wrap="square" lIns="25400" tIns="25400" rIns="25400" bIns="25400" rtlCol="0" anchor="ctr">
            <a:normAutofit/>
          </a:bodyPr>
          <a:lstStyle/>
          <a:p>
            <a:pPr marL="0" indent="0" algn="ctr">
              <a:lnSpc>
                <a:spcPct val="110714"/>
              </a:lnSpc>
              <a:buNone/>
            </a:pPr>
            <a:r>
              <a:rPr lang="en-US" sz="1800" b="1" dirty="0">
                <a:solidFill>
                  <a:srgbClr val="F3F2F2"/>
                </a:solidFill>
                <a:latin typeface="Arial" pitchFamily="34" charset="0"/>
                <a:ea typeface="Arial" pitchFamily="34" charset="-122"/>
                <a:cs typeface="Arial" pitchFamily="34" charset="-120"/>
              </a:rPr>
              <a:t>3</a:t>
            </a:r>
            <a:endParaRPr lang="en-US" sz="1800" dirty="0"/>
          </a:p>
        </p:txBody>
      </p:sp>
      <p:sp>
        <p:nvSpPr>
          <p:cNvPr id="40" name="Text 38"/>
          <p:cNvSpPr/>
          <p:nvPr/>
        </p:nvSpPr>
        <p:spPr>
          <a:xfrm>
            <a:off x="7429500" y="7204274"/>
            <a:ext cx="3963543" cy="628650"/>
          </a:xfrm>
          <a:prstGeom prst="rect">
            <a:avLst/>
          </a:prstGeom>
          <a:noFill/>
          <a:ln/>
        </p:spPr>
        <p:txBody>
          <a:bodyPr wrap="square" lIns="25400" tIns="25400" rIns="25400" bIns="25400" rtlCol="0" anchor="t">
            <a:normAutofit/>
          </a:bodyPr>
          <a:lstStyle/>
          <a:p>
            <a:pPr marL="0" indent="0" algn="l">
              <a:lnSpc>
                <a:spcPct val="110714"/>
              </a:lnSpc>
              <a:buNone/>
            </a:pPr>
            <a:r>
              <a:rPr lang="en-US" sz="1800" b="1" dirty="0">
                <a:solidFill>
                  <a:srgbClr val="201E1D"/>
                </a:solidFill>
                <a:latin typeface="Arial" pitchFamily="34" charset="0"/>
                <a:ea typeface="Arial" pitchFamily="34" charset="-122"/>
                <a:cs typeface="Arial" pitchFamily="34" charset="-120"/>
              </a:rPr>
              <a:t>Agreed </a:t>
            </a:r>
            <a:r>
              <a:rPr lang="en-US" sz="1800" dirty="0">
                <a:solidFill>
                  <a:srgbClr val="201E1C">
                    <a:alpha val="60000"/>
                  </a:srgbClr>
                </a:solidFill>
                <a:latin typeface="Arial" pitchFamily="34" charset="0"/>
                <a:ea typeface="Arial" pitchFamily="34" charset="-122"/>
                <a:cs typeface="Arial" pitchFamily="34" charset="-120"/>
              </a:rPr>
              <a:t>— the rewrite matched every time</a:t>
            </a:r>
            <a:endParaRPr lang="en-US" sz="1800" dirty="0"/>
          </a:p>
        </p:txBody>
      </p:sp>
      <p:sp>
        <p:nvSpPr>
          <p:cNvPr id="41" name="Text 39"/>
          <p:cNvSpPr/>
          <p:nvPr/>
        </p:nvSpPr>
        <p:spPr>
          <a:xfrm>
            <a:off x="6858000" y="8032949"/>
            <a:ext cx="4709160" cy="895350"/>
          </a:xfrm>
          <a:prstGeom prst="rect">
            <a:avLst/>
          </a:prstGeom>
          <a:noFill/>
          <a:ln/>
        </p:spPr>
        <p:txBody>
          <a:bodyPr wrap="square" lIns="25400" tIns="25400" rIns="25400" bIns="25400" rtlCol="0" anchor="t">
            <a:normAutofit/>
          </a:bodyPr>
          <a:lstStyle/>
          <a:p>
            <a:pPr marL="0" indent="0" algn="l">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Check 2 is the one that catches our own extraction inventing a rule that is not in the program.</a:t>
            </a:r>
            <a:endParaRPr lang="en-US" sz="1800" dirty="0"/>
          </a:p>
        </p:txBody>
      </p:sp>
      <p:sp>
        <p:nvSpPr>
          <p:cNvPr id="42" name="Shape 40"/>
          <p:cNvSpPr/>
          <p:nvPr/>
        </p:nvSpPr>
        <p:spPr>
          <a:xfrm>
            <a:off x="12039600" y="3647678"/>
            <a:ext cx="5105400" cy="5356821"/>
          </a:xfrm>
          <a:prstGeom prst="rect">
            <a:avLst/>
          </a:prstGeom>
          <a:solidFill>
            <a:srgbClr val="EAE9E9"/>
          </a:solidFill>
          <a:ln/>
        </p:spPr>
      </p:sp>
      <p:sp>
        <p:nvSpPr>
          <p:cNvPr id="43" name="Shape 41"/>
          <p:cNvSpPr/>
          <p:nvPr/>
        </p:nvSpPr>
        <p:spPr>
          <a:xfrm>
            <a:off x="12306300" y="3876278"/>
            <a:ext cx="438150" cy="438150"/>
          </a:xfrm>
          <a:prstGeom prst="rect">
            <a:avLst/>
          </a:prstGeom>
          <a:solidFill>
            <a:srgbClr val="EC3013"/>
          </a:solidFill>
          <a:ln/>
        </p:spPr>
      </p:sp>
      <p:sp>
        <p:nvSpPr>
          <p:cNvPr id="44" name="Text 42"/>
          <p:cNvSpPr/>
          <p:nvPr/>
        </p:nvSpPr>
        <p:spPr>
          <a:xfrm>
            <a:off x="12268200" y="3876278"/>
            <a:ext cx="514350" cy="476250"/>
          </a:xfrm>
          <a:prstGeom prst="rect">
            <a:avLst/>
          </a:prstGeom>
          <a:noFill/>
          <a:ln/>
        </p:spPr>
        <p:txBody>
          <a:bodyPr wrap="square" lIns="25400" tIns="25400" rIns="25400" bIns="25400" rtlCol="0" anchor="ctr">
            <a:normAutofit/>
          </a:bodyPr>
          <a:lstStyle/>
          <a:p>
            <a:pPr marL="0" indent="0" algn="ctr">
              <a:lnSpc>
                <a:spcPct val="109412"/>
              </a:lnSpc>
              <a:buNone/>
            </a:pPr>
            <a:r>
              <a:rPr lang="en-US" sz="1800" b="1" dirty="0">
                <a:solidFill>
                  <a:srgbClr val="F3F2F2"/>
                </a:solidFill>
                <a:latin typeface="Arial" pitchFamily="34" charset="0"/>
                <a:ea typeface="Arial" pitchFamily="34" charset="-122"/>
                <a:cs typeface="Arial" pitchFamily="34" charset="-120"/>
              </a:rPr>
              <a:t>03</a:t>
            </a:r>
            <a:endParaRPr lang="en-US" sz="1800" dirty="0"/>
          </a:p>
        </p:txBody>
      </p:sp>
      <p:sp>
        <p:nvSpPr>
          <p:cNvPr id="45" name="Text 43"/>
          <p:cNvSpPr/>
          <p:nvPr/>
        </p:nvSpPr>
        <p:spPr>
          <a:xfrm>
            <a:off x="12915900" y="3941961"/>
            <a:ext cx="2723059" cy="344785"/>
          </a:xfrm>
          <a:prstGeom prst="rect">
            <a:avLst/>
          </a:prstGeom>
          <a:noFill/>
          <a:ln/>
        </p:spPr>
        <p:txBody>
          <a:bodyPr wrap="square" lIns="25400" tIns="25400" rIns="25400" bIns="25400" rtlCol="0" anchor="t">
            <a:normAutofit/>
          </a:bodyPr>
          <a:lstStyle/>
          <a:p>
            <a:pPr marL="0" indent="0" algn="l">
              <a:lnSpc>
                <a:spcPct val="81864"/>
              </a:lnSpc>
              <a:buNone/>
            </a:pPr>
            <a:r>
              <a:rPr lang="en-US" sz="2100" b="1" kern="0" spc="-31" dirty="0">
                <a:solidFill>
                  <a:srgbClr val="201E1D"/>
                </a:solidFill>
                <a:latin typeface="Arial" pitchFamily="34" charset="0"/>
                <a:ea typeface="Arial" pitchFamily="34" charset="-122"/>
                <a:cs typeface="Arial" pitchFamily="34" charset="-120"/>
              </a:rPr>
              <a:t>We test our own tests</a:t>
            </a:r>
            <a:endParaRPr lang="en-US" sz="2100" dirty="0"/>
          </a:p>
        </p:txBody>
      </p:sp>
      <p:sp>
        <p:nvSpPr>
          <p:cNvPr id="46" name="Text 44"/>
          <p:cNvSpPr/>
          <p:nvPr/>
        </p:nvSpPr>
        <p:spPr>
          <a:xfrm>
            <a:off x="12306300" y="4447778"/>
            <a:ext cx="4709160" cy="923925"/>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“Everything passed” proves nothing unless the inputs could have caught a failure. So we break the legacy on purpose.</a:t>
            </a:r>
            <a:endParaRPr lang="en-US" sz="1800" dirty="0"/>
          </a:p>
        </p:txBody>
      </p:sp>
      <p:sp>
        <p:nvSpPr>
          <p:cNvPr id="47" name="Shape 45"/>
          <p:cNvSpPr/>
          <p:nvPr/>
        </p:nvSpPr>
        <p:spPr>
          <a:xfrm>
            <a:off x="12306300" y="5466954"/>
            <a:ext cx="4572000" cy="1095375"/>
          </a:xfrm>
          <a:prstGeom prst="rect">
            <a:avLst/>
          </a:prstGeom>
          <a:solidFill>
            <a:srgbClr val="F3F2F2"/>
          </a:solidFill>
          <a:ln/>
        </p:spPr>
      </p:sp>
      <p:sp>
        <p:nvSpPr>
          <p:cNvPr id="48" name="Text 46"/>
          <p:cNvSpPr/>
          <p:nvPr/>
        </p:nvSpPr>
        <p:spPr>
          <a:xfrm>
            <a:off x="12458700" y="5571729"/>
            <a:ext cx="4404360" cy="923925"/>
          </a:xfrm>
          <a:prstGeom prst="rect">
            <a:avLst/>
          </a:prstGeom>
          <a:noFill/>
          <a:ln/>
        </p:spPr>
        <p:txBody>
          <a:bodyPr wrap="square" lIns="25400" tIns="25400" rIns="25400" bIns="25400" rtlCol="0" anchor="t">
            <a:normAutofit/>
          </a:bodyPr>
          <a:lstStyle/>
          <a:p>
            <a:pPr marL="0" indent="0" algn="l">
              <a:lnSpc>
                <a:spcPct val="110714"/>
              </a:lnSpc>
              <a:buNone/>
            </a:pPr>
            <a:r>
              <a:rPr lang="en-US" sz="1800" b="1" dirty="0">
                <a:solidFill>
                  <a:srgbClr val="AE1800"/>
                </a:solidFill>
                <a:latin typeface="Arial" pitchFamily="34" charset="0"/>
                <a:ea typeface="Arial" pitchFamily="34" charset="-122"/>
                <a:cs typeface="Arial" pitchFamily="34" charset="-120"/>
              </a:rPr>
              <a:t>Inject a deliberate defect </a:t>
            </a:r>
            <a:r>
              <a:rPr lang="en-US" sz="1800" dirty="0">
                <a:solidFill>
                  <a:srgbClr val="201E1C">
                    <a:alpha val="60000"/>
                  </a:srgbClr>
                </a:solidFill>
                <a:latin typeface="Arial" pitchFamily="34" charset="0"/>
                <a:ea typeface="Arial" pitchFamily="34" charset="-122"/>
                <a:cs typeface="Arial" pitchFamily="34" charset="-120"/>
              </a:rPr>
              <a:t>100000 → 100001 · &gt; → &gt;= · delete ROUNDED · 360 → 365</a:t>
            </a:r>
            <a:endParaRPr lang="en-US" sz="1800" dirty="0"/>
          </a:p>
        </p:txBody>
      </p:sp>
      <p:sp>
        <p:nvSpPr>
          <p:cNvPr id="49" name="Shape 47"/>
          <p:cNvSpPr/>
          <p:nvPr/>
        </p:nvSpPr>
        <p:spPr>
          <a:xfrm>
            <a:off x="12306300" y="6638529"/>
            <a:ext cx="4572000" cy="504825"/>
          </a:xfrm>
          <a:prstGeom prst="rect">
            <a:avLst/>
          </a:prstGeom>
          <a:solidFill>
            <a:srgbClr val="F3F2F2"/>
          </a:solidFill>
          <a:ln/>
        </p:spPr>
      </p:sp>
      <p:sp>
        <p:nvSpPr>
          <p:cNvPr id="50" name="Text 48"/>
          <p:cNvSpPr/>
          <p:nvPr/>
        </p:nvSpPr>
        <p:spPr>
          <a:xfrm>
            <a:off x="12458700" y="6743304"/>
            <a:ext cx="4404360" cy="333375"/>
          </a:xfrm>
          <a:prstGeom prst="rect">
            <a:avLst/>
          </a:prstGeom>
          <a:noFill/>
          <a:ln/>
        </p:spPr>
        <p:txBody>
          <a:bodyPr wrap="square" lIns="25400" tIns="25400" rIns="25400" bIns="25400" rtlCol="0" anchor="t">
            <a:normAutofit/>
          </a:bodyPr>
          <a:lstStyle/>
          <a:p>
            <a:pPr marL="0" indent="0" algn="l">
              <a:lnSpc>
                <a:spcPct val="110714"/>
              </a:lnSpc>
              <a:buNone/>
            </a:pPr>
            <a:r>
              <a:rPr lang="en-US" sz="1800" b="1" dirty="0">
                <a:solidFill>
                  <a:srgbClr val="201E1D"/>
                </a:solidFill>
                <a:latin typeface="Arial" pitchFamily="34" charset="0"/>
                <a:ea typeface="Arial" pitchFamily="34" charset="-122"/>
                <a:cs typeface="Arial" pitchFamily="34" charset="-120"/>
              </a:rPr>
              <a:t>Re-run the same input corpus</a:t>
            </a:r>
            <a:endParaRPr lang="en-US" sz="1800" dirty="0"/>
          </a:p>
        </p:txBody>
      </p:sp>
      <p:sp>
        <p:nvSpPr>
          <p:cNvPr id="51" name="Shape 49"/>
          <p:cNvSpPr/>
          <p:nvPr/>
        </p:nvSpPr>
        <p:spPr>
          <a:xfrm>
            <a:off x="12306300" y="7219554"/>
            <a:ext cx="2247900" cy="800100"/>
          </a:xfrm>
          <a:prstGeom prst="rect">
            <a:avLst/>
          </a:prstGeom>
          <a:solidFill>
            <a:srgbClr val="F3F2F2"/>
          </a:solidFill>
          <a:ln/>
        </p:spPr>
      </p:sp>
      <p:sp>
        <p:nvSpPr>
          <p:cNvPr id="52" name="Text 50"/>
          <p:cNvSpPr/>
          <p:nvPr/>
        </p:nvSpPr>
        <p:spPr>
          <a:xfrm>
            <a:off x="12458700" y="7324329"/>
            <a:ext cx="2019300" cy="628650"/>
          </a:xfrm>
          <a:prstGeom prst="rect">
            <a:avLst/>
          </a:prstGeom>
          <a:noFill/>
          <a:ln/>
        </p:spPr>
        <p:txBody>
          <a:bodyPr wrap="square" lIns="25400" tIns="25400" rIns="25400" bIns="25400" rtlCol="0" anchor="t">
            <a:normAutofit/>
          </a:bodyPr>
          <a:lstStyle/>
          <a:p>
            <a:pPr marL="0" indent="0" algn="l">
              <a:lnSpc>
                <a:spcPct val="110714"/>
              </a:lnSpc>
              <a:buNone/>
            </a:pPr>
            <a:r>
              <a:rPr lang="en-US" sz="1800" b="1" dirty="0">
                <a:solidFill>
                  <a:srgbClr val="201E1D"/>
                </a:solidFill>
                <a:latin typeface="Arial" pitchFamily="34" charset="0"/>
                <a:ea typeface="Arial" pitchFamily="34" charset="-122"/>
                <a:cs typeface="Arial" pitchFamily="34" charset="-120"/>
              </a:rPr>
              <a:t>Caught </a:t>
            </a:r>
            <a:r>
              <a:rPr lang="en-US" sz="1800" dirty="0">
                <a:solidFill>
                  <a:srgbClr val="201E1C">
                    <a:alpha val="60000"/>
                  </a:srgbClr>
                </a:solidFill>
                <a:latin typeface="Arial" pitchFamily="34" charset="0"/>
                <a:ea typeface="Arial" pitchFamily="34" charset="-122"/>
                <a:cs typeface="Arial" pitchFamily="34" charset="-120"/>
              </a:rPr>
              <a:t>the claim stands</a:t>
            </a:r>
            <a:endParaRPr lang="en-US" sz="1800" dirty="0"/>
          </a:p>
        </p:txBody>
      </p:sp>
      <p:sp>
        <p:nvSpPr>
          <p:cNvPr id="53" name="Shape 51"/>
          <p:cNvSpPr/>
          <p:nvPr/>
        </p:nvSpPr>
        <p:spPr>
          <a:xfrm>
            <a:off x="14630400" y="7219554"/>
            <a:ext cx="2247900" cy="800100"/>
          </a:xfrm>
          <a:prstGeom prst="rect">
            <a:avLst/>
          </a:prstGeom>
          <a:solidFill>
            <a:srgbClr val="F3F2F2"/>
          </a:solidFill>
          <a:ln/>
        </p:spPr>
      </p:sp>
      <p:sp>
        <p:nvSpPr>
          <p:cNvPr id="54" name="Text 52"/>
          <p:cNvSpPr/>
          <p:nvPr/>
        </p:nvSpPr>
        <p:spPr>
          <a:xfrm>
            <a:off x="14782800" y="7324329"/>
            <a:ext cx="2019300" cy="628650"/>
          </a:xfrm>
          <a:prstGeom prst="rect">
            <a:avLst/>
          </a:prstGeom>
          <a:noFill/>
          <a:ln/>
        </p:spPr>
        <p:txBody>
          <a:bodyPr wrap="square" lIns="25400" tIns="25400" rIns="25400" bIns="25400" rtlCol="0" anchor="t">
            <a:normAutofit/>
          </a:bodyPr>
          <a:lstStyle/>
          <a:p>
            <a:pPr marL="0" indent="0" algn="l">
              <a:lnSpc>
                <a:spcPct val="110714"/>
              </a:lnSpc>
              <a:buNone/>
            </a:pPr>
            <a:r>
              <a:rPr lang="en-US" sz="1800" b="1" dirty="0">
                <a:solidFill>
                  <a:srgbClr val="201E1D"/>
                </a:solidFill>
                <a:latin typeface="Arial" pitchFamily="34" charset="0"/>
                <a:ea typeface="Arial" pitchFamily="34" charset="-122"/>
                <a:cs typeface="Arial" pitchFamily="34" charset="-120"/>
              </a:rPr>
              <a:t>Missed </a:t>
            </a:r>
            <a:r>
              <a:rPr lang="en-US" sz="1800" dirty="0">
                <a:solidFill>
                  <a:srgbClr val="201E1C">
                    <a:alpha val="60000"/>
                  </a:srgbClr>
                </a:solidFill>
                <a:latin typeface="Arial" pitchFamily="34" charset="0"/>
                <a:ea typeface="Arial" pitchFamily="34" charset="-122"/>
                <a:cs typeface="Arial" pitchFamily="34" charset="-120"/>
              </a:rPr>
              <a:t>we do not claim it</a:t>
            </a:r>
            <a:endParaRPr lang="en-US" sz="1800" dirty="0"/>
          </a:p>
        </p:txBody>
      </p:sp>
      <p:sp>
        <p:nvSpPr>
          <p:cNvPr id="55" name="Text 53"/>
          <p:cNvSpPr/>
          <p:nvPr/>
        </p:nvSpPr>
        <p:spPr>
          <a:xfrm>
            <a:off x="12306300" y="8153004"/>
            <a:ext cx="4709160" cy="609600"/>
          </a:xfrm>
          <a:prstGeom prst="rect">
            <a:avLst/>
          </a:prstGeom>
          <a:noFill/>
          <a:ln/>
        </p:spPr>
        <p:txBody>
          <a:bodyPr wrap="square" lIns="25400" tIns="25400" rIns="25400" bIns="25400" rtlCol="0" anchor="t">
            <a:normAutofit/>
          </a:bodyPr>
          <a:lstStyle/>
          <a:p>
            <a:pPr marL="0" indent="0" algn="l">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The equivalence claim ships with its own strength score.</a:t>
            </a:r>
            <a:endParaRPr lang="en-US" sz="1800" dirty="0"/>
          </a:p>
        </p:txBody>
      </p:sp>
      <p:sp>
        <p:nvSpPr>
          <p:cNvPr id="56" name="Text 54"/>
          <p:cNvSpPr/>
          <p:nvPr/>
        </p:nvSpPr>
        <p:spPr>
          <a:xfrm>
            <a:off x="1143000" y="9029700"/>
            <a:ext cx="16482060" cy="685800"/>
          </a:xfrm>
          <a:prstGeom prst="rect">
            <a:avLst/>
          </a:prstGeom>
          <a:noFill/>
          <a:ln/>
        </p:spPr>
        <p:txBody>
          <a:bodyPr wrap="square" lIns="25400" tIns="25400" rIns="25400" bIns="25400" rtlCol="0" anchor="t">
            <a:normAutofit/>
          </a:bodyPr>
          <a:lstStyle/>
          <a:p>
            <a:pPr marL="0" indent="0" algn="l">
              <a:lnSpc>
                <a:spcPct val="121429"/>
              </a:lnSpc>
              <a:buNone/>
            </a:pPr>
            <a:endParaRPr lang="en-US" sz="1800" dirty="0"/>
          </a:p>
        </p:txBody>
      </p:sp>
      <p:sp>
        <p:nvSpPr>
          <p:cNvPr id="57" name="TextBox 56"/>
          <p:cNvSpPr txBox="1"/>
          <p:nvPr/>
        </p:nvSpPr>
        <p:spPr>
          <a:xfrm>
            <a:off x="17236440" y="9784080"/>
            <a:ext cx="502920" cy="274320"/>
          </a:xfrm>
          <a:prstGeom prst="rect">
            <a:avLst/>
          </a:prstGeom>
          <a:noFill/>
        </p:spPr>
        <p:txBody>
          <a:bodyPr wrap="square" lIns="0" rIns="0" tIns="0" bIns="0" anchor="t">
            <a:spAutoFit/>
          </a:bodyPr>
          <a:lstStyle/>
          <a:p>
            <a:pPr algn="r">
              <a:lnSpc>
                <a:spcPct val="125000"/>
              </a:lnSpc>
            </a:pPr>
            <a:r>
              <a:rPr sz="1200" b="0">
                <a:solidFill>
                  <a:srgbClr val="8C8886"/>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3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612648"/>
            <a:ext cx="16477488" cy="393192"/>
          </a:xfrm>
          <a:prstGeom prst="rect">
            <a:avLst/>
          </a:prstGeom>
          <a:noFill/>
        </p:spPr>
        <p:txBody>
          <a:bodyPr wrap="square" lIns="0" rIns="0" tIns="0" bIns="0" anchor="t">
            <a:spAutoFit/>
          </a:bodyPr>
          <a:lstStyle/>
          <a:p>
            <a:pPr algn="l">
              <a:lnSpc>
                <a:spcPct val="128000"/>
              </a:lnSpc>
            </a:pPr>
            <a:r>
              <a:rPr sz="1800" b="1" spc="150">
                <a:solidFill>
                  <a:srgbClr val="EC3013"/>
                </a:solidFill>
                <a:latin typeface="Arial"/>
              </a:rPr>
              <a:t>MARKET POTENTIAL</a:t>
            </a:r>
          </a:p>
        </p:txBody>
      </p:sp>
      <p:sp>
        <p:nvSpPr>
          <p:cNvPr id="4" name="Rectangle 3"/>
          <p:cNvSpPr/>
          <p:nvPr/>
        </p:nvSpPr>
        <p:spPr>
          <a:xfrm>
            <a:off x="1143000" y="1207008"/>
            <a:ext cx="160020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5568" y="1792224"/>
            <a:ext cx="17629632" cy="822960"/>
          </a:xfrm>
          <a:prstGeom prst="rect">
            <a:avLst/>
          </a:prstGeom>
          <a:noFill/>
        </p:spPr>
        <p:txBody>
          <a:bodyPr wrap="square" lIns="0" rIns="0" tIns="0" bIns="0" anchor="t">
            <a:spAutoFit/>
          </a:bodyPr>
          <a:lstStyle/>
          <a:p>
            <a:pPr algn="l">
              <a:lnSpc>
                <a:spcPct val="102000"/>
              </a:lnSpc>
            </a:pPr>
            <a:r>
              <a:rPr sz="4650" b="1">
                <a:solidFill>
                  <a:srgbClr val="201E1D"/>
                </a:solidFill>
                <a:latin typeface="Arial"/>
              </a:rPr>
              <a:t>The spend is already committed. Assurance is the gate.</a:t>
            </a:r>
          </a:p>
        </p:txBody>
      </p:sp>
      <p:sp>
        <p:nvSpPr>
          <p:cNvPr id="6" name="Rectangle 5"/>
          <p:cNvSpPr/>
          <p:nvPr/>
        </p:nvSpPr>
        <p:spPr>
          <a:xfrm>
            <a:off x="1143000" y="2734056"/>
            <a:ext cx="160020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980944"/>
            <a:ext cx="3749039" cy="868680"/>
          </a:xfrm>
          <a:prstGeom prst="rect">
            <a:avLst/>
          </a:prstGeom>
          <a:noFill/>
        </p:spPr>
        <p:txBody>
          <a:bodyPr wrap="square" lIns="0" rIns="0" tIns="0" bIns="0" anchor="t">
            <a:spAutoFit/>
          </a:bodyPr>
          <a:lstStyle/>
          <a:p>
            <a:pPr algn="l">
              <a:lnSpc>
                <a:spcPct val="100000"/>
              </a:lnSpc>
            </a:pPr>
            <a:r>
              <a:rPr sz="4650" b="1">
                <a:solidFill>
                  <a:srgbClr val="201E1D"/>
                </a:solidFill>
                <a:latin typeface="Arial"/>
              </a:rPr>
              <a:t>~$1 bn</a:t>
            </a:r>
          </a:p>
        </p:txBody>
      </p:sp>
      <p:sp>
        <p:nvSpPr>
          <p:cNvPr id="8" name="TextBox 7"/>
          <p:cNvSpPr txBox="1"/>
          <p:nvPr/>
        </p:nvSpPr>
        <p:spPr>
          <a:xfrm>
            <a:off x="1143000" y="3986784"/>
            <a:ext cx="3703320" cy="1188720"/>
          </a:xfrm>
          <a:prstGeom prst="rect">
            <a:avLst/>
          </a:prstGeom>
          <a:noFill/>
        </p:spPr>
        <p:txBody>
          <a:bodyPr wrap="square" lIns="0" rIns="0" tIns="0" bIns="0" anchor="t">
            <a:spAutoFit/>
          </a:bodyPr>
          <a:lstStyle/>
          <a:p>
            <a:pPr algn="l">
              <a:lnSpc>
                <a:spcPct val="132000"/>
              </a:lnSpc>
            </a:pPr>
            <a:r>
              <a:rPr sz="1600" b="0">
                <a:solidFill>
                  <a:srgbClr val="201E1C"/>
                </a:solidFill>
                <a:latin typeface="Arial"/>
              </a:rPr>
              <a:t>what Indian lenders must invest over 5–10 years to upgrade legacy core banking systems</a:t>
            </a:r>
          </a:p>
        </p:txBody>
      </p:sp>
      <p:sp>
        <p:nvSpPr>
          <p:cNvPr id="9" name="TextBox 8"/>
          <p:cNvSpPr txBox="1"/>
          <p:nvPr/>
        </p:nvSpPr>
        <p:spPr>
          <a:xfrm>
            <a:off x="1143000" y="5138928"/>
            <a:ext cx="3703320" cy="457200"/>
          </a:xfrm>
          <a:prstGeom prst="rect">
            <a:avLst/>
          </a:prstGeom>
          <a:noFill/>
        </p:spPr>
        <p:txBody>
          <a:bodyPr wrap="square" lIns="0" rIns="0" tIns="0" bIns="0" anchor="t">
            <a:spAutoFit/>
          </a:bodyPr>
          <a:lstStyle/>
          <a:p>
            <a:pPr algn="l">
              <a:lnSpc>
                <a:spcPct val="128000"/>
              </a:lnSpc>
            </a:pPr>
            <a:r>
              <a:rPr sz="1300" b="0">
                <a:solidFill>
                  <a:srgbClr val="8C8886"/>
                </a:solidFill>
                <a:latin typeface="Arial"/>
              </a:rPr>
              <a:t>Boston Consulting Group, 2024</a:t>
            </a:r>
          </a:p>
        </p:txBody>
      </p:sp>
      <p:sp>
        <p:nvSpPr>
          <p:cNvPr id="10" name="Rectangle 9"/>
          <p:cNvSpPr/>
          <p:nvPr/>
        </p:nvSpPr>
        <p:spPr>
          <a:xfrm>
            <a:off x="4946904" y="3017520"/>
            <a:ext cx="9144" cy="2331720"/>
          </a:xfrm>
          <a:prstGeom prst="rect">
            <a:avLst/>
          </a:prstGeom>
          <a:solidFill>
            <a:srgbClr val="C9C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84648" y="2980944"/>
            <a:ext cx="3749039" cy="868680"/>
          </a:xfrm>
          <a:prstGeom prst="rect">
            <a:avLst/>
          </a:prstGeom>
          <a:noFill/>
        </p:spPr>
        <p:txBody>
          <a:bodyPr wrap="square" lIns="0" rIns="0" tIns="0" bIns="0" anchor="t">
            <a:spAutoFit/>
          </a:bodyPr>
          <a:lstStyle/>
          <a:p>
            <a:pPr algn="l">
              <a:lnSpc>
                <a:spcPct val="100000"/>
              </a:lnSpc>
            </a:pPr>
            <a:r>
              <a:rPr sz="4650" b="1">
                <a:solidFill>
                  <a:srgbClr val="201E1D"/>
                </a:solidFill>
                <a:latin typeface="Arial"/>
              </a:rPr>
              <a:t>92 of 100</a:t>
            </a:r>
          </a:p>
        </p:txBody>
      </p:sp>
      <p:sp>
        <p:nvSpPr>
          <p:cNvPr id="12" name="TextBox 11"/>
          <p:cNvSpPr txBox="1"/>
          <p:nvPr/>
        </p:nvSpPr>
        <p:spPr>
          <a:xfrm>
            <a:off x="5184648" y="3986784"/>
            <a:ext cx="3703320" cy="1188720"/>
          </a:xfrm>
          <a:prstGeom prst="rect">
            <a:avLst/>
          </a:prstGeom>
          <a:noFill/>
        </p:spPr>
        <p:txBody>
          <a:bodyPr wrap="square" lIns="0" rIns="0" tIns="0" bIns="0" anchor="t">
            <a:spAutoFit/>
          </a:bodyPr>
          <a:lstStyle/>
          <a:p>
            <a:pPr algn="l">
              <a:lnSpc>
                <a:spcPct val="132000"/>
              </a:lnSpc>
            </a:pPr>
            <a:r>
              <a:rPr sz="1600" b="0">
                <a:solidFill>
                  <a:srgbClr val="201E1C"/>
                </a:solidFill>
                <a:latin typeface="Arial"/>
              </a:rPr>
              <a:t>of the world's largest banks run core operations on IBM mainframes</a:t>
            </a:r>
          </a:p>
        </p:txBody>
      </p:sp>
      <p:sp>
        <p:nvSpPr>
          <p:cNvPr id="13" name="TextBox 12"/>
          <p:cNvSpPr txBox="1"/>
          <p:nvPr/>
        </p:nvSpPr>
        <p:spPr>
          <a:xfrm>
            <a:off x="5184648" y="5138928"/>
            <a:ext cx="3703320" cy="457200"/>
          </a:xfrm>
          <a:prstGeom prst="rect">
            <a:avLst/>
          </a:prstGeom>
          <a:noFill/>
        </p:spPr>
        <p:txBody>
          <a:bodyPr wrap="square" lIns="0" rIns="0" tIns="0" bIns="0" anchor="t">
            <a:spAutoFit/>
          </a:bodyPr>
          <a:lstStyle/>
          <a:p>
            <a:pPr algn="l">
              <a:lnSpc>
                <a:spcPct val="128000"/>
              </a:lnSpc>
            </a:pPr>
            <a:r>
              <a:rPr sz="1300" b="0">
                <a:solidFill>
                  <a:srgbClr val="8C8886"/>
                </a:solidFill>
                <a:latin typeface="Arial"/>
              </a:rPr>
              <a:t>widely reported industry figure</a:t>
            </a:r>
          </a:p>
        </p:txBody>
      </p:sp>
      <p:sp>
        <p:nvSpPr>
          <p:cNvPr id="14" name="Rectangle 13"/>
          <p:cNvSpPr/>
          <p:nvPr/>
        </p:nvSpPr>
        <p:spPr>
          <a:xfrm>
            <a:off x="8988552" y="3017520"/>
            <a:ext cx="9144" cy="2331720"/>
          </a:xfrm>
          <a:prstGeom prst="rect">
            <a:avLst/>
          </a:prstGeom>
          <a:solidFill>
            <a:srgbClr val="C9C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26296" y="2980944"/>
            <a:ext cx="3749039" cy="868680"/>
          </a:xfrm>
          <a:prstGeom prst="rect">
            <a:avLst/>
          </a:prstGeom>
          <a:noFill/>
        </p:spPr>
        <p:txBody>
          <a:bodyPr wrap="square" lIns="0" rIns="0" tIns="0" bIns="0" anchor="t">
            <a:spAutoFit/>
          </a:bodyPr>
          <a:lstStyle/>
          <a:p>
            <a:pPr algn="l">
              <a:lnSpc>
                <a:spcPct val="100000"/>
              </a:lnSpc>
            </a:pPr>
            <a:r>
              <a:rPr sz="4650" b="1">
                <a:solidFill>
                  <a:srgbClr val="201E1D"/>
                </a:solidFill>
                <a:latin typeface="Arial"/>
              </a:rPr>
              <a:t>&gt; 40%</a:t>
            </a:r>
          </a:p>
        </p:txBody>
      </p:sp>
      <p:sp>
        <p:nvSpPr>
          <p:cNvPr id="16" name="TextBox 15"/>
          <p:cNvSpPr txBox="1"/>
          <p:nvPr/>
        </p:nvSpPr>
        <p:spPr>
          <a:xfrm>
            <a:off x="9226296" y="3986784"/>
            <a:ext cx="3703320" cy="1188720"/>
          </a:xfrm>
          <a:prstGeom prst="rect">
            <a:avLst/>
          </a:prstGeom>
          <a:noFill/>
        </p:spPr>
        <p:txBody>
          <a:bodyPr wrap="square" lIns="0" rIns="0" tIns="0" bIns="0" anchor="t">
            <a:spAutoFit/>
          </a:bodyPr>
          <a:lstStyle/>
          <a:p>
            <a:pPr algn="l">
              <a:lnSpc>
                <a:spcPct val="132000"/>
              </a:lnSpc>
            </a:pPr>
            <a:r>
              <a:rPr sz="1600" b="0">
                <a:solidFill>
                  <a:srgbClr val="201E1C"/>
                </a:solidFill>
                <a:latin typeface="Arial"/>
              </a:rPr>
              <a:t>of banking systems still run COBOL in production today</a:t>
            </a:r>
          </a:p>
        </p:txBody>
      </p:sp>
      <p:sp>
        <p:nvSpPr>
          <p:cNvPr id="17" name="TextBox 16"/>
          <p:cNvSpPr txBox="1"/>
          <p:nvPr/>
        </p:nvSpPr>
        <p:spPr>
          <a:xfrm>
            <a:off x="9226296" y="5138928"/>
            <a:ext cx="3703320" cy="457200"/>
          </a:xfrm>
          <a:prstGeom prst="rect">
            <a:avLst/>
          </a:prstGeom>
          <a:noFill/>
        </p:spPr>
        <p:txBody>
          <a:bodyPr wrap="square" lIns="0" rIns="0" tIns="0" bIns="0" anchor="t">
            <a:spAutoFit/>
          </a:bodyPr>
          <a:lstStyle/>
          <a:p>
            <a:pPr algn="l">
              <a:lnSpc>
                <a:spcPct val="128000"/>
              </a:lnSpc>
            </a:pPr>
            <a:r>
              <a:rPr sz="1300" b="0">
                <a:solidFill>
                  <a:srgbClr val="8C8886"/>
                </a:solidFill>
                <a:latin typeface="Arial"/>
              </a:rPr>
              <a:t>Pragmatic Coders, 2025</a:t>
            </a:r>
          </a:p>
        </p:txBody>
      </p:sp>
      <p:sp>
        <p:nvSpPr>
          <p:cNvPr id="18" name="Rectangle 17"/>
          <p:cNvSpPr/>
          <p:nvPr/>
        </p:nvSpPr>
        <p:spPr>
          <a:xfrm>
            <a:off x="13030200" y="3017520"/>
            <a:ext cx="9144" cy="2331720"/>
          </a:xfrm>
          <a:prstGeom prst="rect">
            <a:avLst/>
          </a:prstGeom>
          <a:solidFill>
            <a:srgbClr val="C9C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267944" y="2980944"/>
            <a:ext cx="3749039" cy="868680"/>
          </a:xfrm>
          <a:prstGeom prst="rect">
            <a:avLst/>
          </a:prstGeom>
          <a:noFill/>
        </p:spPr>
        <p:txBody>
          <a:bodyPr wrap="square" lIns="0" rIns="0" tIns="0" bIns="0" anchor="t">
            <a:spAutoFit/>
          </a:bodyPr>
          <a:lstStyle/>
          <a:p>
            <a:pPr algn="l">
              <a:lnSpc>
                <a:spcPct val="100000"/>
              </a:lnSpc>
            </a:pPr>
            <a:r>
              <a:rPr sz="4650" b="1">
                <a:solidFill>
                  <a:srgbClr val="201E1D"/>
                </a:solidFill>
                <a:latin typeface="Arial"/>
              </a:rPr>
              <a:t>5% vs 7–9%</a:t>
            </a:r>
          </a:p>
        </p:txBody>
      </p:sp>
      <p:sp>
        <p:nvSpPr>
          <p:cNvPr id="20" name="TextBox 19"/>
          <p:cNvSpPr txBox="1"/>
          <p:nvPr/>
        </p:nvSpPr>
        <p:spPr>
          <a:xfrm>
            <a:off x="13267944" y="3986784"/>
            <a:ext cx="3703320" cy="1188720"/>
          </a:xfrm>
          <a:prstGeom prst="rect">
            <a:avLst/>
          </a:prstGeom>
          <a:noFill/>
        </p:spPr>
        <p:txBody>
          <a:bodyPr wrap="square" lIns="0" rIns="0" tIns="0" bIns="0" anchor="t">
            <a:spAutoFit/>
          </a:bodyPr>
          <a:lstStyle/>
          <a:p>
            <a:pPr algn="l">
              <a:lnSpc>
                <a:spcPct val="132000"/>
              </a:lnSpc>
            </a:pPr>
            <a:r>
              <a:rPr sz="1600" b="0">
                <a:solidFill>
                  <a:srgbClr val="201E1C"/>
                </a:solidFill>
                <a:latin typeface="Arial"/>
              </a:rPr>
              <a:t>Indian banks' IT spend as a share of revenue, against global peers</a:t>
            </a:r>
          </a:p>
        </p:txBody>
      </p:sp>
      <p:sp>
        <p:nvSpPr>
          <p:cNvPr id="21" name="TextBox 20"/>
          <p:cNvSpPr txBox="1"/>
          <p:nvPr/>
        </p:nvSpPr>
        <p:spPr>
          <a:xfrm>
            <a:off x="13267944" y="5138928"/>
            <a:ext cx="3703320" cy="457200"/>
          </a:xfrm>
          <a:prstGeom prst="rect">
            <a:avLst/>
          </a:prstGeom>
          <a:noFill/>
        </p:spPr>
        <p:txBody>
          <a:bodyPr wrap="square" lIns="0" rIns="0" tIns="0" bIns="0" anchor="t">
            <a:spAutoFit/>
          </a:bodyPr>
          <a:lstStyle/>
          <a:p>
            <a:pPr algn="l">
              <a:lnSpc>
                <a:spcPct val="128000"/>
              </a:lnSpc>
            </a:pPr>
            <a:r>
              <a:rPr sz="1300" b="0">
                <a:solidFill>
                  <a:srgbClr val="8C8886"/>
                </a:solidFill>
                <a:latin typeface="Arial"/>
              </a:rPr>
              <a:t>industry analysis</a:t>
            </a:r>
          </a:p>
        </p:txBody>
      </p:sp>
      <p:sp>
        <p:nvSpPr>
          <p:cNvPr id="22" name="Rectangle 21"/>
          <p:cNvSpPr/>
          <p:nvPr/>
        </p:nvSpPr>
        <p:spPr>
          <a:xfrm>
            <a:off x="1143000" y="5870448"/>
            <a:ext cx="160020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43000" y="6108192"/>
            <a:ext cx="7589520" cy="356616"/>
          </a:xfrm>
          <a:prstGeom prst="rect">
            <a:avLst/>
          </a:prstGeom>
          <a:noFill/>
        </p:spPr>
        <p:txBody>
          <a:bodyPr wrap="square" lIns="0" rIns="0" tIns="0" bIns="0" anchor="t">
            <a:spAutoFit/>
          </a:bodyPr>
          <a:lstStyle/>
          <a:p>
            <a:pPr algn="l">
              <a:lnSpc>
                <a:spcPct val="128000"/>
              </a:lnSpc>
            </a:pPr>
            <a:r>
              <a:rPr sz="2175" b="1">
                <a:solidFill>
                  <a:srgbClr val="201E1D"/>
                </a:solidFill>
                <a:latin typeface="Arial"/>
              </a:rPr>
              <a:t>Every rupee of it is gated by one step</a:t>
            </a:r>
          </a:p>
        </p:txBody>
      </p:sp>
      <p:sp>
        <p:nvSpPr>
          <p:cNvPr id="24" name="TextBox 23"/>
          <p:cNvSpPr txBox="1"/>
          <p:nvPr/>
        </p:nvSpPr>
        <p:spPr>
          <a:xfrm>
            <a:off x="1143000" y="6601968"/>
            <a:ext cx="7589520" cy="1463040"/>
          </a:xfrm>
          <a:prstGeom prst="rect">
            <a:avLst/>
          </a:prstGeom>
          <a:noFill/>
        </p:spPr>
        <p:txBody>
          <a:bodyPr wrap="square" lIns="0" rIns="0" tIns="0" bIns="0" anchor="t">
            <a:spAutoFit/>
          </a:bodyPr>
          <a:lstStyle/>
          <a:p>
            <a:pPr algn="l">
              <a:lnSpc>
                <a:spcPct val="134000"/>
              </a:lnSpc>
            </a:pPr>
            <a:r>
              <a:rPr sz="1600" b="0">
                <a:solidFill>
                  <a:srgbClr val="6F6C6B"/>
                </a:solidFill>
                <a:latin typeface="Arial"/>
              </a:rPr>
              <a:t>Modernisation budgets are approved. What stalls them is the assurance step between “the new code exists” and “we are willing to run it on real money”. That step has no product category yet — it is absorbed as consulting hours and schedule risk.</a:t>
            </a:r>
          </a:p>
        </p:txBody>
      </p:sp>
      <p:sp>
        <p:nvSpPr>
          <p:cNvPr id="25" name="TextBox 24"/>
          <p:cNvSpPr txBox="1"/>
          <p:nvPr/>
        </p:nvSpPr>
        <p:spPr>
          <a:xfrm>
            <a:off x="9555480" y="6108192"/>
            <a:ext cx="7589520" cy="356616"/>
          </a:xfrm>
          <a:prstGeom prst="rect">
            <a:avLst/>
          </a:prstGeom>
          <a:noFill/>
        </p:spPr>
        <p:txBody>
          <a:bodyPr wrap="square" lIns="0" rIns="0" tIns="0" bIns="0" anchor="t">
            <a:spAutoFit/>
          </a:bodyPr>
          <a:lstStyle/>
          <a:p>
            <a:pPr algn="l">
              <a:lnSpc>
                <a:spcPct val="128000"/>
              </a:lnSpc>
            </a:pPr>
            <a:r>
              <a:rPr sz="2175" b="1">
                <a:solidFill>
                  <a:srgbClr val="201E1D"/>
                </a:solidFill>
                <a:latin typeface="Arial"/>
              </a:rPr>
              <a:t>The category is forming around generation</a:t>
            </a:r>
          </a:p>
        </p:txBody>
      </p:sp>
      <p:sp>
        <p:nvSpPr>
          <p:cNvPr id="26" name="Rectangle 25"/>
          <p:cNvSpPr/>
          <p:nvPr/>
        </p:nvSpPr>
        <p:spPr>
          <a:xfrm>
            <a:off x="9555480" y="6702552"/>
            <a:ext cx="91440" cy="91440"/>
          </a:xfrm>
          <a:prstGeom prst="rect">
            <a:avLst/>
          </a:prstGeom>
          <a:solidFill>
            <a:srgbClr val="EC3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48088" y="6601968"/>
            <a:ext cx="7296912" cy="731520"/>
          </a:xfrm>
          <a:prstGeom prst="rect">
            <a:avLst/>
          </a:prstGeom>
          <a:noFill/>
        </p:spPr>
        <p:txBody>
          <a:bodyPr wrap="square" lIns="0" rIns="0" tIns="0" bIns="0" anchor="t">
            <a:spAutoFit/>
          </a:bodyPr>
          <a:lstStyle/>
          <a:p>
            <a:pPr algn="l">
              <a:lnSpc>
                <a:spcPct val="132000"/>
              </a:lnSpc>
            </a:pPr>
            <a:r>
              <a:rPr sz="1550" b="1">
                <a:solidFill>
                  <a:srgbClr val="201E1D"/>
                </a:solidFill>
                <a:latin typeface="Arial"/>
              </a:rPr>
              <a:t>AWS Transform for mainframe  </a:t>
            </a:r>
            <a:r>
              <a:rPr sz="1550" b="0">
                <a:solidFill>
                  <a:srgbClr val="6F6C6B"/>
                </a:solidFill>
                <a:latin typeface="Arial"/>
              </a:rPr>
              <a:t>generally available May 2025. ADP used it to cut rule-extraction time by 80% and manual effort by over 90%.</a:t>
            </a:r>
          </a:p>
        </p:txBody>
      </p:sp>
      <p:sp>
        <p:nvSpPr>
          <p:cNvPr id="28" name="Rectangle 27"/>
          <p:cNvSpPr/>
          <p:nvPr/>
        </p:nvSpPr>
        <p:spPr>
          <a:xfrm>
            <a:off x="9555480" y="7488936"/>
            <a:ext cx="91440" cy="91440"/>
          </a:xfrm>
          <a:prstGeom prst="rect">
            <a:avLst/>
          </a:prstGeom>
          <a:solidFill>
            <a:srgbClr val="EC3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48088" y="7388352"/>
            <a:ext cx="7296912" cy="731520"/>
          </a:xfrm>
          <a:prstGeom prst="rect">
            <a:avLst/>
          </a:prstGeom>
          <a:noFill/>
        </p:spPr>
        <p:txBody>
          <a:bodyPr wrap="square" lIns="0" rIns="0" tIns="0" bIns="0" anchor="t">
            <a:spAutoFit/>
          </a:bodyPr>
          <a:lstStyle/>
          <a:p>
            <a:pPr algn="l">
              <a:lnSpc>
                <a:spcPct val="132000"/>
              </a:lnSpc>
            </a:pPr>
            <a:r>
              <a:rPr sz="1550" b="1">
                <a:solidFill>
                  <a:srgbClr val="201E1D"/>
                </a:solidFill>
                <a:latin typeface="Arial"/>
              </a:rPr>
              <a:t>IBM watsonx Code Assistant for Z  </a:t>
            </a:r>
            <a:r>
              <a:rPr sz="1550" b="0">
                <a:solidFill>
                  <a:srgbClr val="6F6C6B"/>
                </a:solidFill>
                <a:latin typeface="Arial"/>
              </a:rPr>
              <a:t>ships with a validation assistant — IBM's own papers say the translated code cannot be trusted without checking.</a:t>
            </a:r>
          </a:p>
        </p:txBody>
      </p:sp>
      <p:sp>
        <p:nvSpPr>
          <p:cNvPr id="30" name="Rectangle 29"/>
          <p:cNvSpPr/>
          <p:nvPr/>
        </p:nvSpPr>
        <p:spPr>
          <a:xfrm>
            <a:off x="9555480" y="8275319"/>
            <a:ext cx="91440" cy="91440"/>
          </a:xfrm>
          <a:prstGeom prst="rect">
            <a:avLst/>
          </a:prstGeom>
          <a:solidFill>
            <a:srgbClr val="EC3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48088" y="8174736"/>
            <a:ext cx="7296912" cy="731520"/>
          </a:xfrm>
          <a:prstGeom prst="rect">
            <a:avLst/>
          </a:prstGeom>
          <a:noFill/>
        </p:spPr>
        <p:txBody>
          <a:bodyPr wrap="square" lIns="0" rIns="0" tIns="0" bIns="0" anchor="t">
            <a:spAutoFit/>
          </a:bodyPr>
          <a:lstStyle/>
          <a:p>
            <a:pPr algn="l">
              <a:lnSpc>
                <a:spcPct val="132000"/>
              </a:lnSpc>
            </a:pPr>
            <a:r>
              <a:rPr sz="1550" b="1">
                <a:solidFill>
                  <a:srgbClr val="201E1D"/>
                </a:solidFill>
                <a:latin typeface="Arial"/>
              </a:rPr>
              <a:t>Mechanical Orchard, Imogen  </a:t>
            </a:r>
            <a:r>
              <a:rPr sz="1550" b="0">
                <a:solidFill>
                  <a:srgbClr val="6F6C6B"/>
                </a:solidFill>
                <a:latin typeface="Arial"/>
              </a:rPr>
              <a:t>a generate-then-validate loop.</a:t>
            </a:r>
          </a:p>
        </p:txBody>
      </p:sp>
      <p:sp>
        <p:nvSpPr>
          <p:cNvPr id="32" name="TextBox 31"/>
          <p:cNvSpPr txBox="1"/>
          <p:nvPr/>
        </p:nvSpPr>
        <p:spPr>
          <a:xfrm>
            <a:off x="9555480" y="9015984"/>
            <a:ext cx="7589520" cy="365760"/>
          </a:xfrm>
          <a:prstGeom prst="rect">
            <a:avLst/>
          </a:prstGeom>
          <a:noFill/>
        </p:spPr>
        <p:txBody>
          <a:bodyPr wrap="square" lIns="0" rIns="0" tIns="0" bIns="0" anchor="t">
            <a:spAutoFit/>
          </a:bodyPr>
          <a:lstStyle/>
          <a:p>
            <a:pPr algn="l">
              <a:lnSpc>
                <a:spcPct val="128000"/>
              </a:lnSpc>
            </a:pPr>
            <a:r>
              <a:rPr sz="1700" b="1">
                <a:solidFill>
                  <a:srgbClr val="AE1800"/>
                </a:solidFill>
                <a:latin typeface="Arial"/>
              </a:rPr>
              <a:t>All of them generate. None of them sells the proof as the product.</a:t>
            </a:r>
          </a:p>
        </p:txBody>
      </p:sp>
      <p:sp>
        <p:nvSpPr>
          <p:cNvPr id="33" name="TextBox 32"/>
          <p:cNvSpPr txBox="1"/>
          <p:nvPr/>
        </p:nvSpPr>
        <p:spPr>
          <a:xfrm>
            <a:off x="1143000" y="7973568"/>
            <a:ext cx="7589520" cy="274320"/>
          </a:xfrm>
          <a:prstGeom prst="rect">
            <a:avLst/>
          </a:prstGeom>
          <a:noFill/>
        </p:spPr>
        <p:txBody>
          <a:bodyPr wrap="square" lIns="0" rIns="0" tIns="0" bIns="0" anchor="t">
            <a:spAutoFit/>
          </a:bodyPr>
          <a:lstStyle/>
          <a:p>
            <a:pPr algn="l">
              <a:lnSpc>
                <a:spcPct val="125000"/>
              </a:lnSpc>
            </a:pPr>
            <a:r>
              <a:rPr sz="1650" b="1">
                <a:solidFill>
                  <a:srgbClr val="201E1D"/>
                </a:solidFill>
                <a:latin typeface="Arial"/>
              </a:rPr>
              <a:t>IT spend as a share of revenue</a:t>
            </a:r>
          </a:p>
        </p:txBody>
      </p:sp>
      <p:sp>
        <p:nvSpPr>
          <p:cNvPr id="34" name="Rectangle 33"/>
          <p:cNvSpPr/>
          <p:nvPr/>
        </p:nvSpPr>
        <p:spPr>
          <a:xfrm>
            <a:off x="1143000" y="8412480"/>
            <a:ext cx="2834640" cy="402336"/>
          </a:xfrm>
          <a:prstGeom prst="rect">
            <a:avLst/>
          </a:prstGeom>
          <a:solidFill>
            <a:srgbClr val="20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0" y="8485632"/>
            <a:ext cx="2377440" cy="274320"/>
          </a:xfrm>
          <a:prstGeom prst="rect">
            <a:avLst/>
          </a:prstGeom>
          <a:noFill/>
        </p:spPr>
        <p:txBody>
          <a:bodyPr wrap="square" lIns="0" rIns="0" tIns="0" bIns="0" anchor="t">
            <a:spAutoFit/>
          </a:bodyPr>
          <a:lstStyle/>
          <a:p>
            <a:pPr algn="l">
              <a:lnSpc>
                <a:spcPct val="125000"/>
              </a:lnSpc>
            </a:pPr>
            <a:r>
              <a:rPr sz="1400" b="1">
                <a:solidFill>
                  <a:srgbClr val="201E1D"/>
                </a:solidFill>
                <a:latin typeface="Arial"/>
              </a:rPr>
              <a:t>5%  Indian banks</a:t>
            </a:r>
          </a:p>
        </p:txBody>
      </p:sp>
      <p:sp>
        <p:nvSpPr>
          <p:cNvPr id="36" name="Rectangle 35"/>
          <p:cNvSpPr/>
          <p:nvPr/>
        </p:nvSpPr>
        <p:spPr>
          <a:xfrm>
            <a:off x="1143000" y="8979408"/>
            <a:ext cx="3968496" cy="402336"/>
          </a:xfrm>
          <a:prstGeom prst="rect">
            <a:avLst/>
          </a:prstGeom>
          <a:solidFill>
            <a:srgbClr val="EC3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111496" y="8979408"/>
            <a:ext cx="1133856" cy="402336"/>
          </a:xfrm>
          <a:prstGeom prst="rect">
            <a:avLst/>
          </a:prstGeom>
          <a:solidFill>
            <a:srgbClr val="F5A8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82512" y="9052560"/>
            <a:ext cx="3108960" cy="274320"/>
          </a:xfrm>
          <a:prstGeom prst="rect">
            <a:avLst/>
          </a:prstGeom>
          <a:noFill/>
        </p:spPr>
        <p:txBody>
          <a:bodyPr wrap="square" lIns="0" rIns="0" tIns="0" bIns="0" anchor="t">
            <a:spAutoFit/>
          </a:bodyPr>
          <a:lstStyle/>
          <a:p>
            <a:pPr algn="l">
              <a:lnSpc>
                <a:spcPct val="125000"/>
              </a:lnSpc>
            </a:pPr>
            <a:r>
              <a:rPr sz="1400" b="1">
                <a:solidFill>
                  <a:srgbClr val="201E1D"/>
                </a:solidFill>
                <a:latin typeface="Arial"/>
              </a:rPr>
              <a:t>7–9%  global peers</a:t>
            </a:r>
          </a:p>
        </p:txBody>
      </p:sp>
      <p:sp>
        <p:nvSpPr>
          <p:cNvPr id="39" name="TextBox 38"/>
          <p:cNvSpPr txBox="1"/>
          <p:nvPr/>
        </p:nvSpPr>
        <p:spPr>
          <a:xfrm>
            <a:off x="1143000" y="9582912"/>
            <a:ext cx="7589520" cy="320040"/>
          </a:xfrm>
          <a:prstGeom prst="rect">
            <a:avLst/>
          </a:prstGeom>
          <a:noFill/>
        </p:spPr>
        <p:txBody>
          <a:bodyPr wrap="square" lIns="0" rIns="0" tIns="0" bIns="0" anchor="t">
            <a:spAutoFit/>
          </a:bodyPr>
          <a:lstStyle/>
          <a:p>
            <a:pPr algn="l">
              <a:lnSpc>
                <a:spcPct val="125000"/>
              </a:lnSpc>
            </a:pPr>
            <a:r>
              <a:rPr sz="1300" b="0">
                <a:solidFill>
                  <a:srgbClr val="8C8886"/>
                </a:solidFill>
                <a:latin typeface="Arial"/>
              </a:rPr>
              <a:t>The gap compounds: less budget → fewer modernisation attempts → more undocumented logic.</a:t>
            </a:r>
          </a:p>
        </p:txBody>
      </p:sp>
      <p:sp>
        <p:nvSpPr>
          <p:cNvPr id="40" name="TextBox 39"/>
          <p:cNvSpPr txBox="1"/>
          <p:nvPr/>
        </p:nvSpPr>
        <p:spPr>
          <a:xfrm>
            <a:off x="17236440" y="9784080"/>
            <a:ext cx="502920" cy="274320"/>
          </a:xfrm>
          <a:prstGeom prst="rect">
            <a:avLst/>
          </a:prstGeom>
          <a:noFill/>
        </p:spPr>
        <p:txBody>
          <a:bodyPr wrap="square" lIns="0" rIns="0" tIns="0" bIns="0" anchor="t">
            <a:spAutoFit/>
          </a:bodyPr>
          <a:lstStyle/>
          <a:p>
            <a:pPr algn="r">
              <a:lnSpc>
                <a:spcPct val="125000"/>
              </a:lnSpc>
            </a:pPr>
            <a:r>
              <a:rPr sz="1200" b="0">
                <a:solidFill>
                  <a:srgbClr val="8C8886"/>
                </a:solidFill>
                <a:latin typeface="Arial"/>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3F2F2"/>
        </a:solidFill>
        <a:effectLst/>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16482060" cy="392410"/>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144" dirty="0">
                <a:solidFill>
                  <a:srgbClr val="EC3013"/>
                </a:solidFill>
                <a:latin typeface="Arial" pitchFamily="34" charset="0"/>
                <a:ea typeface="Arial" pitchFamily="34" charset="-122"/>
                <a:cs typeface="Arial" pitchFamily="34" charset="-120"/>
              </a:rPr>
              <a:t>FEASIBILITY &amp; SCOPE</a:t>
            </a:r>
            <a:endParaRPr lang="en-US" sz="1800" dirty="0"/>
          </a:p>
        </p:txBody>
      </p:sp>
      <p:sp>
        <p:nvSpPr>
          <p:cNvPr id="4" name="Text 2"/>
          <p:cNvSpPr/>
          <p:nvPr/>
        </p:nvSpPr>
        <p:spPr>
          <a:xfrm>
            <a:off x="1116509" y="1790700"/>
            <a:ext cx="17631341" cy="675878"/>
          </a:xfrm>
          <a:prstGeom prst="rect">
            <a:avLst/>
          </a:prstGeom>
          <a:noFill/>
          <a:ln/>
        </p:spPr>
        <p:txBody>
          <a:bodyPr wrap="square" lIns="25400" tIns="25400" rIns="25400" bIns="25400" rtlCol="0" anchor="t">
            <a:normAutofit/>
          </a:bodyPr>
          <a:lstStyle/>
          <a:p>
            <a:pPr marL="0" indent="0" algn="l">
              <a:lnSpc>
                <a:spcPct val="76672"/>
              </a:lnSpc>
              <a:buNone/>
            </a:pPr>
            <a:r>
              <a:rPr lang="en-US" sz="4650" b="1" kern="0" spc="-70" dirty="0">
                <a:solidFill>
                  <a:srgbClr val="201E1D"/>
                </a:solidFill>
                <a:latin typeface="Arial" pitchFamily="34" charset="0"/>
                <a:ea typeface="Arial" pitchFamily="34" charset="-122"/>
                <a:cs typeface="Arial" pitchFamily="34" charset="-120"/>
              </a:rPr>
              <a:t>Narrow by design, and buildable now</a:t>
            </a:r>
            <a:endParaRPr lang="en-US" sz="4650" dirty="0"/>
          </a:p>
        </p:txBody>
      </p:sp>
      <p:sp>
        <p:nvSpPr>
          <p:cNvPr id="5" name="Shape 3"/>
          <p:cNvSpPr/>
          <p:nvPr/>
        </p:nvSpPr>
        <p:spPr>
          <a:xfrm>
            <a:off x="1143000" y="2771378"/>
            <a:ext cx="7772400" cy="19050"/>
          </a:xfrm>
          <a:prstGeom prst="rect">
            <a:avLst/>
          </a:prstGeom>
          <a:solidFill>
            <a:srgbClr val="201E1E">
              <a:alpha val="40000"/>
            </a:srgbClr>
          </a:solidFill>
          <a:ln/>
        </p:spPr>
      </p:sp>
      <p:sp>
        <p:nvSpPr>
          <p:cNvPr id="6" name="Text 4"/>
          <p:cNvSpPr/>
          <p:nvPr/>
        </p:nvSpPr>
        <p:spPr>
          <a:xfrm>
            <a:off x="1143000" y="2961878"/>
            <a:ext cx="8549640" cy="355699"/>
          </a:xfrm>
          <a:prstGeom prst="rect">
            <a:avLst/>
          </a:prstGeom>
          <a:noFill/>
          <a:ln/>
        </p:spPr>
        <p:txBody>
          <a:bodyPr wrap="square" lIns="25400" tIns="25400" rIns="25400" bIns="25400" rtlCol="0" anchor="t">
            <a:normAutofit/>
          </a:bodyPr>
          <a:lstStyle/>
          <a:p>
            <a:pPr marL="0" indent="0" algn="l">
              <a:lnSpc>
                <a:spcPct val="82008"/>
              </a:lnSpc>
              <a:buNone/>
            </a:pPr>
            <a:r>
              <a:rPr lang="en-US" sz="2175" b="1" kern="0" spc="-33" dirty="0">
                <a:solidFill>
                  <a:srgbClr val="201E1D"/>
                </a:solidFill>
                <a:latin typeface="Arial" pitchFamily="34" charset="0"/>
                <a:ea typeface="Arial" pitchFamily="34" charset="-122"/>
                <a:cs typeface="Arial" pitchFamily="34" charset="-120"/>
              </a:rPr>
              <a:t>In scope</a:t>
            </a:r>
            <a:endParaRPr lang="en-US" sz="2175" dirty="0"/>
          </a:p>
        </p:txBody>
      </p:sp>
      <p:sp>
        <p:nvSpPr>
          <p:cNvPr id="7" name="Text 5"/>
          <p:cNvSpPr/>
          <p:nvPr/>
        </p:nvSpPr>
        <p:spPr>
          <a:xfrm>
            <a:off x="1143000" y="3412827"/>
            <a:ext cx="8005572" cy="1371600"/>
          </a:xfrm>
          <a:prstGeom prst="rect">
            <a:avLst/>
          </a:prstGeom>
          <a:noFill/>
          <a:ln/>
        </p:spPr>
        <p:txBody>
          <a:bodyPr wrap="square" lIns="25400" tIns="25400" rIns="25400" bIns="25400" rtlCol="0" anchor="t">
            <a:normAutofit/>
          </a:bodyPr>
          <a:lstStyle/>
          <a:p>
            <a:pPr marL="0" indent="0" algn="l">
              <a:lnSpc>
                <a:spcPct val="125000"/>
              </a:lnSpc>
              <a:buNone/>
            </a:pPr>
            <a:r>
              <a:rPr lang="en-US" sz="1800" dirty="0">
                <a:solidFill>
                  <a:srgbClr val="201E1D"/>
                </a:solidFill>
                <a:latin typeface="Arial" pitchFamily="34" charset="0"/>
                <a:ea typeface="Arial" pitchFamily="34" charset="-122"/>
                <a:cs typeface="Arial" pitchFamily="34" charset="-120"/>
              </a:rPr>
              <a:t>COBOL compiled and executed via GnuCOBOL — free, open source, runs on a laptop Retail banking interest accrual — pure computation: input in, output out Third-party COBOL, including AWS’s own CardDemo sample</a:t>
            </a:r>
            <a:endParaRPr lang="en-US" sz="1800" dirty="0"/>
          </a:p>
        </p:txBody>
      </p:sp>
      <p:sp>
        <p:nvSpPr>
          <p:cNvPr id="8" name="Shape 6"/>
          <p:cNvSpPr/>
          <p:nvPr/>
        </p:nvSpPr>
        <p:spPr>
          <a:xfrm>
            <a:off x="9372600" y="2771378"/>
            <a:ext cx="7772400" cy="19050"/>
          </a:xfrm>
          <a:prstGeom prst="rect">
            <a:avLst/>
          </a:prstGeom>
          <a:solidFill>
            <a:srgbClr val="201E1E">
              <a:alpha val="40000"/>
            </a:srgbClr>
          </a:solidFill>
          <a:ln/>
        </p:spPr>
      </p:sp>
      <p:sp>
        <p:nvSpPr>
          <p:cNvPr id="9" name="Text 7"/>
          <p:cNvSpPr/>
          <p:nvPr/>
        </p:nvSpPr>
        <p:spPr>
          <a:xfrm>
            <a:off x="9372600" y="2961878"/>
            <a:ext cx="8549640" cy="355699"/>
          </a:xfrm>
          <a:prstGeom prst="rect">
            <a:avLst/>
          </a:prstGeom>
          <a:noFill/>
          <a:ln/>
        </p:spPr>
        <p:txBody>
          <a:bodyPr wrap="square" lIns="25400" tIns="25400" rIns="25400" bIns="25400" rtlCol="0" anchor="t">
            <a:normAutofit/>
          </a:bodyPr>
          <a:lstStyle/>
          <a:p>
            <a:pPr marL="0" indent="0" algn="l">
              <a:lnSpc>
                <a:spcPct val="82008"/>
              </a:lnSpc>
              <a:buNone/>
            </a:pPr>
            <a:r>
              <a:rPr lang="en-US" sz="2175" b="1" kern="0" spc="-33" dirty="0">
                <a:solidFill>
                  <a:srgbClr val="201E1D"/>
                </a:solidFill>
                <a:latin typeface="Arial" pitchFamily="34" charset="0"/>
                <a:ea typeface="Arial" pitchFamily="34" charset="-122"/>
                <a:cs typeface="Arial" pitchFamily="34" charset="-120"/>
              </a:rPr>
              <a:t>Out of scope — detected, not ignored</a:t>
            </a:r>
            <a:endParaRPr lang="en-US" sz="2175" dirty="0"/>
          </a:p>
        </p:txBody>
      </p:sp>
      <p:sp>
        <p:nvSpPr>
          <p:cNvPr id="10" name="Text 8"/>
          <p:cNvSpPr/>
          <p:nvPr/>
        </p:nvSpPr>
        <p:spPr>
          <a:xfrm>
            <a:off x="9372600" y="3412827"/>
            <a:ext cx="8005572" cy="1038225"/>
          </a:xfrm>
          <a:prstGeom prst="rect">
            <a:avLst/>
          </a:prstGeom>
          <a:noFill/>
          <a:ln/>
        </p:spPr>
        <p:txBody>
          <a:bodyPr wrap="square" lIns="25400" tIns="25400" rIns="25400" bIns="25400" rtlCol="0" anchor="t">
            <a:normAutofit/>
          </a:bodyPr>
          <a:lstStyle/>
          <a:p>
            <a:pPr marL="0" indent="0" algn="l">
              <a:lnSpc>
                <a:spcPct val="125000"/>
              </a:lnSpc>
              <a:buNone/>
            </a:pPr>
            <a:r>
              <a:rPr lang="en-US" sz="1800" dirty="0">
                <a:solidFill>
                  <a:srgbClr val="201E1D"/>
                </a:solidFill>
                <a:latin typeface="Arial" pitchFamily="34" charset="0"/>
                <a:ea typeface="Arial" pitchFamily="34" charset="-122"/>
                <a:cs typeface="Arial" pitchFamily="34" charset="-120"/>
              </a:rPr>
              <a:t>CICS screens and JCL orchestration Database-coupled programs Anything non-deterministic — system clocks, randomness, external state</a:t>
            </a:r>
            <a:endParaRPr lang="en-US" sz="1800" dirty="0"/>
          </a:p>
        </p:txBody>
      </p:sp>
      <p:sp>
        <p:nvSpPr>
          <p:cNvPr id="11" name="Text 9"/>
          <p:cNvSpPr/>
          <p:nvPr/>
        </p:nvSpPr>
        <p:spPr>
          <a:xfrm>
            <a:off x="9372600" y="4546302"/>
            <a:ext cx="8005572" cy="628650"/>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Differential testing compares outputs for equality, so non-determinism makes the verdict meaningless. The tool refuses these at intake, with a reason.</a:t>
            </a:r>
            <a:endParaRPr lang="en-US" sz="1800" dirty="0"/>
          </a:p>
        </p:txBody>
      </p:sp>
      <p:sp>
        <p:nvSpPr>
          <p:cNvPr id="12" name="Text 10"/>
          <p:cNvSpPr/>
          <p:nvPr/>
        </p:nvSpPr>
        <p:spPr>
          <a:xfrm>
            <a:off x="1143000" y="5517853"/>
            <a:ext cx="17602200" cy="379413"/>
          </a:xfrm>
          <a:prstGeom prst="rect">
            <a:avLst/>
          </a:prstGeom>
          <a:noFill/>
          <a:ln/>
        </p:spPr>
        <p:txBody>
          <a:bodyPr wrap="square" lIns="25400" tIns="25400" rIns="25400" bIns="25400" rtlCol="0" anchor="t">
            <a:normAutofit/>
          </a:bodyPr>
          <a:lstStyle/>
          <a:p>
            <a:pPr marL="0" indent="0" algn="l">
              <a:lnSpc>
                <a:spcPct val="79059"/>
              </a:lnSpc>
              <a:buNone/>
            </a:pPr>
            <a:r>
              <a:rPr lang="en-US" sz="2400" b="1" kern="0" spc="-36" dirty="0">
                <a:solidFill>
                  <a:srgbClr val="201E1D"/>
                </a:solidFill>
                <a:latin typeface="Arial" pitchFamily="34" charset="0"/>
                <a:ea typeface="Arial" pitchFamily="34" charset="-122"/>
                <a:cs typeface="Arial" pitchFamily="34" charset="-120"/>
              </a:rPr>
              <a:t>Build stages — the spine first, the novelty protected</a:t>
            </a:r>
            <a:endParaRPr lang="en-US" sz="2400" dirty="0"/>
          </a:p>
        </p:txBody>
      </p:sp>
      <p:sp>
        <p:nvSpPr>
          <p:cNvPr id="13" name="Shape 11"/>
          <p:cNvSpPr/>
          <p:nvPr/>
        </p:nvSpPr>
        <p:spPr>
          <a:xfrm>
            <a:off x="1143000" y="6087765"/>
            <a:ext cx="3657600" cy="19050"/>
          </a:xfrm>
          <a:prstGeom prst="rect">
            <a:avLst/>
          </a:prstGeom>
          <a:solidFill>
            <a:srgbClr val="EC3013"/>
          </a:solidFill>
          <a:ln/>
        </p:spPr>
      </p:sp>
      <p:sp>
        <p:nvSpPr>
          <p:cNvPr id="14" name="Text 12"/>
          <p:cNvSpPr/>
          <p:nvPr/>
        </p:nvSpPr>
        <p:spPr>
          <a:xfrm>
            <a:off x="1143000" y="6278265"/>
            <a:ext cx="4023360" cy="333772"/>
          </a:xfrm>
          <a:prstGeom prst="rect">
            <a:avLst/>
          </a:prstGeom>
          <a:noFill/>
          <a:ln/>
        </p:spPr>
        <p:txBody>
          <a:bodyPr wrap="square" lIns="25400" tIns="25400" rIns="25400" bIns="25400" rtlCol="0" anchor="t">
            <a:normAutofit/>
          </a:bodyPr>
          <a:lstStyle/>
          <a:p>
            <a:pPr marL="0" indent="0" algn="l">
              <a:lnSpc>
                <a:spcPct val="80302"/>
              </a:lnSpc>
              <a:buNone/>
            </a:pPr>
            <a:r>
              <a:rPr lang="en-US" sz="2025" b="1" kern="0" spc="-30" dirty="0">
                <a:solidFill>
                  <a:srgbClr val="AE1800"/>
                </a:solidFill>
                <a:latin typeface="Arial" pitchFamily="34" charset="0"/>
                <a:ea typeface="Arial" pitchFamily="34" charset="-122"/>
                <a:cs typeface="Arial" pitchFamily="34" charset="-120"/>
              </a:rPr>
              <a:t>01 </a:t>
            </a:r>
            <a:r>
              <a:rPr lang="en-US" sz="2025" b="1" kern="0" spc="-30" dirty="0">
                <a:solidFill>
                  <a:srgbClr val="201E1D"/>
                </a:solidFill>
                <a:latin typeface="Arial" pitchFamily="34" charset="0"/>
                <a:ea typeface="Arial" pitchFamily="34" charset="-122"/>
                <a:cs typeface="Arial" pitchFamily="34" charset="-120"/>
              </a:rPr>
              <a:t>· Differential harness</a:t>
            </a:r>
            <a:endParaRPr lang="en-US" sz="2025" dirty="0"/>
          </a:p>
        </p:txBody>
      </p:sp>
      <p:sp>
        <p:nvSpPr>
          <p:cNvPr id="15" name="Text 13"/>
          <p:cNvSpPr/>
          <p:nvPr/>
        </p:nvSpPr>
        <p:spPr>
          <a:xfrm>
            <a:off x="1143000" y="6707287"/>
            <a:ext cx="3767328" cy="923925"/>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GnuCOBOL compiles and runs; diff two implementations across an input list.</a:t>
            </a:r>
            <a:endParaRPr lang="en-US" sz="1800" dirty="0"/>
          </a:p>
        </p:txBody>
      </p:sp>
      <p:sp>
        <p:nvSpPr>
          <p:cNvPr id="16" name="Shape 14"/>
          <p:cNvSpPr/>
          <p:nvPr/>
        </p:nvSpPr>
        <p:spPr>
          <a:xfrm>
            <a:off x="5257800" y="6087765"/>
            <a:ext cx="3657600" cy="19050"/>
          </a:xfrm>
          <a:prstGeom prst="rect">
            <a:avLst/>
          </a:prstGeom>
          <a:solidFill>
            <a:srgbClr val="EC3013"/>
          </a:solidFill>
          <a:ln/>
        </p:spPr>
      </p:sp>
      <p:sp>
        <p:nvSpPr>
          <p:cNvPr id="17" name="Text 15"/>
          <p:cNvSpPr/>
          <p:nvPr/>
        </p:nvSpPr>
        <p:spPr>
          <a:xfrm>
            <a:off x="5257800" y="6278265"/>
            <a:ext cx="4023360" cy="333772"/>
          </a:xfrm>
          <a:prstGeom prst="rect">
            <a:avLst/>
          </a:prstGeom>
          <a:noFill/>
          <a:ln/>
        </p:spPr>
        <p:txBody>
          <a:bodyPr wrap="square" lIns="25400" tIns="25400" rIns="25400" bIns="25400" rtlCol="0" anchor="t">
            <a:normAutofit/>
          </a:bodyPr>
          <a:lstStyle/>
          <a:p>
            <a:pPr marL="0" indent="0" algn="l">
              <a:lnSpc>
                <a:spcPct val="80302"/>
              </a:lnSpc>
              <a:buNone/>
            </a:pPr>
            <a:r>
              <a:rPr lang="en-US" sz="2025" b="1" kern="0" spc="-30" dirty="0">
                <a:solidFill>
                  <a:srgbClr val="AE1800"/>
                </a:solidFill>
                <a:latin typeface="Arial" pitchFamily="34" charset="0"/>
                <a:ea typeface="Arial" pitchFamily="34" charset="-122"/>
                <a:cs typeface="Arial" pitchFamily="34" charset="-120"/>
              </a:rPr>
              <a:t>02 </a:t>
            </a:r>
            <a:r>
              <a:rPr lang="en-US" sz="2025" b="1" kern="0" spc="-30" dirty="0">
                <a:solidFill>
                  <a:srgbClr val="201E1D"/>
                </a:solidFill>
                <a:latin typeface="Arial" pitchFamily="34" charset="0"/>
                <a:ea typeface="Arial" pitchFamily="34" charset="-122"/>
                <a:cs typeface="Arial" pitchFamily="34" charset="-120"/>
              </a:rPr>
              <a:t>· Rules and boundaries</a:t>
            </a:r>
            <a:endParaRPr lang="en-US" sz="2025" dirty="0"/>
          </a:p>
        </p:txBody>
      </p:sp>
      <p:sp>
        <p:nvSpPr>
          <p:cNvPr id="18" name="Text 16"/>
          <p:cNvSpPr/>
          <p:nvPr/>
        </p:nvSpPr>
        <p:spPr>
          <a:xfrm>
            <a:off x="5257800" y="6707287"/>
            <a:ext cx="3767328" cy="923925"/>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Slice, extract with line citations, derive boundary inputs from the rules.</a:t>
            </a:r>
            <a:endParaRPr lang="en-US" sz="1800" dirty="0"/>
          </a:p>
        </p:txBody>
      </p:sp>
      <p:sp>
        <p:nvSpPr>
          <p:cNvPr id="19" name="Shape 17"/>
          <p:cNvSpPr/>
          <p:nvPr/>
        </p:nvSpPr>
        <p:spPr>
          <a:xfrm>
            <a:off x="9372600" y="6087765"/>
            <a:ext cx="3657600" cy="19050"/>
          </a:xfrm>
          <a:prstGeom prst="rect">
            <a:avLst/>
          </a:prstGeom>
          <a:solidFill>
            <a:srgbClr val="EC3013"/>
          </a:solidFill>
          <a:ln/>
        </p:spPr>
      </p:sp>
      <p:sp>
        <p:nvSpPr>
          <p:cNvPr id="20" name="Text 18"/>
          <p:cNvSpPr/>
          <p:nvPr/>
        </p:nvSpPr>
        <p:spPr>
          <a:xfrm>
            <a:off x="9372600" y="6278265"/>
            <a:ext cx="4023360" cy="333772"/>
          </a:xfrm>
          <a:prstGeom prst="rect">
            <a:avLst/>
          </a:prstGeom>
          <a:noFill/>
          <a:ln/>
        </p:spPr>
        <p:txBody>
          <a:bodyPr wrap="square" lIns="25400" tIns="25400" rIns="25400" bIns="25400" rtlCol="0" anchor="t">
            <a:normAutofit/>
          </a:bodyPr>
          <a:lstStyle/>
          <a:p>
            <a:pPr marL="0" indent="0" algn="l">
              <a:lnSpc>
                <a:spcPct val="80302"/>
              </a:lnSpc>
              <a:buNone/>
            </a:pPr>
            <a:r>
              <a:rPr lang="en-US" sz="2025" b="1" kern="0" spc="-30" dirty="0">
                <a:solidFill>
                  <a:srgbClr val="AE1800"/>
                </a:solidFill>
                <a:latin typeface="Arial" pitchFamily="34" charset="0"/>
                <a:ea typeface="Arial" pitchFamily="34" charset="-122"/>
                <a:cs typeface="Arial" pitchFamily="34" charset="-120"/>
              </a:rPr>
              <a:t>03 </a:t>
            </a:r>
            <a:r>
              <a:rPr lang="en-US" sz="2025" b="1" kern="0" spc="-30" dirty="0">
                <a:solidFill>
                  <a:srgbClr val="201E1D"/>
                </a:solidFill>
                <a:latin typeface="Arial" pitchFamily="34" charset="0"/>
                <a:ea typeface="Arial" pitchFamily="34" charset="-122"/>
                <a:cs typeface="Arial" pitchFamily="34" charset="-120"/>
              </a:rPr>
              <a:t>· Per-rule results</a:t>
            </a:r>
            <a:endParaRPr lang="en-US" sz="2025" dirty="0"/>
          </a:p>
        </p:txBody>
      </p:sp>
      <p:sp>
        <p:nvSpPr>
          <p:cNvPr id="21" name="Text 19"/>
          <p:cNvSpPr/>
          <p:nvPr/>
        </p:nvSpPr>
        <p:spPr>
          <a:xfrm>
            <a:off x="9372600" y="6707287"/>
            <a:ext cx="3767328" cy="923925"/>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Coverage mapped back to rules, including the ones we could not confirm.</a:t>
            </a:r>
            <a:endParaRPr lang="en-US" sz="1800" dirty="0"/>
          </a:p>
        </p:txBody>
      </p:sp>
      <p:sp>
        <p:nvSpPr>
          <p:cNvPr id="22" name="Shape 20"/>
          <p:cNvSpPr/>
          <p:nvPr/>
        </p:nvSpPr>
        <p:spPr>
          <a:xfrm>
            <a:off x="13487400" y="6087765"/>
            <a:ext cx="3657600" cy="19050"/>
          </a:xfrm>
          <a:prstGeom prst="rect">
            <a:avLst/>
          </a:prstGeom>
          <a:solidFill>
            <a:srgbClr val="EC3013"/>
          </a:solidFill>
          <a:ln/>
        </p:spPr>
      </p:sp>
      <p:sp>
        <p:nvSpPr>
          <p:cNvPr id="23" name="Text 21"/>
          <p:cNvSpPr/>
          <p:nvPr/>
        </p:nvSpPr>
        <p:spPr>
          <a:xfrm>
            <a:off x="13487400" y="6278265"/>
            <a:ext cx="4023360" cy="333772"/>
          </a:xfrm>
          <a:prstGeom prst="rect">
            <a:avLst/>
          </a:prstGeom>
          <a:noFill/>
          <a:ln/>
        </p:spPr>
        <p:txBody>
          <a:bodyPr wrap="square" lIns="25400" tIns="25400" rIns="25400" bIns="25400" rtlCol="0" anchor="t">
            <a:normAutofit/>
          </a:bodyPr>
          <a:lstStyle/>
          <a:p>
            <a:pPr marL="0" indent="0" algn="l">
              <a:lnSpc>
                <a:spcPct val="80302"/>
              </a:lnSpc>
              <a:buNone/>
            </a:pPr>
            <a:r>
              <a:rPr lang="en-US" sz="2025" b="1" kern="0" spc="-30" dirty="0">
                <a:solidFill>
                  <a:srgbClr val="AE1800"/>
                </a:solidFill>
                <a:latin typeface="Arial" pitchFamily="34" charset="0"/>
                <a:ea typeface="Arial" pitchFamily="34" charset="-122"/>
                <a:cs typeface="Arial" pitchFamily="34" charset="-120"/>
              </a:rPr>
              <a:t>04 </a:t>
            </a:r>
            <a:r>
              <a:rPr lang="en-US" sz="2025" b="1" kern="0" spc="-30" dirty="0">
                <a:solidFill>
                  <a:srgbClr val="201E1D"/>
                </a:solidFill>
                <a:latin typeface="Arial" pitchFamily="34" charset="0"/>
                <a:ea typeface="Arial" pitchFamily="34" charset="-122"/>
                <a:cs typeface="Arial" pitchFamily="34" charset="-120"/>
              </a:rPr>
              <a:t>· Regulation and mutation</a:t>
            </a:r>
            <a:endParaRPr lang="en-US" sz="2025" dirty="0"/>
          </a:p>
        </p:txBody>
      </p:sp>
      <p:sp>
        <p:nvSpPr>
          <p:cNvPr id="24" name="Text 22"/>
          <p:cNvSpPr/>
          <p:nvPr/>
        </p:nvSpPr>
        <p:spPr>
          <a:xfrm>
            <a:off x="13487400" y="6707287"/>
            <a:ext cx="3767328" cy="628650"/>
          </a:xfrm>
          <a:prstGeom prst="rect">
            <a:avLst/>
          </a:prstGeom>
          <a:noFill/>
          <a:ln/>
        </p:spPr>
        <p:txBody>
          <a:bodyPr wrap="square" lIns="25400" tIns="25400" rIns="25400" bIns="25400" rtlCol="0" anchor="t">
            <a:normAutofit/>
          </a:bodyPr>
          <a:lstStyle/>
          <a:p>
            <a:pPr marL="0" indent="0" algn="l">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The RBI reference model, then fault injection to score the corpus.</a:t>
            </a:r>
            <a:endParaRPr lang="en-US" sz="1800" dirty="0"/>
          </a:p>
        </p:txBody>
      </p:sp>
      <p:sp>
        <p:nvSpPr>
          <p:cNvPr id="25" name="Text 23"/>
          <p:cNvSpPr/>
          <p:nvPr/>
        </p:nvSpPr>
        <p:spPr>
          <a:xfrm>
            <a:off x="1143000" y="9029700"/>
            <a:ext cx="16482060" cy="685800"/>
          </a:xfrm>
          <a:prstGeom prst="rect">
            <a:avLst/>
          </a:prstGeom>
          <a:noFill/>
          <a:ln/>
        </p:spPr>
        <p:txBody>
          <a:bodyPr wrap="square" lIns="25400" tIns="25400" rIns="25400" bIns="25400" rtlCol="0" anchor="t">
            <a:normAutofit/>
          </a:bodyPr>
          <a:lstStyle/>
          <a:p>
            <a:pPr marL="0" indent="0" algn="l">
              <a:lnSpc>
                <a:spcPct val="121429"/>
              </a:lnSpc>
              <a:buNone/>
            </a:pPr>
            <a:endParaRPr lang="en-US" sz="1800" dirty="0"/>
          </a:p>
        </p:txBody>
      </p:sp>
      <p:sp>
        <p:nvSpPr>
          <p:cNvPr id="26" name="TextBox 25"/>
          <p:cNvSpPr txBox="1"/>
          <p:nvPr/>
        </p:nvSpPr>
        <p:spPr>
          <a:xfrm>
            <a:off x="17236440" y="9784080"/>
            <a:ext cx="502920" cy="274320"/>
          </a:xfrm>
          <a:prstGeom prst="rect">
            <a:avLst/>
          </a:prstGeom>
          <a:noFill/>
        </p:spPr>
        <p:txBody>
          <a:bodyPr wrap="square" lIns="0" rIns="0" tIns="0" bIns="0" anchor="t">
            <a:spAutoFit/>
          </a:bodyPr>
          <a:lstStyle/>
          <a:p>
            <a:pPr algn="r">
              <a:lnSpc>
                <a:spcPct val="125000"/>
              </a:lnSpc>
            </a:pPr>
            <a:r>
              <a:rPr sz="1200" b="0">
                <a:solidFill>
                  <a:srgbClr val="8C8886"/>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3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612648"/>
            <a:ext cx="16477488" cy="393192"/>
          </a:xfrm>
          <a:prstGeom prst="rect">
            <a:avLst/>
          </a:prstGeom>
          <a:noFill/>
        </p:spPr>
        <p:txBody>
          <a:bodyPr wrap="square" lIns="0" rIns="0" tIns="0" bIns="0" anchor="t">
            <a:spAutoFit/>
          </a:bodyPr>
          <a:lstStyle/>
          <a:p>
            <a:pPr algn="l">
              <a:lnSpc>
                <a:spcPct val="128000"/>
              </a:lnSpc>
            </a:pPr>
            <a:r>
              <a:rPr sz="1800" b="1" spc="150">
                <a:solidFill>
                  <a:srgbClr val="EC3013"/>
                </a:solidFill>
                <a:latin typeface="Arial"/>
              </a:rPr>
              <a:t>BUSINESS PLAN (1/2)</a:t>
            </a:r>
          </a:p>
        </p:txBody>
      </p:sp>
      <p:sp>
        <p:nvSpPr>
          <p:cNvPr id="4" name="Rectangle 3"/>
          <p:cNvSpPr/>
          <p:nvPr/>
        </p:nvSpPr>
        <p:spPr>
          <a:xfrm>
            <a:off x="1143000" y="1207008"/>
            <a:ext cx="160020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5568" y="1792224"/>
            <a:ext cx="17629632" cy="822960"/>
          </a:xfrm>
          <a:prstGeom prst="rect">
            <a:avLst/>
          </a:prstGeom>
          <a:noFill/>
        </p:spPr>
        <p:txBody>
          <a:bodyPr wrap="square" lIns="0" rIns="0" tIns="0" bIns="0" anchor="t">
            <a:spAutoFit/>
          </a:bodyPr>
          <a:lstStyle/>
          <a:p>
            <a:pPr algn="l">
              <a:lnSpc>
                <a:spcPct val="102000"/>
              </a:lnSpc>
            </a:pPr>
            <a:r>
              <a:rPr sz="4650" b="1">
                <a:solidFill>
                  <a:srgbClr val="201E1D"/>
                </a:solidFill>
                <a:latin typeface="Arial"/>
              </a:rPr>
              <a:t>Legacy Banking Modernisation Platform</a:t>
            </a:r>
          </a:p>
        </p:txBody>
      </p:sp>
      <p:sp>
        <p:nvSpPr>
          <p:cNvPr id="6" name="Rectangle 5"/>
          <p:cNvSpPr/>
          <p:nvPr/>
        </p:nvSpPr>
        <p:spPr>
          <a:xfrm>
            <a:off x="1143000" y="2734056"/>
            <a:ext cx="50292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926080"/>
            <a:ext cx="5029200" cy="502920"/>
          </a:xfrm>
          <a:prstGeom prst="rect">
            <a:avLst/>
          </a:prstGeom>
          <a:noFill/>
        </p:spPr>
        <p:txBody>
          <a:bodyPr wrap="square" lIns="0" rIns="0" tIns="0" bIns="0" anchor="t">
            <a:spAutoFit/>
          </a:bodyPr>
          <a:lstStyle/>
          <a:p>
            <a:pPr algn="l">
              <a:lnSpc>
                <a:spcPct val="100000"/>
              </a:lnSpc>
            </a:pPr>
            <a:r>
              <a:rPr sz="3200" b="1">
                <a:solidFill>
                  <a:srgbClr val="EC3013"/>
                </a:solidFill>
                <a:latin typeface="Arial"/>
              </a:rPr>
              <a:t>WHY</a:t>
            </a:r>
          </a:p>
        </p:txBody>
      </p:sp>
      <p:sp>
        <p:nvSpPr>
          <p:cNvPr id="8" name="TextBox 7"/>
          <p:cNvSpPr txBox="1"/>
          <p:nvPr/>
        </p:nvSpPr>
        <p:spPr>
          <a:xfrm>
            <a:off x="1143000" y="3474720"/>
            <a:ext cx="5029200" cy="292608"/>
          </a:xfrm>
          <a:prstGeom prst="rect">
            <a:avLst/>
          </a:prstGeom>
          <a:noFill/>
        </p:spPr>
        <p:txBody>
          <a:bodyPr wrap="square" lIns="0" rIns="0" tIns="0" bIns="0" anchor="t">
            <a:spAutoFit/>
          </a:bodyPr>
          <a:lstStyle/>
          <a:p>
            <a:pPr algn="l">
              <a:lnSpc>
                <a:spcPct val="128000"/>
              </a:lnSpc>
            </a:pPr>
            <a:r>
              <a:rPr sz="1600" b="0">
                <a:solidFill>
                  <a:srgbClr val="8C8886"/>
                </a:solidFill>
                <a:latin typeface="Arial"/>
              </a:rPr>
              <a:t>Explain the problem</a:t>
            </a:r>
          </a:p>
        </p:txBody>
      </p:sp>
      <p:sp>
        <p:nvSpPr>
          <p:cNvPr id="9" name="TextBox 8"/>
          <p:cNvSpPr txBox="1"/>
          <p:nvPr/>
        </p:nvSpPr>
        <p:spPr>
          <a:xfrm>
            <a:off x="1143000" y="3931920"/>
            <a:ext cx="5029200" cy="265176"/>
          </a:xfrm>
          <a:prstGeom prst="rect">
            <a:avLst/>
          </a:prstGeom>
          <a:noFill/>
        </p:spPr>
        <p:txBody>
          <a:bodyPr wrap="square" lIns="0" rIns="0" tIns="0" bIns="0" anchor="t">
            <a:spAutoFit/>
          </a:bodyPr>
          <a:lstStyle/>
          <a:p>
            <a:pPr algn="l">
              <a:lnSpc>
                <a:spcPct val="128000"/>
              </a:lnSpc>
            </a:pPr>
            <a:r>
              <a:rPr sz="1550" b="1">
                <a:solidFill>
                  <a:srgbClr val="201E1D"/>
                </a:solidFill>
                <a:latin typeface="Arial"/>
              </a:rPr>
              <a:t>Problem &amp; business scenario</a:t>
            </a:r>
          </a:p>
        </p:txBody>
      </p:sp>
      <p:sp>
        <p:nvSpPr>
          <p:cNvPr id="10" name="TextBox 9"/>
          <p:cNvSpPr txBox="1"/>
          <p:nvPr/>
        </p:nvSpPr>
        <p:spPr>
          <a:xfrm>
            <a:off x="1143000" y="4197096"/>
            <a:ext cx="5029200" cy="946404"/>
          </a:xfrm>
          <a:prstGeom prst="rect">
            <a:avLst/>
          </a:prstGeom>
          <a:noFill/>
        </p:spPr>
        <p:txBody>
          <a:bodyPr wrap="square" lIns="0" rIns="0" tIns="0" bIns="0" anchor="t">
            <a:spAutoFit/>
          </a:bodyPr>
          <a:lstStyle/>
          <a:p>
            <a:pPr algn="l">
              <a:lnSpc>
                <a:spcPct val="130000"/>
              </a:lnSpc>
            </a:pPr>
            <a:r>
              <a:rPr sz="1350" b="0">
                <a:solidFill>
                  <a:srgbClr val="6F6C6B"/>
                </a:solidFill>
                <a:latin typeface="Arial"/>
              </a:rPr>
              <a:t>92 of the top 100 banks run on mainframes and over 40% of banking systems still run COBOL. Indian lenders face roughly $1bn of core upgrades over 5–10 years (BCG). The business rules were never documented anywhere except the code.</a:t>
            </a:r>
          </a:p>
        </p:txBody>
      </p:sp>
      <p:sp>
        <p:nvSpPr>
          <p:cNvPr id="11" name="TextBox 10"/>
          <p:cNvSpPr txBox="1"/>
          <p:nvPr/>
        </p:nvSpPr>
        <p:spPr>
          <a:xfrm>
            <a:off x="1143000" y="5253228"/>
            <a:ext cx="5029200" cy="265176"/>
          </a:xfrm>
          <a:prstGeom prst="rect">
            <a:avLst/>
          </a:prstGeom>
          <a:noFill/>
        </p:spPr>
        <p:txBody>
          <a:bodyPr wrap="square" lIns="0" rIns="0" tIns="0" bIns="0" anchor="t">
            <a:spAutoFit/>
          </a:bodyPr>
          <a:lstStyle/>
          <a:p>
            <a:pPr algn="l">
              <a:lnSpc>
                <a:spcPct val="128000"/>
              </a:lnSpc>
            </a:pPr>
            <a:r>
              <a:rPr sz="1550" b="1">
                <a:solidFill>
                  <a:srgbClr val="201E1D"/>
                </a:solidFill>
                <a:latin typeface="Arial"/>
              </a:rPr>
              <a:t>Problem scope</a:t>
            </a:r>
          </a:p>
        </p:txBody>
      </p:sp>
      <p:sp>
        <p:nvSpPr>
          <p:cNvPr id="12" name="TextBox 11"/>
          <p:cNvSpPr txBox="1"/>
          <p:nvPr/>
        </p:nvSpPr>
        <p:spPr>
          <a:xfrm>
            <a:off x="1143000" y="5518404"/>
            <a:ext cx="5029200" cy="946404"/>
          </a:xfrm>
          <a:prstGeom prst="rect">
            <a:avLst/>
          </a:prstGeom>
          <a:noFill/>
        </p:spPr>
        <p:txBody>
          <a:bodyPr wrap="square" lIns="0" rIns="0" tIns="0" bIns="0" anchor="t">
            <a:spAutoFit/>
          </a:bodyPr>
          <a:lstStyle/>
          <a:p>
            <a:pPr algn="l">
              <a:lnSpc>
                <a:spcPct val="130000"/>
              </a:lnSpc>
            </a:pPr>
            <a:r>
              <a:rPr sz="1350" b="0">
                <a:solidFill>
                  <a:srgbClr val="6F6C6B"/>
                </a:solidFill>
                <a:latin typeface="Arial"/>
              </a:rPr>
              <a:t>COBOL, pure-computation programs, retail interest accrual. Whole-system migration, CICS and JCL, database-coupled programs and clock or random reads are excluded — and detected and refused at intake rather than silently mishandled.</a:t>
            </a:r>
          </a:p>
        </p:txBody>
      </p:sp>
      <p:sp>
        <p:nvSpPr>
          <p:cNvPr id="13" name="TextBox 12"/>
          <p:cNvSpPr txBox="1"/>
          <p:nvPr/>
        </p:nvSpPr>
        <p:spPr>
          <a:xfrm>
            <a:off x="1143000" y="6574536"/>
            <a:ext cx="5029200" cy="265176"/>
          </a:xfrm>
          <a:prstGeom prst="rect">
            <a:avLst/>
          </a:prstGeom>
          <a:noFill/>
        </p:spPr>
        <p:txBody>
          <a:bodyPr wrap="square" lIns="0" rIns="0" tIns="0" bIns="0" anchor="t">
            <a:spAutoFit/>
          </a:bodyPr>
          <a:lstStyle/>
          <a:p>
            <a:pPr algn="l">
              <a:lnSpc>
                <a:spcPct val="128000"/>
              </a:lnSpc>
            </a:pPr>
            <a:r>
              <a:rPr sz="1550" b="1">
                <a:solidFill>
                  <a:srgbClr val="201E1D"/>
                </a:solidFill>
                <a:latin typeface="Arial"/>
              </a:rPr>
              <a:t>Target users &amp; stakeholders</a:t>
            </a:r>
          </a:p>
        </p:txBody>
      </p:sp>
      <p:sp>
        <p:nvSpPr>
          <p:cNvPr id="14" name="TextBox 13"/>
          <p:cNvSpPr txBox="1"/>
          <p:nvPr/>
        </p:nvSpPr>
        <p:spPr>
          <a:xfrm>
            <a:off x="1143000" y="6839712"/>
            <a:ext cx="5029200" cy="946404"/>
          </a:xfrm>
          <a:prstGeom prst="rect">
            <a:avLst/>
          </a:prstGeom>
          <a:noFill/>
        </p:spPr>
        <p:txBody>
          <a:bodyPr wrap="square" lIns="0" rIns="0" tIns="0" bIns="0" anchor="t">
            <a:spAutoFit/>
          </a:bodyPr>
          <a:lstStyle/>
          <a:p>
            <a:pPr algn="l">
              <a:lnSpc>
                <a:spcPct val="130000"/>
              </a:lnSpc>
            </a:pPr>
            <a:r>
              <a:rPr sz="1350" b="0">
                <a:solidFill>
                  <a:srgbClr val="6F6C6B"/>
                </a:solidFill>
                <a:latin typeface="Arial"/>
              </a:rPr>
              <a:t>Bank CIO and core-banking head, risk and internal audit, modernisation SIs, and the supervisor. All of them can already generate the new code. None of them can prove it is safe.</a:t>
            </a:r>
          </a:p>
        </p:txBody>
      </p:sp>
      <p:sp>
        <p:nvSpPr>
          <p:cNvPr id="15" name="Rectangle 14"/>
          <p:cNvSpPr/>
          <p:nvPr/>
        </p:nvSpPr>
        <p:spPr>
          <a:xfrm>
            <a:off x="6629400" y="2734056"/>
            <a:ext cx="50292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2926080"/>
            <a:ext cx="5029200" cy="502920"/>
          </a:xfrm>
          <a:prstGeom prst="rect">
            <a:avLst/>
          </a:prstGeom>
          <a:noFill/>
        </p:spPr>
        <p:txBody>
          <a:bodyPr wrap="square" lIns="0" rIns="0" tIns="0" bIns="0" anchor="t">
            <a:spAutoFit/>
          </a:bodyPr>
          <a:lstStyle/>
          <a:p>
            <a:pPr algn="l">
              <a:lnSpc>
                <a:spcPct val="100000"/>
              </a:lnSpc>
            </a:pPr>
            <a:r>
              <a:rPr sz="3200" b="1">
                <a:solidFill>
                  <a:srgbClr val="EC3013"/>
                </a:solidFill>
                <a:latin typeface="Arial"/>
              </a:rPr>
              <a:t>HOW</a:t>
            </a:r>
          </a:p>
        </p:txBody>
      </p:sp>
      <p:sp>
        <p:nvSpPr>
          <p:cNvPr id="17" name="TextBox 16"/>
          <p:cNvSpPr txBox="1"/>
          <p:nvPr/>
        </p:nvSpPr>
        <p:spPr>
          <a:xfrm>
            <a:off x="6629400" y="3474720"/>
            <a:ext cx="5029200" cy="292608"/>
          </a:xfrm>
          <a:prstGeom prst="rect">
            <a:avLst/>
          </a:prstGeom>
          <a:noFill/>
        </p:spPr>
        <p:txBody>
          <a:bodyPr wrap="square" lIns="0" rIns="0" tIns="0" bIns="0" anchor="t">
            <a:spAutoFit/>
          </a:bodyPr>
          <a:lstStyle/>
          <a:p>
            <a:pPr algn="l">
              <a:lnSpc>
                <a:spcPct val="128000"/>
              </a:lnSpc>
            </a:pPr>
            <a:r>
              <a:rPr sz="1600" b="0">
                <a:solidFill>
                  <a:srgbClr val="8C8886"/>
                </a:solidFill>
                <a:latin typeface="Arial"/>
              </a:rPr>
              <a:t>Explain the solve</a:t>
            </a:r>
          </a:p>
        </p:txBody>
      </p:sp>
      <p:sp>
        <p:nvSpPr>
          <p:cNvPr id="18" name="TextBox 17"/>
          <p:cNvSpPr txBox="1"/>
          <p:nvPr/>
        </p:nvSpPr>
        <p:spPr>
          <a:xfrm>
            <a:off x="6629400" y="3931920"/>
            <a:ext cx="5029200" cy="265176"/>
          </a:xfrm>
          <a:prstGeom prst="rect">
            <a:avLst/>
          </a:prstGeom>
          <a:noFill/>
        </p:spPr>
        <p:txBody>
          <a:bodyPr wrap="square" lIns="0" rIns="0" tIns="0" bIns="0" anchor="t">
            <a:spAutoFit/>
          </a:bodyPr>
          <a:lstStyle/>
          <a:p>
            <a:pPr algn="l">
              <a:lnSpc>
                <a:spcPct val="128000"/>
              </a:lnSpc>
            </a:pPr>
            <a:r>
              <a:rPr sz="1550" b="1">
                <a:solidFill>
                  <a:srgbClr val="201E1D"/>
                </a:solidFill>
                <a:latin typeface="Arial"/>
              </a:rPr>
              <a:t>Solution overview</a:t>
            </a:r>
          </a:p>
        </p:txBody>
      </p:sp>
      <p:sp>
        <p:nvSpPr>
          <p:cNvPr id="19" name="TextBox 18"/>
          <p:cNvSpPr txBox="1"/>
          <p:nvPr/>
        </p:nvSpPr>
        <p:spPr>
          <a:xfrm>
            <a:off x="6629400" y="4197096"/>
            <a:ext cx="5029200" cy="946404"/>
          </a:xfrm>
          <a:prstGeom prst="rect">
            <a:avLst/>
          </a:prstGeom>
          <a:noFill/>
        </p:spPr>
        <p:txBody>
          <a:bodyPr wrap="square" lIns="0" rIns="0" tIns="0" bIns="0" anchor="t">
            <a:spAutoFit/>
          </a:bodyPr>
          <a:lstStyle/>
          <a:p>
            <a:pPr algn="l">
              <a:lnSpc>
                <a:spcPct val="130000"/>
              </a:lnSpc>
            </a:pPr>
            <a:r>
              <a:rPr sz="1350" b="0">
                <a:solidFill>
                  <a:srgbClr val="6F6C6B"/>
                </a:solidFill>
                <a:latin typeface="Arial"/>
              </a:rPr>
              <a:t>Intake gate → parse and slice → bounded LLM rule extraction with line citations → rule-directed input generation → execute three ways → diff. Outputs: rule verdicts, mutation score, compliance findings, evidence bundle.</a:t>
            </a:r>
          </a:p>
        </p:txBody>
      </p:sp>
      <p:sp>
        <p:nvSpPr>
          <p:cNvPr id="20" name="TextBox 19"/>
          <p:cNvSpPr txBox="1"/>
          <p:nvPr/>
        </p:nvSpPr>
        <p:spPr>
          <a:xfrm>
            <a:off x="6629400" y="5253228"/>
            <a:ext cx="5029200" cy="265176"/>
          </a:xfrm>
          <a:prstGeom prst="rect">
            <a:avLst/>
          </a:prstGeom>
          <a:noFill/>
        </p:spPr>
        <p:txBody>
          <a:bodyPr wrap="square" lIns="0" rIns="0" tIns="0" bIns="0" anchor="t">
            <a:spAutoFit/>
          </a:bodyPr>
          <a:lstStyle/>
          <a:p>
            <a:pPr algn="l">
              <a:lnSpc>
                <a:spcPct val="128000"/>
              </a:lnSpc>
            </a:pPr>
            <a:r>
              <a:rPr sz="1550" b="1">
                <a:solidFill>
                  <a:srgbClr val="201E1D"/>
                </a:solidFill>
                <a:latin typeface="Arial"/>
              </a:rPr>
              <a:t>Technical details</a:t>
            </a:r>
          </a:p>
        </p:txBody>
      </p:sp>
      <p:sp>
        <p:nvSpPr>
          <p:cNvPr id="21" name="TextBox 20"/>
          <p:cNvSpPr txBox="1"/>
          <p:nvPr/>
        </p:nvSpPr>
        <p:spPr>
          <a:xfrm>
            <a:off x="6629400" y="5518404"/>
            <a:ext cx="5029200" cy="946404"/>
          </a:xfrm>
          <a:prstGeom prst="rect">
            <a:avLst/>
          </a:prstGeom>
          <a:noFill/>
        </p:spPr>
        <p:txBody>
          <a:bodyPr wrap="square" lIns="0" rIns="0" tIns="0" bIns="0" anchor="t">
            <a:spAutoFit/>
          </a:bodyPr>
          <a:lstStyle/>
          <a:p>
            <a:pPr algn="l">
              <a:lnSpc>
                <a:spcPct val="130000"/>
              </a:lnSpc>
            </a:pPr>
            <a:r>
              <a:rPr sz="1350" b="0">
                <a:solidFill>
                  <a:srgbClr val="6F6C6B"/>
                </a:solidFill>
                <a:latin typeface="Arial"/>
              </a:rPr>
              <a:t>GnuCOBOL (19 dialects, 9,700/9,748 NIST), ProLeap ANTLR4 parser, program slicing, gcov coverage, delta debugging. Deterministic orchestration with the LLM confined to bounded calls.</a:t>
            </a:r>
          </a:p>
        </p:txBody>
      </p:sp>
      <p:sp>
        <p:nvSpPr>
          <p:cNvPr id="22" name="TextBox 21"/>
          <p:cNvSpPr txBox="1"/>
          <p:nvPr/>
        </p:nvSpPr>
        <p:spPr>
          <a:xfrm>
            <a:off x="6629400" y="6574536"/>
            <a:ext cx="5029200" cy="265176"/>
          </a:xfrm>
          <a:prstGeom prst="rect">
            <a:avLst/>
          </a:prstGeom>
          <a:noFill/>
        </p:spPr>
        <p:txBody>
          <a:bodyPr wrap="square" lIns="0" rIns="0" tIns="0" bIns="0" anchor="t">
            <a:spAutoFit/>
          </a:bodyPr>
          <a:lstStyle/>
          <a:p>
            <a:pPr algn="l">
              <a:lnSpc>
                <a:spcPct val="128000"/>
              </a:lnSpc>
            </a:pPr>
            <a:r>
              <a:rPr sz="1550" b="1">
                <a:solidFill>
                  <a:srgbClr val="201E1D"/>
                </a:solidFill>
                <a:latin typeface="Arial"/>
              </a:rPr>
              <a:t>Innovation</a:t>
            </a:r>
          </a:p>
        </p:txBody>
      </p:sp>
      <p:sp>
        <p:nvSpPr>
          <p:cNvPr id="23" name="TextBox 22"/>
          <p:cNvSpPr txBox="1"/>
          <p:nvPr/>
        </p:nvSpPr>
        <p:spPr>
          <a:xfrm>
            <a:off x="6629400" y="6839712"/>
            <a:ext cx="5029200" cy="1169289"/>
          </a:xfrm>
          <a:prstGeom prst="rect">
            <a:avLst/>
          </a:prstGeom>
          <a:noFill/>
        </p:spPr>
        <p:txBody>
          <a:bodyPr wrap="square" lIns="0" rIns="0" tIns="0" bIns="0" anchor="t">
            <a:spAutoFit/>
          </a:bodyPr>
          <a:lstStyle/>
          <a:p>
            <a:pPr algn="l">
              <a:lnSpc>
                <a:spcPct val="130000"/>
              </a:lnSpc>
            </a:pPr>
            <a:r>
              <a:rPr sz="1350" b="0">
                <a:solidFill>
                  <a:srgbClr val="6F6C6B"/>
                </a:solidFill>
                <a:latin typeface="Arial"/>
              </a:rPr>
              <a:t>The legacy binary is its own oracle. The reciprocal loop — rules imply boundaries; execution then judges the rules. A third reference, the RBI Direction, checks the legacy against the regulator too. Verdicts are verified, unproven or refuted — never a confidence score.</a:t>
            </a:r>
          </a:p>
        </p:txBody>
      </p:sp>
      <p:sp>
        <p:nvSpPr>
          <p:cNvPr id="24" name="TextBox 23"/>
          <p:cNvSpPr txBox="1"/>
          <p:nvPr/>
        </p:nvSpPr>
        <p:spPr>
          <a:xfrm>
            <a:off x="6629400" y="8118729"/>
            <a:ext cx="5029200" cy="265176"/>
          </a:xfrm>
          <a:prstGeom prst="rect">
            <a:avLst/>
          </a:prstGeom>
          <a:noFill/>
        </p:spPr>
        <p:txBody>
          <a:bodyPr wrap="square" lIns="0" rIns="0" tIns="0" bIns="0" anchor="t">
            <a:spAutoFit/>
          </a:bodyPr>
          <a:lstStyle/>
          <a:p>
            <a:pPr algn="l">
              <a:lnSpc>
                <a:spcPct val="128000"/>
              </a:lnSpc>
            </a:pPr>
            <a:r>
              <a:rPr sz="1550" b="1">
                <a:solidFill>
                  <a:srgbClr val="201E1D"/>
                </a:solidFill>
                <a:latin typeface="Arial"/>
              </a:rPr>
              <a:t>Why these technologies</a:t>
            </a:r>
          </a:p>
        </p:txBody>
      </p:sp>
      <p:sp>
        <p:nvSpPr>
          <p:cNvPr id="25" name="TextBox 24"/>
          <p:cNvSpPr txBox="1"/>
          <p:nvPr/>
        </p:nvSpPr>
        <p:spPr>
          <a:xfrm>
            <a:off x="6629400" y="8383904"/>
            <a:ext cx="5029200" cy="946404"/>
          </a:xfrm>
          <a:prstGeom prst="rect">
            <a:avLst/>
          </a:prstGeom>
          <a:noFill/>
        </p:spPr>
        <p:txBody>
          <a:bodyPr wrap="square" lIns="0" rIns="0" tIns="0" bIns="0" anchor="t">
            <a:spAutoFit/>
          </a:bodyPr>
          <a:lstStyle/>
          <a:p>
            <a:pPr algn="l">
              <a:lnSpc>
                <a:spcPct val="130000"/>
              </a:lnSpc>
            </a:pPr>
            <a:r>
              <a:rPr sz="1350" b="0">
                <a:solidFill>
                  <a:srgbClr val="6F6C6B"/>
                </a:solidFill>
                <a:latin typeface="Arial"/>
              </a:rPr>
              <a:t>GnuCOBOL is free and NIST-validated, so both sides execute for real on a laptop with no mainframe. Deterministic orchestration matches agentic accuracy at up to 3.5× lower token cost.</a:t>
            </a:r>
          </a:p>
        </p:txBody>
      </p:sp>
      <p:sp>
        <p:nvSpPr>
          <p:cNvPr id="26" name="Rectangle 25"/>
          <p:cNvSpPr/>
          <p:nvPr/>
        </p:nvSpPr>
        <p:spPr>
          <a:xfrm>
            <a:off x="12115800" y="2734056"/>
            <a:ext cx="50292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115800" y="2926080"/>
            <a:ext cx="5029200" cy="502920"/>
          </a:xfrm>
          <a:prstGeom prst="rect">
            <a:avLst/>
          </a:prstGeom>
          <a:noFill/>
        </p:spPr>
        <p:txBody>
          <a:bodyPr wrap="square" lIns="0" rIns="0" tIns="0" bIns="0" anchor="t">
            <a:spAutoFit/>
          </a:bodyPr>
          <a:lstStyle/>
          <a:p>
            <a:pPr algn="l">
              <a:lnSpc>
                <a:spcPct val="100000"/>
              </a:lnSpc>
            </a:pPr>
            <a:r>
              <a:rPr sz="3200" b="1">
                <a:solidFill>
                  <a:srgbClr val="EC3013"/>
                </a:solidFill>
                <a:latin typeface="Arial"/>
              </a:rPr>
              <a:t>WHAT</a:t>
            </a:r>
          </a:p>
        </p:txBody>
      </p:sp>
      <p:sp>
        <p:nvSpPr>
          <p:cNvPr id="28" name="TextBox 27"/>
          <p:cNvSpPr txBox="1"/>
          <p:nvPr/>
        </p:nvSpPr>
        <p:spPr>
          <a:xfrm>
            <a:off x="12115800" y="3474720"/>
            <a:ext cx="5029200" cy="292608"/>
          </a:xfrm>
          <a:prstGeom prst="rect">
            <a:avLst/>
          </a:prstGeom>
          <a:noFill/>
        </p:spPr>
        <p:txBody>
          <a:bodyPr wrap="square" lIns="0" rIns="0" tIns="0" bIns="0" anchor="t">
            <a:spAutoFit/>
          </a:bodyPr>
          <a:lstStyle/>
          <a:p>
            <a:pPr algn="l">
              <a:lnSpc>
                <a:spcPct val="128000"/>
              </a:lnSpc>
            </a:pPr>
            <a:r>
              <a:rPr sz="1600" b="0">
                <a:solidFill>
                  <a:srgbClr val="8C8886"/>
                </a:solidFill>
                <a:latin typeface="Arial"/>
              </a:rPr>
              <a:t>Value proposition</a:t>
            </a:r>
          </a:p>
        </p:txBody>
      </p:sp>
      <p:sp>
        <p:nvSpPr>
          <p:cNvPr id="29" name="TextBox 28"/>
          <p:cNvSpPr txBox="1"/>
          <p:nvPr/>
        </p:nvSpPr>
        <p:spPr>
          <a:xfrm>
            <a:off x="12115800" y="3931920"/>
            <a:ext cx="5029200" cy="265176"/>
          </a:xfrm>
          <a:prstGeom prst="rect">
            <a:avLst/>
          </a:prstGeom>
          <a:noFill/>
        </p:spPr>
        <p:txBody>
          <a:bodyPr wrap="square" lIns="0" rIns="0" tIns="0" bIns="0" anchor="t">
            <a:spAutoFit/>
          </a:bodyPr>
          <a:lstStyle/>
          <a:p>
            <a:pPr algn="l">
              <a:lnSpc>
                <a:spcPct val="128000"/>
              </a:lnSpc>
            </a:pPr>
            <a:r>
              <a:rPr sz="1550" b="1">
                <a:solidFill>
                  <a:srgbClr val="201E1D"/>
                </a:solidFill>
                <a:latin typeface="Arial"/>
              </a:rPr>
              <a:t>A specification that never existed</a:t>
            </a:r>
          </a:p>
        </p:txBody>
      </p:sp>
      <p:sp>
        <p:nvSpPr>
          <p:cNvPr id="30" name="TextBox 29"/>
          <p:cNvSpPr txBox="1"/>
          <p:nvPr/>
        </p:nvSpPr>
        <p:spPr>
          <a:xfrm>
            <a:off x="12115800" y="4197096"/>
            <a:ext cx="5029200" cy="723519"/>
          </a:xfrm>
          <a:prstGeom prst="rect">
            <a:avLst/>
          </a:prstGeom>
          <a:noFill/>
        </p:spPr>
        <p:txBody>
          <a:bodyPr wrap="square" lIns="0" rIns="0" tIns="0" bIns="0" anchor="t">
            <a:spAutoFit/>
          </a:bodyPr>
          <a:lstStyle/>
          <a:p>
            <a:pPr algn="l">
              <a:lnSpc>
                <a:spcPct val="130000"/>
              </a:lnSpc>
            </a:pPr>
            <a:r>
              <a:rPr sz="1350" b="0">
                <a:solidFill>
                  <a:srgbClr val="6F6C6B"/>
                </a:solidFill>
                <a:latin typeface="Arial"/>
              </a:rPr>
              <a:t>Plain-language rules, each traced to the exact lines that produce it. Review cost drops from reading four thousand lines to reading three.</a:t>
            </a:r>
          </a:p>
        </p:txBody>
      </p:sp>
      <p:sp>
        <p:nvSpPr>
          <p:cNvPr id="31" name="TextBox 30"/>
          <p:cNvSpPr txBox="1"/>
          <p:nvPr/>
        </p:nvSpPr>
        <p:spPr>
          <a:xfrm>
            <a:off x="12115800" y="5030343"/>
            <a:ext cx="5029200" cy="265176"/>
          </a:xfrm>
          <a:prstGeom prst="rect">
            <a:avLst/>
          </a:prstGeom>
          <a:noFill/>
        </p:spPr>
        <p:txBody>
          <a:bodyPr wrap="square" lIns="0" rIns="0" tIns="0" bIns="0" anchor="t">
            <a:spAutoFit/>
          </a:bodyPr>
          <a:lstStyle/>
          <a:p>
            <a:pPr algn="l">
              <a:lnSpc>
                <a:spcPct val="128000"/>
              </a:lnSpc>
            </a:pPr>
            <a:r>
              <a:rPr sz="1550" b="1">
                <a:solidFill>
                  <a:srgbClr val="201E1D"/>
                </a:solidFill>
                <a:latin typeface="Arial"/>
              </a:rPr>
              <a:t>A permanent regression suite</a:t>
            </a:r>
          </a:p>
        </p:txBody>
      </p:sp>
      <p:sp>
        <p:nvSpPr>
          <p:cNvPr id="32" name="TextBox 31"/>
          <p:cNvSpPr txBox="1"/>
          <p:nvPr/>
        </p:nvSpPr>
        <p:spPr>
          <a:xfrm>
            <a:off x="12115800" y="5295519"/>
            <a:ext cx="5029200" cy="500634"/>
          </a:xfrm>
          <a:prstGeom prst="rect">
            <a:avLst/>
          </a:prstGeom>
          <a:noFill/>
        </p:spPr>
        <p:txBody>
          <a:bodyPr wrap="square" lIns="0" rIns="0" tIns="0" bIns="0" anchor="t">
            <a:spAutoFit/>
          </a:bodyPr>
          <a:lstStyle/>
          <a:p>
            <a:pPr algn="l">
              <a:lnSpc>
                <a:spcPct val="130000"/>
              </a:lnSpc>
            </a:pPr>
            <a:r>
              <a:rPr sz="1350" b="0">
                <a:solidFill>
                  <a:srgbClr val="6F6C6B"/>
                </a:solidFill>
                <a:latin typeface="Arial"/>
              </a:rPr>
              <a:t>Thousands of input–output pairs retained, reusable on every future change to the same program.</a:t>
            </a:r>
          </a:p>
        </p:txBody>
      </p:sp>
      <p:sp>
        <p:nvSpPr>
          <p:cNvPr id="33" name="TextBox 32"/>
          <p:cNvSpPr txBox="1"/>
          <p:nvPr/>
        </p:nvSpPr>
        <p:spPr>
          <a:xfrm>
            <a:off x="12115800" y="5905881"/>
            <a:ext cx="5029200" cy="265176"/>
          </a:xfrm>
          <a:prstGeom prst="rect">
            <a:avLst/>
          </a:prstGeom>
          <a:noFill/>
        </p:spPr>
        <p:txBody>
          <a:bodyPr wrap="square" lIns="0" rIns="0" tIns="0" bIns="0" anchor="t">
            <a:spAutoFit/>
          </a:bodyPr>
          <a:lstStyle/>
          <a:p>
            <a:pPr algn="l">
              <a:lnSpc>
                <a:spcPct val="128000"/>
              </a:lnSpc>
            </a:pPr>
            <a:r>
              <a:rPr sz="1550" b="1">
                <a:solidFill>
                  <a:srgbClr val="201E1D"/>
                </a:solidFill>
                <a:latin typeface="Arial"/>
              </a:rPr>
              <a:t>An equivalence claim someone can sign</a:t>
            </a:r>
          </a:p>
        </p:txBody>
      </p:sp>
      <p:sp>
        <p:nvSpPr>
          <p:cNvPr id="34" name="TextBox 33"/>
          <p:cNvSpPr txBox="1"/>
          <p:nvPr/>
        </p:nvSpPr>
        <p:spPr>
          <a:xfrm>
            <a:off x="12115800" y="6171057"/>
            <a:ext cx="5029200" cy="500634"/>
          </a:xfrm>
          <a:prstGeom prst="rect">
            <a:avLst/>
          </a:prstGeom>
          <a:noFill/>
        </p:spPr>
        <p:txBody>
          <a:bodyPr wrap="square" lIns="0" rIns="0" tIns="0" bIns="0" anchor="t">
            <a:spAutoFit/>
          </a:bodyPr>
          <a:lstStyle/>
          <a:p>
            <a:pPr algn="l">
              <a:lnSpc>
                <a:spcPct val="130000"/>
              </a:lnSpc>
            </a:pPr>
            <a:r>
              <a:rPr sz="1350" b="0">
                <a:solidFill>
                  <a:srgbClr val="6F6C6B"/>
                </a:solidFill>
                <a:latin typeface="Arial"/>
              </a:rPr>
              <a:t>Evidence-backed, with the coverage stated honestly — verified, unproven, or refuted per rule.</a:t>
            </a:r>
          </a:p>
        </p:txBody>
      </p:sp>
      <p:sp>
        <p:nvSpPr>
          <p:cNvPr id="35" name="TextBox 34"/>
          <p:cNvSpPr txBox="1"/>
          <p:nvPr/>
        </p:nvSpPr>
        <p:spPr>
          <a:xfrm>
            <a:off x="12115800" y="6781419"/>
            <a:ext cx="5029200" cy="265176"/>
          </a:xfrm>
          <a:prstGeom prst="rect">
            <a:avLst/>
          </a:prstGeom>
          <a:noFill/>
        </p:spPr>
        <p:txBody>
          <a:bodyPr wrap="square" lIns="0" rIns="0" tIns="0" bIns="0" anchor="t">
            <a:spAutoFit/>
          </a:bodyPr>
          <a:lstStyle/>
          <a:p>
            <a:pPr algn="l">
              <a:lnSpc>
                <a:spcPct val="128000"/>
              </a:lnSpc>
            </a:pPr>
            <a:r>
              <a:rPr sz="1550" b="1">
                <a:solidFill>
                  <a:srgbClr val="201E1D"/>
                </a:solidFill>
                <a:latin typeface="Arial"/>
              </a:rPr>
              <a:t>Compliance findings</a:t>
            </a:r>
          </a:p>
        </p:txBody>
      </p:sp>
      <p:sp>
        <p:nvSpPr>
          <p:cNvPr id="36" name="TextBox 35"/>
          <p:cNvSpPr txBox="1"/>
          <p:nvPr/>
        </p:nvSpPr>
        <p:spPr>
          <a:xfrm>
            <a:off x="12115800" y="7046595"/>
            <a:ext cx="5029200" cy="500634"/>
          </a:xfrm>
          <a:prstGeom prst="rect">
            <a:avLst/>
          </a:prstGeom>
          <a:noFill/>
        </p:spPr>
        <p:txBody>
          <a:bodyPr wrap="square" lIns="0" rIns="0" tIns="0" bIns="0" anchor="t">
            <a:spAutoFit/>
          </a:bodyPr>
          <a:lstStyle/>
          <a:p>
            <a:pPr algn="l">
              <a:lnSpc>
                <a:spcPct val="130000"/>
              </a:lnSpc>
            </a:pPr>
            <a:r>
              <a:rPr sz="1350" b="0">
                <a:solidFill>
                  <a:srgbClr val="6F6C6B"/>
                </a:solidFill>
                <a:latin typeface="Arial"/>
              </a:rPr>
              <a:t>The legacy checked against RBI's written arithmetic, not only against itself.</a:t>
            </a:r>
          </a:p>
        </p:txBody>
      </p:sp>
      <p:sp>
        <p:nvSpPr>
          <p:cNvPr id="37" name="TextBox 36"/>
          <p:cNvSpPr txBox="1"/>
          <p:nvPr/>
        </p:nvSpPr>
        <p:spPr>
          <a:xfrm>
            <a:off x="12115800" y="7656956"/>
            <a:ext cx="5029200" cy="265176"/>
          </a:xfrm>
          <a:prstGeom prst="rect">
            <a:avLst/>
          </a:prstGeom>
          <a:noFill/>
        </p:spPr>
        <p:txBody>
          <a:bodyPr wrap="square" lIns="0" rIns="0" tIns="0" bIns="0" anchor="t">
            <a:spAutoFit/>
          </a:bodyPr>
          <a:lstStyle/>
          <a:p>
            <a:pPr algn="l">
              <a:lnSpc>
                <a:spcPct val="128000"/>
              </a:lnSpc>
            </a:pPr>
            <a:r>
              <a:rPr sz="1550" b="1">
                <a:solidFill>
                  <a:srgbClr val="201E1D"/>
                </a:solidFill>
                <a:latin typeface="Arial"/>
              </a:rPr>
              <a:t>Value even if the migration is cancelled</a:t>
            </a:r>
          </a:p>
        </p:txBody>
      </p:sp>
      <p:sp>
        <p:nvSpPr>
          <p:cNvPr id="38" name="TextBox 37"/>
          <p:cNvSpPr txBox="1"/>
          <p:nvPr/>
        </p:nvSpPr>
        <p:spPr>
          <a:xfrm>
            <a:off x="12115800" y="7922132"/>
            <a:ext cx="5029200" cy="723519"/>
          </a:xfrm>
          <a:prstGeom prst="rect">
            <a:avLst/>
          </a:prstGeom>
          <a:noFill/>
        </p:spPr>
        <p:txBody>
          <a:bodyPr wrap="square" lIns="0" rIns="0" tIns="0" bIns="0" anchor="t">
            <a:spAutoFit/>
          </a:bodyPr>
          <a:lstStyle/>
          <a:p>
            <a:pPr algn="l">
              <a:lnSpc>
                <a:spcPct val="130000"/>
              </a:lnSpc>
            </a:pPr>
            <a:r>
              <a:rPr sz="1350" b="0">
                <a:solidFill>
                  <a:srgbClr val="6F6C6B"/>
                </a:solidFill>
                <a:latin typeface="Arial"/>
              </a:rPr>
              <a:t>The spec and the test suite are retained regardless. The bank ends up with documentation for a system it previously could not touch.</a:t>
            </a:r>
          </a:p>
        </p:txBody>
      </p:sp>
      <p:sp>
        <p:nvSpPr>
          <p:cNvPr id="39" name="TextBox 38"/>
          <p:cNvSpPr txBox="1"/>
          <p:nvPr/>
        </p:nvSpPr>
        <p:spPr>
          <a:xfrm>
            <a:off x="6199632" y="2834640"/>
            <a:ext cx="402336" cy="457200"/>
          </a:xfrm>
          <a:prstGeom prst="rect">
            <a:avLst/>
          </a:prstGeom>
          <a:noFill/>
        </p:spPr>
        <p:txBody>
          <a:bodyPr wrap="square" lIns="0" rIns="0" tIns="0" bIns="0" anchor="t">
            <a:spAutoFit/>
          </a:bodyPr>
          <a:lstStyle/>
          <a:p>
            <a:pPr algn="ctr">
              <a:lnSpc>
                <a:spcPct val="125000"/>
              </a:lnSpc>
            </a:pPr>
            <a:r>
              <a:rPr sz="3000" b="1">
                <a:solidFill>
                  <a:srgbClr val="EC3013"/>
                </a:solidFill>
                <a:latin typeface="Arial"/>
              </a:rPr>
              <a:t>→</a:t>
            </a:r>
          </a:p>
        </p:txBody>
      </p:sp>
      <p:sp>
        <p:nvSpPr>
          <p:cNvPr id="40" name="TextBox 39"/>
          <p:cNvSpPr txBox="1"/>
          <p:nvPr/>
        </p:nvSpPr>
        <p:spPr>
          <a:xfrm>
            <a:off x="11686032" y="2834640"/>
            <a:ext cx="402336" cy="457200"/>
          </a:xfrm>
          <a:prstGeom prst="rect">
            <a:avLst/>
          </a:prstGeom>
          <a:noFill/>
        </p:spPr>
        <p:txBody>
          <a:bodyPr wrap="square" lIns="0" rIns="0" tIns="0" bIns="0" anchor="t">
            <a:spAutoFit/>
          </a:bodyPr>
          <a:lstStyle/>
          <a:p>
            <a:pPr algn="ctr">
              <a:lnSpc>
                <a:spcPct val="125000"/>
              </a:lnSpc>
            </a:pPr>
            <a:r>
              <a:rPr sz="3000" b="1">
                <a:solidFill>
                  <a:srgbClr val="EC3013"/>
                </a:solidFill>
                <a:latin typeface="Arial"/>
              </a:rPr>
              <a:t>→</a:t>
            </a:r>
          </a:p>
        </p:txBody>
      </p:sp>
      <p:sp>
        <p:nvSpPr>
          <p:cNvPr id="41" name="TextBox 40"/>
          <p:cNvSpPr txBox="1"/>
          <p:nvPr/>
        </p:nvSpPr>
        <p:spPr>
          <a:xfrm>
            <a:off x="17236440" y="9784080"/>
            <a:ext cx="502920" cy="274320"/>
          </a:xfrm>
          <a:prstGeom prst="rect">
            <a:avLst/>
          </a:prstGeom>
          <a:noFill/>
        </p:spPr>
        <p:txBody>
          <a:bodyPr wrap="square" lIns="0" rIns="0" tIns="0" bIns="0" anchor="t">
            <a:spAutoFit/>
          </a:bodyPr>
          <a:lstStyle/>
          <a:p>
            <a:pPr algn="r">
              <a:lnSpc>
                <a:spcPct val="125000"/>
              </a:lnSpc>
            </a:pPr>
            <a:r>
              <a:rPr sz="1200" b="0">
                <a:solidFill>
                  <a:srgbClr val="8C8886"/>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3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612648"/>
            <a:ext cx="16477488" cy="393192"/>
          </a:xfrm>
          <a:prstGeom prst="rect">
            <a:avLst/>
          </a:prstGeom>
          <a:noFill/>
        </p:spPr>
        <p:txBody>
          <a:bodyPr wrap="square" lIns="0" rIns="0" tIns="0" bIns="0" anchor="t">
            <a:spAutoFit/>
          </a:bodyPr>
          <a:lstStyle/>
          <a:p>
            <a:pPr algn="l">
              <a:lnSpc>
                <a:spcPct val="128000"/>
              </a:lnSpc>
            </a:pPr>
            <a:r>
              <a:rPr sz="1800" b="1" spc="150">
                <a:solidFill>
                  <a:srgbClr val="EC3013"/>
                </a:solidFill>
                <a:latin typeface="Arial"/>
              </a:rPr>
              <a:t>BUSINESS PLAN (2/2)</a:t>
            </a:r>
          </a:p>
        </p:txBody>
      </p:sp>
      <p:sp>
        <p:nvSpPr>
          <p:cNvPr id="4" name="Rectangle 3"/>
          <p:cNvSpPr/>
          <p:nvPr/>
        </p:nvSpPr>
        <p:spPr>
          <a:xfrm>
            <a:off x="1143000" y="1207008"/>
            <a:ext cx="160020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5568" y="1792224"/>
            <a:ext cx="17629632" cy="822960"/>
          </a:xfrm>
          <a:prstGeom prst="rect">
            <a:avLst/>
          </a:prstGeom>
          <a:noFill/>
        </p:spPr>
        <p:txBody>
          <a:bodyPr wrap="square" lIns="0" rIns="0" tIns="0" bIns="0" anchor="t">
            <a:spAutoFit/>
          </a:bodyPr>
          <a:lstStyle/>
          <a:p>
            <a:pPr algn="l">
              <a:lnSpc>
                <a:spcPct val="102000"/>
              </a:lnSpc>
            </a:pPr>
            <a:r>
              <a:rPr sz="4650" b="1">
                <a:solidFill>
                  <a:srgbClr val="201E1D"/>
                </a:solidFill>
                <a:latin typeface="Arial"/>
              </a:rPr>
              <a:t>Financials &amp; timelines</a:t>
            </a:r>
          </a:p>
        </p:txBody>
      </p:sp>
      <p:sp>
        <p:nvSpPr>
          <p:cNvPr id="6" name="Rectangle 5"/>
          <p:cNvSpPr/>
          <p:nvPr/>
        </p:nvSpPr>
        <p:spPr>
          <a:xfrm>
            <a:off x="1143000" y="2734056"/>
            <a:ext cx="50292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926080"/>
            <a:ext cx="5029200" cy="411480"/>
          </a:xfrm>
          <a:prstGeom prst="rect">
            <a:avLst/>
          </a:prstGeom>
          <a:noFill/>
        </p:spPr>
        <p:txBody>
          <a:bodyPr wrap="square" lIns="0" rIns="0" tIns="0" bIns="0" anchor="t">
            <a:spAutoFit/>
          </a:bodyPr>
          <a:lstStyle/>
          <a:p>
            <a:pPr algn="l">
              <a:lnSpc>
                <a:spcPct val="128000"/>
              </a:lnSpc>
            </a:pPr>
            <a:r>
              <a:rPr sz="2600" b="1">
                <a:solidFill>
                  <a:srgbClr val="EC3013"/>
                </a:solidFill>
                <a:latin typeface="Arial"/>
              </a:rPr>
              <a:t>INVESTMENTS</a:t>
            </a:r>
          </a:p>
        </p:txBody>
      </p:sp>
      <p:sp>
        <p:nvSpPr>
          <p:cNvPr id="8" name="TextBox 7"/>
          <p:cNvSpPr txBox="1"/>
          <p:nvPr/>
        </p:nvSpPr>
        <p:spPr>
          <a:xfrm>
            <a:off x="1143000" y="3419856"/>
            <a:ext cx="5029200" cy="292608"/>
          </a:xfrm>
          <a:prstGeom prst="rect">
            <a:avLst/>
          </a:prstGeom>
          <a:noFill/>
        </p:spPr>
        <p:txBody>
          <a:bodyPr wrap="square" lIns="0" rIns="0" tIns="0" bIns="0" anchor="t">
            <a:spAutoFit/>
          </a:bodyPr>
          <a:lstStyle/>
          <a:p>
            <a:pPr algn="l">
              <a:lnSpc>
                <a:spcPct val="128000"/>
              </a:lnSpc>
            </a:pPr>
            <a:r>
              <a:rPr sz="1500" b="0">
                <a:solidFill>
                  <a:srgbClr val="8C8886"/>
                </a:solidFill>
                <a:latin typeface="Arial"/>
              </a:rPr>
              <a:t>What it takes, and what it costs</a:t>
            </a:r>
          </a:p>
        </p:txBody>
      </p:sp>
      <p:sp>
        <p:nvSpPr>
          <p:cNvPr id="9" name="Rectangle 8"/>
          <p:cNvSpPr/>
          <p:nvPr/>
        </p:nvSpPr>
        <p:spPr>
          <a:xfrm>
            <a:off x="1143000" y="4023359"/>
            <a:ext cx="91440" cy="91440"/>
          </a:xfrm>
          <a:prstGeom prst="rect">
            <a:avLst/>
          </a:prstGeom>
          <a:solidFill>
            <a:srgbClr val="EC3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17320" y="3931920"/>
            <a:ext cx="4754880" cy="274320"/>
          </a:xfrm>
          <a:prstGeom prst="rect">
            <a:avLst/>
          </a:prstGeom>
          <a:noFill/>
        </p:spPr>
        <p:txBody>
          <a:bodyPr wrap="square" lIns="0" rIns="0" tIns="0" bIns="0" anchor="t">
            <a:spAutoFit/>
          </a:bodyPr>
          <a:lstStyle/>
          <a:p>
            <a:pPr algn="l">
              <a:lnSpc>
                <a:spcPct val="128000"/>
              </a:lnSpc>
            </a:pPr>
            <a:r>
              <a:rPr sz="1650" b="1">
                <a:solidFill>
                  <a:srgbClr val="201E1D"/>
                </a:solidFill>
                <a:latin typeface="Arial"/>
              </a:rPr>
              <a:t>Licence cost: nil</a:t>
            </a:r>
          </a:p>
        </p:txBody>
      </p:sp>
      <p:sp>
        <p:nvSpPr>
          <p:cNvPr id="11" name="TextBox 10"/>
          <p:cNvSpPr txBox="1"/>
          <p:nvPr/>
        </p:nvSpPr>
        <p:spPr>
          <a:xfrm>
            <a:off x="1417320" y="4233672"/>
            <a:ext cx="4754880" cy="914400"/>
          </a:xfrm>
          <a:prstGeom prst="rect">
            <a:avLst/>
          </a:prstGeom>
          <a:noFill/>
        </p:spPr>
        <p:txBody>
          <a:bodyPr wrap="square" lIns="0" rIns="0" tIns="0" bIns="0" anchor="t">
            <a:spAutoFit/>
          </a:bodyPr>
          <a:lstStyle/>
          <a:p>
            <a:pPr algn="l">
              <a:lnSpc>
                <a:spcPct val="130000"/>
              </a:lnSpc>
            </a:pPr>
            <a:r>
              <a:rPr sz="1450" b="0">
                <a:solidFill>
                  <a:srgbClr val="6F6C6B"/>
                </a:solidFill>
                <a:latin typeface="Arial"/>
              </a:rPr>
              <a:t>GnuCOBOL (GPL/LGPL), ProLeap (MIT), gcov, NIST CCVS85 and AWS CardDemo are all open. No mainframe, no vendor contract.</a:t>
            </a:r>
          </a:p>
        </p:txBody>
      </p:sp>
      <p:sp>
        <p:nvSpPr>
          <p:cNvPr id="12" name="Rectangle 11"/>
          <p:cNvSpPr/>
          <p:nvPr/>
        </p:nvSpPr>
        <p:spPr>
          <a:xfrm>
            <a:off x="1143000" y="5230368"/>
            <a:ext cx="91440" cy="91440"/>
          </a:xfrm>
          <a:prstGeom prst="rect">
            <a:avLst/>
          </a:prstGeom>
          <a:solidFill>
            <a:srgbClr val="EC3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17320" y="5138928"/>
            <a:ext cx="4754880" cy="274320"/>
          </a:xfrm>
          <a:prstGeom prst="rect">
            <a:avLst/>
          </a:prstGeom>
          <a:noFill/>
        </p:spPr>
        <p:txBody>
          <a:bodyPr wrap="square" lIns="0" rIns="0" tIns="0" bIns="0" anchor="t">
            <a:spAutoFit/>
          </a:bodyPr>
          <a:lstStyle/>
          <a:p>
            <a:pPr algn="l">
              <a:lnSpc>
                <a:spcPct val="128000"/>
              </a:lnSpc>
            </a:pPr>
            <a:r>
              <a:rPr sz="1650" b="1">
                <a:solidFill>
                  <a:srgbClr val="201E1D"/>
                </a:solidFill>
                <a:latin typeface="Arial"/>
              </a:rPr>
              <a:t>Prototype</a:t>
            </a:r>
          </a:p>
        </p:txBody>
      </p:sp>
      <p:sp>
        <p:nvSpPr>
          <p:cNvPr id="14" name="TextBox 13"/>
          <p:cNvSpPr txBox="1"/>
          <p:nvPr/>
        </p:nvSpPr>
        <p:spPr>
          <a:xfrm>
            <a:off x="1417320" y="5440680"/>
            <a:ext cx="4754880" cy="914400"/>
          </a:xfrm>
          <a:prstGeom prst="rect">
            <a:avLst/>
          </a:prstGeom>
          <a:noFill/>
        </p:spPr>
        <p:txBody>
          <a:bodyPr wrap="square" lIns="0" rIns="0" tIns="0" bIns="0" anchor="t">
            <a:spAutoFit/>
          </a:bodyPr>
          <a:lstStyle/>
          <a:p>
            <a:pPr algn="l">
              <a:lnSpc>
                <a:spcPct val="130000"/>
              </a:lnSpc>
            </a:pPr>
            <a:r>
              <a:rPr sz="1450" b="0">
                <a:solidFill>
                  <a:srgbClr val="6F6C6B"/>
                </a:solidFill>
                <a:latin typeface="Arial"/>
              </a:rPr>
              <a:t>4 engineers × 12 weeks. Runs on commodity laptops.</a:t>
            </a:r>
          </a:p>
        </p:txBody>
      </p:sp>
      <p:sp>
        <p:nvSpPr>
          <p:cNvPr id="15" name="Rectangle 14"/>
          <p:cNvSpPr/>
          <p:nvPr/>
        </p:nvSpPr>
        <p:spPr>
          <a:xfrm>
            <a:off x="1143000" y="6437376"/>
            <a:ext cx="91440" cy="91440"/>
          </a:xfrm>
          <a:prstGeom prst="rect">
            <a:avLst/>
          </a:prstGeom>
          <a:solidFill>
            <a:srgbClr val="EC3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6345936"/>
            <a:ext cx="4754880" cy="274320"/>
          </a:xfrm>
          <a:prstGeom prst="rect">
            <a:avLst/>
          </a:prstGeom>
          <a:noFill/>
        </p:spPr>
        <p:txBody>
          <a:bodyPr wrap="square" lIns="0" rIns="0" tIns="0" bIns="0" anchor="t">
            <a:spAutoFit/>
          </a:bodyPr>
          <a:lstStyle/>
          <a:p>
            <a:pPr algn="l">
              <a:lnSpc>
                <a:spcPct val="128000"/>
              </a:lnSpc>
            </a:pPr>
            <a:r>
              <a:rPr sz="1650" b="1">
                <a:solidFill>
                  <a:srgbClr val="201E1D"/>
                </a:solidFill>
                <a:latin typeface="Arial"/>
              </a:rPr>
              <a:t>Only variable cost is inference</a:t>
            </a:r>
          </a:p>
        </p:txBody>
      </p:sp>
      <p:sp>
        <p:nvSpPr>
          <p:cNvPr id="17" name="TextBox 16"/>
          <p:cNvSpPr txBox="1"/>
          <p:nvPr/>
        </p:nvSpPr>
        <p:spPr>
          <a:xfrm>
            <a:off x="1417320" y="6647688"/>
            <a:ext cx="4754880" cy="914400"/>
          </a:xfrm>
          <a:prstGeom prst="rect">
            <a:avLst/>
          </a:prstGeom>
          <a:noFill/>
        </p:spPr>
        <p:txBody>
          <a:bodyPr wrap="square" lIns="0" rIns="0" tIns="0" bIns="0" anchor="t">
            <a:spAutoFit/>
          </a:bodyPr>
          <a:lstStyle/>
          <a:p>
            <a:pPr algn="l">
              <a:lnSpc>
                <a:spcPct val="130000"/>
              </a:lnSpc>
            </a:pPr>
            <a:r>
              <a:rPr sz="1450" b="0">
                <a:solidFill>
                  <a:srgbClr val="6F6C6B"/>
                </a:solidFill>
                <a:latin typeface="Arial"/>
              </a:rPr>
              <a:t>One bounded LLM call per slice. Deterministic orchestration measured at up to 3.5× lower token cost than an agentic loop.</a:t>
            </a:r>
          </a:p>
        </p:txBody>
      </p:sp>
      <p:sp>
        <p:nvSpPr>
          <p:cNvPr id="18" name="Rectangle 17"/>
          <p:cNvSpPr/>
          <p:nvPr/>
        </p:nvSpPr>
        <p:spPr>
          <a:xfrm>
            <a:off x="1143000" y="7644383"/>
            <a:ext cx="91440" cy="91440"/>
          </a:xfrm>
          <a:prstGeom prst="rect">
            <a:avLst/>
          </a:prstGeom>
          <a:solidFill>
            <a:srgbClr val="EC3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17320" y="7552944"/>
            <a:ext cx="4754880" cy="274320"/>
          </a:xfrm>
          <a:prstGeom prst="rect">
            <a:avLst/>
          </a:prstGeom>
          <a:noFill/>
        </p:spPr>
        <p:txBody>
          <a:bodyPr wrap="square" lIns="0" rIns="0" tIns="0" bIns="0" anchor="t">
            <a:spAutoFit/>
          </a:bodyPr>
          <a:lstStyle/>
          <a:p>
            <a:pPr algn="l">
              <a:lnSpc>
                <a:spcPct val="128000"/>
              </a:lnSpc>
            </a:pPr>
            <a:r>
              <a:rPr sz="1650" b="1">
                <a:solidFill>
                  <a:srgbClr val="201E1D"/>
                </a:solidFill>
                <a:latin typeface="Arial"/>
              </a:rPr>
              <a:t>Bank pilot</a:t>
            </a:r>
          </a:p>
        </p:txBody>
      </p:sp>
      <p:sp>
        <p:nvSpPr>
          <p:cNvPr id="20" name="TextBox 19"/>
          <p:cNvSpPr txBox="1"/>
          <p:nvPr/>
        </p:nvSpPr>
        <p:spPr>
          <a:xfrm>
            <a:off x="1417320" y="7854696"/>
            <a:ext cx="4754880" cy="914400"/>
          </a:xfrm>
          <a:prstGeom prst="rect">
            <a:avLst/>
          </a:prstGeom>
          <a:noFill/>
        </p:spPr>
        <p:txBody>
          <a:bodyPr wrap="square" lIns="0" rIns="0" tIns="0" bIns="0" anchor="t">
            <a:spAutoFit/>
          </a:bodyPr>
          <a:lstStyle/>
          <a:p>
            <a:pPr algn="l">
              <a:lnSpc>
                <a:spcPct val="130000"/>
              </a:lnSpc>
            </a:pPr>
            <a:r>
              <a:rPr sz="1450" b="0">
                <a:solidFill>
                  <a:srgbClr val="6F6C6B"/>
                </a:solidFill>
                <a:latin typeface="Arial"/>
              </a:rPr>
              <a:t>2 engineers plus SME time from the bank, one program family, about 6 months.</a:t>
            </a:r>
          </a:p>
        </p:txBody>
      </p:sp>
      <p:sp>
        <p:nvSpPr>
          <p:cNvPr id="21" name="TextBox 20"/>
          <p:cNvSpPr txBox="1"/>
          <p:nvPr/>
        </p:nvSpPr>
        <p:spPr>
          <a:xfrm>
            <a:off x="1143000" y="8503920"/>
            <a:ext cx="5029200" cy="548640"/>
          </a:xfrm>
          <a:prstGeom prst="rect">
            <a:avLst/>
          </a:prstGeom>
          <a:noFill/>
        </p:spPr>
        <p:txBody>
          <a:bodyPr wrap="square" lIns="0" rIns="0" tIns="0" bIns="0" anchor="t">
            <a:spAutoFit/>
          </a:bodyPr>
          <a:lstStyle/>
          <a:p>
            <a:pPr algn="l">
              <a:lnSpc>
                <a:spcPct val="130000"/>
              </a:lnSpc>
            </a:pPr>
            <a:r>
              <a:rPr sz="1300" b="0">
                <a:solidFill>
                  <a:srgbClr val="8C8886"/>
                </a:solidFill>
                <a:latin typeface="Arial"/>
              </a:rPr>
              <a:t>Indicative and effort-based. No licence or infrastructure spend is assumed because none is required.</a:t>
            </a:r>
          </a:p>
        </p:txBody>
      </p:sp>
      <p:sp>
        <p:nvSpPr>
          <p:cNvPr id="22" name="Rectangle 21"/>
          <p:cNvSpPr/>
          <p:nvPr/>
        </p:nvSpPr>
        <p:spPr>
          <a:xfrm>
            <a:off x="6629400" y="2734056"/>
            <a:ext cx="50292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29400" y="2926080"/>
            <a:ext cx="5029200" cy="411480"/>
          </a:xfrm>
          <a:prstGeom prst="rect">
            <a:avLst/>
          </a:prstGeom>
          <a:noFill/>
        </p:spPr>
        <p:txBody>
          <a:bodyPr wrap="square" lIns="0" rIns="0" tIns="0" bIns="0" anchor="t">
            <a:spAutoFit/>
          </a:bodyPr>
          <a:lstStyle/>
          <a:p>
            <a:pPr algn="l">
              <a:lnSpc>
                <a:spcPct val="128000"/>
              </a:lnSpc>
            </a:pPr>
            <a:r>
              <a:rPr sz="2600" b="1">
                <a:solidFill>
                  <a:srgbClr val="EC3013"/>
                </a:solidFill>
                <a:latin typeface="Arial"/>
              </a:rPr>
              <a:t>RETURNS</a:t>
            </a:r>
          </a:p>
        </p:txBody>
      </p:sp>
      <p:sp>
        <p:nvSpPr>
          <p:cNvPr id="24" name="TextBox 23"/>
          <p:cNvSpPr txBox="1"/>
          <p:nvPr/>
        </p:nvSpPr>
        <p:spPr>
          <a:xfrm>
            <a:off x="6629400" y="3419856"/>
            <a:ext cx="5029200" cy="292608"/>
          </a:xfrm>
          <a:prstGeom prst="rect">
            <a:avLst/>
          </a:prstGeom>
          <a:noFill/>
        </p:spPr>
        <p:txBody>
          <a:bodyPr wrap="square" lIns="0" rIns="0" tIns="0" bIns="0" anchor="t">
            <a:spAutoFit/>
          </a:bodyPr>
          <a:lstStyle/>
          <a:p>
            <a:pPr algn="l">
              <a:lnSpc>
                <a:spcPct val="128000"/>
              </a:lnSpc>
            </a:pPr>
            <a:r>
              <a:rPr sz="1500" b="0">
                <a:solidFill>
                  <a:srgbClr val="8C8886"/>
                </a:solidFill>
                <a:latin typeface="Arial"/>
              </a:rPr>
              <a:t>Quantified — and the cost of not solving</a:t>
            </a:r>
          </a:p>
        </p:txBody>
      </p:sp>
      <p:sp>
        <p:nvSpPr>
          <p:cNvPr id="25" name="TextBox 24"/>
          <p:cNvSpPr txBox="1"/>
          <p:nvPr/>
        </p:nvSpPr>
        <p:spPr>
          <a:xfrm>
            <a:off x="6629400" y="3931920"/>
            <a:ext cx="5029200" cy="274320"/>
          </a:xfrm>
          <a:prstGeom prst="rect">
            <a:avLst/>
          </a:prstGeom>
          <a:noFill/>
        </p:spPr>
        <p:txBody>
          <a:bodyPr wrap="square" lIns="0" rIns="0" tIns="0" bIns="0" anchor="t">
            <a:spAutoFit/>
          </a:bodyPr>
          <a:lstStyle/>
          <a:p>
            <a:pPr algn="l">
              <a:lnSpc>
                <a:spcPct val="128000"/>
              </a:lnSpc>
            </a:pPr>
            <a:r>
              <a:rPr sz="1650" b="1">
                <a:solidFill>
                  <a:srgbClr val="201E1D"/>
                </a:solidFill>
                <a:latin typeface="Arial"/>
              </a:rPr>
              <a:t>What it unlocks</a:t>
            </a:r>
          </a:p>
        </p:txBody>
      </p:sp>
      <p:sp>
        <p:nvSpPr>
          <p:cNvPr id="26" name="TextBox 25"/>
          <p:cNvSpPr txBox="1"/>
          <p:nvPr/>
        </p:nvSpPr>
        <p:spPr>
          <a:xfrm>
            <a:off x="6629400" y="4233672"/>
            <a:ext cx="5029200" cy="1051560"/>
          </a:xfrm>
          <a:prstGeom prst="rect">
            <a:avLst/>
          </a:prstGeom>
          <a:noFill/>
        </p:spPr>
        <p:txBody>
          <a:bodyPr wrap="square" lIns="0" rIns="0" tIns="0" bIns="0" anchor="t">
            <a:spAutoFit/>
          </a:bodyPr>
          <a:lstStyle/>
          <a:p>
            <a:pPr algn="l">
              <a:lnSpc>
                <a:spcPct val="130000"/>
              </a:lnSpc>
            </a:pPr>
            <a:r>
              <a:rPr sz="1450" b="0">
                <a:solidFill>
                  <a:srgbClr val="6F6C6B"/>
                </a:solidFill>
                <a:latin typeface="Arial"/>
              </a:rPr>
              <a:t>The ~$1bn of Indian core-banking upgrade spend is gated on assurance. Comparable automation (ADP via AWS Transform) cut rule-extraction time 80% and manual effort over 90%.</a:t>
            </a:r>
          </a:p>
        </p:txBody>
      </p:sp>
      <p:sp>
        <p:nvSpPr>
          <p:cNvPr id="27" name="Rectangle 26"/>
          <p:cNvSpPr/>
          <p:nvPr/>
        </p:nvSpPr>
        <p:spPr>
          <a:xfrm>
            <a:off x="6629400" y="5394960"/>
            <a:ext cx="5029200" cy="2121408"/>
          </a:xfrm>
          <a:prstGeom prst="rect">
            <a:avLst/>
          </a:prstGeom>
          <a:solidFill>
            <a:srgbClr val="20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85432" y="5577840"/>
            <a:ext cx="4517136" cy="274320"/>
          </a:xfrm>
          <a:prstGeom prst="rect">
            <a:avLst/>
          </a:prstGeom>
          <a:noFill/>
        </p:spPr>
        <p:txBody>
          <a:bodyPr wrap="square" lIns="0" rIns="0" tIns="0" bIns="0" anchor="t">
            <a:spAutoFit/>
          </a:bodyPr>
          <a:lstStyle/>
          <a:p>
            <a:pPr algn="l">
              <a:lnSpc>
                <a:spcPct val="128000"/>
              </a:lnSpc>
            </a:pPr>
            <a:r>
              <a:rPr sz="1650" b="1">
                <a:solidFill>
                  <a:srgbClr val="F3F2F2"/>
                </a:solidFill>
                <a:latin typeface="Arial"/>
              </a:rPr>
              <a:t>What if I don't solve — TSB, 2018</a:t>
            </a:r>
          </a:p>
        </p:txBody>
      </p:sp>
      <p:sp>
        <p:nvSpPr>
          <p:cNvPr id="29" name="TextBox 28"/>
          <p:cNvSpPr txBox="1"/>
          <p:nvPr/>
        </p:nvSpPr>
        <p:spPr>
          <a:xfrm>
            <a:off x="6885432" y="5925312"/>
            <a:ext cx="4517136" cy="1463040"/>
          </a:xfrm>
          <a:prstGeom prst="rect">
            <a:avLst/>
          </a:prstGeom>
          <a:noFill/>
        </p:spPr>
        <p:txBody>
          <a:bodyPr wrap="square" lIns="0" rIns="0" tIns="0" bIns="0" anchor="t">
            <a:spAutoFit/>
          </a:bodyPr>
          <a:lstStyle/>
          <a:p>
            <a:pPr algn="l">
              <a:lnSpc>
                <a:spcPct val="130000"/>
              </a:lnSpc>
            </a:pPr>
            <a:r>
              <a:rPr sz="1400" b="0">
                <a:solidFill>
                  <a:srgbClr val="D8D5D3"/>
                </a:solidFill>
                <a:latin typeface="Arial"/>
              </a:rPr>
              <a:t>1.9m of 5.2m customers hit. £48.65m FCA/PRA fine. £32.7m redress. ~£400m total cost. CEO resigned; the CIO was personally fined £81,620. The regulator's finding was about risk management and assurance — not about programming.</a:t>
            </a:r>
          </a:p>
        </p:txBody>
      </p:sp>
      <p:sp>
        <p:nvSpPr>
          <p:cNvPr id="30" name="TextBox 29"/>
          <p:cNvSpPr txBox="1"/>
          <p:nvPr/>
        </p:nvSpPr>
        <p:spPr>
          <a:xfrm>
            <a:off x="6629400" y="7754112"/>
            <a:ext cx="5029200" cy="274320"/>
          </a:xfrm>
          <a:prstGeom prst="rect">
            <a:avLst/>
          </a:prstGeom>
          <a:noFill/>
        </p:spPr>
        <p:txBody>
          <a:bodyPr wrap="square" lIns="0" rIns="0" tIns="0" bIns="0" anchor="t">
            <a:spAutoFit/>
          </a:bodyPr>
          <a:lstStyle/>
          <a:p>
            <a:pPr algn="l">
              <a:lnSpc>
                <a:spcPct val="128000"/>
              </a:lnSpc>
            </a:pPr>
            <a:r>
              <a:rPr sz="1650" b="1">
                <a:solidFill>
                  <a:srgbClr val="201E1D"/>
                </a:solidFill>
                <a:latin typeface="Arial"/>
              </a:rPr>
              <a:t>And in India</a:t>
            </a:r>
          </a:p>
        </p:txBody>
      </p:sp>
      <p:sp>
        <p:nvSpPr>
          <p:cNvPr id="31" name="TextBox 30"/>
          <p:cNvSpPr txBox="1"/>
          <p:nvPr/>
        </p:nvSpPr>
        <p:spPr>
          <a:xfrm>
            <a:off x="6629400" y="8055864"/>
            <a:ext cx="5029200" cy="1188720"/>
          </a:xfrm>
          <a:prstGeom prst="rect">
            <a:avLst/>
          </a:prstGeom>
          <a:noFill/>
        </p:spPr>
        <p:txBody>
          <a:bodyPr wrap="square" lIns="0" rIns="0" tIns="0" bIns="0" anchor="t">
            <a:spAutoFit/>
          </a:bodyPr>
          <a:lstStyle/>
          <a:p>
            <a:pPr algn="l">
              <a:lnSpc>
                <a:spcPct val="130000"/>
              </a:lnSpc>
            </a:pPr>
            <a:r>
              <a:rPr sz="1450" b="0">
                <a:solidFill>
                  <a:srgbClr val="6F6C6B"/>
                </a:solidFill>
                <a:latin typeface="Arial"/>
              </a:rPr>
              <a:t>RBI halted HDFC Bank's Digital 2.0 launches and new card issuance in December 2020; the restrictions ran into 2022. An IT failure here is a supervisory event that freezes the product roadmap.</a:t>
            </a:r>
          </a:p>
        </p:txBody>
      </p:sp>
      <p:sp>
        <p:nvSpPr>
          <p:cNvPr id="32" name="Rectangle 31"/>
          <p:cNvSpPr/>
          <p:nvPr/>
        </p:nvSpPr>
        <p:spPr>
          <a:xfrm>
            <a:off x="12115800" y="2734056"/>
            <a:ext cx="5029200" cy="18288"/>
          </a:xfrm>
          <a:prstGeom prst="rect">
            <a:avLst/>
          </a:prstGeom>
          <a:solidFill>
            <a:srgbClr val="20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115800" y="2926080"/>
            <a:ext cx="5029200" cy="411480"/>
          </a:xfrm>
          <a:prstGeom prst="rect">
            <a:avLst/>
          </a:prstGeom>
          <a:noFill/>
        </p:spPr>
        <p:txBody>
          <a:bodyPr wrap="square" lIns="0" rIns="0" tIns="0" bIns="0" anchor="t">
            <a:spAutoFit/>
          </a:bodyPr>
          <a:lstStyle/>
          <a:p>
            <a:pPr algn="l">
              <a:lnSpc>
                <a:spcPct val="128000"/>
              </a:lnSpc>
            </a:pPr>
            <a:r>
              <a:rPr sz="2600" b="1">
                <a:solidFill>
                  <a:srgbClr val="EC3013"/>
                </a:solidFill>
                <a:latin typeface="Arial"/>
              </a:rPr>
              <a:t>TIMELINES</a:t>
            </a:r>
          </a:p>
        </p:txBody>
      </p:sp>
      <p:sp>
        <p:nvSpPr>
          <p:cNvPr id="34" name="TextBox 33"/>
          <p:cNvSpPr txBox="1"/>
          <p:nvPr/>
        </p:nvSpPr>
        <p:spPr>
          <a:xfrm>
            <a:off x="12115800" y="3419856"/>
            <a:ext cx="5029200" cy="292608"/>
          </a:xfrm>
          <a:prstGeom prst="rect">
            <a:avLst/>
          </a:prstGeom>
          <a:noFill/>
        </p:spPr>
        <p:txBody>
          <a:bodyPr wrap="square" lIns="0" rIns="0" tIns="0" bIns="0" anchor="t">
            <a:spAutoFit/>
          </a:bodyPr>
          <a:lstStyle/>
          <a:p>
            <a:pPr algn="l">
              <a:lnSpc>
                <a:spcPct val="128000"/>
              </a:lnSpc>
            </a:pPr>
            <a:r>
              <a:rPr sz="1500" b="0">
                <a:solidFill>
                  <a:srgbClr val="8C8886"/>
                </a:solidFill>
                <a:latin typeface="Arial"/>
              </a:rPr>
              <a:t>Time to realise the benefit</a:t>
            </a:r>
          </a:p>
        </p:txBody>
      </p:sp>
      <p:sp>
        <p:nvSpPr>
          <p:cNvPr id="35" name="Rectangle 34"/>
          <p:cNvSpPr/>
          <p:nvPr/>
        </p:nvSpPr>
        <p:spPr>
          <a:xfrm>
            <a:off x="12115800" y="4014215"/>
            <a:ext cx="91440" cy="91440"/>
          </a:xfrm>
          <a:prstGeom prst="rect">
            <a:avLst/>
          </a:prstGeom>
          <a:solidFill>
            <a:srgbClr val="C9C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390120" y="3931920"/>
            <a:ext cx="4754880" cy="256032"/>
          </a:xfrm>
          <a:prstGeom prst="rect">
            <a:avLst/>
          </a:prstGeom>
          <a:noFill/>
        </p:spPr>
        <p:txBody>
          <a:bodyPr wrap="square" lIns="0" rIns="0" tIns="0" bIns="0" anchor="t">
            <a:spAutoFit/>
          </a:bodyPr>
          <a:lstStyle/>
          <a:p>
            <a:pPr algn="l">
              <a:lnSpc>
                <a:spcPct val="128000"/>
              </a:lnSpc>
            </a:pPr>
            <a:r>
              <a:rPr sz="1550" b="1">
                <a:solidFill>
                  <a:srgbClr val="201E1D"/>
                </a:solidFill>
                <a:latin typeface="Arial"/>
              </a:rPr>
              <a:t>Weeks 1–2</a:t>
            </a:r>
          </a:p>
        </p:txBody>
      </p:sp>
      <p:sp>
        <p:nvSpPr>
          <p:cNvPr id="37" name="TextBox 36"/>
          <p:cNvSpPr txBox="1"/>
          <p:nvPr/>
        </p:nvSpPr>
        <p:spPr>
          <a:xfrm>
            <a:off x="12390120" y="4206240"/>
            <a:ext cx="4754880" cy="640080"/>
          </a:xfrm>
          <a:prstGeom prst="rect">
            <a:avLst/>
          </a:prstGeom>
          <a:noFill/>
        </p:spPr>
        <p:txBody>
          <a:bodyPr wrap="square" lIns="0" rIns="0" tIns="0" bIns="0" anchor="t">
            <a:spAutoFit/>
          </a:bodyPr>
          <a:lstStyle/>
          <a:p>
            <a:pPr algn="l">
              <a:lnSpc>
                <a:spcPct val="130000"/>
              </a:lnSpc>
            </a:pPr>
            <a:r>
              <a:rPr sz="1450" b="0">
                <a:solidFill>
                  <a:srgbClr val="6F6C6B"/>
                </a:solidFill>
                <a:latin typeface="Arial"/>
              </a:rPr>
              <a:t>Harness runs two programs on an input list and diffs. Already a working demo.</a:t>
            </a:r>
          </a:p>
        </p:txBody>
      </p:sp>
      <p:sp>
        <p:nvSpPr>
          <p:cNvPr id="38" name="Rectangle 37"/>
          <p:cNvSpPr/>
          <p:nvPr/>
        </p:nvSpPr>
        <p:spPr>
          <a:xfrm>
            <a:off x="12115800" y="4946904"/>
            <a:ext cx="91440" cy="91440"/>
          </a:xfrm>
          <a:prstGeom prst="rect">
            <a:avLst/>
          </a:prstGeom>
          <a:solidFill>
            <a:srgbClr val="C9C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390120" y="4864608"/>
            <a:ext cx="4754880" cy="256032"/>
          </a:xfrm>
          <a:prstGeom prst="rect">
            <a:avLst/>
          </a:prstGeom>
          <a:noFill/>
        </p:spPr>
        <p:txBody>
          <a:bodyPr wrap="square" lIns="0" rIns="0" tIns="0" bIns="0" anchor="t">
            <a:spAutoFit/>
          </a:bodyPr>
          <a:lstStyle/>
          <a:p>
            <a:pPr algn="l">
              <a:lnSpc>
                <a:spcPct val="128000"/>
              </a:lnSpc>
            </a:pPr>
            <a:r>
              <a:rPr sz="1550" b="1">
                <a:solidFill>
                  <a:srgbClr val="201E1D"/>
                </a:solidFill>
                <a:latin typeface="Arial"/>
              </a:rPr>
              <a:t>Weeks 3–4</a:t>
            </a:r>
          </a:p>
        </p:txBody>
      </p:sp>
      <p:sp>
        <p:nvSpPr>
          <p:cNvPr id="40" name="TextBox 39"/>
          <p:cNvSpPr txBox="1"/>
          <p:nvPr/>
        </p:nvSpPr>
        <p:spPr>
          <a:xfrm>
            <a:off x="12390120" y="5138928"/>
            <a:ext cx="4754880" cy="640080"/>
          </a:xfrm>
          <a:prstGeom prst="rect">
            <a:avLst/>
          </a:prstGeom>
          <a:noFill/>
        </p:spPr>
        <p:txBody>
          <a:bodyPr wrap="square" lIns="0" rIns="0" tIns="0" bIns="0" anchor="t">
            <a:spAutoFit/>
          </a:bodyPr>
          <a:lstStyle/>
          <a:p>
            <a:pPr algn="l">
              <a:lnSpc>
                <a:spcPct val="130000"/>
              </a:lnSpc>
            </a:pPr>
            <a:r>
              <a:rPr sz="1450" b="0">
                <a:solidFill>
                  <a:srgbClr val="6F6C6B"/>
                </a:solidFill>
                <a:latin typeface="Arial"/>
              </a:rPr>
              <a:t>Input generation from PIC clauses plus hand-written boundaries.</a:t>
            </a:r>
          </a:p>
        </p:txBody>
      </p:sp>
      <p:sp>
        <p:nvSpPr>
          <p:cNvPr id="41" name="Rectangle 40"/>
          <p:cNvSpPr/>
          <p:nvPr/>
        </p:nvSpPr>
        <p:spPr>
          <a:xfrm>
            <a:off x="12115800" y="5879592"/>
            <a:ext cx="91440" cy="91440"/>
          </a:xfrm>
          <a:prstGeom prst="rect">
            <a:avLst/>
          </a:prstGeom>
          <a:solidFill>
            <a:srgbClr val="C9C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390120" y="5797296"/>
            <a:ext cx="4754880" cy="256032"/>
          </a:xfrm>
          <a:prstGeom prst="rect">
            <a:avLst/>
          </a:prstGeom>
          <a:noFill/>
        </p:spPr>
        <p:txBody>
          <a:bodyPr wrap="square" lIns="0" rIns="0" tIns="0" bIns="0" anchor="t">
            <a:spAutoFit/>
          </a:bodyPr>
          <a:lstStyle/>
          <a:p>
            <a:pPr algn="l">
              <a:lnSpc>
                <a:spcPct val="128000"/>
              </a:lnSpc>
            </a:pPr>
            <a:r>
              <a:rPr sz="1550" b="1">
                <a:solidFill>
                  <a:srgbClr val="201E1D"/>
                </a:solidFill>
                <a:latin typeface="Arial"/>
              </a:rPr>
              <a:t>Weeks 5–7</a:t>
            </a:r>
          </a:p>
        </p:txBody>
      </p:sp>
      <p:sp>
        <p:nvSpPr>
          <p:cNvPr id="43" name="TextBox 42"/>
          <p:cNvSpPr txBox="1"/>
          <p:nvPr/>
        </p:nvSpPr>
        <p:spPr>
          <a:xfrm>
            <a:off x="12390120" y="6071616"/>
            <a:ext cx="4754880" cy="640080"/>
          </a:xfrm>
          <a:prstGeom prst="rect">
            <a:avLst/>
          </a:prstGeom>
          <a:noFill/>
        </p:spPr>
        <p:txBody>
          <a:bodyPr wrap="square" lIns="0" rIns="0" tIns="0" bIns="0" anchor="t">
            <a:spAutoFit/>
          </a:bodyPr>
          <a:lstStyle/>
          <a:p>
            <a:pPr algn="l">
              <a:lnSpc>
                <a:spcPct val="130000"/>
              </a:lnSpc>
            </a:pPr>
            <a:r>
              <a:rPr sz="1450" b="0">
                <a:solidFill>
                  <a:srgbClr val="6F6C6B"/>
                </a:solidFill>
                <a:latin typeface="Arial"/>
              </a:rPr>
              <a:t>Parse, slice, and extract rules with line citations.</a:t>
            </a:r>
          </a:p>
        </p:txBody>
      </p:sp>
      <p:sp>
        <p:nvSpPr>
          <p:cNvPr id="44" name="Rectangle 43"/>
          <p:cNvSpPr/>
          <p:nvPr/>
        </p:nvSpPr>
        <p:spPr>
          <a:xfrm>
            <a:off x="12115800" y="6812279"/>
            <a:ext cx="91440" cy="91440"/>
          </a:xfrm>
          <a:prstGeom prst="rect">
            <a:avLst/>
          </a:prstGeom>
          <a:solidFill>
            <a:srgbClr val="EC3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390120" y="6729983"/>
            <a:ext cx="4754880" cy="256032"/>
          </a:xfrm>
          <a:prstGeom prst="rect">
            <a:avLst/>
          </a:prstGeom>
          <a:noFill/>
        </p:spPr>
        <p:txBody>
          <a:bodyPr wrap="square" lIns="0" rIns="0" tIns="0" bIns="0" anchor="t">
            <a:spAutoFit/>
          </a:bodyPr>
          <a:lstStyle/>
          <a:p>
            <a:pPr algn="l">
              <a:lnSpc>
                <a:spcPct val="128000"/>
              </a:lnSpc>
            </a:pPr>
            <a:r>
              <a:rPr sz="1550" b="1">
                <a:solidFill>
                  <a:srgbClr val="EC3013"/>
                </a:solidFill>
                <a:latin typeface="Arial"/>
              </a:rPr>
              <a:t>Weeks 8–10</a:t>
            </a:r>
          </a:p>
        </p:txBody>
      </p:sp>
      <p:sp>
        <p:nvSpPr>
          <p:cNvPr id="46" name="TextBox 45"/>
          <p:cNvSpPr txBox="1"/>
          <p:nvPr/>
        </p:nvSpPr>
        <p:spPr>
          <a:xfrm>
            <a:off x="12390120" y="7004303"/>
            <a:ext cx="4754880" cy="640080"/>
          </a:xfrm>
          <a:prstGeom prst="rect">
            <a:avLst/>
          </a:prstGeom>
          <a:noFill/>
        </p:spPr>
        <p:txBody>
          <a:bodyPr wrap="square" lIns="0" rIns="0" tIns="0" bIns="0" anchor="t">
            <a:spAutoFit/>
          </a:bodyPr>
          <a:lstStyle/>
          <a:p>
            <a:pPr algn="l">
              <a:lnSpc>
                <a:spcPct val="130000"/>
              </a:lnSpc>
            </a:pPr>
            <a:r>
              <a:rPr sz="1450" b="0">
                <a:solidFill>
                  <a:srgbClr val="201E1C"/>
                </a:solidFill>
                <a:latin typeface="Arial"/>
              </a:rPr>
              <a:t>The reciprocal loop and per-rule coverage verdicts. This is the contribution.</a:t>
            </a:r>
          </a:p>
        </p:txBody>
      </p:sp>
      <p:sp>
        <p:nvSpPr>
          <p:cNvPr id="47" name="Rectangle 46"/>
          <p:cNvSpPr/>
          <p:nvPr/>
        </p:nvSpPr>
        <p:spPr>
          <a:xfrm>
            <a:off x="12115800" y="7744967"/>
            <a:ext cx="91440" cy="91440"/>
          </a:xfrm>
          <a:prstGeom prst="rect">
            <a:avLst/>
          </a:prstGeom>
          <a:solidFill>
            <a:srgbClr val="C9C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2390120" y="7662671"/>
            <a:ext cx="4754880" cy="256032"/>
          </a:xfrm>
          <a:prstGeom prst="rect">
            <a:avLst/>
          </a:prstGeom>
          <a:noFill/>
        </p:spPr>
        <p:txBody>
          <a:bodyPr wrap="square" lIns="0" rIns="0" tIns="0" bIns="0" anchor="t">
            <a:spAutoFit/>
          </a:bodyPr>
          <a:lstStyle/>
          <a:p>
            <a:pPr algn="l">
              <a:lnSpc>
                <a:spcPct val="128000"/>
              </a:lnSpc>
            </a:pPr>
            <a:r>
              <a:rPr sz="1550" b="1">
                <a:solidFill>
                  <a:srgbClr val="201E1D"/>
                </a:solidFill>
                <a:latin typeface="Arial"/>
              </a:rPr>
              <a:t>Weeks 11–12</a:t>
            </a:r>
          </a:p>
        </p:txBody>
      </p:sp>
      <p:sp>
        <p:nvSpPr>
          <p:cNvPr id="49" name="TextBox 48"/>
          <p:cNvSpPr txBox="1"/>
          <p:nvPr/>
        </p:nvSpPr>
        <p:spPr>
          <a:xfrm>
            <a:off x="12390120" y="7936992"/>
            <a:ext cx="4754880" cy="640080"/>
          </a:xfrm>
          <a:prstGeom prst="rect">
            <a:avLst/>
          </a:prstGeom>
          <a:noFill/>
        </p:spPr>
        <p:txBody>
          <a:bodyPr wrap="square" lIns="0" rIns="0" tIns="0" bIns="0" anchor="t">
            <a:spAutoFit/>
          </a:bodyPr>
          <a:lstStyle/>
          <a:p>
            <a:pPr algn="l">
              <a:lnSpc>
                <a:spcPct val="130000"/>
              </a:lnSpc>
            </a:pPr>
            <a:r>
              <a:rPr sz="1450" b="0">
                <a:solidFill>
                  <a:srgbClr val="6F6C6B"/>
                </a:solidFill>
                <a:latin typeface="Arial"/>
              </a:rPr>
              <a:t>Delta debugging to minimal counterexamples; evidence bundle generated.</a:t>
            </a:r>
          </a:p>
        </p:txBody>
      </p:sp>
      <p:sp>
        <p:nvSpPr>
          <p:cNvPr id="50" name="Rectangle 49"/>
          <p:cNvSpPr/>
          <p:nvPr/>
        </p:nvSpPr>
        <p:spPr>
          <a:xfrm>
            <a:off x="12115800" y="8677655"/>
            <a:ext cx="91440" cy="91440"/>
          </a:xfrm>
          <a:prstGeom prst="rect">
            <a:avLst/>
          </a:prstGeom>
          <a:solidFill>
            <a:srgbClr val="C9C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2390120" y="8595359"/>
            <a:ext cx="4754880" cy="256032"/>
          </a:xfrm>
          <a:prstGeom prst="rect">
            <a:avLst/>
          </a:prstGeom>
          <a:noFill/>
        </p:spPr>
        <p:txBody>
          <a:bodyPr wrap="square" lIns="0" rIns="0" tIns="0" bIns="0" anchor="t">
            <a:spAutoFit/>
          </a:bodyPr>
          <a:lstStyle/>
          <a:p>
            <a:pPr algn="l">
              <a:lnSpc>
                <a:spcPct val="128000"/>
              </a:lnSpc>
            </a:pPr>
            <a:r>
              <a:rPr sz="1550" b="1">
                <a:solidFill>
                  <a:srgbClr val="201E1D"/>
                </a:solidFill>
                <a:latin typeface="Arial"/>
              </a:rPr>
              <a:t>Months 4–9</a:t>
            </a:r>
          </a:p>
        </p:txBody>
      </p:sp>
      <p:sp>
        <p:nvSpPr>
          <p:cNvPr id="52" name="TextBox 51"/>
          <p:cNvSpPr txBox="1"/>
          <p:nvPr/>
        </p:nvSpPr>
        <p:spPr>
          <a:xfrm>
            <a:off x="12390120" y="8869680"/>
            <a:ext cx="4754880" cy="640080"/>
          </a:xfrm>
          <a:prstGeom prst="rect">
            <a:avLst/>
          </a:prstGeom>
          <a:noFill/>
        </p:spPr>
        <p:txBody>
          <a:bodyPr wrap="square" lIns="0" rIns="0" tIns="0" bIns="0" anchor="t">
            <a:spAutoFit/>
          </a:bodyPr>
          <a:lstStyle/>
          <a:p>
            <a:pPr algn="l">
              <a:lnSpc>
                <a:spcPct val="130000"/>
              </a:lnSpc>
            </a:pPr>
            <a:r>
              <a:rPr sz="1450" b="0">
                <a:solidFill>
                  <a:srgbClr val="6F6C6B"/>
                </a:solidFill>
                <a:latin typeface="Arial"/>
              </a:rPr>
              <a:t>Bank pilot on one program family, inside the bank's own compiler environment.</a:t>
            </a:r>
          </a:p>
        </p:txBody>
      </p:sp>
      <p:sp>
        <p:nvSpPr>
          <p:cNvPr id="53" name="Rectangle 52"/>
          <p:cNvSpPr/>
          <p:nvPr/>
        </p:nvSpPr>
        <p:spPr>
          <a:xfrm>
            <a:off x="1143000" y="9400032"/>
            <a:ext cx="16002000" cy="9144"/>
          </a:xfrm>
          <a:prstGeom prst="rect">
            <a:avLst/>
          </a:prstGeom>
          <a:solidFill>
            <a:srgbClr val="C9C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143000" y="9582912"/>
            <a:ext cx="1347825" cy="329184"/>
          </a:xfrm>
          <a:prstGeom prst="rect">
            <a:avLst/>
          </a:prstGeom>
          <a:solidFill>
            <a:srgbClr val="EC3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43000" y="9633204"/>
            <a:ext cx="1347825" cy="237744"/>
          </a:xfrm>
          <a:prstGeom prst="rect">
            <a:avLst/>
          </a:prstGeom>
          <a:noFill/>
        </p:spPr>
        <p:txBody>
          <a:bodyPr wrap="square" lIns="0" rIns="0" tIns="0" bIns="0" anchor="t">
            <a:spAutoFit/>
          </a:bodyPr>
          <a:lstStyle/>
          <a:p>
            <a:pPr algn="ctr">
              <a:lnSpc>
                <a:spcPct val="128000"/>
              </a:lnSpc>
            </a:pPr>
            <a:r>
              <a:rPr sz="1300" b="1">
                <a:solidFill>
                  <a:srgbClr val="F3F2F2"/>
                </a:solidFill>
                <a:latin typeface="Arial"/>
              </a:rPr>
              <a:t>Modernization</a:t>
            </a:r>
          </a:p>
        </p:txBody>
      </p:sp>
      <p:sp>
        <p:nvSpPr>
          <p:cNvPr id="56" name="Rectangle 55"/>
          <p:cNvSpPr/>
          <p:nvPr/>
        </p:nvSpPr>
        <p:spPr>
          <a:xfrm>
            <a:off x="2618841" y="9582912"/>
            <a:ext cx="362102" cy="329184"/>
          </a:xfrm>
          <a:prstGeom prst="rect">
            <a:avLst/>
          </a:prstGeom>
          <a:solidFill>
            <a:srgbClr val="EC3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618841" y="9633204"/>
            <a:ext cx="362102" cy="237744"/>
          </a:xfrm>
          <a:prstGeom prst="rect">
            <a:avLst/>
          </a:prstGeom>
          <a:noFill/>
        </p:spPr>
        <p:txBody>
          <a:bodyPr wrap="square" lIns="0" rIns="0" tIns="0" bIns="0" anchor="t">
            <a:spAutoFit/>
          </a:bodyPr>
          <a:lstStyle/>
          <a:p>
            <a:pPr algn="ctr">
              <a:lnSpc>
                <a:spcPct val="128000"/>
              </a:lnSpc>
            </a:pPr>
            <a:r>
              <a:rPr sz="1300" b="1">
                <a:solidFill>
                  <a:srgbClr val="F3F2F2"/>
                </a:solidFill>
                <a:latin typeface="Arial"/>
              </a:rPr>
              <a:t>AI</a:t>
            </a:r>
          </a:p>
        </p:txBody>
      </p:sp>
      <p:sp>
        <p:nvSpPr>
          <p:cNvPr id="58" name="Rectangle 57"/>
          <p:cNvSpPr/>
          <p:nvPr/>
        </p:nvSpPr>
        <p:spPr>
          <a:xfrm>
            <a:off x="3108960" y="9582912"/>
            <a:ext cx="1527048" cy="329184"/>
          </a:xfrm>
          <a:prstGeom prst="rect">
            <a:avLst/>
          </a:prstGeom>
          <a:solidFill>
            <a:srgbClr val="EC3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108960" y="9633204"/>
            <a:ext cx="1527048" cy="237744"/>
          </a:xfrm>
          <a:prstGeom prst="rect">
            <a:avLst/>
          </a:prstGeom>
          <a:noFill/>
        </p:spPr>
        <p:txBody>
          <a:bodyPr wrap="square" lIns="0" rIns="0" tIns="0" bIns="0" anchor="t">
            <a:spAutoFit/>
          </a:bodyPr>
          <a:lstStyle/>
          <a:p>
            <a:pPr algn="ctr">
              <a:lnSpc>
                <a:spcPct val="128000"/>
              </a:lnSpc>
            </a:pPr>
            <a:r>
              <a:rPr sz="1300" b="1">
                <a:solidFill>
                  <a:srgbClr val="F3F2F2"/>
                </a:solidFill>
                <a:latin typeface="Arial"/>
              </a:rPr>
              <a:t>Process Re-engg</a:t>
            </a:r>
          </a:p>
        </p:txBody>
      </p:sp>
      <p:sp>
        <p:nvSpPr>
          <p:cNvPr id="60" name="Rectangle 59"/>
          <p:cNvSpPr/>
          <p:nvPr/>
        </p:nvSpPr>
        <p:spPr>
          <a:xfrm>
            <a:off x="4764024" y="9582912"/>
            <a:ext cx="630936" cy="329184"/>
          </a:xfrm>
          <a:prstGeom prst="rect">
            <a:avLst/>
          </a:prstGeom>
          <a:noFill/>
          <a:ln w="12700">
            <a:solidFill>
              <a:srgbClr val="C9C6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764024" y="9633204"/>
            <a:ext cx="630936" cy="237744"/>
          </a:xfrm>
          <a:prstGeom prst="rect">
            <a:avLst/>
          </a:prstGeom>
          <a:noFill/>
        </p:spPr>
        <p:txBody>
          <a:bodyPr wrap="square" lIns="0" rIns="0" tIns="0" bIns="0" anchor="t">
            <a:spAutoFit/>
          </a:bodyPr>
          <a:lstStyle/>
          <a:p>
            <a:pPr algn="ctr">
              <a:lnSpc>
                <a:spcPct val="128000"/>
              </a:lnSpc>
            </a:pPr>
            <a:r>
              <a:rPr sz="1300" b="0">
                <a:solidFill>
                  <a:srgbClr val="8C8886"/>
                </a:solidFill>
                <a:latin typeface="Arial"/>
              </a:rPr>
              <a:t>Cloud</a:t>
            </a:r>
          </a:p>
        </p:txBody>
      </p:sp>
      <p:sp>
        <p:nvSpPr>
          <p:cNvPr id="62" name="Rectangle 61"/>
          <p:cNvSpPr/>
          <p:nvPr/>
        </p:nvSpPr>
        <p:spPr>
          <a:xfrm>
            <a:off x="5852160" y="9582912"/>
            <a:ext cx="451713" cy="329184"/>
          </a:xfrm>
          <a:prstGeom prst="rect">
            <a:avLst/>
          </a:prstGeom>
          <a:solidFill>
            <a:srgbClr val="EC3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852160" y="9633204"/>
            <a:ext cx="451713" cy="237744"/>
          </a:xfrm>
          <a:prstGeom prst="rect">
            <a:avLst/>
          </a:prstGeom>
          <a:noFill/>
        </p:spPr>
        <p:txBody>
          <a:bodyPr wrap="square" lIns="0" rIns="0" tIns="0" bIns="0" anchor="t">
            <a:spAutoFit/>
          </a:bodyPr>
          <a:lstStyle/>
          <a:p>
            <a:pPr algn="ctr">
              <a:lnSpc>
                <a:spcPct val="128000"/>
              </a:lnSpc>
            </a:pPr>
            <a:r>
              <a:rPr sz="1300" b="1">
                <a:solidFill>
                  <a:srgbClr val="F3F2F2"/>
                </a:solidFill>
                <a:latin typeface="Arial"/>
              </a:rPr>
              <a:t>ROI</a:t>
            </a:r>
          </a:p>
        </p:txBody>
      </p:sp>
      <p:sp>
        <p:nvSpPr>
          <p:cNvPr id="64" name="Rectangle 63"/>
          <p:cNvSpPr/>
          <p:nvPr/>
        </p:nvSpPr>
        <p:spPr>
          <a:xfrm>
            <a:off x="6431889" y="9582912"/>
            <a:ext cx="1795881" cy="329184"/>
          </a:xfrm>
          <a:prstGeom prst="rect">
            <a:avLst/>
          </a:prstGeom>
          <a:solidFill>
            <a:srgbClr val="EC3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431889" y="9633204"/>
            <a:ext cx="1795881" cy="237744"/>
          </a:xfrm>
          <a:prstGeom prst="rect">
            <a:avLst/>
          </a:prstGeom>
          <a:noFill/>
        </p:spPr>
        <p:txBody>
          <a:bodyPr wrap="square" lIns="0" rIns="0" tIns="0" bIns="0" anchor="t">
            <a:spAutoFit/>
          </a:bodyPr>
          <a:lstStyle/>
          <a:p>
            <a:pPr algn="ctr">
              <a:lnSpc>
                <a:spcPct val="128000"/>
              </a:lnSpc>
            </a:pPr>
            <a:r>
              <a:rPr sz="1300" b="1">
                <a:solidFill>
                  <a:srgbClr val="F3F2F2"/>
                </a:solidFill>
                <a:latin typeface="Arial"/>
              </a:rPr>
              <a:t>Margin improvement</a:t>
            </a:r>
          </a:p>
        </p:txBody>
      </p:sp>
      <p:sp>
        <p:nvSpPr>
          <p:cNvPr id="66" name="Rectangle 65"/>
          <p:cNvSpPr/>
          <p:nvPr/>
        </p:nvSpPr>
        <p:spPr>
          <a:xfrm>
            <a:off x="8355787" y="9582912"/>
            <a:ext cx="1437436" cy="329184"/>
          </a:xfrm>
          <a:prstGeom prst="rect">
            <a:avLst/>
          </a:prstGeom>
          <a:noFill/>
          <a:ln w="12700">
            <a:solidFill>
              <a:srgbClr val="C9C6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355787" y="9633204"/>
            <a:ext cx="1437436" cy="237744"/>
          </a:xfrm>
          <a:prstGeom prst="rect">
            <a:avLst/>
          </a:prstGeom>
          <a:noFill/>
        </p:spPr>
        <p:txBody>
          <a:bodyPr wrap="square" lIns="0" rIns="0" tIns="0" bIns="0" anchor="t">
            <a:spAutoFit/>
          </a:bodyPr>
          <a:lstStyle/>
          <a:p>
            <a:pPr algn="ctr">
              <a:lnSpc>
                <a:spcPct val="128000"/>
              </a:lnSpc>
            </a:pPr>
            <a:r>
              <a:rPr sz="1300" b="0">
                <a:solidFill>
                  <a:srgbClr val="8C8886"/>
                </a:solidFill>
                <a:latin typeface="Arial"/>
              </a:rPr>
              <a:t>Happy Customer</a:t>
            </a:r>
          </a:p>
        </p:txBody>
      </p:sp>
      <p:sp>
        <p:nvSpPr>
          <p:cNvPr id="68" name="Rectangle 67"/>
          <p:cNvSpPr/>
          <p:nvPr/>
        </p:nvSpPr>
        <p:spPr>
          <a:xfrm>
            <a:off x="9921240" y="9582912"/>
            <a:ext cx="1437436" cy="329184"/>
          </a:xfrm>
          <a:prstGeom prst="rect">
            <a:avLst/>
          </a:prstGeom>
          <a:noFill/>
          <a:ln w="12700">
            <a:solidFill>
              <a:srgbClr val="C9C6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921240" y="9633204"/>
            <a:ext cx="1437436" cy="237744"/>
          </a:xfrm>
          <a:prstGeom prst="rect">
            <a:avLst/>
          </a:prstGeom>
          <a:noFill/>
        </p:spPr>
        <p:txBody>
          <a:bodyPr wrap="square" lIns="0" rIns="0" tIns="0" bIns="0" anchor="t">
            <a:spAutoFit/>
          </a:bodyPr>
          <a:lstStyle/>
          <a:p>
            <a:pPr algn="ctr">
              <a:lnSpc>
                <a:spcPct val="128000"/>
              </a:lnSpc>
            </a:pPr>
            <a:r>
              <a:rPr sz="1300" b="0">
                <a:solidFill>
                  <a:srgbClr val="8C8886"/>
                </a:solidFill>
                <a:latin typeface="Arial"/>
              </a:rPr>
              <a:t>Revenue Growth</a:t>
            </a:r>
          </a:p>
        </p:txBody>
      </p:sp>
      <p:sp>
        <p:nvSpPr>
          <p:cNvPr id="70" name="Rectangle 69"/>
          <p:cNvSpPr/>
          <p:nvPr/>
        </p:nvSpPr>
        <p:spPr>
          <a:xfrm>
            <a:off x="11815876" y="9582912"/>
            <a:ext cx="1347825" cy="329184"/>
          </a:xfrm>
          <a:prstGeom prst="rect">
            <a:avLst/>
          </a:prstGeom>
          <a:solidFill>
            <a:srgbClr val="EC3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1815876" y="9633204"/>
            <a:ext cx="1347825" cy="237744"/>
          </a:xfrm>
          <a:prstGeom prst="rect">
            <a:avLst/>
          </a:prstGeom>
          <a:noFill/>
        </p:spPr>
        <p:txBody>
          <a:bodyPr wrap="square" lIns="0" rIns="0" tIns="0" bIns="0" anchor="t">
            <a:spAutoFit/>
          </a:bodyPr>
          <a:lstStyle/>
          <a:p>
            <a:pPr algn="ctr">
              <a:lnSpc>
                <a:spcPct val="128000"/>
              </a:lnSpc>
            </a:pPr>
            <a:r>
              <a:rPr sz="1300" b="1">
                <a:solidFill>
                  <a:srgbClr val="F3F2F2"/>
                </a:solidFill>
                <a:latin typeface="Arial"/>
              </a:rPr>
              <a:t>Time to solve</a:t>
            </a:r>
          </a:p>
        </p:txBody>
      </p:sp>
      <p:sp>
        <p:nvSpPr>
          <p:cNvPr id="72" name="Rectangle 71"/>
          <p:cNvSpPr/>
          <p:nvPr/>
        </p:nvSpPr>
        <p:spPr>
          <a:xfrm>
            <a:off x="13291718" y="9582912"/>
            <a:ext cx="1078992" cy="329184"/>
          </a:xfrm>
          <a:prstGeom prst="rect">
            <a:avLst/>
          </a:prstGeom>
          <a:solidFill>
            <a:srgbClr val="EC3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3291718" y="9633204"/>
            <a:ext cx="1078992" cy="237744"/>
          </a:xfrm>
          <a:prstGeom prst="rect">
            <a:avLst/>
          </a:prstGeom>
          <a:noFill/>
        </p:spPr>
        <p:txBody>
          <a:bodyPr wrap="square" lIns="0" rIns="0" tIns="0" bIns="0" anchor="t">
            <a:spAutoFit/>
          </a:bodyPr>
          <a:lstStyle/>
          <a:p>
            <a:pPr algn="ctr">
              <a:lnSpc>
                <a:spcPct val="128000"/>
              </a:lnSpc>
            </a:pPr>
            <a:r>
              <a:rPr sz="1300" b="1">
                <a:solidFill>
                  <a:srgbClr val="F3F2F2"/>
                </a:solidFill>
                <a:latin typeface="Arial"/>
              </a:rPr>
              <a:t>Milestones</a:t>
            </a:r>
          </a:p>
        </p:txBody>
      </p:sp>
      <p:sp>
        <p:nvSpPr>
          <p:cNvPr id="74" name="Rectangle 73"/>
          <p:cNvSpPr/>
          <p:nvPr/>
        </p:nvSpPr>
        <p:spPr>
          <a:xfrm>
            <a:off x="14498726" y="9582912"/>
            <a:ext cx="630936" cy="329184"/>
          </a:xfrm>
          <a:prstGeom prst="rect">
            <a:avLst/>
          </a:prstGeom>
          <a:solidFill>
            <a:srgbClr val="EC3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4498726" y="9633204"/>
            <a:ext cx="630936" cy="237744"/>
          </a:xfrm>
          <a:prstGeom prst="rect">
            <a:avLst/>
          </a:prstGeom>
          <a:noFill/>
        </p:spPr>
        <p:txBody>
          <a:bodyPr wrap="square" lIns="0" rIns="0" tIns="0" bIns="0" anchor="t">
            <a:spAutoFit/>
          </a:bodyPr>
          <a:lstStyle/>
          <a:p>
            <a:pPr algn="ctr">
              <a:lnSpc>
                <a:spcPct val="128000"/>
              </a:lnSpc>
            </a:pPr>
            <a:r>
              <a:rPr sz="1300" b="1">
                <a:solidFill>
                  <a:srgbClr val="F3F2F2"/>
                </a:solidFill>
                <a:latin typeface="Arial"/>
              </a:rPr>
              <a:t>Tools</a:t>
            </a:r>
          </a:p>
        </p:txBody>
      </p:sp>
      <p:sp>
        <p:nvSpPr>
          <p:cNvPr id="76" name="Rectangle 75"/>
          <p:cNvSpPr/>
          <p:nvPr/>
        </p:nvSpPr>
        <p:spPr>
          <a:xfrm>
            <a:off x="12154204" y="4133087"/>
            <a:ext cx="14630" cy="786384"/>
          </a:xfrm>
          <a:prstGeom prst="rect">
            <a:avLst/>
          </a:prstGeom>
          <a:solidFill>
            <a:srgbClr val="C9C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2154204" y="5065776"/>
            <a:ext cx="14630" cy="786383"/>
          </a:xfrm>
          <a:prstGeom prst="rect">
            <a:avLst/>
          </a:prstGeom>
          <a:solidFill>
            <a:srgbClr val="C9C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2154204" y="5998464"/>
            <a:ext cx="14630" cy="786383"/>
          </a:xfrm>
          <a:prstGeom prst="rect">
            <a:avLst/>
          </a:prstGeom>
          <a:solidFill>
            <a:srgbClr val="C9C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2154204" y="6931151"/>
            <a:ext cx="14630" cy="786384"/>
          </a:xfrm>
          <a:prstGeom prst="rect">
            <a:avLst/>
          </a:prstGeom>
          <a:solidFill>
            <a:srgbClr val="C9C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2154204" y="7863840"/>
            <a:ext cx="14630" cy="786383"/>
          </a:xfrm>
          <a:prstGeom prst="rect">
            <a:avLst/>
          </a:prstGeom>
          <a:solidFill>
            <a:srgbClr val="C9C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7236440" y="9784080"/>
            <a:ext cx="502920" cy="274320"/>
          </a:xfrm>
          <a:prstGeom prst="rect">
            <a:avLst/>
          </a:prstGeom>
          <a:noFill/>
        </p:spPr>
        <p:txBody>
          <a:bodyPr wrap="square" lIns="0" rIns="0" tIns="0" bIns="0" anchor="t">
            <a:spAutoFit/>
          </a:bodyPr>
          <a:lstStyle/>
          <a:p>
            <a:pPr algn="r">
              <a:lnSpc>
                <a:spcPct val="125000"/>
              </a:lnSpc>
            </a:pPr>
            <a:r>
              <a:rPr sz="1200" b="0">
                <a:solidFill>
                  <a:srgbClr val="8C8886"/>
                </a:solidFill>
                <a:latin typeface="Arial"/>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3F2F2"/>
        </a:solidFill>
        <a:effectLst/>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16482060" cy="392410"/>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144" dirty="0">
                <a:solidFill>
                  <a:srgbClr val="EC3013"/>
                </a:solidFill>
                <a:latin typeface="Arial" pitchFamily="34" charset="0"/>
                <a:ea typeface="Arial" pitchFamily="34" charset="-122"/>
                <a:cs typeface="Arial" pitchFamily="34" charset="-120"/>
              </a:rPr>
              <a:t>REFERENCES</a:t>
            </a:r>
            <a:endParaRPr lang="en-US" sz="1800" dirty="0"/>
          </a:p>
        </p:txBody>
      </p:sp>
      <p:sp>
        <p:nvSpPr>
          <p:cNvPr id="4" name="Text 2"/>
          <p:cNvSpPr/>
          <p:nvPr/>
        </p:nvSpPr>
        <p:spPr>
          <a:xfrm>
            <a:off x="1116509" y="1790700"/>
            <a:ext cx="17631341" cy="675878"/>
          </a:xfrm>
          <a:prstGeom prst="rect">
            <a:avLst/>
          </a:prstGeom>
          <a:noFill/>
          <a:ln/>
        </p:spPr>
        <p:txBody>
          <a:bodyPr wrap="square" lIns="25400" tIns="25400" rIns="25400" bIns="25400" rtlCol="0" anchor="t">
            <a:normAutofit/>
          </a:bodyPr>
          <a:lstStyle/>
          <a:p>
            <a:pPr marL="0" indent="0" algn="l">
              <a:lnSpc>
                <a:spcPct val="76672"/>
              </a:lnSpc>
              <a:buNone/>
            </a:pPr>
            <a:r>
              <a:rPr lang="en-US" sz="4650" b="1" kern="0" spc="-70" dirty="0">
                <a:solidFill>
                  <a:srgbClr val="201E1D"/>
                </a:solidFill>
                <a:latin typeface="Arial" pitchFamily="34" charset="0"/>
                <a:ea typeface="Arial" pitchFamily="34" charset="-122"/>
                <a:cs typeface="Arial" pitchFamily="34" charset="-120"/>
              </a:rPr>
              <a:t>Sources</a:t>
            </a:r>
            <a:endParaRPr lang="en-US" sz="4650" dirty="0"/>
          </a:p>
        </p:txBody>
      </p:sp>
      <p:sp>
        <p:nvSpPr>
          <p:cNvPr id="5" name="Shape 3"/>
          <p:cNvSpPr/>
          <p:nvPr/>
        </p:nvSpPr>
        <p:spPr>
          <a:xfrm>
            <a:off x="1143000" y="2733278"/>
            <a:ext cx="7543800" cy="19050"/>
          </a:xfrm>
          <a:prstGeom prst="rect">
            <a:avLst/>
          </a:prstGeom>
          <a:solidFill>
            <a:srgbClr val="201E1E">
              <a:alpha val="40000"/>
            </a:srgbClr>
          </a:solidFill>
          <a:ln/>
        </p:spPr>
      </p:sp>
      <p:sp>
        <p:nvSpPr>
          <p:cNvPr id="6" name="Text 4"/>
          <p:cNvSpPr/>
          <p:nvPr/>
        </p:nvSpPr>
        <p:spPr>
          <a:xfrm>
            <a:off x="1143000" y="2923778"/>
            <a:ext cx="8298180" cy="300930"/>
          </a:xfrm>
          <a:prstGeom prst="rect">
            <a:avLst/>
          </a:prstGeom>
          <a:noFill/>
          <a:ln/>
        </p:spPr>
        <p:txBody>
          <a:bodyPr wrap="square" lIns="25400" tIns="25400" rIns="25400" bIns="25400" rtlCol="0" anchor="t">
            <a:normAutofit/>
          </a:bodyPr>
          <a:lstStyle/>
          <a:p>
            <a:pPr marL="0" indent="0" algn="l">
              <a:lnSpc>
                <a:spcPct val="98571"/>
              </a:lnSpc>
              <a:buNone/>
            </a:pPr>
            <a:r>
              <a:rPr lang="en-US" sz="1800" b="1" kern="0" spc="144" dirty="0">
                <a:solidFill>
                  <a:srgbClr val="EC3013"/>
                </a:solidFill>
                <a:latin typeface="Arial" pitchFamily="34" charset="0"/>
                <a:ea typeface="Arial" pitchFamily="34" charset="-122"/>
                <a:cs typeface="Arial" pitchFamily="34" charset="-120"/>
              </a:rPr>
              <a:t>PEER-REVIEWED AND PREPRINTS</a:t>
            </a:r>
            <a:endParaRPr lang="en-US" sz="1800" dirty="0"/>
          </a:p>
        </p:txBody>
      </p:sp>
      <p:sp>
        <p:nvSpPr>
          <p:cNvPr id="7" name="Text 5"/>
          <p:cNvSpPr/>
          <p:nvPr/>
        </p:nvSpPr>
        <p:spPr>
          <a:xfrm>
            <a:off x="1143000" y="3339009"/>
            <a:ext cx="7770114" cy="615950"/>
          </a:xfrm>
          <a:prstGeom prst="rect">
            <a:avLst/>
          </a:prstGeom>
          <a:noFill/>
          <a:ln/>
        </p:spPr>
        <p:txBody>
          <a:bodyPr wrap="square" lIns="25400" tIns="25400" rIns="25400" bIns="25400" rtlCol="0" anchor="t">
            <a:normAutofit/>
          </a:bodyPr>
          <a:lstStyle/>
          <a:p>
            <a:pPr marL="0" indent="0" algn="l">
              <a:lnSpc>
                <a:spcPct val="107143"/>
              </a:lnSpc>
              <a:buNone/>
            </a:pPr>
            <a:r>
              <a:rPr lang="en-US" sz="1800" b="1" dirty="0">
                <a:solidFill>
                  <a:srgbClr val="201E1D"/>
                </a:solidFill>
                <a:latin typeface="Arial" pitchFamily="34" charset="0"/>
                <a:ea typeface="Arial" pitchFamily="34" charset="-122"/>
                <a:cs typeface="Arial" pitchFamily="34" charset="-120"/>
              </a:rPr>
              <a:t>Hans, S. et al. (2025). </a:t>
            </a:r>
            <a:r>
              <a:rPr lang="en-US" sz="1800" dirty="0">
                <a:solidFill>
                  <a:srgbClr val="201E1C">
                    <a:alpha val="60000"/>
                  </a:srgbClr>
                </a:solidFill>
                <a:latin typeface="Arial" pitchFamily="34" charset="0"/>
                <a:ea typeface="Arial" pitchFamily="34" charset="-122"/>
                <a:cs typeface="Arial" pitchFamily="34" charset="-120"/>
              </a:rPr>
              <a:t>Automated Testing of COBOL to Java Transformation. arXiv:2504.10548.</a:t>
            </a:r>
            <a:endParaRPr lang="en-US" sz="1800" dirty="0"/>
          </a:p>
        </p:txBody>
      </p:sp>
      <p:sp>
        <p:nvSpPr>
          <p:cNvPr id="8" name="Text 6"/>
          <p:cNvSpPr/>
          <p:nvPr/>
        </p:nvSpPr>
        <p:spPr>
          <a:xfrm>
            <a:off x="1143000" y="4031159"/>
            <a:ext cx="7770114" cy="615950"/>
          </a:xfrm>
          <a:prstGeom prst="rect">
            <a:avLst/>
          </a:prstGeom>
          <a:noFill/>
          <a:ln/>
        </p:spPr>
        <p:txBody>
          <a:bodyPr wrap="square" lIns="25400" tIns="25400" rIns="25400" bIns="25400" rtlCol="0" anchor="t">
            <a:normAutofit/>
          </a:bodyPr>
          <a:lstStyle/>
          <a:p>
            <a:pPr marL="0" indent="0" algn="l">
              <a:lnSpc>
                <a:spcPct val="107143"/>
              </a:lnSpc>
              <a:buNone/>
            </a:pPr>
            <a:r>
              <a:rPr lang="en-US" sz="1800" b="1" dirty="0">
                <a:solidFill>
                  <a:srgbClr val="201E1D"/>
                </a:solidFill>
                <a:latin typeface="Arial" pitchFamily="34" charset="0"/>
                <a:ea typeface="Arial" pitchFamily="34" charset="-122"/>
                <a:cs typeface="Arial" pitchFamily="34" charset="-120"/>
              </a:rPr>
              <a:t>Pan, R. et al. (2024). </a:t>
            </a:r>
            <a:r>
              <a:rPr lang="en-US" sz="1800" dirty="0">
                <a:solidFill>
                  <a:srgbClr val="201E1C">
                    <a:alpha val="60000"/>
                  </a:srgbClr>
                </a:solidFill>
                <a:latin typeface="Arial" pitchFamily="34" charset="0"/>
                <a:ea typeface="Arial" pitchFamily="34" charset="-122"/>
                <a:cs typeface="Arial" pitchFamily="34" charset="-120"/>
              </a:rPr>
              <a:t>Lost in Translation: A Study of Bugs Introduced by LLMs while Translating Code. ICSE 2024, arXiv:2308.03109.</a:t>
            </a:r>
            <a:endParaRPr lang="en-US" sz="1800" dirty="0"/>
          </a:p>
        </p:txBody>
      </p:sp>
      <p:sp>
        <p:nvSpPr>
          <p:cNvPr id="9" name="Text 7"/>
          <p:cNvSpPr/>
          <p:nvPr/>
        </p:nvSpPr>
        <p:spPr>
          <a:xfrm>
            <a:off x="1143000" y="4723309"/>
            <a:ext cx="7770114" cy="615950"/>
          </a:xfrm>
          <a:prstGeom prst="rect">
            <a:avLst/>
          </a:prstGeom>
          <a:noFill/>
          <a:ln/>
        </p:spPr>
        <p:txBody>
          <a:bodyPr wrap="square" lIns="25400" tIns="25400" rIns="25400" bIns="25400" rtlCol="0" anchor="t">
            <a:normAutofit/>
          </a:bodyPr>
          <a:lstStyle/>
          <a:p>
            <a:pPr marL="0" indent="0" algn="l">
              <a:lnSpc>
                <a:spcPct val="107143"/>
              </a:lnSpc>
              <a:buNone/>
            </a:pPr>
            <a:r>
              <a:rPr lang="en-US" sz="1800" b="1" dirty="0">
                <a:solidFill>
                  <a:srgbClr val="201E1D"/>
                </a:solidFill>
                <a:latin typeface="Arial" pitchFamily="34" charset="0"/>
                <a:ea typeface="Arial" pitchFamily="34" charset="-122"/>
                <a:cs typeface="Arial" pitchFamily="34" charset="-120"/>
              </a:rPr>
              <a:t>Ahmed, S. N. &amp; Galib, M. (2026). </a:t>
            </a:r>
            <a:r>
              <a:rPr lang="en-US" sz="1800" dirty="0">
                <a:solidFill>
                  <a:srgbClr val="201E1C">
                    <a:alpha val="60000"/>
                  </a:srgbClr>
                </a:solidFill>
                <a:latin typeface="Arial" pitchFamily="34" charset="0"/>
                <a:ea typeface="Arial" pitchFamily="34" charset="-122"/>
                <a:cs typeface="Arial" pitchFamily="34" charset="-120"/>
              </a:rPr>
              <a:t>AgentModernize: Preserving Business Logic in Legacy Modernization. arXiv:2605.17535.</a:t>
            </a:r>
            <a:endParaRPr lang="en-US" sz="1800" dirty="0"/>
          </a:p>
        </p:txBody>
      </p:sp>
      <p:sp>
        <p:nvSpPr>
          <p:cNvPr id="10" name="Text 8"/>
          <p:cNvSpPr/>
          <p:nvPr/>
        </p:nvSpPr>
        <p:spPr>
          <a:xfrm>
            <a:off x="1143000" y="5415459"/>
            <a:ext cx="7770114" cy="615950"/>
          </a:xfrm>
          <a:prstGeom prst="rect">
            <a:avLst/>
          </a:prstGeom>
          <a:noFill/>
          <a:ln/>
        </p:spPr>
        <p:txBody>
          <a:bodyPr wrap="square" lIns="25400" tIns="25400" rIns="25400" bIns="25400" rtlCol="0" anchor="t">
            <a:normAutofit/>
          </a:bodyPr>
          <a:lstStyle/>
          <a:p>
            <a:pPr marL="0" indent="0" algn="l">
              <a:lnSpc>
                <a:spcPct val="107143"/>
              </a:lnSpc>
              <a:buNone/>
            </a:pPr>
            <a:r>
              <a:rPr lang="en-US" sz="1800" b="1" dirty="0">
                <a:solidFill>
                  <a:srgbClr val="201E1D"/>
                </a:solidFill>
                <a:latin typeface="Arial" pitchFamily="34" charset="0"/>
                <a:ea typeface="Arial" pitchFamily="34" charset="-122"/>
                <a:cs typeface="Arial" pitchFamily="34" charset="-120"/>
              </a:rPr>
              <a:t>Ferenczi, A. et al. (2026). </a:t>
            </a:r>
            <a:r>
              <a:rPr lang="en-US" sz="1800" dirty="0">
                <a:solidFill>
                  <a:srgbClr val="201E1C">
                    <a:alpha val="60000"/>
                  </a:srgbClr>
                </a:solidFill>
                <a:latin typeface="Arial" pitchFamily="34" charset="0"/>
                <a:ea typeface="Arial" pitchFamily="34" charset="-122"/>
                <a:cs typeface="Arial" pitchFamily="34" charset="-120"/>
              </a:rPr>
              <a:t>Agentic Method for Deterministic Validation of Legacy Code Migration. arXiv:2607.28271.</a:t>
            </a:r>
            <a:endParaRPr lang="en-US" sz="1800" dirty="0"/>
          </a:p>
        </p:txBody>
      </p:sp>
      <p:sp>
        <p:nvSpPr>
          <p:cNvPr id="11" name="Text 9"/>
          <p:cNvSpPr/>
          <p:nvPr/>
        </p:nvSpPr>
        <p:spPr>
          <a:xfrm>
            <a:off x="1143000" y="6107609"/>
            <a:ext cx="7770114" cy="615950"/>
          </a:xfrm>
          <a:prstGeom prst="rect">
            <a:avLst/>
          </a:prstGeom>
          <a:noFill/>
          <a:ln/>
        </p:spPr>
        <p:txBody>
          <a:bodyPr wrap="square" lIns="25400" tIns="25400" rIns="25400" bIns="25400" rtlCol="0" anchor="t">
            <a:normAutofit/>
          </a:bodyPr>
          <a:lstStyle/>
          <a:p>
            <a:pPr marL="0" indent="0" algn="l">
              <a:lnSpc>
                <a:spcPct val="107143"/>
              </a:lnSpc>
              <a:buNone/>
            </a:pPr>
            <a:r>
              <a:rPr lang="en-US" sz="1800" b="1" dirty="0">
                <a:solidFill>
                  <a:srgbClr val="201E1D"/>
                </a:solidFill>
                <a:latin typeface="Arial" pitchFamily="34" charset="0"/>
                <a:ea typeface="Arial" pitchFamily="34" charset="-122"/>
                <a:cs typeface="Arial" pitchFamily="34" charset="-120"/>
              </a:rPr>
              <a:t>Shah, S. et al. (2025). </a:t>
            </a:r>
            <a:r>
              <a:rPr lang="en-US" sz="1800" dirty="0">
                <a:solidFill>
                  <a:srgbClr val="201E1C">
                    <a:alpha val="60000"/>
                  </a:srgbClr>
                </a:solidFill>
                <a:latin typeface="Arial" pitchFamily="34" charset="0"/>
                <a:ea typeface="Arial" pitchFamily="34" charset="-122"/>
                <a:cs typeface="Arial" pitchFamily="34" charset="-120"/>
              </a:rPr>
              <a:t>A-COBREX: Identifying Business Rules in COBOL Programs. ICSE 2025, Demonstrations.</a:t>
            </a:r>
            <a:endParaRPr lang="en-US" sz="1800" dirty="0"/>
          </a:p>
        </p:txBody>
      </p:sp>
      <p:sp>
        <p:nvSpPr>
          <p:cNvPr id="12" name="Text 10"/>
          <p:cNvSpPr/>
          <p:nvPr/>
        </p:nvSpPr>
        <p:spPr>
          <a:xfrm>
            <a:off x="1143000" y="6799759"/>
            <a:ext cx="7770114" cy="615950"/>
          </a:xfrm>
          <a:prstGeom prst="rect">
            <a:avLst/>
          </a:prstGeom>
          <a:noFill/>
          <a:ln/>
        </p:spPr>
        <p:txBody>
          <a:bodyPr wrap="square" lIns="25400" tIns="25400" rIns="25400" bIns="25400" rtlCol="0" anchor="t">
            <a:normAutofit/>
          </a:bodyPr>
          <a:lstStyle/>
          <a:p>
            <a:pPr marL="0" indent="0" algn="l">
              <a:lnSpc>
                <a:spcPct val="107143"/>
              </a:lnSpc>
              <a:buNone/>
            </a:pPr>
            <a:r>
              <a:rPr lang="en-US" sz="1800" b="1" dirty="0">
                <a:solidFill>
                  <a:srgbClr val="201E1D"/>
                </a:solidFill>
                <a:latin typeface="Arial" pitchFamily="34" charset="0"/>
                <a:ea typeface="Arial" pitchFamily="34" charset="-122"/>
                <a:cs typeface="Arial" pitchFamily="34" charset="-120"/>
              </a:rPr>
              <a:t>B S, C. &amp; Chimalakonda, S. (2025). </a:t>
            </a:r>
            <a:r>
              <a:rPr lang="en-US" sz="1800" dirty="0">
                <a:solidFill>
                  <a:srgbClr val="201E1C">
                    <a:alpha val="60000"/>
                  </a:srgbClr>
                </a:solidFill>
                <a:latin typeface="Arial" pitchFamily="34" charset="0"/>
                <a:ea typeface="Arial" pitchFamily="34" charset="-122"/>
                <a:cs typeface="Arial" pitchFamily="34" charset="-120"/>
              </a:rPr>
              <a:t>LLM vs Rule-Based: the COBRAIN Tool. EASE 2025, doi:10.1145/3756681.3756982.</a:t>
            </a:r>
            <a:endParaRPr lang="en-US" sz="1800" dirty="0"/>
          </a:p>
        </p:txBody>
      </p:sp>
      <p:sp>
        <p:nvSpPr>
          <p:cNvPr id="13" name="Text 11"/>
          <p:cNvSpPr/>
          <p:nvPr/>
        </p:nvSpPr>
        <p:spPr>
          <a:xfrm>
            <a:off x="1143000" y="7491909"/>
            <a:ext cx="7770114" cy="615950"/>
          </a:xfrm>
          <a:prstGeom prst="rect">
            <a:avLst/>
          </a:prstGeom>
          <a:noFill/>
          <a:ln/>
        </p:spPr>
        <p:txBody>
          <a:bodyPr wrap="square" lIns="25400" tIns="25400" rIns="25400" bIns="25400" rtlCol="0" anchor="t">
            <a:normAutofit/>
          </a:bodyPr>
          <a:lstStyle/>
          <a:p>
            <a:pPr marL="0" indent="0" algn="l">
              <a:lnSpc>
                <a:spcPct val="107143"/>
              </a:lnSpc>
              <a:buNone/>
            </a:pPr>
            <a:r>
              <a:rPr lang="en-US" sz="1800" b="1" dirty="0">
                <a:solidFill>
                  <a:srgbClr val="201E1D"/>
                </a:solidFill>
                <a:latin typeface="Arial" pitchFamily="34" charset="0"/>
                <a:ea typeface="Arial" pitchFamily="34" charset="-122"/>
                <a:cs typeface="Arial" pitchFamily="34" charset="-120"/>
              </a:rPr>
              <a:t>Lwin, N. O. &amp; Kumar, R. (2026). </a:t>
            </a:r>
            <a:r>
              <a:rPr lang="en-US" sz="1800" dirty="0">
                <a:solidFill>
                  <a:srgbClr val="201E1C">
                    <a:alpha val="60000"/>
                  </a:srgbClr>
                </a:solidFill>
                <a:latin typeface="Arial" pitchFamily="34" charset="0"/>
                <a:ea typeface="Arial" pitchFamily="34" charset="-122"/>
                <a:cs typeface="Arial" pitchFamily="34" charset="-120"/>
              </a:rPr>
              <a:t>Deterministic vs LLM-Controlled Orchestration for COBOL-to-Python Modernization. arXiv:2605.09894.</a:t>
            </a:r>
            <a:endParaRPr lang="en-US" sz="1800" dirty="0"/>
          </a:p>
        </p:txBody>
      </p:sp>
      <p:sp>
        <p:nvSpPr>
          <p:cNvPr id="14" name="Text 12"/>
          <p:cNvSpPr/>
          <p:nvPr/>
        </p:nvSpPr>
        <p:spPr>
          <a:xfrm>
            <a:off x="1143000" y="8184059"/>
            <a:ext cx="7770114" cy="615950"/>
          </a:xfrm>
          <a:prstGeom prst="rect">
            <a:avLst/>
          </a:prstGeom>
          <a:noFill/>
          <a:ln/>
        </p:spPr>
        <p:txBody>
          <a:bodyPr wrap="square" lIns="25400" tIns="25400" rIns="25400" bIns="25400" rtlCol="0" anchor="t">
            <a:normAutofit/>
          </a:bodyPr>
          <a:lstStyle/>
          <a:p>
            <a:pPr marL="0" indent="0" algn="l">
              <a:lnSpc>
                <a:spcPct val="107143"/>
              </a:lnSpc>
              <a:buNone/>
            </a:pPr>
            <a:r>
              <a:rPr lang="en-US" sz="1800" b="1" dirty="0">
                <a:solidFill>
                  <a:srgbClr val="201E1D"/>
                </a:solidFill>
                <a:latin typeface="Arial" pitchFamily="34" charset="0"/>
                <a:ea typeface="Arial" pitchFamily="34" charset="-122"/>
                <a:cs typeface="Arial" pitchFamily="34" charset="-120"/>
              </a:rPr>
              <a:t>Barr, E. T. et al. (2015). </a:t>
            </a:r>
            <a:r>
              <a:rPr lang="en-US" sz="1800" dirty="0">
                <a:solidFill>
                  <a:srgbClr val="201E1C">
                    <a:alpha val="60000"/>
                  </a:srgbClr>
                </a:solidFill>
                <a:latin typeface="Arial" pitchFamily="34" charset="0"/>
                <a:ea typeface="Arial" pitchFamily="34" charset="-122"/>
                <a:cs typeface="Arial" pitchFamily="34" charset="-120"/>
              </a:rPr>
              <a:t>The Oracle Problem in Software Testing: A Survey. IEEE TSE 41(5), 507–525.</a:t>
            </a:r>
            <a:endParaRPr lang="en-US" sz="1800" dirty="0"/>
          </a:p>
        </p:txBody>
      </p:sp>
      <p:sp>
        <p:nvSpPr>
          <p:cNvPr id="15" name="Shape 13"/>
          <p:cNvSpPr/>
          <p:nvPr/>
        </p:nvSpPr>
        <p:spPr>
          <a:xfrm>
            <a:off x="9601200" y="2733278"/>
            <a:ext cx="7543800" cy="19050"/>
          </a:xfrm>
          <a:prstGeom prst="rect">
            <a:avLst/>
          </a:prstGeom>
          <a:solidFill>
            <a:srgbClr val="201E1E">
              <a:alpha val="40000"/>
            </a:srgbClr>
          </a:solidFill>
          <a:ln/>
        </p:spPr>
      </p:sp>
      <p:sp>
        <p:nvSpPr>
          <p:cNvPr id="16" name="Text 14"/>
          <p:cNvSpPr/>
          <p:nvPr/>
        </p:nvSpPr>
        <p:spPr>
          <a:xfrm>
            <a:off x="9601200" y="2923778"/>
            <a:ext cx="8298180" cy="300930"/>
          </a:xfrm>
          <a:prstGeom prst="rect">
            <a:avLst/>
          </a:prstGeom>
          <a:noFill/>
          <a:ln/>
        </p:spPr>
        <p:txBody>
          <a:bodyPr wrap="square" lIns="25400" tIns="25400" rIns="25400" bIns="25400" rtlCol="0" anchor="t">
            <a:normAutofit/>
          </a:bodyPr>
          <a:lstStyle/>
          <a:p>
            <a:pPr marL="0" indent="0" algn="l">
              <a:lnSpc>
                <a:spcPct val="98571"/>
              </a:lnSpc>
              <a:buNone/>
            </a:pPr>
            <a:r>
              <a:rPr lang="en-US" sz="1800" b="1" kern="0" spc="144" dirty="0">
                <a:solidFill>
                  <a:srgbClr val="EC3013"/>
                </a:solidFill>
                <a:latin typeface="Arial" pitchFamily="34" charset="0"/>
                <a:ea typeface="Arial" pitchFamily="34" charset="-122"/>
                <a:cs typeface="Arial" pitchFamily="34" charset="-120"/>
              </a:rPr>
              <a:t>REGULATORY AND SUPERVISORY</a:t>
            </a:r>
            <a:endParaRPr lang="en-US" sz="1800" dirty="0"/>
          </a:p>
        </p:txBody>
      </p:sp>
      <p:sp>
        <p:nvSpPr>
          <p:cNvPr id="17" name="Text 15"/>
          <p:cNvSpPr/>
          <p:nvPr/>
        </p:nvSpPr>
        <p:spPr>
          <a:xfrm>
            <a:off x="9601200" y="3319959"/>
            <a:ext cx="7770114" cy="615950"/>
          </a:xfrm>
          <a:prstGeom prst="rect">
            <a:avLst/>
          </a:prstGeom>
          <a:noFill/>
          <a:ln/>
        </p:spPr>
        <p:txBody>
          <a:bodyPr wrap="square" lIns="25400" tIns="25400" rIns="25400" bIns="25400" rtlCol="0" anchor="t">
            <a:normAutofit/>
          </a:bodyPr>
          <a:lstStyle/>
          <a:p>
            <a:pPr marL="0" indent="0" algn="l">
              <a:lnSpc>
                <a:spcPct val="107143"/>
              </a:lnSpc>
              <a:buNone/>
            </a:pPr>
            <a:r>
              <a:rPr lang="en-US" sz="1800" b="1" dirty="0">
                <a:solidFill>
                  <a:srgbClr val="201E1D"/>
                </a:solidFill>
                <a:latin typeface="Arial" pitchFamily="34" charset="0"/>
                <a:ea typeface="Arial" pitchFamily="34" charset="-122"/>
                <a:cs typeface="Arial" pitchFamily="34" charset="-120"/>
              </a:rPr>
              <a:t>Reserve Bank of India (2016, upd. 2024). </a:t>
            </a:r>
            <a:r>
              <a:rPr lang="en-US" sz="1800" dirty="0">
                <a:solidFill>
                  <a:srgbClr val="201E1C">
                    <a:alpha val="60000"/>
                  </a:srgbClr>
                </a:solidFill>
                <a:latin typeface="Arial" pitchFamily="34" charset="0"/>
                <a:ea typeface="Arial" pitchFamily="34" charset="-122"/>
                <a:cs typeface="Arial" pitchFamily="34" charset="-120"/>
              </a:rPr>
              <a:t>Master Direction — Interest Rate on Deposits. Clauses 4(f), 6(a), 6(a)(1)–(2).</a:t>
            </a:r>
            <a:endParaRPr lang="en-US" sz="1800" dirty="0"/>
          </a:p>
        </p:txBody>
      </p:sp>
      <p:sp>
        <p:nvSpPr>
          <p:cNvPr id="18" name="Text 16"/>
          <p:cNvSpPr/>
          <p:nvPr/>
        </p:nvSpPr>
        <p:spPr>
          <a:xfrm>
            <a:off x="9601200" y="3974009"/>
            <a:ext cx="7770114" cy="615950"/>
          </a:xfrm>
          <a:prstGeom prst="rect">
            <a:avLst/>
          </a:prstGeom>
          <a:noFill/>
          <a:ln/>
        </p:spPr>
        <p:txBody>
          <a:bodyPr wrap="square" lIns="25400" tIns="25400" rIns="25400" bIns="25400" rtlCol="0" anchor="t">
            <a:normAutofit/>
          </a:bodyPr>
          <a:lstStyle/>
          <a:p>
            <a:pPr marL="0" indent="0" algn="l">
              <a:lnSpc>
                <a:spcPct val="107143"/>
              </a:lnSpc>
              <a:buNone/>
            </a:pPr>
            <a:r>
              <a:rPr lang="en-US" sz="1800" b="1" dirty="0">
                <a:solidFill>
                  <a:srgbClr val="201E1D"/>
                </a:solidFill>
                <a:latin typeface="Arial" pitchFamily="34" charset="0"/>
                <a:ea typeface="Arial" pitchFamily="34" charset="-122"/>
                <a:cs typeface="Arial" pitchFamily="34" charset="-120"/>
              </a:rPr>
              <a:t>Reserve Bank of India (2023). </a:t>
            </a:r>
            <a:r>
              <a:rPr lang="en-US" sz="1800" dirty="0">
                <a:solidFill>
                  <a:srgbClr val="201E1C">
                    <a:alpha val="60000"/>
                  </a:srgbClr>
                </a:solidFill>
                <a:latin typeface="Arial" pitchFamily="34" charset="0"/>
                <a:ea typeface="Arial" pitchFamily="34" charset="-122"/>
                <a:cs typeface="Arial" pitchFamily="34" charset="-120"/>
              </a:rPr>
              <a:t>Master Direction on IT Governance, Risk, Controls and Assurance Practices.</a:t>
            </a:r>
            <a:endParaRPr lang="en-US" sz="1800" dirty="0"/>
          </a:p>
        </p:txBody>
      </p:sp>
      <p:sp>
        <p:nvSpPr>
          <p:cNvPr id="19" name="Text 17"/>
          <p:cNvSpPr/>
          <p:nvPr/>
        </p:nvSpPr>
        <p:spPr>
          <a:xfrm>
            <a:off x="9601200" y="4628059"/>
            <a:ext cx="7770114" cy="615950"/>
          </a:xfrm>
          <a:prstGeom prst="rect">
            <a:avLst/>
          </a:prstGeom>
          <a:noFill/>
          <a:ln/>
        </p:spPr>
        <p:txBody>
          <a:bodyPr wrap="square" lIns="25400" tIns="25400" rIns="25400" bIns="25400" rtlCol="0" anchor="t">
            <a:normAutofit/>
          </a:bodyPr>
          <a:lstStyle/>
          <a:p>
            <a:pPr marL="0" indent="0" algn="l">
              <a:lnSpc>
                <a:spcPct val="107143"/>
              </a:lnSpc>
              <a:buNone/>
            </a:pPr>
            <a:r>
              <a:rPr lang="en-US" sz="1800" b="1" dirty="0">
                <a:solidFill>
                  <a:srgbClr val="201E1D"/>
                </a:solidFill>
                <a:latin typeface="Arial" pitchFamily="34" charset="0"/>
                <a:ea typeface="Arial" pitchFamily="34" charset="-122"/>
                <a:cs typeface="Arial" pitchFamily="34" charset="-120"/>
              </a:rPr>
              <a:t>Financial Conduct Authority (2022). </a:t>
            </a:r>
            <a:r>
              <a:rPr lang="en-US" sz="1800" dirty="0">
                <a:solidFill>
                  <a:srgbClr val="201E1C">
                    <a:alpha val="60000"/>
                  </a:srgbClr>
                </a:solidFill>
                <a:latin typeface="Arial" pitchFamily="34" charset="0"/>
                <a:ea typeface="Arial" pitchFamily="34" charset="-122"/>
                <a:cs typeface="Arial" pitchFamily="34" charset="-120"/>
              </a:rPr>
              <a:t>TSB fined £48.65m for operational resilience failings.</a:t>
            </a:r>
            <a:endParaRPr lang="en-US" sz="1800" dirty="0"/>
          </a:p>
        </p:txBody>
      </p:sp>
      <p:sp>
        <p:nvSpPr>
          <p:cNvPr id="20" name="Shape 18"/>
          <p:cNvSpPr/>
          <p:nvPr/>
        </p:nvSpPr>
        <p:spPr>
          <a:xfrm>
            <a:off x="9601200" y="5358309"/>
            <a:ext cx="7543800" cy="19050"/>
          </a:xfrm>
          <a:prstGeom prst="rect">
            <a:avLst/>
          </a:prstGeom>
          <a:solidFill>
            <a:srgbClr val="201E1E">
              <a:alpha val="40000"/>
            </a:srgbClr>
          </a:solidFill>
          <a:ln/>
        </p:spPr>
      </p:sp>
      <p:sp>
        <p:nvSpPr>
          <p:cNvPr id="21" name="Text 19"/>
          <p:cNvSpPr/>
          <p:nvPr/>
        </p:nvSpPr>
        <p:spPr>
          <a:xfrm>
            <a:off x="9601200" y="5491659"/>
            <a:ext cx="7770114" cy="300930"/>
          </a:xfrm>
          <a:prstGeom prst="rect">
            <a:avLst/>
          </a:prstGeom>
          <a:noFill/>
          <a:ln/>
        </p:spPr>
        <p:txBody>
          <a:bodyPr wrap="square" lIns="25400" tIns="25400" rIns="25400" bIns="25400" rtlCol="0" anchor="t">
            <a:normAutofit/>
          </a:bodyPr>
          <a:lstStyle/>
          <a:p>
            <a:pPr marL="0" indent="0" algn="l">
              <a:lnSpc>
                <a:spcPct val="98571"/>
              </a:lnSpc>
              <a:buNone/>
            </a:pPr>
            <a:r>
              <a:rPr lang="en-US" sz="1800" b="1" kern="0" spc="144" dirty="0">
                <a:solidFill>
                  <a:srgbClr val="EC3013"/>
                </a:solidFill>
                <a:latin typeface="Arial" pitchFamily="34" charset="0"/>
                <a:ea typeface="Arial" pitchFamily="34" charset="-122"/>
                <a:cs typeface="Arial" pitchFamily="34" charset="-120"/>
              </a:rPr>
              <a:t>INDUSTRY AND MARKET</a:t>
            </a:r>
            <a:endParaRPr lang="en-US" sz="1800" dirty="0"/>
          </a:p>
        </p:txBody>
      </p:sp>
      <p:sp>
        <p:nvSpPr>
          <p:cNvPr id="22" name="Text 20"/>
          <p:cNvSpPr/>
          <p:nvPr/>
        </p:nvSpPr>
        <p:spPr>
          <a:xfrm>
            <a:off x="9601200" y="5887839"/>
            <a:ext cx="7770114" cy="615950"/>
          </a:xfrm>
          <a:prstGeom prst="rect">
            <a:avLst/>
          </a:prstGeom>
          <a:noFill/>
          <a:ln/>
        </p:spPr>
        <p:txBody>
          <a:bodyPr wrap="square" lIns="25400" tIns="25400" rIns="25400" bIns="25400" rtlCol="0" anchor="t">
            <a:normAutofit/>
          </a:bodyPr>
          <a:lstStyle/>
          <a:p>
            <a:pPr marL="0" indent="0" algn="l">
              <a:lnSpc>
                <a:spcPct val="107143"/>
              </a:lnSpc>
              <a:buNone/>
            </a:pPr>
            <a:r>
              <a:rPr lang="en-US" sz="1800" b="1" dirty="0">
                <a:solidFill>
                  <a:srgbClr val="201E1D"/>
                </a:solidFill>
                <a:latin typeface="Arial" pitchFamily="34" charset="0"/>
                <a:ea typeface="Arial" pitchFamily="34" charset="-122"/>
                <a:cs typeface="Arial" pitchFamily="34" charset="-120"/>
              </a:rPr>
              <a:t>Boston Consulting Group (2024). </a:t>
            </a:r>
            <a:r>
              <a:rPr lang="en-US" sz="1800" dirty="0">
                <a:solidFill>
                  <a:srgbClr val="201E1C">
                    <a:alpha val="60000"/>
                  </a:srgbClr>
                </a:solidFill>
                <a:latin typeface="Arial" pitchFamily="34" charset="0"/>
                <a:ea typeface="Arial" pitchFamily="34" charset="-122"/>
                <a:cs typeface="Arial" pitchFamily="34" charset="-120"/>
              </a:rPr>
              <a:t>Cloud-based Core Transformations, via Business Standard.</a:t>
            </a:r>
            <a:endParaRPr lang="en-US" sz="1800" dirty="0"/>
          </a:p>
        </p:txBody>
      </p:sp>
      <p:sp>
        <p:nvSpPr>
          <p:cNvPr id="23" name="Text 21"/>
          <p:cNvSpPr/>
          <p:nvPr/>
        </p:nvSpPr>
        <p:spPr>
          <a:xfrm>
            <a:off x="9601200" y="6541889"/>
            <a:ext cx="8298180" cy="330200"/>
          </a:xfrm>
          <a:prstGeom prst="rect">
            <a:avLst/>
          </a:prstGeom>
          <a:noFill/>
          <a:ln/>
        </p:spPr>
        <p:txBody>
          <a:bodyPr wrap="square" lIns="25400" tIns="25400" rIns="25400" bIns="25400" rtlCol="0" anchor="t">
            <a:normAutofit/>
          </a:bodyPr>
          <a:lstStyle/>
          <a:p>
            <a:pPr marL="0" indent="0" algn="l">
              <a:lnSpc>
                <a:spcPct val="107143"/>
              </a:lnSpc>
              <a:buNone/>
            </a:pPr>
            <a:r>
              <a:rPr lang="en-US" sz="1800" b="1" dirty="0">
                <a:solidFill>
                  <a:srgbClr val="201E1D"/>
                </a:solidFill>
                <a:latin typeface="Arial" pitchFamily="34" charset="0"/>
                <a:ea typeface="Arial" pitchFamily="34" charset="-122"/>
                <a:cs typeface="Arial" pitchFamily="34" charset="-120"/>
              </a:rPr>
              <a:t>IBM. </a:t>
            </a:r>
            <a:r>
              <a:rPr lang="en-US" sz="1800" dirty="0">
                <a:solidFill>
                  <a:srgbClr val="201E1C">
                    <a:alpha val="60000"/>
                  </a:srgbClr>
                </a:solidFill>
                <a:latin typeface="Arial" pitchFamily="34" charset="0"/>
                <a:ea typeface="Arial" pitchFamily="34" charset="-122"/>
                <a:cs typeface="Arial" pitchFamily="34" charset="-120"/>
              </a:rPr>
              <a:t>watsonx Code Assistant for Z — Validation Assistant documentation.</a:t>
            </a:r>
            <a:endParaRPr lang="en-US" sz="1800" dirty="0"/>
          </a:p>
        </p:txBody>
      </p:sp>
      <p:sp>
        <p:nvSpPr>
          <p:cNvPr id="24" name="Text 22"/>
          <p:cNvSpPr/>
          <p:nvPr/>
        </p:nvSpPr>
        <p:spPr>
          <a:xfrm>
            <a:off x="9601200" y="6910189"/>
            <a:ext cx="7770114" cy="908050"/>
          </a:xfrm>
          <a:prstGeom prst="rect">
            <a:avLst/>
          </a:prstGeom>
          <a:noFill/>
          <a:ln/>
        </p:spPr>
        <p:txBody>
          <a:bodyPr wrap="square" lIns="25400" tIns="25400" rIns="25400" bIns="25400" rtlCol="0" anchor="t">
            <a:normAutofit/>
          </a:bodyPr>
          <a:lstStyle/>
          <a:p>
            <a:pPr marL="0" indent="0" algn="l">
              <a:lnSpc>
                <a:spcPct val="107143"/>
              </a:lnSpc>
              <a:buNone/>
            </a:pPr>
            <a:r>
              <a:rPr lang="en-US" sz="1800" b="1" dirty="0">
                <a:solidFill>
                  <a:srgbClr val="201E1D"/>
                </a:solidFill>
                <a:latin typeface="Arial" pitchFamily="34" charset="0"/>
                <a:ea typeface="Arial" pitchFamily="34" charset="-122"/>
                <a:cs typeface="Arial" pitchFamily="34" charset="-120"/>
              </a:rPr>
              <a:t>Amazon Web Services (2025). </a:t>
            </a:r>
            <a:r>
              <a:rPr lang="en-US" sz="1800" dirty="0">
                <a:solidFill>
                  <a:srgbClr val="201E1C">
                    <a:alpha val="60000"/>
                  </a:srgbClr>
                </a:solidFill>
                <a:latin typeface="Arial" pitchFamily="34" charset="0"/>
                <a:ea typeface="Arial" pitchFamily="34" charset="-122"/>
                <a:cs typeface="Arial" pitchFamily="34" charset="-120"/>
              </a:rPr>
              <a:t>AWS Transform for mainframe, generally available. </a:t>
            </a:r>
            <a:r>
              <a:rPr lang="en-US" sz="1800" b="1" dirty="0">
                <a:solidFill>
                  <a:srgbClr val="201E1D"/>
                </a:solidFill>
                <a:latin typeface="Arial" pitchFamily="34" charset="0"/>
                <a:ea typeface="Arial" pitchFamily="34" charset="-122"/>
                <a:cs typeface="Arial" pitchFamily="34" charset="-120"/>
              </a:rPr>
              <a:t>Mechanical Orchard. </a:t>
            </a:r>
            <a:r>
              <a:rPr lang="en-US" sz="1800" dirty="0">
                <a:solidFill>
                  <a:srgbClr val="201E1C">
                    <a:alpha val="60000"/>
                  </a:srgbClr>
                </a:solidFill>
                <a:latin typeface="Arial" pitchFamily="34" charset="0"/>
                <a:ea typeface="Arial" pitchFamily="34" charset="-122"/>
                <a:cs typeface="Arial" pitchFamily="34" charset="-120"/>
              </a:rPr>
              <a:t>Imogen platform — generate-validate loop.</a:t>
            </a:r>
            <a:endParaRPr lang="en-US" sz="1800" dirty="0"/>
          </a:p>
        </p:txBody>
      </p:sp>
      <p:sp>
        <p:nvSpPr>
          <p:cNvPr id="25" name="Shape 23"/>
          <p:cNvSpPr/>
          <p:nvPr/>
        </p:nvSpPr>
        <p:spPr>
          <a:xfrm>
            <a:off x="9601200" y="7932539"/>
            <a:ext cx="7543800" cy="19050"/>
          </a:xfrm>
          <a:prstGeom prst="rect">
            <a:avLst/>
          </a:prstGeom>
          <a:solidFill>
            <a:srgbClr val="201E1E">
              <a:alpha val="40000"/>
            </a:srgbClr>
          </a:solidFill>
          <a:ln/>
        </p:spPr>
      </p:sp>
      <p:sp>
        <p:nvSpPr>
          <p:cNvPr id="26" name="Text 24"/>
          <p:cNvSpPr/>
          <p:nvPr/>
        </p:nvSpPr>
        <p:spPr>
          <a:xfrm>
            <a:off x="9601200" y="8065889"/>
            <a:ext cx="7770114" cy="300930"/>
          </a:xfrm>
          <a:prstGeom prst="rect">
            <a:avLst/>
          </a:prstGeom>
          <a:noFill/>
          <a:ln/>
        </p:spPr>
        <p:txBody>
          <a:bodyPr wrap="square" lIns="25400" tIns="25400" rIns="25400" bIns="25400" rtlCol="0" anchor="t">
            <a:normAutofit/>
          </a:bodyPr>
          <a:lstStyle/>
          <a:p>
            <a:pPr marL="0" indent="0" algn="l">
              <a:lnSpc>
                <a:spcPct val="98571"/>
              </a:lnSpc>
              <a:buNone/>
            </a:pPr>
            <a:r>
              <a:rPr lang="en-US" sz="1800" b="1" kern="0" spc="144" dirty="0">
                <a:solidFill>
                  <a:srgbClr val="EC3013"/>
                </a:solidFill>
                <a:latin typeface="Arial" pitchFamily="34" charset="0"/>
                <a:ea typeface="Arial" pitchFamily="34" charset="-122"/>
                <a:cs typeface="Arial" pitchFamily="34" charset="-120"/>
              </a:rPr>
              <a:t>TOOLS AND STANDARDS</a:t>
            </a:r>
            <a:endParaRPr lang="en-US" sz="1800" dirty="0"/>
          </a:p>
        </p:txBody>
      </p:sp>
      <p:sp>
        <p:nvSpPr>
          <p:cNvPr id="27" name="Text 25"/>
          <p:cNvSpPr/>
          <p:nvPr/>
        </p:nvSpPr>
        <p:spPr>
          <a:xfrm>
            <a:off x="9601200" y="8423970"/>
            <a:ext cx="7770114" cy="908050"/>
          </a:xfrm>
          <a:prstGeom prst="rect">
            <a:avLst/>
          </a:prstGeom>
          <a:noFill/>
          <a:ln/>
        </p:spPr>
        <p:txBody>
          <a:bodyPr wrap="square" lIns="25400" tIns="25400" rIns="25400" bIns="25400" rtlCol="0" anchor="t">
            <a:normAutofit/>
          </a:bodyPr>
          <a:lstStyle/>
          <a:p>
            <a:pPr marL="0" indent="0" algn="l">
              <a:lnSpc>
                <a:spcPct val="107143"/>
              </a:lnSpc>
              <a:buNone/>
            </a:pPr>
            <a:r>
              <a:rPr lang="en-US" sz="1800" b="1" dirty="0">
                <a:solidFill>
                  <a:srgbClr val="201E1D"/>
                </a:solidFill>
                <a:latin typeface="Arial" pitchFamily="34" charset="0"/>
                <a:ea typeface="Arial" pitchFamily="34" charset="-122"/>
                <a:cs typeface="Arial" pitchFamily="34" charset="-120"/>
              </a:rPr>
              <a:t>GnuCOBOL Project. </a:t>
            </a:r>
            <a:r>
              <a:rPr lang="en-US" sz="1800" dirty="0">
                <a:solidFill>
                  <a:srgbClr val="201E1C">
                    <a:alpha val="60000"/>
                  </a:srgbClr>
                </a:solidFill>
                <a:latin typeface="Arial" pitchFamily="34" charset="0"/>
                <a:ea typeface="Arial" pitchFamily="34" charset="-122"/>
                <a:cs typeface="Arial" pitchFamily="34" charset="-120"/>
              </a:rPr>
              <a:t>GnuCOBOL compiler, GPL/LGPL. NIST COBOL-85: 9,700 of 9,748. </a:t>
            </a:r>
            <a:r>
              <a:rPr lang="en-US" sz="1800" b="1" dirty="0">
                <a:solidFill>
                  <a:srgbClr val="201E1D"/>
                </a:solidFill>
                <a:latin typeface="Arial" pitchFamily="34" charset="0"/>
                <a:ea typeface="Arial" pitchFamily="34" charset="-122"/>
                <a:cs typeface="Arial" pitchFamily="34" charset="-120"/>
              </a:rPr>
              <a:t>Wolf, U. </a:t>
            </a:r>
            <a:r>
              <a:rPr lang="en-US" sz="1800" dirty="0">
                <a:solidFill>
                  <a:srgbClr val="201E1C">
                    <a:alpha val="60000"/>
                  </a:srgbClr>
                </a:solidFill>
                <a:latin typeface="Arial" pitchFamily="34" charset="0"/>
                <a:ea typeface="Arial" pitchFamily="34" charset="-122"/>
                <a:cs typeface="Arial" pitchFamily="34" charset="-120"/>
              </a:rPr>
              <a:t>ProLeap COBOL Parser, MIT licence. </a:t>
            </a:r>
            <a:r>
              <a:rPr lang="en-US" sz="1800" b="1" dirty="0">
                <a:solidFill>
                  <a:srgbClr val="201E1D"/>
                </a:solidFill>
                <a:latin typeface="Arial" pitchFamily="34" charset="0"/>
                <a:ea typeface="Arial" pitchFamily="34" charset="-122"/>
                <a:cs typeface="Arial" pitchFamily="34" charset="-120"/>
              </a:rPr>
              <a:t>NIST (1992). </a:t>
            </a:r>
            <a:r>
              <a:rPr lang="en-US" sz="1800" dirty="0">
                <a:solidFill>
                  <a:srgbClr val="201E1C">
                    <a:alpha val="60000"/>
                  </a:srgbClr>
                </a:solidFill>
                <a:latin typeface="Arial" pitchFamily="34" charset="0"/>
                <a:ea typeface="Arial" pitchFamily="34" charset="-122"/>
                <a:cs typeface="Arial" pitchFamily="34" charset="-120"/>
              </a:rPr>
              <a:t>CCVS85 validation system.</a:t>
            </a:r>
            <a:endParaRPr lang="en-US" sz="1800" dirty="0"/>
          </a:p>
        </p:txBody>
      </p:sp>
      <p:sp>
        <p:nvSpPr>
          <p:cNvPr id="28" name="Text 26"/>
          <p:cNvSpPr/>
          <p:nvPr/>
        </p:nvSpPr>
        <p:spPr>
          <a:xfrm>
            <a:off x="1143000" y="9353550"/>
            <a:ext cx="17602200" cy="361950"/>
          </a:xfrm>
          <a:prstGeom prst="rect">
            <a:avLst/>
          </a:prstGeom>
          <a:noFill/>
          <a:ln/>
        </p:spPr>
        <p:txBody>
          <a:bodyPr wrap="square" lIns="25400" tIns="25400" rIns="25400" bIns="25400" rtlCol="0" anchor="t">
            <a:normAutofit/>
          </a:bodyPr>
          <a:lstStyle/>
          <a:p>
            <a:pPr marL="0" indent="0" algn="l">
              <a:lnSpc>
                <a:spcPct val="121429"/>
              </a:lnSpc>
              <a:buNone/>
            </a:pPr>
            <a:endParaRPr lang="en-US" sz="1800" dirty="0"/>
          </a:p>
        </p:txBody>
      </p:sp>
      <p:sp>
        <p:nvSpPr>
          <p:cNvPr id="29" name="TextBox 28"/>
          <p:cNvSpPr txBox="1"/>
          <p:nvPr/>
        </p:nvSpPr>
        <p:spPr>
          <a:xfrm>
            <a:off x="17236440" y="9784080"/>
            <a:ext cx="502920" cy="274320"/>
          </a:xfrm>
          <a:prstGeom prst="rect">
            <a:avLst/>
          </a:prstGeom>
          <a:noFill/>
        </p:spPr>
        <p:txBody>
          <a:bodyPr wrap="square" lIns="0" rIns="0" tIns="0" bIns="0" anchor="t">
            <a:spAutoFit/>
          </a:bodyPr>
          <a:lstStyle/>
          <a:p>
            <a:pPr algn="r">
              <a:lnSpc>
                <a:spcPct val="125000"/>
              </a:lnSpc>
            </a:pPr>
            <a:r>
              <a:rPr sz="1200" b="0">
                <a:solidFill>
                  <a:srgbClr val="8C8886"/>
                </a:solidFill>
                <a:latin typeface="Arial"/>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1950</Words>
  <Application>Microsoft Office PowerPoint</Application>
  <PresentationFormat>Custom</PresentationFormat>
  <Paragraphs>171</Paragraphs>
  <Slides>8</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Soumyajit Sarkar</cp:lastModifiedBy>
  <cp:revision>2</cp:revision>
  <dcterms:created xsi:type="dcterms:W3CDTF">2026-08-03T22:55:37Z</dcterms:created>
  <dcterms:modified xsi:type="dcterms:W3CDTF">2026-08-03T22:58:16Z</dcterms:modified>
</cp:coreProperties>
</file>